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6858000" cx="9144000"/>
  <p:notesSz cx="6858000" cy="9144000"/>
  <p:embeddedFontLst>
    <p:embeddedFont>
      <p:font typeface="Tahoma"/>
      <p:regular r:id="rId55"/>
      <p:bold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A99620-B392-4D09-ADDE-D69F397DD9E8}">
  <a:tblStyle styleId="{D9A99620-B392-4D09-ADDE-D69F397DD9E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Tahoma-regular.fnt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font" Target="fonts/Tahoma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54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" name="Google Shape;19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" name="Google Shape;21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5" name="Google Shape;285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3" name="Google Shape;323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1" name="Google Shape;331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7" name="Google Shape;347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5" name="Google Shape;355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1" name="Google Shape;391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Google Shape;392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9" name="Google Shape;399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7" name="Google Shape;407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6" name="Google Shape;436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7" name="Google Shape;437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4" name="Google Shape;444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5" name="Google Shape;445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8305800" y="0"/>
            <a:ext cx="609600" cy="6858000"/>
          </a:xfrm>
          <a:prstGeom prst="rect">
            <a:avLst/>
          </a:prstGeom>
          <a:gradFill>
            <a:gsLst>
              <a:gs pos="0">
                <a:srgbClr val="677228">
                  <a:alpha val="43921"/>
                </a:srgbClr>
              </a:gs>
              <a:gs pos="100000">
                <a:srgbClr val="616B25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 rot="-54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315200" y="2438400"/>
            <a:ext cx="1828800" cy="22907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descr="Pink tissue paper" id="28" name="Google Shape;28;p3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600">
                <a:solidFill>
                  <a:srgbClr val="990033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wtri_4c UPDATE_color" id="29" name="Google Shape;2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0" y="5949950"/>
            <a:ext cx="684213" cy="831850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30" name="Google Shape;30;p3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 sz="3200"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elmasri_thumb" id="31" name="Google Shape;3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239713" y="1600200"/>
            <a:ext cx="40703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462463" y="1600200"/>
            <a:ext cx="407193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8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8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96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SzPts val="600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55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96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SzPts val="600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55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2101057" y="-261143"/>
            <a:ext cx="4572000" cy="829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 rot="5400000">
            <a:off x="4561682" y="2199482"/>
            <a:ext cx="5868987" cy="2076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32582" y="199231"/>
            <a:ext cx="5868987" cy="607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11" name="Google Shape;11;p1"/>
            <p:cNvSpPr/>
            <p:nvPr/>
          </p:nvSpPr>
          <p:spPr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2" name="Google Shape;12;p1"/>
            <p:cNvGrpSpPr/>
            <p:nvPr/>
          </p:nvGrpSpPr>
          <p:grpSpPr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3" name="Google Shape;13;p1"/>
              <p:cNvSpPr/>
              <p:nvPr/>
            </p:nvSpPr>
            <p:spPr>
              <a:xfrm flipH="1">
                <a:off x="5606" y="889"/>
                <a:ext cx="58" cy="3431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32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4" name="Google Shape;14;p1"/>
              <p:cNvSpPr/>
              <p:nvPr/>
            </p:nvSpPr>
            <p:spPr>
              <a:xfrm flipH="1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32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5" name="Google Shape;15;p1"/>
          <p:cNvSpPr/>
          <p:nvPr/>
        </p:nvSpPr>
        <p:spPr>
          <a:xfrm>
            <a:off x="1" y="0"/>
            <a:ext cx="9140825" cy="1449388"/>
          </a:xfrm>
          <a:prstGeom prst="rect">
            <a:avLst/>
          </a:prstGeom>
          <a:solidFill>
            <a:srgbClr val="677228">
              <a:alpha val="3568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" name="Google Shape;16;p1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"/>
          <p:cNvSpPr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Ramez Elmasri and Shamkant B. Navathe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13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lmasri_cov" id="79" name="Google Shape;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2007 Ramez Elmasri and Shamkant B. Navathe</a:t>
            </a:r>
            <a:endParaRPr/>
          </a:p>
        </p:txBody>
      </p:sp>
      <p:sp>
        <p:nvSpPr>
          <p:cNvPr descr="Pink tissue paper" id="86" name="Google Shape;86;p14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UNIT -2 </a:t>
            </a:r>
            <a:br>
              <a:rPr lang="en-US"/>
            </a:br>
            <a:r>
              <a:rPr lang="en-US"/>
              <a:t>Part -1</a:t>
            </a:r>
            <a:endParaRPr/>
          </a:p>
        </p:txBody>
      </p:sp>
      <p:sp>
        <p:nvSpPr>
          <p:cNvPr descr="Pink tissue paper" id="87" name="Google Shape;87;p14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en-US"/>
              <a:t>The Relational Data Model and Relational Database Constraints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Outline</a:t>
            </a:r>
            <a:endParaRPr/>
          </a:p>
        </p:txBody>
      </p:sp>
      <p:sp>
        <p:nvSpPr>
          <p:cNvPr id="95" name="Google Shape;95;p15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Relational Model Concepts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Relational Model Constraints and Relational Database Schemas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Update Operations and Dealing with Constraint Violations</a:t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16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Relational Model Concepts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The relational Model of Data is based on the concept of a </a:t>
            </a:r>
            <a:r>
              <a:rPr i="1" lang="en-US" sz="2400"/>
              <a:t>Relation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The strength of the relational approach to data management comes from the formal foundation provided by the theory of relations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17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Relational Model Concepts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A Relation is a mathematical concept based on the ideas of sets.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The above paper caused a major revolution in the field of database management and earned Dr. Codd the coveted ACM Turing Award</a:t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1600200" y="113347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18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Informal Definitions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SzPts val="1380"/>
              <a:buChar char="■"/>
            </a:pPr>
            <a:r>
              <a:rPr lang="en-US" sz="2300"/>
              <a:t>Informally, a </a:t>
            </a:r>
            <a:r>
              <a:rPr b="1" lang="en-US" sz="2300"/>
              <a:t>relation</a:t>
            </a:r>
            <a:r>
              <a:rPr lang="en-US" sz="2300"/>
              <a:t> looks like a </a:t>
            </a:r>
            <a:r>
              <a:rPr b="1" lang="en-US" sz="2300"/>
              <a:t>table</a:t>
            </a:r>
            <a:r>
              <a:rPr lang="en-US" sz="2300"/>
              <a:t> of values.</a:t>
            </a:r>
            <a:endParaRPr/>
          </a:p>
          <a:p>
            <a:pPr indent="-255270" lvl="0" marL="34290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SzPts val="1380"/>
              <a:buNone/>
            </a:pPr>
            <a:r>
              <a:t/>
            </a:r>
            <a:endParaRPr sz="2300"/>
          </a:p>
          <a:p>
            <a:pPr indent="-342900" lvl="0" marL="34290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SzPts val="1380"/>
              <a:buChar char="■"/>
            </a:pPr>
            <a:r>
              <a:rPr lang="en-US" sz="2300"/>
              <a:t>A relation typically contains a </a:t>
            </a:r>
            <a:r>
              <a:rPr b="1" lang="en-US" sz="2300"/>
              <a:t>set of rows</a:t>
            </a:r>
            <a:r>
              <a:rPr lang="en-US" sz="2300"/>
              <a:t>.</a:t>
            </a:r>
            <a:endParaRPr/>
          </a:p>
          <a:p>
            <a:pPr indent="-255270" lvl="0" marL="34290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SzPts val="1380"/>
              <a:buNone/>
            </a:pPr>
            <a:r>
              <a:t/>
            </a:r>
            <a:endParaRPr sz="2300"/>
          </a:p>
          <a:p>
            <a:pPr indent="-342900" lvl="0" marL="34290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SzPts val="1380"/>
              <a:buChar char="■"/>
            </a:pPr>
            <a:r>
              <a:rPr lang="en-US" sz="2300"/>
              <a:t>The data elements in each </a:t>
            </a:r>
            <a:r>
              <a:rPr b="1" lang="en-US" sz="2300"/>
              <a:t>row</a:t>
            </a:r>
            <a:r>
              <a:rPr lang="en-US" sz="2300"/>
              <a:t> represent certain facts that correspond to a real-world </a:t>
            </a:r>
            <a:r>
              <a:rPr b="1" lang="en-US" sz="2300"/>
              <a:t>entity</a:t>
            </a:r>
            <a:r>
              <a:rPr lang="en-US" sz="2300"/>
              <a:t> or </a:t>
            </a:r>
            <a:r>
              <a:rPr b="1" lang="en-US" sz="2300"/>
              <a:t>relationship</a:t>
            </a:r>
            <a:endParaRPr sz="2300"/>
          </a:p>
          <a:p>
            <a:pPr indent="-285750" lvl="1" marL="74295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SzPts val="1265"/>
              <a:buChar char="■"/>
            </a:pPr>
            <a:r>
              <a:rPr lang="en-US" sz="2300"/>
              <a:t>In the formal model, rows are called </a:t>
            </a:r>
            <a:r>
              <a:rPr b="1" lang="en-US" sz="2100"/>
              <a:t>tuples</a:t>
            </a:r>
            <a:endParaRPr/>
          </a:p>
          <a:p>
            <a:pPr indent="-212407" lvl="1" marL="74295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SzPts val="1155"/>
              <a:buNone/>
            </a:pPr>
            <a:r>
              <a:t/>
            </a:r>
            <a:endParaRPr sz="2100"/>
          </a:p>
          <a:p>
            <a:pPr indent="-342900" lvl="0" marL="34290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SzPts val="1380"/>
              <a:buChar char="■"/>
            </a:pPr>
            <a:r>
              <a:rPr lang="en-US" sz="2300"/>
              <a:t>Each </a:t>
            </a:r>
            <a:r>
              <a:rPr b="1" lang="en-US" sz="2300"/>
              <a:t>column</a:t>
            </a:r>
            <a:r>
              <a:rPr lang="en-US" sz="2300"/>
              <a:t> has a column header that gives an indication of the meaning of the data items in that column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SzPts val="1155"/>
              <a:buChar char="■"/>
            </a:pPr>
            <a:r>
              <a:rPr lang="en-US" sz="2100"/>
              <a:t>In the formal model, the column header is called an </a:t>
            </a:r>
            <a:r>
              <a:rPr b="1" lang="en-US" sz="2100"/>
              <a:t>attribute name</a:t>
            </a:r>
            <a:r>
              <a:rPr lang="en-US" sz="2100"/>
              <a:t> (or just </a:t>
            </a:r>
            <a:r>
              <a:rPr b="1" lang="en-US" sz="2100"/>
              <a:t>attribute</a:t>
            </a:r>
            <a:r>
              <a:rPr lang="en-US" sz="2100"/>
              <a:t>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9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a Relation</a:t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8886825" y="6159500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ig05_01" id="129" name="Google Shape;1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295525"/>
            <a:ext cx="8489950" cy="3078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0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Informal Definitions</a:t>
            </a:r>
            <a:endParaRPr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Key of a Relation:</a:t>
            </a:r>
            <a:endParaRPr/>
          </a:p>
          <a:p>
            <a:pPr indent="-285750" lvl="1" marL="742950" rtl="0" algn="l">
              <a:spcBef>
                <a:spcPts val="500"/>
              </a:spcBef>
              <a:spcAft>
                <a:spcPts val="0"/>
              </a:spcAft>
              <a:buSzPts val="1375"/>
              <a:buChar char="■"/>
            </a:pPr>
            <a:r>
              <a:rPr lang="en-US" sz="2500"/>
              <a:t>Each row has a value of a data item (or set of items) that uniquely identifies that row in the table</a:t>
            </a:r>
            <a:endParaRPr/>
          </a:p>
          <a:p>
            <a:pPr indent="-228600" lvl="2" marL="1143000" rtl="0" algn="l">
              <a:spcBef>
                <a:spcPts val="460"/>
              </a:spcBef>
              <a:spcAft>
                <a:spcPts val="0"/>
              </a:spcAft>
              <a:buSzPts val="1150"/>
              <a:buChar char="■"/>
            </a:pPr>
            <a:r>
              <a:rPr lang="en-US" sz="2300"/>
              <a:t>Called the </a:t>
            </a:r>
            <a:r>
              <a:rPr i="1" lang="en-US" sz="2300"/>
              <a:t>key (Candidate Key -&gt; Primary Key)</a:t>
            </a:r>
            <a:endParaRPr/>
          </a:p>
          <a:p>
            <a:pPr indent="-285750" lvl="1" marL="742950" rtl="0" algn="l">
              <a:spcBef>
                <a:spcPts val="500"/>
              </a:spcBef>
              <a:spcAft>
                <a:spcPts val="0"/>
              </a:spcAft>
              <a:buSzPts val="1375"/>
              <a:buChar char="■"/>
            </a:pPr>
            <a:r>
              <a:rPr lang="en-US" sz="2500"/>
              <a:t>In the STUDENT table, SSN is the key</a:t>
            </a:r>
            <a:endParaRPr/>
          </a:p>
          <a:p>
            <a:pPr indent="-198437" lvl="1" marL="742950" rtl="0" algn="l">
              <a:spcBef>
                <a:spcPts val="500"/>
              </a:spcBef>
              <a:spcAft>
                <a:spcPts val="0"/>
              </a:spcAft>
              <a:buSzPts val="1375"/>
              <a:buNone/>
            </a:pPr>
            <a:r>
              <a:t/>
            </a:r>
            <a:endParaRPr sz="2500"/>
          </a:p>
          <a:p>
            <a:pPr indent="-285750" lvl="1" marL="742950" rtl="0" algn="l">
              <a:spcBef>
                <a:spcPts val="500"/>
              </a:spcBef>
              <a:spcAft>
                <a:spcPts val="0"/>
              </a:spcAft>
              <a:buSzPts val="1375"/>
              <a:buFont typeface="Noto Sans Symbols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21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Formal Definitions - Schema</a:t>
            </a:r>
            <a:endParaRPr/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The </a:t>
            </a:r>
            <a:r>
              <a:rPr b="1" lang="en-US" sz="2400"/>
              <a:t>Schema</a:t>
            </a:r>
            <a:r>
              <a:rPr lang="en-US" sz="2400"/>
              <a:t> (or description) of a Relation: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Denoted by R(A1, A2, .....An)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R is the </a:t>
            </a:r>
            <a:r>
              <a:rPr b="1" lang="en-US" sz="2200"/>
              <a:t>name</a:t>
            </a:r>
            <a:r>
              <a:rPr lang="en-US" sz="2200"/>
              <a:t> of the relation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The </a:t>
            </a:r>
            <a:r>
              <a:rPr b="1" lang="en-US" sz="2200"/>
              <a:t>attributes</a:t>
            </a:r>
            <a:r>
              <a:rPr lang="en-US" sz="2200"/>
              <a:t> of the relation are A1, A2, ..., An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Example: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rPr lang="en-US" sz="2400"/>
              <a:t>	CUSTOMER (Cust-id, Cust-name, Address, Phone#)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CUSTOMER is the relation name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Defined over the four attributes: Cust-id, Cust-name, Address, Phone#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Each attribute has a </a:t>
            </a:r>
            <a:r>
              <a:rPr b="1" lang="en-US" sz="2400"/>
              <a:t>domain</a:t>
            </a:r>
            <a:r>
              <a:rPr lang="en-US" sz="2400"/>
              <a:t> or a set of valid values. 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For example, the domain of Cust-id is 6 digit numbers.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22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Formal Definitions - Tuple</a:t>
            </a:r>
            <a:endParaRPr/>
          </a:p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A </a:t>
            </a:r>
            <a:r>
              <a:rPr b="1" lang="en-US" sz="2400"/>
              <a:t>tuple</a:t>
            </a:r>
            <a:r>
              <a:rPr lang="en-US" sz="2400"/>
              <a:t> is an ordered set of values (enclosed in angled brackets ‘&lt; … &gt;’)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Each value is derived from an appropriate </a:t>
            </a:r>
            <a:r>
              <a:rPr i="1" lang="en-US" sz="2400"/>
              <a:t>domain</a:t>
            </a:r>
            <a:r>
              <a:rPr lang="en-US" sz="2400"/>
              <a:t>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A row in the CUSTOMER relation is a 4-tuple and would consist of four values, for example: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&lt;632895, "John Smith", "101 Main St. Atlanta, GA  30332", "(404) 894-2000"&gt;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This is called a 4-tuple as it has 4 values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A tuple (row) in the CUSTOMER relation.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A relation is a </a:t>
            </a:r>
            <a:r>
              <a:rPr b="1" lang="en-US" sz="2400"/>
              <a:t>set </a:t>
            </a:r>
            <a:r>
              <a:rPr lang="en-US" sz="2400"/>
              <a:t>of such tuples (rows)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23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Formal Definitions - Domain</a:t>
            </a:r>
            <a:endParaRPr/>
          </a:p>
        </p:txBody>
      </p:sp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 sz="2000"/>
              <a:t>A </a:t>
            </a:r>
            <a:r>
              <a:rPr b="1" lang="en-US" sz="2000"/>
              <a:t>domain</a:t>
            </a:r>
            <a:r>
              <a:rPr lang="en-US" sz="2000"/>
              <a:t> has a logical definition: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80"/>
              </a:spcBef>
              <a:spcAft>
                <a:spcPts val="0"/>
              </a:spcAft>
              <a:buSzPts val="1045"/>
              <a:buChar char="■"/>
            </a:pPr>
            <a:r>
              <a:rPr lang="en-US" sz="1900"/>
              <a:t>Example: “USA_phone_numbers” are the set of 10 digit phone numbers valid in the U.S.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-US" sz="2000"/>
              <a:t>A domain also has a data-type or a format defined for it.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80"/>
              </a:spcBef>
              <a:spcAft>
                <a:spcPts val="0"/>
              </a:spcAft>
              <a:buSzPts val="1045"/>
              <a:buChar char="■"/>
            </a:pPr>
            <a:r>
              <a:rPr lang="en-US" sz="1900"/>
              <a:t>The USA_phone_numbers may have a format: (ddd)ddd-dddd where each d is a decimal digit.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Dates have various formats such as year, month, date formatted as yyyy-mm-dd, or as dd mm,yyyy etc.</a:t>
            </a:r>
            <a:endParaRPr/>
          </a:p>
          <a:p>
            <a:pPr indent="-17145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-US" sz="2000"/>
              <a:t>The attribute name designates the role played by a domain in a relation: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Used to interpret the meaning of the data elements corresponding to that attribute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80"/>
              </a:spcBef>
              <a:spcAft>
                <a:spcPts val="0"/>
              </a:spcAft>
              <a:buSzPts val="1045"/>
              <a:buChar char="■"/>
            </a:pPr>
            <a:r>
              <a:rPr lang="en-US" sz="1900"/>
              <a:t>Example: The domain Date may be used to define two attributes named “Invoice-date” and “Payment-date” with different meanings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24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Formal Definitions - State</a:t>
            </a:r>
            <a:endParaRPr/>
          </a:p>
        </p:txBody>
      </p: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The </a:t>
            </a:r>
            <a:r>
              <a:rPr b="1" lang="en-US"/>
              <a:t>relation state</a:t>
            </a:r>
            <a:r>
              <a:rPr lang="en-US"/>
              <a:t> is a subset of the Cartesian product of the domains of its attributes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each domain contains the set of all possible values the attribute can take.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Example: attribute Cust-name is defined over the domain of character strings of maximum length 25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dom(Cust-name) is varchar(25)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The role these strings play in the CUSTOMER relation is that of the </a:t>
            </a:r>
            <a:r>
              <a:rPr i="1" lang="en-US"/>
              <a:t>name of a customer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25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Formal Definitions - Summary</a:t>
            </a:r>
            <a:endParaRPr/>
          </a:p>
        </p:txBody>
      </p:sp>
      <p:sp>
        <p:nvSpPr>
          <p:cNvPr id="177" name="Google Shape;177;p25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Formally,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Given R(A1, A2, .........., An)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 	r(R) ⊂ dom (A1) X dom (A2) X ....X dom(An)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R(A1, A2, …, An) is the </a:t>
            </a:r>
            <a:r>
              <a:rPr b="1" lang="en-US" sz="2400"/>
              <a:t>schema</a:t>
            </a:r>
            <a:r>
              <a:rPr lang="en-US" sz="2400"/>
              <a:t> of the relation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R is the </a:t>
            </a:r>
            <a:r>
              <a:rPr b="1" lang="en-US" sz="2400"/>
              <a:t>name</a:t>
            </a:r>
            <a:r>
              <a:rPr lang="en-US" sz="2400"/>
              <a:t> of the relation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A1, A2, …, An are the </a:t>
            </a:r>
            <a:r>
              <a:rPr b="1" lang="en-US" sz="2400"/>
              <a:t>attributes</a:t>
            </a:r>
            <a:r>
              <a:rPr lang="en-US" sz="2400"/>
              <a:t> of the relation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r(R):  a specific </a:t>
            </a:r>
            <a:r>
              <a:rPr b="1" lang="en-US" sz="2400"/>
              <a:t>state</a:t>
            </a:r>
            <a:r>
              <a:rPr lang="en-US" sz="2400"/>
              <a:t> (or "value" or “population”) of relation R – this is a </a:t>
            </a:r>
            <a:r>
              <a:rPr i="1" lang="en-US" sz="2400"/>
              <a:t>set of tuples</a:t>
            </a:r>
            <a:r>
              <a:rPr lang="en-US" sz="2400"/>
              <a:t> (rows)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r(R) = {t1, t2, …, tn} where each ti is an n-tuple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ti = &lt;v1, v2, …, vn&gt; where each vj </a:t>
            </a:r>
            <a:r>
              <a:rPr i="1" lang="en-US" sz="2200"/>
              <a:t>element-of</a:t>
            </a:r>
            <a:r>
              <a:rPr lang="en-US" sz="2200"/>
              <a:t> dom(Aj)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26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Formal Definitions - Example</a:t>
            </a:r>
            <a:endParaRPr/>
          </a:p>
        </p:txBody>
      </p:sp>
      <p:sp>
        <p:nvSpPr>
          <p:cNvPr id="185" name="Google Shape;185;p26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Let R(A1, A2) be a relation schema: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Let dom(A1) = {0,1}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Let  dom(A2) =  {a,b,c}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Then: dom(A1) X dom(A2) is all possible combinations: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Font typeface="Noto Sans Symbols"/>
              <a:buNone/>
            </a:pPr>
            <a:r>
              <a:rPr lang="en-US" sz="2200"/>
              <a:t>{&lt;0,a&gt; , &lt;0,b&gt; , &lt;0,c&gt;, &lt;1,a&gt;, &lt;1,b&gt;, &lt;1,c&gt; } 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Font typeface="Noto Sans Symbols"/>
              <a:buNone/>
            </a:pPr>
            <a:r>
              <a:t/>
            </a:r>
            <a:endParaRPr sz="22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The relation state r(R) ⊂ dom(A1) X dom(A2)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For example: r(R) could be {&lt;0,a&gt; , &lt;0,b&gt; , &lt;1,c&gt; }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this is one possible state (or “population” or “extension”) r of the relation R, defined over A1 and A2.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It has three 2-tuples: &lt;0,a&gt; , &lt;0,b&gt; , &lt;1,c&gt;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27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Definition Summary</a:t>
            </a:r>
            <a:endParaRPr/>
          </a:p>
        </p:txBody>
      </p:sp>
      <p:graphicFrame>
        <p:nvGraphicFramePr>
          <p:cNvPr id="193" name="Google Shape;193;p27"/>
          <p:cNvGraphicFramePr/>
          <p:nvPr/>
        </p:nvGraphicFramePr>
        <p:xfrm>
          <a:off x="6096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{D9A99620-B392-4D09-ADDE-D69F397DD9E8}</a:tableStyleId>
              </a:tblPr>
              <a:tblGrid>
                <a:gridCol w="3438525"/>
                <a:gridCol w="1111250"/>
                <a:gridCol w="3500450"/>
              </a:tblGrid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rPr b="0" i="0" lang="en-US" sz="2400" u="sng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Informal Terms</a:t>
                      </a:r>
                      <a:r>
                        <a:rPr b="0" i="0" lang="en-US" sz="2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rPr b="0" i="0" lang="en-US" sz="2400" u="sng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Formal Terms</a:t>
                      </a:r>
                      <a:r>
                        <a:rPr b="0" i="0" lang="en-US" sz="2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Table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Relation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Column Header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 possible Column Values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Domain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Row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Tuple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Table Definition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Schema of a Relation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Populated Table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33"/>
                        </a:buClr>
                        <a:buSzPts val="144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State of the Relation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– A relation STUDENT</a:t>
            </a:r>
            <a:endParaRPr/>
          </a:p>
        </p:txBody>
      </p:sp>
      <p:sp>
        <p:nvSpPr>
          <p:cNvPr id="201" name="Google Shape;201;p28"/>
          <p:cNvSpPr/>
          <p:nvPr/>
        </p:nvSpPr>
        <p:spPr>
          <a:xfrm>
            <a:off x="8886825" y="6159500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ig05_01" id="202" name="Google Shape;20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219325"/>
            <a:ext cx="8589963" cy="3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29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Characteristics Of Relations (4)</a:t>
            </a:r>
            <a:endParaRPr/>
          </a:p>
        </p:txBody>
      </p:sp>
      <p:sp>
        <p:nvSpPr>
          <p:cNvPr id="210" name="Google Shape;210;p29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Ordering of tuples in a relation r(R):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 sz="2800"/>
              <a:t>The tuples are </a:t>
            </a:r>
            <a:r>
              <a:rPr i="1" lang="en-US" sz="2800"/>
              <a:t>not considered to be ordered</a:t>
            </a:r>
            <a:r>
              <a:rPr lang="en-US" sz="2800"/>
              <a:t>, even though they appear to be in the tabular form.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Ordering of attributes in a relation schema R (and of values within each tuple):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 sz="2800"/>
              <a:t>We will consider the attributes in R(A1, A2, ..., An) and the values in t=&lt;v1, v2, ..., vn&gt; to be ordered 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(However, a more general alternative definition  of relation does not require this ordering).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" name="Google Shape;217;p30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Same state as previous Figure (but with different order of tuples)</a:t>
            </a:r>
            <a:endParaRPr/>
          </a:p>
        </p:txBody>
      </p:sp>
      <p:pic>
        <p:nvPicPr>
          <p:cNvPr descr="fig05_02" id="218" name="Google Shape;21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444750"/>
            <a:ext cx="8450263" cy="2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p31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Characteristics Of Relations</a:t>
            </a:r>
            <a:endParaRPr/>
          </a:p>
        </p:txBody>
      </p:sp>
      <p:sp>
        <p:nvSpPr>
          <p:cNvPr id="226" name="Google Shape;226;p31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Values in a tuple: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All values are considered atomic (indivisible).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Each value in a tuple must be from the domain of the attribute for that column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If tuple t = &lt;v1, v2, …, vn&gt; is a tuple (row) in the relation state r of R(A1, A2, …, An)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Then each </a:t>
            </a:r>
            <a:r>
              <a:rPr i="1" lang="en-US"/>
              <a:t>vi</a:t>
            </a:r>
            <a:r>
              <a:rPr lang="en-US"/>
              <a:t> must be a value from </a:t>
            </a:r>
            <a:r>
              <a:rPr i="1" lang="en-US"/>
              <a:t>dom(Ai)</a:t>
            </a:r>
            <a:endParaRPr/>
          </a:p>
          <a:p>
            <a:pPr indent="-152400" lvl="2" marL="1143000" rtl="0" algn="l">
              <a:spcBef>
                <a:spcPts val="48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A special </a:t>
            </a:r>
            <a:r>
              <a:rPr b="1" lang="en-US"/>
              <a:t>null</a:t>
            </a:r>
            <a:r>
              <a:rPr lang="en-US"/>
              <a:t> value is used to represent values that are unknown or inapplicable to certain tuples.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p32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Characteristics Of Relations</a:t>
            </a:r>
            <a:endParaRPr/>
          </a:p>
        </p:txBody>
      </p:sp>
      <p:sp>
        <p:nvSpPr>
          <p:cNvPr id="234" name="Google Shape;234;p32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Notation: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We refer to </a:t>
            </a:r>
            <a:r>
              <a:rPr b="1" lang="en-US"/>
              <a:t>component values</a:t>
            </a:r>
            <a:r>
              <a:rPr lang="en-US"/>
              <a:t> of a tuple t by: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t[Ai] or t.Ai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This is the value vi of attribute Ai for tuple t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Similarly, t[Au, Av, ..., Aw] refers to the subtuple of t containing the values of attributes Au, Av, ..., Aw, respectively in t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Ex: Student.Name , Student.PhoneNumber, …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1" name="Google Shape;241;p33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Relational Integrity Constraints</a:t>
            </a:r>
            <a:endParaRPr/>
          </a:p>
        </p:txBody>
      </p:sp>
      <p:sp>
        <p:nvSpPr>
          <p:cNvPr id="242" name="Google Shape;242;p33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Constraints are </a:t>
            </a:r>
            <a:r>
              <a:rPr b="1" lang="en-US" sz="2400"/>
              <a:t>conditions</a:t>
            </a:r>
            <a:r>
              <a:rPr lang="en-US" sz="2400"/>
              <a:t> that must hold on </a:t>
            </a:r>
            <a:r>
              <a:rPr b="1" lang="en-US" sz="2400"/>
              <a:t>all</a:t>
            </a:r>
            <a:r>
              <a:rPr lang="en-US" sz="2400"/>
              <a:t>  valid relation states.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There are three </a:t>
            </a:r>
            <a:r>
              <a:rPr i="1" lang="en-US" sz="2400"/>
              <a:t>main types</a:t>
            </a:r>
            <a:r>
              <a:rPr lang="en-US" sz="2400"/>
              <a:t> of constraints in the relational model: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b="1" lang="en-US" sz="2200"/>
              <a:t>Key</a:t>
            </a:r>
            <a:r>
              <a:rPr lang="en-US" sz="2200"/>
              <a:t> constraints (1)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Domain constraints ( on Attribute values)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b="1" lang="en-US" sz="2200"/>
              <a:t>Entity</a:t>
            </a:r>
            <a:r>
              <a:rPr lang="en-US" sz="2200"/>
              <a:t> </a:t>
            </a:r>
            <a:r>
              <a:rPr b="1" lang="en-US" sz="2200"/>
              <a:t>integrity</a:t>
            </a:r>
            <a:r>
              <a:rPr lang="en-US" sz="2200"/>
              <a:t> constraints (1 Relation)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b="1" lang="en-US" sz="2200"/>
              <a:t>Referential integrity</a:t>
            </a:r>
            <a:r>
              <a:rPr lang="en-US" sz="2200"/>
              <a:t> constraints ( 2 Relations/ Tables)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Another implicit constraint is the </a:t>
            </a:r>
            <a:r>
              <a:rPr b="1" lang="en-US" sz="2400"/>
              <a:t>domain</a:t>
            </a:r>
            <a:r>
              <a:rPr lang="en-US" sz="2400"/>
              <a:t> constraint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Every value in a tuple must be from the </a:t>
            </a:r>
            <a:r>
              <a:rPr i="1" lang="en-US" sz="2200"/>
              <a:t>domain of its attribute</a:t>
            </a:r>
            <a:r>
              <a:rPr lang="en-US" sz="2200"/>
              <a:t> (or it could be </a:t>
            </a:r>
            <a:r>
              <a:rPr b="1" lang="en-US" sz="2200"/>
              <a:t>null</a:t>
            </a:r>
            <a:r>
              <a:rPr lang="en-US" sz="2200"/>
              <a:t>, if allowed for that attribute)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9" name="Google Shape;249;p34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Key Constraints</a:t>
            </a:r>
            <a:endParaRPr/>
          </a:p>
        </p:txBody>
      </p:sp>
      <p:sp>
        <p:nvSpPr>
          <p:cNvPr id="250" name="Google Shape;250;p34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b="1" lang="en-US" sz="2400"/>
              <a:t>Superkey</a:t>
            </a:r>
            <a:r>
              <a:rPr lang="en-US" sz="2400"/>
              <a:t> of R: 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Is a set of attributes SK of R with the following condition: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No two tuples in any valid relation state r(R) will have the same value for SK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That is, for any distinct tuples t1 and t2 in r(R), t1[SK] ≠ t2[SK]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This condition must hold in </a:t>
            </a:r>
            <a:r>
              <a:rPr i="1" lang="en-US" sz="2000"/>
              <a:t>any valid state</a:t>
            </a:r>
            <a:r>
              <a:rPr lang="en-US" sz="2000"/>
              <a:t> r(R)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b="1" lang="en-US" sz="2400"/>
              <a:t>Key</a:t>
            </a:r>
            <a:r>
              <a:rPr lang="en-US" sz="2400"/>
              <a:t> of R: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A "minimal" superkey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That is, a key is a superkey K such that removal of any attribute from K results in a set of attributes that is not a superkey (does not possess the superkey uniqueness property)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7" name="Google Shape;257;p35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Constraints (continued)</a:t>
            </a:r>
            <a:endParaRPr/>
          </a:p>
        </p:txBody>
      </p:sp>
      <p:sp>
        <p:nvSpPr>
          <p:cNvPr id="258" name="Google Shape;258;p35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Example: Consider the CAR relation schema: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CAR(State, Reg#, SerialNo, Make, Model, Year)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CAR has two keys: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Key1 = {State, Reg#}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Key2 = {SerialNo}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Both are also superkeys of CAR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{SerialNo, Make} is a superkey but </a:t>
            </a:r>
            <a:r>
              <a:rPr i="1" lang="en-US" sz="2200"/>
              <a:t>not</a:t>
            </a:r>
            <a:r>
              <a:rPr lang="en-US" sz="2200"/>
              <a:t> a key.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In general: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Any </a:t>
            </a:r>
            <a:r>
              <a:rPr i="1" lang="en-US" sz="2200"/>
              <a:t>key</a:t>
            </a:r>
            <a:r>
              <a:rPr lang="en-US" sz="2200"/>
              <a:t> is a </a:t>
            </a:r>
            <a:r>
              <a:rPr i="1" lang="en-US" sz="2200"/>
              <a:t>superkey </a:t>
            </a:r>
            <a:r>
              <a:rPr lang="en-US" sz="2200"/>
              <a:t>(but not vice versa)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Any set of attributes that </a:t>
            </a:r>
            <a:r>
              <a:rPr i="1" lang="en-US" sz="2200"/>
              <a:t>includes a key</a:t>
            </a:r>
            <a:r>
              <a:rPr lang="en-US" sz="2200"/>
              <a:t> is a </a:t>
            </a:r>
            <a:r>
              <a:rPr i="1" lang="en-US" sz="2200"/>
              <a:t>superkey</a:t>
            </a:r>
            <a:endParaRPr i="1" sz="2200"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A </a:t>
            </a:r>
            <a:r>
              <a:rPr i="1" lang="en-US" sz="2200"/>
              <a:t>minimal</a:t>
            </a:r>
            <a:r>
              <a:rPr lang="en-US" sz="2200"/>
              <a:t> superkey is also a key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5" name="Google Shape;265;p36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Constraints (continued)</a:t>
            </a:r>
            <a:endParaRPr/>
          </a:p>
        </p:txBody>
      </p:sp>
      <p:sp>
        <p:nvSpPr>
          <p:cNvPr id="266" name="Google Shape;266;p36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If a relation has several </a:t>
            </a:r>
            <a:r>
              <a:rPr b="1" lang="en-US" sz="2400"/>
              <a:t>candidate keys</a:t>
            </a:r>
            <a:r>
              <a:rPr lang="en-US" sz="2400"/>
              <a:t>, one is chosen arbitrarily to be the </a:t>
            </a:r>
            <a:r>
              <a:rPr b="1" lang="en-US" sz="2400"/>
              <a:t>primary key</a:t>
            </a:r>
            <a:r>
              <a:rPr lang="en-US" sz="2400"/>
              <a:t>.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The primary key attributes are </a:t>
            </a:r>
            <a:r>
              <a:rPr lang="en-US" sz="2200" u="sng"/>
              <a:t>underlined</a:t>
            </a:r>
            <a:r>
              <a:rPr lang="en-US" sz="2200"/>
              <a:t>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Example: Consider the CAR relation schema: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CAR(State, Reg#, </a:t>
            </a:r>
            <a:r>
              <a:rPr lang="en-US" sz="2200" u="sng"/>
              <a:t>SerialNo</a:t>
            </a:r>
            <a:r>
              <a:rPr lang="en-US" sz="2200"/>
              <a:t>, Make, Model, Year)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We chose SerialNo as the primary key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The primary key value is used to </a:t>
            </a:r>
            <a:r>
              <a:rPr i="1" lang="en-US" sz="2400"/>
              <a:t>uniquely identify</a:t>
            </a:r>
            <a:r>
              <a:rPr lang="en-US" sz="2400"/>
              <a:t> each tuple in a relation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Provides the tuple identity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Also used to </a:t>
            </a:r>
            <a:r>
              <a:rPr i="1" lang="en-US" sz="2400"/>
              <a:t>reference</a:t>
            </a:r>
            <a:r>
              <a:rPr lang="en-US" sz="2400"/>
              <a:t> the tuple from another tuple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General rule: Choose as primary key the smallest of the candidate keys (in terms of size)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Not always applicable – choice is sometimes subjective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3" name="Google Shape;273;p37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CAR table with two candidate keys – LicenseNumber chosen as Primary Key</a:t>
            </a:r>
            <a:endParaRPr/>
          </a:p>
        </p:txBody>
      </p:sp>
      <p:pic>
        <p:nvPicPr>
          <p:cNvPr descr="fig05_04" id="274" name="Google Shape;27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559050"/>
            <a:ext cx="841375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38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Relational Database Schema</a:t>
            </a:r>
            <a:endParaRPr/>
          </a:p>
        </p:txBody>
      </p:sp>
      <p:sp>
        <p:nvSpPr>
          <p:cNvPr id="282" name="Google Shape;282;p38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b="1" lang="en-US"/>
              <a:t>Relational Database Schema: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A set S of relation schemas that belong to the same database.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S is the name of the whole </a:t>
            </a:r>
            <a:r>
              <a:rPr b="1" lang="en-US"/>
              <a:t>database schema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S = {R1, R2, ..., Rn}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R1, R2, …, Rn are the names of the individual </a:t>
            </a:r>
            <a:r>
              <a:rPr b="1" lang="en-US"/>
              <a:t>relation schemas</a:t>
            </a:r>
            <a:r>
              <a:rPr lang="en-US"/>
              <a:t> within the database 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Following slide shows a COMPANY database schema with 6 relation schemas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fig05_05" id="289" name="Google Shape;28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524000"/>
            <a:ext cx="8074025" cy="49022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290" name="Google Shape;290;p39"/>
          <p:cNvSpPr txBox="1"/>
          <p:nvPr/>
        </p:nvSpPr>
        <p:spPr>
          <a:xfrm>
            <a:off x="381000" y="762000"/>
            <a:ext cx="6934200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COMPANY Database Schema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7" name="Google Shape;297;p40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Entity Integrity</a:t>
            </a:r>
            <a:endParaRPr/>
          </a:p>
        </p:txBody>
      </p:sp>
      <p:sp>
        <p:nvSpPr>
          <p:cNvPr id="298" name="Google Shape;298;p40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b="1" lang="en-US" sz="2400"/>
              <a:t>Entity Integrity: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The </a:t>
            </a:r>
            <a:r>
              <a:rPr i="1" lang="en-US" sz="2400"/>
              <a:t>primary key attributes</a:t>
            </a:r>
            <a:r>
              <a:rPr lang="en-US" sz="2400"/>
              <a:t> PK of each relation schema R in S cannot have null values in any tuple of r(R).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This is because primary key values are used to </a:t>
            </a:r>
            <a:r>
              <a:rPr i="1" lang="en-US" sz="2000"/>
              <a:t>identify</a:t>
            </a:r>
            <a:r>
              <a:rPr lang="en-US" sz="2000"/>
              <a:t> the individual tuples.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t[PK] ≠ null for any tuple t in r(R)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If PK has several attributes, null is not allowed in any of these attributes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Note: Other attributes of R may be constrained  to disallow null values, even though they are not members of the primary key.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5" name="Google Shape;305;p41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Referential Integrity – Foreign Key</a:t>
            </a:r>
            <a:endParaRPr/>
          </a:p>
        </p:txBody>
      </p:sp>
      <p:sp>
        <p:nvSpPr>
          <p:cNvPr id="306" name="Google Shape;306;p41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A constraint involving </a:t>
            </a:r>
            <a:r>
              <a:rPr b="1" lang="en-US"/>
              <a:t>two</a:t>
            </a:r>
            <a:r>
              <a:rPr lang="en-US"/>
              <a:t> relations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The previous constraints involve a single  relation.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Used to specify a </a:t>
            </a:r>
            <a:r>
              <a:rPr b="1" lang="en-US"/>
              <a:t>relationship</a:t>
            </a:r>
            <a:r>
              <a:rPr lang="en-US"/>
              <a:t> among tuples in two relations: 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The </a:t>
            </a:r>
            <a:r>
              <a:rPr b="1" lang="en-US"/>
              <a:t>referencing relation </a:t>
            </a:r>
            <a:r>
              <a:rPr lang="en-US"/>
              <a:t>and the </a:t>
            </a:r>
            <a:r>
              <a:rPr b="1" lang="en-US"/>
              <a:t>referenced relation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2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4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152400"/>
            <a:ext cx="7796213" cy="624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3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0"/>
            <a:ext cx="5882481" cy="4348162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7" name="Google Shape;327;p44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Referential Integrity</a:t>
            </a:r>
            <a:endParaRPr/>
          </a:p>
        </p:txBody>
      </p:sp>
      <p:sp>
        <p:nvSpPr>
          <p:cNvPr id="328" name="Google Shape;328;p44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Tuples in the </a:t>
            </a:r>
            <a:r>
              <a:rPr b="1" lang="en-US"/>
              <a:t>referencing relation</a:t>
            </a:r>
            <a:r>
              <a:rPr lang="en-US"/>
              <a:t> R1 have attributes FK (called </a:t>
            </a:r>
            <a:r>
              <a:rPr b="1" lang="en-US"/>
              <a:t>foreign key</a:t>
            </a:r>
            <a:r>
              <a:rPr lang="en-US"/>
              <a:t> attributes) that reference the primary key attributes PK of the </a:t>
            </a:r>
            <a:r>
              <a:rPr b="1" lang="en-US"/>
              <a:t>referenced relation</a:t>
            </a:r>
            <a:r>
              <a:rPr lang="en-US"/>
              <a:t> R2.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A tuple t1 in R1 is said to </a:t>
            </a:r>
            <a:r>
              <a:rPr b="1" lang="en-US"/>
              <a:t>reference</a:t>
            </a:r>
            <a:r>
              <a:rPr lang="en-US"/>
              <a:t> a tuple t2 in R2 if t1[FK] = t2[PK].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A referential integrity constraint can be displayed in a relational database schema as a directed arc from R1.FK to R2.PK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5" name="Google Shape;335;p45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Referential Integrity (or foreign key) </a:t>
            </a:r>
            <a:br>
              <a:rPr lang="en-US"/>
            </a:br>
            <a:r>
              <a:rPr lang="en-US"/>
              <a:t>Constraint</a:t>
            </a:r>
            <a:endParaRPr/>
          </a:p>
        </p:txBody>
      </p:sp>
      <p:sp>
        <p:nvSpPr>
          <p:cNvPr id="336" name="Google Shape;336;p45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Statement of the constraint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The value in the foreign key column (or columns) FK of the the </a:t>
            </a:r>
            <a:r>
              <a:rPr b="1" lang="en-US"/>
              <a:t>referencing relation</a:t>
            </a:r>
            <a:r>
              <a:rPr lang="en-US"/>
              <a:t> R1 can be </a:t>
            </a:r>
            <a:r>
              <a:rPr b="1" lang="en-US"/>
              <a:t>either</a:t>
            </a:r>
            <a:r>
              <a:rPr lang="en-US"/>
              <a:t>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(1) a value of an existing primary key value of a corresponding primary key PK in the </a:t>
            </a:r>
            <a:r>
              <a:rPr b="1" lang="en-US"/>
              <a:t>referenced relation</a:t>
            </a:r>
            <a:r>
              <a:rPr lang="en-US"/>
              <a:t> R2, </a:t>
            </a:r>
            <a:r>
              <a:rPr lang="en-US" u="sng"/>
              <a:t>or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(2) a </a:t>
            </a:r>
            <a:r>
              <a:rPr b="1" lang="en-US"/>
              <a:t>null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In case (2), the FK in R1 should </a:t>
            </a:r>
            <a:r>
              <a:rPr b="1" lang="en-US"/>
              <a:t>not</a:t>
            </a:r>
            <a:r>
              <a:rPr lang="en-US"/>
              <a:t> be a part of its own primary key.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3" name="Google Shape;343;p46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Displaying a relational database schema and its constraints</a:t>
            </a:r>
            <a:endParaRPr/>
          </a:p>
        </p:txBody>
      </p:sp>
      <p:sp>
        <p:nvSpPr>
          <p:cNvPr id="344" name="Google Shape;344;p46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Each relation schema can be displayed as a row of attribute names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The name of the relation is written above the attribute names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The primary key attribute (or attributes) will be underlined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A foreign key (referential integrity) constraints is displayed as a directed arc (arrow) from the foreign key attributes to the referenced table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Can also point the the primary key of the referenced relation for clarity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Next slide shows the COMPANY </a:t>
            </a:r>
            <a:r>
              <a:rPr b="1" lang="en-US" sz="2400"/>
              <a:t>relational schema diagram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fig05_07" id="351" name="Google Shape;35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592263"/>
            <a:ext cx="6477000" cy="48085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352" name="Google Shape;352;p47"/>
          <p:cNvSpPr txBox="1"/>
          <p:nvPr/>
        </p:nvSpPr>
        <p:spPr>
          <a:xfrm>
            <a:off x="457200" y="762000"/>
            <a:ext cx="830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Referential Integrity Constraints for COMPANY database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" name="Google Shape;359;p48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Types of Constraints</a:t>
            </a:r>
            <a:endParaRPr/>
          </a:p>
        </p:txBody>
      </p:sp>
      <p:sp>
        <p:nvSpPr>
          <p:cNvPr id="360" name="Google Shape;360;p48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Semantic Integrity Constraints: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based on application semantics and cannot be expressed by the model per se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Example: “the max. no. of hours per employee for all projects he or she works on is 56 hrs per week”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A </a:t>
            </a:r>
            <a:r>
              <a:rPr b="1" lang="en-US"/>
              <a:t>constraint specification</a:t>
            </a:r>
            <a:r>
              <a:rPr lang="en-US"/>
              <a:t> language may have to be used to express these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SQL-99 allows triggers and </a:t>
            </a:r>
            <a:r>
              <a:rPr b="1" lang="en-US"/>
              <a:t>ASSERTIONS</a:t>
            </a:r>
            <a:r>
              <a:rPr lang="en-US"/>
              <a:t> to express for some of these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9"/>
          <p:cNvSpPr txBox="1"/>
          <p:nvPr>
            <p:ph type="title"/>
          </p:nvPr>
        </p:nvSpPr>
        <p:spPr>
          <a:xfrm>
            <a:off x="228600" y="0"/>
            <a:ext cx="8610600" cy="7635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 – To identify Referential Integrity</a:t>
            </a:r>
            <a:endParaRPr/>
          </a:p>
        </p:txBody>
      </p:sp>
      <p:sp>
        <p:nvSpPr>
          <p:cNvPr id="366" name="Google Shape;366;p49"/>
          <p:cNvSpPr txBox="1"/>
          <p:nvPr>
            <p:ph idx="1" type="body"/>
          </p:nvPr>
        </p:nvSpPr>
        <p:spPr>
          <a:xfrm>
            <a:off x="239713" y="914400"/>
            <a:ext cx="8610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Account(AID,CID,Balance)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Customer(CID,Name,City)</a:t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367" name="Google Shape;367;p4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8" name="Google Shape;36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286000"/>
            <a:ext cx="8001000" cy="4265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"/>
          <p:cNvSpPr txBox="1"/>
          <p:nvPr>
            <p:ph idx="1" type="body"/>
          </p:nvPr>
        </p:nvSpPr>
        <p:spPr>
          <a:xfrm>
            <a:off x="239713" y="381000"/>
            <a:ext cx="8294687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36220" lvl="0" marL="342900" rtl="0" algn="l"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1.Book(ISBN, Title,Author, Category, PID)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Publisher(Pname, PID,Address,email)</a:t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2. Customer(CID,Name)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Orders(OID,PID,Quantity, CID)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Products(PID,Name, Price)</a:t>
            </a:r>
            <a:endParaRPr/>
          </a:p>
        </p:txBody>
      </p:sp>
      <p:sp>
        <p:nvSpPr>
          <p:cNvPr id="374" name="Google Shape;374;p5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1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Identify  -&gt; Keys (seen till now - 04)</a:t>
            </a:r>
            <a:endParaRPr/>
          </a:p>
        </p:txBody>
      </p:sp>
      <p:sp>
        <p:nvSpPr>
          <p:cNvPr id="380" name="Google Shape;380;p51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36220" lvl="0" marL="342900" rtl="0" algn="l"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381" name="Google Shape;381;p5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52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Populated database state</a:t>
            </a:r>
            <a:endParaRPr/>
          </a:p>
        </p:txBody>
      </p:sp>
      <p:sp>
        <p:nvSpPr>
          <p:cNvPr id="388" name="Google Shape;388;p52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Each </a:t>
            </a:r>
            <a:r>
              <a:rPr i="1" lang="en-US" sz="2400"/>
              <a:t>relation</a:t>
            </a:r>
            <a:r>
              <a:rPr lang="en-US" sz="2400"/>
              <a:t> will have many tuples in its current relation state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The </a:t>
            </a:r>
            <a:r>
              <a:rPr i="1" lang="en-US" sz="2400"/>
              <a:t>relational database state</a:t>
            </a:r>
            <a:r>
              <a:rPr lang="en-US" sz="2400"/>
              <a:t> is a union of all the individual relation states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Whenever the database is changed, a new state arises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Basic operations for changing the database: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INSERT a new tuple in a relation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DELETE an existing tuple from a relation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MODIFY an attribute of an existing tuple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Next slide shows an example state for the COMPANY database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fig05_06" id="395" name="Google Shape;39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1524000"/>
            <a:ext cx="3948113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396" name="Google Shape;396;p53"/>
          <p:cNvSpPr txBox="1"/>
          <p:nvPr/>
        </p:nvSpPr>
        <p:spPr>
          <a:xfrm>
            <a:off x="381000" y="838200"/>
            <a:ext cx="708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Populated database state for COMPANY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3" name="Google Shape;403;p54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Update Operations on Relations</a:t>
            </a:r>
            <a:endParaRPr/>
          </a:p>
        </p:txBody>
      </p:sp>
      <p:sp>
        <p:nvSpPr>
          <p:cNvPr id="404" name="Google Shape;404;p54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INSERT a tuple.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DELETE a tuple.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MODIFY a tuple.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Integrity constraints should not be violated by the update operations.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Several update operations may have to be grouped together.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Updates may </a:t>
            </a:r>
            <a:r>
              <a:rPr b="1" lang="en-US"/>
              <a:t>propagate</a:t>
            </a:r>
            <a:r>
              <a:rPr lang="en-US"/>
              <a:t>  to cause other updates automatically. This may be necessary to maintain integrity constraints.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1" name="Google Shape;411;p55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Update Operations on Relations</a:t>
            </a:r>
            <a:endParaRPr/>
          </a:p>
        </p:txBody>
      </p:sp>
      <p:sp>
        <p:nvSpPr>
          <p:cNvPr id="412" name="Google Shape;412;p55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In case of integrity violation, several actions can be taken: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Cancel the operation that causes the violation (RESTRICT or REJECT option)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Perform the operation but inform the user of the violation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Trigger additional updates so the violation is corrected (CASCADE option, SET NULL option)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Execute a user-specified error-correction routine 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8" name="Google Shape;418;p56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Possible violations for each operation</a:t>
            </a:r>
            <a:endParaRPr/>
          </a:p>
        </p:txBody>
      </p:sp>
      <p:sp>
        <p:nvSpPr>
          <p:cNvPr id="419" name="Google Shape;419;p56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INSERT may violate any of the constraints: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Domain constraint: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if one of the attribute values provided for the new tuple is not of the specified attribute domain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Key constraint: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if the value of a key attribute in the new tuple already exists in another tuple in the relation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Referential integrity: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if a foreign key value in the new tuple references a primary key value that does not exist in the referenced relation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Entity integrity: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if the primary key value is null in the new tuple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5" name="Google Shape;425;p57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Possible violations for each operation</a:t>
            </a:r>
            <a:endParaRPr/>
          </a:p>
        </p:txBody>
      </p:sp>
      <p:sp>
        <p:nvSpPr>
          <p:cNvPr id="426" name="Google Shape;426;p57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DELETE may violate only referential integrity: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If the primary key value of the tuple being deleted is referenced from other tuples in the database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Can be remedied by several actions: RESTRICT, CASCADE, SET NULL (see Chapter 8 for more details)</a:t>
            </a:r>
            <a:endParaRPr/>
          </a:p>
          <a:p>
            <a:pPr indent="-228600" lvl="3" marL="1600200" rtl="0" algn="l"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 sz="1800"/>
              <a:t>RESTRICT option: reject the deletion</a:t>
            </a:r>
            <a:endParaRPr/>
          </a:p>
          <a:p>
            <a:pPr indent="-228600" lvl="3" marL="1600200" rtl="0" algn="l"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 sz="1800"/>
              <a:t>CASCADE option: propagate the new primary key value into the foreign keys of the referencing tuples</a:t>
            </a:r>
            <a:endParaRPr/>
          </a:p>
          <a:p>
            <a:pPr indent="-228600" lvl="3" marL="1600200" rtl="0" algn="l"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 sz="1800"/>
              <a:t>SET NULL option: set the foreign keys of the referencing tuples to NULL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One of the above options must be specified during database design for each foreign key constraint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2" name="Google Shape;432;p58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Possible violations for each operation</a:t>
            </a:r>
            <a:endParaRPr/>
          </a:p>
        </p:txBody>
      </p:sp>
      <p:sp>
        <p:nvSpPr>
          <p:cNvPr id="433" name="Google Shape;433;p58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UPDATE may violate domain constraint and NOT NULL constraint on an attribute being modified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Any of the other constraints may also be violated, depending on the attribute being updated: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Updating the primary key (PK):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Similar to a DELETE followed by an INSERT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Need to specify similar options to DELETE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Updating a foreign key (FK):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May violate referential integrity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Updating an ordinary attribute (neither PK nor FK):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Can only violate domain constraints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0" name="Google Shape;440;p59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441" name="Google Shape;441;p59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Presented Relational Model Concepts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Definitions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Characteristics of relations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Discussed Relational Model Constraints and Relational Database Schemas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Domain constraints’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Key constraints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Entity integrity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Referential integrity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Described the Relational Update Operations and Dealing with Constraint Violations</a:t>
            </a:r>
            <a:endParaRPr/>
          </a:p>
          <a:p>
            <a:pPr indent="-251459" lvl="0" marL="34290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8" name="Google Shape;448;p60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In-Class Exercise</a:t>
            </a:r>
            <a:endParaRPr/>
          </a:p>
        </p:txBody>
      </p:sp>
      <p:sp>
        <p:nvSpPr>
          <p:cNvPr id="449" name="Google Shape;449;p60"/>
          <p:cNvSpPr txBox="1"/>
          <p:nvPr/>
        </p:nvSpPr>
        <p:spPr>
          <a:xfrm>
            <a:off x="228600" y="1606550"/>
            <a:ext cx="8534400" cy="4216400"/>
          </a:xfrm>
          <a:prstGeom prst="rect">
            <a:avLst/>
          </a:prstGeom>
          <a:noFill/>
          <a:ln cap="flat" cmpd="sng" w="9525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(Taken from Exercise 5.15)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following relations for a database that keeps track of student enrollment in courses and the books adopted for each course: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STUDENT(</a:t>
            </a:r>
            <a:r>
              <a:rPr lang="en-US" sz="20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SSN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Name, Major, Bdate)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COURSE(</a:t>
            </a:r>
            <a:r>
              <a:rPr lang="en-US" sz="20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Course#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Cname, Dept)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ENROLL(</a:t>
            </a:r>
            <a:r>
              <a:rPr lang="en-US" sz="20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SSN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Course#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Quarter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Grade)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BOOK_ADOPTION(</a:t>
            </a:r>
            <a:r>
              <a:rPr lang="en-US" sz="20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Course#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Quarter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Book_ISBN)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TEXT(</a:t>
            </a:r>
            <a:r>
              <a:rPr lang="en-US" sz="20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Book_ISBN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Book_Title, Publisher, Author)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 a relational schema diagram specifying the foreign keys for this schema.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