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14"/>
  </p:notesMasterIdLst>
  <p:sldIdLst>
    <p:sldId id="511" r:id="rId2"/>
    <p:sldId id="512" r:id="rId3"/>
    <p:sldId id="513" r:id="rId4"/>
    <p:sldId id="525" r:id="rId5"/>
    <p:sldId id="526" r:id="rId6"/>
    <p:sldId id="514" r:id="rId7"/>
    <p:sldId id="518" r:id="rId8"/>
    <p:sldId id="527" r:id="rId9"/>
    <p:sldId id="531" r:id="rId10"/>
    <p:sldId id="530" r:id="rId11"/>
    <p:sldId id="529" r:id="rId12"/>
    <p:sldId id="50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8" autoAdjust="0"/>
    <p:restoredTop sz="94660"/>
  </p:normalViewPr>
  <p:slideViewPr>
    <p:cSldViewPr snapToGrid="0">
      <p:cViewPr varScale="1">
        <p:scale>
          <a:sx n="85" d="100"/>
          <a:sy n="85" d="100"/>
        </p:scale>
        <p:origin x="50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43F0-1FB2-41E4-961B-8CAB2AED1024}" type="datetimeFigureOut">
              <a:rPr lang="en-IN" smtClean="0"/>
              <a:pPr/>
              <a:t>06-02-2023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0133-9643-4EF8-94CA-FEF99B36DC3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00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ED040E-D84B-4102-9BE5-3097DEE38D05}" type="slidenum">
              <a:rPr lang="en-CA" smtClean="0">
                <a:latin typeface="Tahoma" panose="020B0604030504040204" pitchFamily="34" charset="0"/>
              </a:rPr>
              <a:pPr/>
              <a:t>1</a:t>
            </a:fld>
            <a:endParaRPr lang="en-CA">
              <a:latin typeface="Tahom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45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3CC5FF-8425-401F-A2F1-FC3C00DF98D7}" type="slidenum">
              <a:rPr lang="en-CA" smtClean="0">
                <a:latin typeface="Tahoma" panose="020B0604030504040204" pitchFamily="34" charset="0"/>
              </a:rPr>
              <a:pPr/>
              <a:t>3</a:t>
            </a:fld>
            <a:endParaRPr lang="en-CA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68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C28A4E-319D-47BB-ADF3-2B7784F0AEC7}" type="slidenum">
              <a:rPr lang="en-CA" altLang="en-US" sz="1200" i="0">
                <a:latin typeface="Tahoma" panose="020B0604030504040204" pitchFamily="34" charset="0"/>
              </a:rPr>
              <a:pPr/>
              <a:t>4</a:t>
            </a:fld>
            <a:endParaRPr lang="en-CA" altLang="en-US" sz="1200" i="0">
              <a:latin typeface="Tahoma" panose="020B060403050404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4229585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D9F593-6EB4-4162-8D37-306F3F5AE13D}" type="slidenum">
              <a:rPr lang="en-CA" smtClean="0">
                <a:latin typeface="Tahoma" panose="020B0604030504040204" pitchFamily="34" charset="0"/>
              </a:rPr>
              <a:pPr/>
              <a:t>6</a:t>
            </a:fld>
            <a:endParaRPr lang="en-CA"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9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9A2B21-BEE6-D145-944A-69DA248CE2CD}" type="slidenum">
              <a:rPr lang="en-CA" altLang="en-US"/>
              <a:pPr/>
              <a:t>9</a:t>
            </a:fld>
            <a:endParaRPr lang="en-CA" altLang="en-US"/>
          </a:p>
        </p:txBody>
      </p:sp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730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15BFBB-1B30-934E-8A2A-FA668706DFAD}" type="slidenum">
              <a:rPr lang="en-CA" altLang="en-US"/>
              <a:pPr/>
              <a:t>10</a:t>
            </a:fld>
            <a:endParaRPr lang="en-CA" altLang="en-US"/>
          </a:p>
        </p:txBody>
      </p:sp>
      <p:sp>
        <p:nvSpPr>
          <p:cNvPr id="80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037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82634F-F589-4413-80EA-4CA9C5F029B8}" type="slidenum">
              <a:rPr lang="en-CA"/>
              <a:pPr/>
              <a:t>11</a:t>
            </a:fld>
            <a:endParaRPr lang="en-CA"/>
          </a:p>
        </p:txBody>
      </p:sp>
      <p:sp>
        <p:nvSpPr>
          <p:cNvPr id="80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2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CD6D-5F12-476E-8453-3D311B450A4E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C728CEA0-BA7F-4BA3-B201-6B7A8B3DF1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62028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78052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5E2C67C7-C385-4A44-A78F-D95F8B3254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575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092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42C8A-CD12-4DFD-ABE8-8CF3B1F53511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E4AAF7F-3876-4F6B-8901-E7673BBFD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4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79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554-EC08-4A9A-B955-1CE402443775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EF3C39C1-9BAB-4C45-A144-CF8BF2E72B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9189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344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B3C8-7270-4E63-BAFF-F61146C872A9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1B300F68-EEC8-479F-89B4-B66DB0F42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13" y="12104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810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E7326-4BB3-4EF7-A825-D7B8443422EC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2" descr="C:\Users\Srinidhi\Desktop\logo.png">
            <a:extLst>
              <a:ext uri="{FF2B5EF4-FFF2-40B4-BE49-F238E27FC236}">
                <a16:creationId xmlns:a16="http://schemas.microsoft.com/office/drawing/2014/main" id="{6720B71A-9CF9-4970-96CA-352F2D5F33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415" y="34776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649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CBBB-99BF-46C2-A597-705C3E515BE3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7393EDB9-65C6-42AA-B582-C92413F0D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867" y="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47425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F2DF96F-D195-4D32-A22A-EB824CFB176E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BF8E43F-406B-489A-A07B-CBBB6CD8B6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29" y="-48825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3316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0D-FF02-4389-90FD-819CA8976B9B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8D7279E7-0A06-4D9D-B018-700B7F4A3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377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8DE7-22DF-4C71-8810-45CE4D417C2D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2BFF8954-070D-4352-AC3E-DD7D500D0A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28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67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C541-F4E6-4488-B462-EF7A047E4C61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0" name="Picture 2" descr="C:\Users\Srinidhi\Desktop\logo.png">
            <a:extLst>
              <a:ext uri="{FF2B5EF4-FFF2-40B4-BE49-F238E27FC236}">
                <a16:creationId xmlns:a16="http://schemas.microsoft.com/office/drawing/2014/main" id="{F8681246-1AFA-47C1-8723-E212F3BD69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8927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88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7FF271-DAE5-45E4-9C4D-A89BEE8B6E22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Algorithms for Relational Database Schema Design</a:t>
            </a:r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000" b="1" dirty="0"/>
              <a:t>Relational Synthesis into 3NF with Dependency Preservation (Relational Synthesis Algorithm)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b="1" dirty="0"/>
              <a:t>Input: A universal relation R and a set of functional dependencies F on the attributes of R.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1.</a:t>
            </a:r>
            <a:r>
              <a:rPr lang="en-US" sz="2000" b="1" dirty="0"/>
              <a:t> </a:t>
            </a:r>
            <a:r>
              <a:rPr lang="en-US" sz="2000" dirty="0"/>
              <a:t>Find a minimal cover G for F;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2.</a:t>
            </a:r>
            <a:r>
              <a:rPr lang="en-US" sz="2000" b="1" dirty="0"/>
              <a:t> </a:t>
            </a:r>
            <a:r>
              <a:rPr lang="en-US" sz="2000" dirty="0"/>
              <a:t>For each left-hand-side X of a functional dependency that appears in G,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create a relation schema in D with attributes {X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{A1}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{A2} ...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</a:t>
            </a:r>
            <a:r>
              <a:rPr lang="en-US" sz="2000" dirty="0" err="1"/>
              <a:t>Ak</a:t>
            </a:r>
            <a:r>
              <a:rPr lang="en-US" sz="2000" dirty="0"/>
              <a:t>}},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where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A1,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A2, ...,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</a:t>
            </a:r>
            <a:r>
              <a:rPr lang="en-US" sz="2000" dirty="0" err="1"/>
              <a:t>Ak</a:t>
            </a:r>
            <a:r>
              <a:rPr lang="en-US" sz="2000" dirty="0"/>
              <a:t> are the only dependencies in G with X as left-hand-side (X is the key of this relation) 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3.</a:t>
            </a:r>
            <a:r>
              <a:rPr lang="en-US" sz="2000" b="1" dirty="0"/>
              <a:t> </a:t>
            </a:r>
            <a:r>
              <a:rPr lang="en-US" sz="2000" dirty="0"/>
              <a:t>Place any remaining attributes (that have not been placed in any relation) in a single relation schema to ensure the attribute preservation property.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/>
              <a:t>Claim: Every relation schema created by Algorithm is in 3NF.</a:t>
            </a:r>
          </a:p>
        </p:txBody>
      </p:sp>
    </p:spTree>
    <p:extLst>
      <p:ext uri="{BB962C8B-B14F-4D97-AF65-F5344CB8AC3E}">
        <p14:creationId xmlns:p14="http://schemas.microsoft.com/office/powerpoint/2010/main" val="3323028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7003" y="3438659"/>
            <a:ext cx="7044743" cy="291062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US" sz="4400" dirty="0">
                <a:sym typeface="Wingdings" panose="05000000000000000000" pitchFamily="2" charset="2"/>
              </a:rPr>
              <a:t>Minimal Cover:</a:t>
            </a:r>
          </a:p>
          <a:p>
            <a:pPr eaLnBrk="1" hangingPunct="1">
              <a:defRPr/>
            </a:pPr>
            <a:r>
              <a:rPr lang="en-US" sz="4400" dirty="0" err="1"/>
              <a:t>Essn</a:t>
            </a:r>
            <a:r>
              <a:rPr lang="en-US" sz="4400" dirty="0">
                <a:sym typeface="Wingdings" panose="05000000000000000000" pitchFamily="2" charset="2"/>
              </a:rPr>
              <a:t> </a:t>
            </a:r>
            <a:r>
              <a:rPr lang="en-US" sz="4400" dirty="0" err="1">
                <a:sym typeface="Wingdings" panose="05000000000000000000" pitchFamily="2" charset="2"/>
              </a:rPr>
              <a:t>Esal</a:t>
            </a:r>
            <a:r>
              <a:rPr lang="en-US" sz="4400" dirty="0">
                <a:sym typeface="Wingdings" panose="05000000000000000000" pitchFamily="2" charset="2"/>
              </a:rPr>
              <a:t>, </a:t>
            </a:r>
            <a:r>
              <a:rPr lang="en-US" sz="4400" dirty="0" err="1">
                <a:sym typeface="Wingdings" panose="05000000000000000000" pitchFamily="2" charset="2"/>
              </a:rPr>
              <a:t>Ephone</a:t>
            </a:r>
            <a:r>
              <a:rPr lang="en-US" sz="4400" dirty="0">
                <a:sym typeface="Wingdings" panose="05000000000000000000" pitchFamily="2" charset="2"/>
              </a:rPr>
              <a:t>, </a:t>
            </a:r>
            <a:r>
              <a:rPr lang="en-US" sz="4400" dirty="0" err="1">
                <a:sym typeface="Wingdings" panose="05000000000000000000" pitchFamily="2" charset="2"/>
              </a:rPr>
              <a:t>Dno</a:t>
            </a:r>
            <a:endParaRPr lang="en-US" sz="4400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r>
              <a:rPr lang="en-US" sz="4400" dirty="0" err="1">
                <a:sym typeface="Wingdings" panose="05000000000000000000" pitchFamily="2" charset="2"/>
              </a:rPr>
              <a:t>PnoPname</a:t>
            </a:r>
            <a:r>
              <a:rPr lang="en-US" sz="4400" dirty="0">
                <a:sym typeface="Wingdings" panose="05000000000000000000" pitchFamily="2" charset="2"/>
              </a:rPr>
              <a:t>, </a:t>
            </a:r>
            <a:r>
              <a:rPr lang="en-US" sz="4400" dirty="0" err="1">
                <a:sym typeface="Wingdings" panose="05000000000000000000" pitchFamily="2" charset="2"/>
              </a:rPr>
              <a:t>Plocation</a:t>
            </a:r>
            <a:endParaRPr lang="en-US" sz="4400" dirty="0">
              <a:sym typeface="Wingdings" panose="05000000000000000000" pitchFamily="2" charset="2"/>
            </a:endParaRPr>
          </a:p>
          <a:p>
            <a:pPr marL="0" indent="0" eaLnBrk="1" hangingPunct="1">
              <a:buNone/>
              <a:defRPr/>
            </a:pPr>
            <a:r>
              <a:rPr lang="en-US" sz="4400" dirty="0">
                <a:sym typeface="Wingdings" panose="05000000000000000000" pitchFamily="2" charset="2"/>
              </a:rPr>
              <a:t>Decomposed relations:</a:t>
            </a:r>
          </a:p>
          <a:p>
            <a:pPr marL="0" indent="0" eaLnBrk="1" hangingPunct="1">
              <a:buNone/>
              <a:defRPr/>
            </a:pPr>
            <a:r>
              <a:rPr lang="en-US" sz="4400" dirty="0">
                <a:sym typeface="Wingdings" panose="05000000000000000000" pitchFamily="2" charset="2"/>
              </a:rPr>
              <a:t>           R1(</a:t>
            </a:r>
            <a:r>
              <a:rPr lang="en-US" sz="4400" u="sng" dirty="0" err="1"/>
              <a:t>Essn</a:t>
            </a:r>
            <a:r>
              <a:rPr lang="en-US" sz="4400" dirty="0">
                <a:sym typeface="Wingdings" panose="05000000000000000000" pitchFamily="2" charset="2"/>
              </a:rPr>
              <a:t>, </a:t>
            </a:r>
            <a:r>
              <a:rPr lang="en-US" sz="4400" dirty="0" err="1">
                <a:sym typeface="Wingdings" panose="05000000000000000000" pitchFamily="2" charset="2"/>
              </a:rPr>
              <a:t>Esal</a:t>
            </a:r>
            <a:r>
              <a:rPr lang="en-US" sz="4400" dirty="0">
                <a:sym typeface="Wingdings" panose="05000000000000000000" pitchFamily="2" charset="2"/>
              </a:rPr>
              <a:t>, </a:t>
            </a:r>
            <a:r>
              <a:rPr lang="en-US" sz="4400" dirty="0" err="1">
                <a:sym typeface="Wingdings" panose="05000000000000000000" pitchFamily="2" charset="2"/>
              </a:rPr>
              <a:t>Ephone</a:t>
            </a:r>
            <a:r>
              <a:rPr lang="en-US" sz="4400" dirty="0">
                <a:sym typeface="Wingdings" panose="05000000000000000000" pitchFamily="2" charset="2"/>
              </a:rPr>
              <a:t>, </a:t>
            </a:r>
            <a:r>
              <a:rPr lang="en-US" sz="4400" dirty="0" err="1">
                <a:sym typeface="Wingdings" panose="05000000000000000000" pitchFamily="2" charset="2"/>
              </a:rPr>
              <a:t>Dno</a:t>
            </a:r>
            <a:r>
              <a:rPr lang="en-US" sz="4400" dirty="0">
                <a:sym typeface="Wingdings" panose="05000000000000000000" pitchFamily="2" charset="2"/>
              </a:rPr>
              <a:t>)</a:t>
            </a:r>
          </a:p>
          <a:p>
            <a:pPr marL="0" indent="0" eaLnBrk="1" hangingPunct="1">
              <a:buNone/>
              <a:defRPr/>
            </a:pPr>
            <a:r>
              <a:rPr lang="en-US" sz="4400" dirty="0">
                <a:sym typeface="Wingdings" panose="05000000000000000000" pitchFamily="2" charset="2"/>
              </a:rPr>
              <a:t>           R2(</a:t>
            </a:r>
            <a:r>
              <a:rPr lang="en-US" sz="4400" u="sng" dirty="0" err="1">
                <a:sym typeface="Wingdings" panose="05000000000000000000" pitchFamily="2" charset="2"/>
              </a:rPr>
              <a:t>Pno</a:t>
            </a:r>
            <a:r>
              <a:rPr lang="en-US" sz="4400" dirty="0" err="1">
                <a:sym typeface="Wingdings" panose="05000000000000000000" pitchFamily="2" charset="2"/>
              </a:rPr>
              <a:t>,Pname</a:t>
            </a:r>
            <a:r>
              <a:rPr lang="en-US" sz="4400" dirty="0">
                <a:sym typeface="Wingdings" panose="05000000000000000000" pitchFamily="2" charset="2"/>
              </a:rPr>
              <a:t>, </a:t>
            </a:r>
            <a:r>
              <a:rPr lang="en-US" sz="4400" dirty="0" err="1">
                <a:sym typeface="Wingdings" panose="05000000000000000000" pitchFamily="2" charset="2"/>
              </a:rPr>
              <a:t>Plocation</a:t>
            </a:r>
            <a:r>
              <a:rPr lang="en-US" sz="4400" dirty="0">
                <a:sym typeface="Wingdings" panose="05000000000000000000" pitchFamily="2" charset="2"/>
              </a:rPr>
              <a:t>)</a:t>
            </a:r>
          </a:p>
          <a:p>
            <a:pPr eaLnBrk="1" hangingPunct="1">
              <a:defRPr/>
            </a:pPr>
            <a:endParaRPr lang="en-US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endParaRPr lang="en-US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endParaRPr lang="en-US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1828264" y="766294"/>
            <a:ext cx="815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solidFill>
                  <a:schemeClr val="tx1"/>
                </a:solidFill>
              </a:rPr>
              <a:t>U(</a:t>
            </a:r>
            <a:r>
              <a:rPr lang="en-US" sz="2400" dirty="0" err="1">
                <a:solidFill>
                  <a:schemeClr val="tx1"/>
                </a:solidFill>
              </a:rPr>
              <a:t>Essn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Pno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Esal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Ephone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Dno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Pname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Plocation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815921"/>
            <a:ext cx="63686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dirty="0"/>
              <a:t>FD:</a:t>
            </a:r>
          </a:p>
          <a:p>
            <a:pPr>
              <a:defRPr/>
            </a:pPr>
            <a:r>
              <a:rPr lang="en-US" sz="2400" dirty="0" err="1"/>
              <a:t>Essn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Esal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Ephone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Dno</a:t>
            </a:r>
            <a:endParaRPr lang="en-US" sz="2400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 err="1">
                <a:sym typeface="Wingdings" panose="05000000000000000000" pitchFamily="2" charset="2"/>
              </a:rPr>
              <a:t>PnoPname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Plocation</a:t>
            </a:r>
            <a:endParaRPr lang="en-US" sz="2400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 err="1"/>
              <a:t>Essn</a:t>
            </a:r>
            <a:r>
              <a:rPr lang="en-US" sz="2400" dirty="0"/>
              <a:t>, </a:t>
            </a:r>
            <a:r>
              <a:rPr lang="en-US" sz="2400" dirty="0" err="1">
                <a:sym typeface="Wingdings" panose="05000000000000000000" pitchFamily="2" charset="2"/>
              </a:rPr>
              <a:t>Pno</a:t>
            </a:r>
            <a:r>
              <a:rPr lang="en-US" sz="2400" dirty="0">
                <a:sym typeface="Wingdings" panose="05000000000000000000" pitchFamily="2" charset="2"/>
              </a:rPr>
              <a:t>  </a:t>
            </a:r>
            <a:r>
              <a:rPr lang="en-US" sz="2400" dirty="0" err="1">
                <a:sym typeface="Wingdings" panose="05000000000000000000" pitchFamily="2" charset="2"/>
              </a:rPr>
              <a:t>Esal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Ephone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Dno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Pname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Plocation</a:t>
            </a:r>
            <a:endParaRPr lang="en-US" sz="2400" dirty="0">
              <a:sym typeface="Wingdings" panose="05000000000000000000" pitchFamily="2" charset="2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428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437882" y="286603"/>
            <a:ext cx="11754118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Algorithms for Relational Database Schema Design 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16" y="1845734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b="1" dirty="0"/>
              <a:t>Relational Decomposition into BCNF with Lossless (non-additive) join property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dirty="0"/>
              <a:t>Input: A universal relation R and a set of functional dependencies F on the attributes of 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1.</a:t>
            </a:r>
            <a:r>
              <a:rPr lang="en-US" sz="2000" b="1" dirty="0"/>
              <a:t> </a:t>
            </a:r>
            <a:r>
              <a:rPr lang="en-US" sz="2000" dirty="0"/>
              <a:t>Set D := {R};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2.</a:t>
            </a:r>
            <a:r>
              <a:rPr lang="en-US" sz="2000" b="1" dirty="0"/>
              <a:t> </a:t>
            </a:r>
            <a:r>
              <a:rPr lang="en-US" sz="2000" dirty="0"/>
              <a:t>While there is a relation schema Q in D that is not in BCNF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do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choose a relation schema Q in D that is not in BCNF;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find a functional dependency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Y in Q that violates BCNF;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replace Q in D by two relation schemas (Q - Y) and (X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Y);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i="1" dirty="0"/>
              <a:t>Assumption: No null values are allowed for the join attributes.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88180" y="2220954"/>
            <a:ext cx="48038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DB(</a:t>
            </a:r>
            <a:r>
              <a:rPr lang="en-US" dirty="0" err="1"/>
              <a:t>Patno,PatName,appNo,time,doctor</a:t>
            </a:r>
            <a:r>
              <a:rPr lang="en-US" dirty="0"/>
              <a:t>)</a:t>
            </a:r>
          </a:p>
          <a:p>
            <a:r>
              <a:rPr lang="en-US" dirty="0" err="1"/>
              <a:t>Patno</a:t>
            </a:r>
            <a:r>
              <a:rPr lang="en-US" dirty="0"/>
              <a:t> -&gt; </a:t>
            </a:r>
            <a:r>
              <a:rPr lang="en-US" dirty="0" err="1"/>
              <a:t>PatName</a:t>
            </a:r>
            <a:br>
              <a:rPr lang="en-US" dirty="0"/>
            </a:br>
            <a:r>
              <a:rPr lang="en-US" dirty="0" err="1"/>
              <a:t>Patno</a:t>
            </a:r>
            <a:r>
              <a:rPr lang="en-US" dirty="0"/>
              <a:t> -&gt; </a:t>
            </a:r>
            <a:r>
              <a:rPr lang="en-US" dirty="0" err="1"/>
              <a:t>Time,doctor</a:t>
            </a:r>
            <a:br>
              <a:rPr lang="en-US" dirty="0"/>
            </a:br>
            <a:r>
              <a:rPr lang="en-US" dirty="0"/>
              <a:t>Time -&gt; </a:t>
            </a:r>
            <a:r>
              <a:rPr lang="en-US" dirty="0" err="1"/>
              <a:t>appNo</a:t>
            </a:r>
            <a:endParaRPr lang="en-US" dirty="0"/>
          </a:p>
          <a:p>
            <a:r>
              <a:rPr lang="en-US" dirty="0" err="1"/>
              <a:t>appNo</a:t>
            </a:r>
            <a:r>
              <a:rPr lang="en-US" dirty="0"/>
              <a:t>-&gt; </a:t>
            </a:r>
            <a:r>
              <a:rPr lang="en-US" dirty="0" err="1"/>
              <a:t>Patno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2NF AND 3NF</a:t>
            </a:r>
          </a:p>
          <a:p>
            <a:r>
              <a:rPr lang="en-US" dirty="0"/>
              <a:t>DB(</a:t>
            </a:r>
            <a:r>
              <a:rPr lang="en-US" u="sng" dirty="0" err="1"/>
              <a:t>Patno</a:t>
            </a:r>
            <a:r>
              <a:rPr lang="en-US" dirty="0" err="1"/>
              <a:t>,appNo,Time,doctor</a:t>
            </a:r>
            <a:r>
              <a:rPr lang="en-US" dirty="0"/>
              <a:t>, </a:t>
            </a:r>
            <a:r>
              <a:rPr lang="en-US" dirty="0" err="1"/>
              <a:t>PatName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US" b="1" dirty="0"/>
              <a:t>BCNF</a:t>
            </a:r>
          </a:p>
          <a:p>
            <a:r>
              <a:rPr lang="en-US" dirty="0"/>
              <a:t>Q=DB(</a:t>
            </a:r>
            <a:r>
              <a:rPr lang="en-US" u="sng" dirty="0" err="1"/>
              <a:t>Patno</a:t>
            </a:r>
            <a:r>
              <a:rPr lang="en-US" dirty="0" err="1"/>
              <a:t>,appNo,Time,doctor</a:t>
            </a:r>
            <a:r>
              <a:rPr lang="en-US" dirty="0"/>
              <a:t>, </a:t>
            </a:r>
            <a:r>
              <a:rPr lang="en-US" dirty="0" err="1"/>
              <a:t>PatName</a:t>
            </a:r>
            <a:r>
              <a:rPr lang="en-US" dirty="0"/>
              <a:t>)</a:t>
            </a:r>
          </a:p>
          <a:p>
            <a:r>
              <a:rPr lang="en-US" dirty="0"/>
              <a:t>Time -&gt; </a:t>
            </a:r>
            <a:r>
              <a:rPr lang="en-US" dirty="0" err="1"/>
              <a:t>appNo</a:t>
            </a:r>
            <a:r>
              <a:rPr lang="en-US" dirty="0"/>
              <a:t> (X</a:t>
            </a:r>
            <a:r>
              <a:rPr lang="en-US" dirty="0">
                <a:sym typeface="Wingdings" panose="05000000000000000000" pitchFamily="2" charset="2"/>
              </a:rPr>
              <a:t>Y, </a:t>
            </a:r>
            <a:r>
              <a:rPr lang="en-US" dirty="0"/>
              <a:t>violates BCNF)</a:t>
            </a:r>
          </a:p>
          <a:p>
            <a:r>
              <a:rPr lang="en-US" dirty="0"/>
              <a:t>Replace Q into: Q-Y AND XUY </a:t>
            </a:r>
          </a:p>
          <a:p>
            <a:r>
              <a:rPr lang="en-US" dirty="0"/>
              <a:t>D1(</a:t>
            </a:r>
            <a:r>
              <a:rPr lang="en-US" u="sng" dirty="0" err="1"/>
              <a:t>Patno</a:t>
            </a:r>
            <a:r>
              <a:rPr lang="en-US" dirty="0" err="1"/>
              <a:t>,time,doctor</a:t>
            </a:r>
            <a:r>
              <a:rPr lang="en-US" dirty="0"/>
              <a:t>, </a:t>
            </a:r>
            <a:r>
              <a:rPr lang="en-US" dirty="0" err="1"/>
              <a:t>PatName</a:t>
            </a:r>
            <a:r>
              <a:rPr lang="en-US" dirty="0"/>
              <a:t>)</a:t>
            </a:r>
          </a:p>
          <a:p>
            <a:r>
              <a:rPr lang="en-US" dirty="0"/>
              <a:t>D2(</a:t>
            </a:r>
            <a:r>
              <a:rPr lang="en-US" u="sng" dirty="0"/>
              <a:t>Time</a:t>
            </a:r>
            <a:r>
              <a:rPr lang="en-US" dirty="0"/>
              <a:t>, </a:t>
            </a:r>
            <a:r>
              <a:rPr lang="en-US" dirty="0" err="1"/>
              <a:t>appNo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356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 Procedure for achieving BCNF when a relation fails BCNF</a:t>
            </a:r>
          </a:p>
        </p:txBody>
      </p:sp>
      <p:sp>
        <p:nvSpPr>
          <p:cNvPr id="782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9245" y="1845733"/>
            <a:ext cx="11792755" cy="440052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Let R be the relation not in BCNF, let X be a subset-of R, and let </a:t>
            </a:r>
            <a:r>
              <a:rPr lang="en-IN" sz="2400" i="1" dirty="0"/>
              <a:t>X</a:t>
            </a:r>
            <a:r>
              <a:rPr lang="en-IN" sz="2400" dirty="0"/>
              <a:t> </a:t>
            </a:r>
            <a:r>
              <a:rPr lang="en-IN" sz="2400" dirty="0">
                <a:sym typeface="Symbol" panose="05050102010706020507" pitchFamily="18" charset="2"/>
              </a:rPr>
              <a:t></a:t>
            </a:r>
            <a:r>
              <a:rPr lang="en-IN" sz="2400" dirty="0"/>
              <a:t> </a:t>
            </a:r>
            <a:r>
              <a:rPr lang="en-IN" sz="2400" i="1" dirty="0"/>
              <a:t>A </a:t>
            </a:r>
            <a:r>
              <a:rPr lang="en-IN" sz="2400" dirty="0"/>
              <a:t>be the FD that causes a violation of BCNF.  Then R may be decomposed into two relations:</a:t>
            </a:r>
            <a:endParaRPr lang="en-US" sz="2400" dirty="0"/>
          </a:p>
          <a:p>
            <a:pPr>
              <a:defRPr/>
            </a:pPr>
            <a:r>
              <a:rPr lang="en-IN" sz="2400" dirty="0"/>
              <a:t>(</a:t>
            </a:r>
            <a:r>
              <a:rPr lang="en-IN" sz="2400" dirty="0" err="1"/>
              <a:t>i</a:t>
            </a:r>
            <a:r>
              <a:rPr lang="en-IN" sz="2400" dirty="0"/>
              <a:t>) </a:t>
            </a:r>
            <a:r>
              <a:rPr lang="en-IN" sz="2400" i="1" dirty="0"/>
              <a:t>R –A</a:t>
            </a:r>
            <a:r>
              <a:rPr lang="en-IN" sz="2400" dirty="0"/>
              <a:t>  and (ii) </a:t>
            </a:r>
            <a:r>
              <a:rPr lang="en-IN" sz="2400" i="1" dirty="0"/>
              <a:t>X</a:t>
            </a:r>
            <a:r>
              <a:rPr lang="en-US" altLang="en-US" sz="2400" dirty="0">
                <a:latin typeface="Lucida Grande" charset="0"/>
              </a:rPr>
              <a:t> </a:t>
            </a:r>
            <a:r>
              <a:rPr lang="en-US" altLang="en-US" sz="3200" dirty="0">
                <a:latin typeface="Lucida Grande" charset="0"/>
              </a:rPr>
              <a:t>υ</a:t>
            </a:r>
            <a:r>
              <a:rPr lang="en-US" altLang="en-US" sz="2400" dirty="0">
                <a:latin typeface="Lucida Grande" charset="0"/>
              </a:rPr>
              <a:t> </a:t>
            </a:r>
            <a:r>
              <a:rPr lang="en-IN" sz="2400" i="1" dirty="0"/>
              <a:t>A</a:t>
            </a:r>
            <a:r>
              <a:rPr lang="en-IN" sz="2400" dirty="0"/>
              <a:t>.</a:t>
            </a:r>
            <a:endParaRPr lang="en-US" sz="2400" dirty="0"/>
          </a:p>
          <a:p>
            <a:pPr>
              <a:defRPr/>
            </a:pPr>
            <a:r>
              <a:rPr lang="en-IN" sz="2400" dirty="0"/>
              <a:t>If either  </a:t>
            </a:r>
            <a:r>
              <a:rPr lang="en-IN" sz="2400" i="1" dirty="0"/>
              <a:t>R –A</a:t>
            </a:r>
            <a:r>
              <a:rPr lang="en-IN" sz="2400" dirty="0"/>
              <a:t>  or </a:t>
            </a:r>
            <a:r>
              <a:rPr lang="en-IN" sz="2400" i="1" dirty="0"/>
              <a:t>X</a:t>
            </a:r>
            <a:r>
              <a:rPr lang="en-US" altLang="en-US" sz="2400" dirty="0">
                <a:latin typeface="Lucida Grande" charset="0"/>
              </a:rPr>
              <a:t> υ </a:t>
            </a:r>
            <a:r>
              <a:rPr lang="en-IN" sz="2400" i="1" dirty="0"/>
              <a:t>A</a:t>
            </a:r>
            <a:r>
              <a:rPr lang="en-IN" sz="2400" dirty="0"/>
              <a:t>. is not in BCNF, repeat the process.</a:t>
            </a:r>
            <a:endParaRPr lang="en-US" sz="2400" dirty="0"/>
          </a:p>
          <a:p>
            <a:pPr marL="0" indent="0">
              <a:buNone/>
              <a:defRPr/>
            </a:pPr>
            <a:r>
              <a:rPr lang="en-US" altLang="en-US" dirty="0"/>
              <a:t>Note that the </a:t>
            </a:r>
            <a:r>
              <a:rPr lang="en-US" altLang="en-US" dirty="0" err="1"/>
              <a:t>f.d</a:t>
            </a:r>
            <a:r>
              <a:rPr lang="en-US" altLang="en-US" dirty="0"/>
              <a:t>. that violated BCNF in TEACH</a:t>
            </a:r>
            <a:r>
              <a:rPr lang="en-IN" dirty="0">
                <a:sym typeface="Wingdings" panose="05000000000000000000" pitchFamily="2" charset="2"/>
              </a:rPr>
              <a:t>(Instructor, Student, Course)</a:t>
            </a: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/>
              <a:t> was Instructor </a:t>
            </a:r>
            <a:r>
              <a:rPr lang="en-IN" dirty="0">
                <a:sym typeface="Symbol" panose="05050102010706020507" pitchFamily="18" charset="2"/>
              </a:rPr>
              <a:t>Course. Hence its BCNF decomposition would be </a:t>
            </a:r>
            <a:r>
              <a:rPr lang="en-IN" altLang="en-US" dirty="0">
                <a:sym typeface="Symbol" panose="05050102010706020507" pitchFamily="18" charset="2"/>
              </a:rPr>
              <a:t>(TEACH – COURSE) and (Instructor </a:t>
            </a:r>
            <a:r>
              <a:rPr lang="en-US" altLang="en-US" dirty="0">
                <a:latin typeface="Lucida Grande" charset="0"/>
              </a:rPr>
              <a:t>υ Course), which gives</a:t>
            </a:r>
          </a:p>
          <a:p>
            <a:pPr marL="0" indent="0">
              <a:buNone/>
              <a:defRPr/>
            </a:pPr>
            <a:r>
              <a:rPr lang="en-US" altLang="en-US" dirty="0">
                <a:latin typeface="Lucida Grande" charset="0"/>
              </a:rPr>
              <a:t>the relations: (Instructor, Student) and (Instructor, Course) that we obtained before in decomposition D3.</a:t>
            </a:r>
            <a:endParaRPr lang="en-US" altLang="en-US" dirty="0"/>
          </a:p>
          <a:p>
            <a:pPr>
              <a:lnSpc>
                <a:spcPct val="90000"/>
              </a:lnSpc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383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Key K for R Given a set F of Functional Dependencies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156" y="1984739"/>
            <a:ext cx="7662928" cy="363441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06-02-2023 09:18</a:t>
            </a:fld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7456867" y="2806247"/>
            <a:ext cx="39237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>
                <a:solidFill>
                  <a:srgbClr val="303030"/>
                </a:solidFill>
                <a:latin typeface="Arimo"/>
              </a:rPr>
              <a:t>Let R = (A, B, C, D, E) be a relation scheme with the following dependencies-</a:t>
            </a:r>
          </a:p>
          <a:p>
            <a:pPr algn="ctr" fontAlgn="base"/>
            <a:r>
              <a:rPr lang="en-US" dirty="0">
                <a:solidFill>
                  <a:srgbClr val="303030"/>
                </a:solidFill>
                <a:latin typeface="Arimo"/>
              </a:rPr>
              <a:t>AB → C</a:t>
            </a:r>
          </a:p>
          <a:p>
            <a:pPr algn="ctr" fontAlgn="base"/>
            <a:r>
              <a:rPr lang="en-US" dirty="0">
                <a:solidFill>
                  <a:srgbClr val="303030"/>
                </a:solidFill>
                <a:latin typeface="Arimo"/>
              </a:rPr>
              <a:t>C → D</a:t>
            </a:r>
          </a:p>
          <a:p>
            <a:pPr algn="ctr" fontAlgn="base"/>
            <a:r>
              <a:rPr lang="en-US" dirty="0">
                <a:solidFill>
                  <a:srgbClr val="303030"/>
                </a:solidFill>
                <a:latin typeface="Arimo"/>
              </a:rPr>
              <a:t>B → E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338310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>
          <a:xfrm>
            <a:off x="141668" y="286603"/>
            <a:ext cx="11745532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Algorithms for Relational Database Schema Design 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8186" y="1854558"/>
            <a:ext cx="11269014" cy="422427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b="1" dirty="0"/>
              <a:t>Relational Synthesis into 3NF with Dependency Preservation and Lossless (Non-Additive) Join Property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dirty="0"/>
              <a:t>Input: A universal relation R and a set of functional dependencies F on the attributes of 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1.</a:t>
            </a:r>
            <a:r>
              <a:rPr lang="en-US" sz="2000" b="1" dirty="0"/>
              <a:t> </a:t>
            </a:r>
            <a:r>
              <a:rPr lang="en-US" sz="2000" dirty="0"/>
              <a:t>Find a minimal cover G for F.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2.</a:t>
            </a:r>
            <a:r>
              <a:rPr lang="en-US" sz="2000" b="1" dirty="0"/>
              <a:t> </a:t>
            </a:r>
            <a:r>
              <a:rPr lang="en-US" sz="2000" dirty="0"/>
              <a:t>For each left-hand-side X of a functional dependency that appears in G,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create a relation schema in D with attributes {X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{A1}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{A2} ...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</a:t>
            </a:r>
            <a:r>
              <a:rPr lang="en-US" sz="2000" dirty="0" err="1"/>
              <a:t>Ak</a:t>
            </a:r>
            <a:r>
              <a:rPr lang="en-US" sz="2000" dirty="0"/>
              <a:t>}},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where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A1,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A2, ..., X </a:t>
            </a:r>
            <a:r>
              <a:rPr lang="en-US" sz="2000" dirty="0">
                <a:sym typeface="Wingdings 3" panose="05040102010807070707" pitchFamily="18" charset="2"/>
              </a:rPr>
              <a:t>–&gt;</a:t>
            </a:r>
            <a:r>
              <a:rPr lang="en-US" sz="2000" dirty="0" err="1"/>
              <a:t>Ak</a:t>
            </a:r>
            <a:r>
              <a:rPr lang="en-US" sz="2000" dirty="0"/>
              <a:t> are the only dependencies in G with X as left-hand-side (X is the key of this relation).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3.</a:t>
            </a:r>
            <a:r>
              <a:rPr lang="en-US" sz="2000" b="1" dirty="0"/>
              <a:t> </a:t>
            </a:r>
            <a:r>
              <a:rPr lang="en-US" sz="2000" dirty="0"/>
              <a:t>If none of the relation schemas in D contains a key of R, then create one more relation schema in D that contains attributes that form a key of R. </a:t>
            </a:r>
            <a:r>
              <a:rPr lang="en-US" sz="2000" i="1" dirty="0"/>
              <a:t>(Use Algorithm to find the key of R)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i="1" dirty="0"/>
              <a:t>4. Eliminate redundant relations from the resulting set of relations in the relational database schema.</a:t>
            </a:r>
          </a:p>
          <a:p>
            <a:pPr eaLnBrk="1" hangingPunct="1">
              <a:lnSpc>
                <a:spcPct val="90000"/>
              </a:lnSpc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6169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262130" y="840396"/>
            <a:ext cx="10058400" cy="885374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347730" y="1893192"/>
            <a:ext cx="6259132" cy="428376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FD:</a:t>
            </a:r>
          </a:p>
          <a:p>
            <a:pPr marL="0" indent="0">
              <a:buNone/>
              <a:defRPr/>
            </a:pPr>
            <a:r>
              <a:rPr lang="en-US" dirty="0"/>
              <a:t>         {P</a:t>
            </a:r>
            <a:r>
              <a:rPr lang="en-US" dirty="0">
                <a:sym typeface="Wingdings" panose="05000000000000000000" pitchFamily="2" charset="2"/>
              </a:rPr>
              <a:t>LCA, LCAP, AC}</a:t>
            </a:r>
          </a:p>
          <a:p>
            <a:pPr marL="0" indent="0">
              <a:buNone/>
              <a:defRPr/>
            </a:pPr>
            <a:endParaRPr lang="en-US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r>
              <a:rPr lang="en-US" dirty="0">
                <a:sym typeface="Wingdings" panose="05000000000000000000" pitchFamily="2" charset="2"/>
              </a:rPr>
              <a:t>Minimal Cover: PLC,LCAP, AC</a:t>
            </a:r>
          </a:p>
          <a:p>
            <a:pPr eaLnBrk="1" hangingPunct="1">
              <a:defRPr/>
            </a:pPr>
            <a:r>
              <a:rPr lang="en-US" dirty="0">
                <a:sym typeface="Wingdings" panose="05000000000000000000" pitchFamily="2" charset="2"/>
              </a:rPr>
              <a:t>Design X: R1(</a:t>
            </a:r>
            <a:r>
              <a:rPr lang="en-US" u="sng" dirty="0">
                <a:sym typeface="Wingdings" panose="05000000000000000000" pitchFamily="2" charset="2"/>
              </a:rPr>
              <a:t>P</a:t>
            </a:r>
            <a:r>
              <a:rPr lang="en-US" dirty="0">
                <a:sym typeface="Wingdings" panose="05000000000000000000" pitchFamily="2" charset="2"/>
              </a:rPr>
              <a:t>,L,C), R2(</a:t>
            </a:r>
            <a:r>
              <a:rPr lang="en-US" u="sng" dirty="0">
                <a:sym typeface="Wingdings" panose="05000000000000000000" pitchFamily="2" charset="2"/>
              </a:rPr>
              <a:t>L,C</a:t>
            </a:r>
            <a:r>
              <a:rPr lang="en-US" dirty="0">
                <a:sym typeface="Wingdings" panose="05000000000000000000" pitchFamily="2" charset="2"/>
              </a:rPr>
              <a:t>, A, P) and R3(</a:t>
            </a:r>
            <a:r>
              <a:rPr lang="en-US" u="sng" dirty="0">
                <a:sym typeface="Wingdings" panose="05000000000000000000" pitchFamily="2" charset="2"/>
              </a:rPr>
              <a:t>A</a:t>
            </a:r>
            <a:r>
              <a:rPr lang="en-US" dirty="0">
                <a:sym typeface="Wingdings" panose="05000000000000000000" pitchFamily="2" charset="2"/>
              </a:rPr>
              <a:t>,C)</a:t>
            </a:r>
          </a:p>
          <a:p>
            <a:pPr marL="0" indent="0">
              <a:buNone/>
              <a:defRPr/>
            </a:pPr>
            <a:endParaRPr lang="en-US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r>
              <a:rPr lang="en-US" dirty="0">
                <a:sym typeface="Wingdings" panose="05000000000000000000" pitchFamily="2" charset="2"/>
              </a:rPr>
              <a:t>R3 is subsumed by R2, R1 by R2 //eliminating redundant relations</a:t>
            </a:r>
          </a:p>
          <a:p>
            <a:pPr eaLnBrk="1" hangingPunct="1">
              <a:defRPr/>
            </a:pPr>
            <a:r>
              <a:rPr lang="en-US" dirty="0">
                <a:sym typeface="Wingdings" panose="05000000000000000000" pitchFamily="2" charset="2"/>
              </a:rPr>
              <a:t>Final Design: R2(L,C,A,P)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787167" y="1893192"/>
            <a:ext cx="540483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F: {P</a:t>
            </a:r>
            <a:r>
              <a:rPr lang="en-US" dirty="0">
                <a:sym typeface="Wingdings" panose="05000000000000000000" pitchFamily="2" charset="2"/>
              </a:rPr>
              <a:t>LCA, LCAP, AC}</a:t>
            </a:r>
          </a:p>
          <a:p>
            <a:endParaRPr lang="en-US" dirty="0"/>
          </a:p>
          <a:p>
            <a:r>
              <a:rPr lang="en-US" dirty="0"/>
              <a:t>LC</a:t>
            </a:r>
            <a:r>
              <a:rPr lang="en-US" dirty="0">
                <a:sym typeface="Wingdings" panose="05000000000000000000" pitchFamily="2" charset="2"/>
              </a:rPr>
              <a:t>P , PA =&gt; LCA</a:t>
            </a:r>
          </a:p>
          <a:p>
            <a:r>
              <a:rPr lang="en-US" dirty="0">
                <a:sym typeface="Wingdings" panose="05000000000000000000" pitchFamily="2" charset="2"/>
              </a:rPr>
              <a:t>PA , AC =&gt; PC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MC:{PLA, LCP, A-&gt;C}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sz="2000" b="1" dirty="0">
                <a:sym typeface="Wingdings" panose="05000000000000000000" pitchFamily="2" charset="2"/>
              </a:rPr>
              <a:t>Alternate Design: S1(</a:t>
            </a:r>
            <a:r>
              <a:rPr lang="en-US" sz="2000" b="1" u="sng" dirty="0">
                <a:sym typeface="Wingdings" panose="05000000000000000000" pitchFamily="2" charset="2"/>
              </a:rPr>
              <a:t>P</a:t>
            </a:r>
            <a:r>
              <a:rPr lang="en-US" sz="2000" b="1" dirty="0">
                <a:sym typeface="Wingdings" panose="05000000000000000000" pitchFamily="2" charset="2"/>
              </a:rPr>
              <a:t>,A,L),S2(</a:t>
            </a:r>
            <a:r>
              <a:rPr lang="en-US" sz="2000" b="1" u="sng" dirty="0">
                <a:sym typeface="Wingdings" panose="05000000000000000000" pitchFamily="2" charset="2"/>
              </a:rPr>
              <a:t>L,C</a:t>
            </a:r>
            <a:r>
              <a:rPr lang="en-US" sz="2000" b="1" dirty="0">
                <a:sym typeface="Wingdings" panose="05000000000000000000" pitchFamily="2" charset="2"/>
              </a:rPr>
              <a:t>,P) AND S3(</a:t>
            </a:r>
            <a:r>
              <a:rPr lang="en-US" sz="2000" b="1" u="sng" dirty="0">
                <a:sym typeface="Wingdings" panose="05000000000000000000" pitchFamily="2" charset="2"/>
              </a:rPr>
              <a:t>A</a:t>
            </a:r>
            <a:r>
              <a:rPr lang="en-US" sz="2000" b="1" dirty="0">
                <a:sym typeface="Wingdings" panose="05000000000000000000" pitchFamily="2" charset="2"/>
              </a:rPr>
              <a:t>,C)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7024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172" y="246210"/>
            <a:ext cx="11793828" cy="994100"/>
          </a:xfrm>
        </p:spPr>
        <p:txBody>
          <a:bodyPr/>
          <a:lstStyle/>
          <a:p>
            <a:r>
              <a:rPr lang="en-US" dirty="0"/>
              <a:t>Problems with NULL values and Dangling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71503"/>
            <a:ext cx="5872765" cy="441035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altLang="en-US" b="1" dirty="0"/>
              <a:t>Problems with NULL values</a:t>
            </a:r>
          </a:p>
          <a:p>
            <a:pPr algn="just"/>
            <a:r>
              <a:rPr lang="en-US" dirty="0"/>
              <a:t>when some tuples have NULL values for attributes that will be used to join individual relations in the decomposition that may lead to incomplete results.</a:t>
            </a:r>
          </a:p>
          <a:p>
            <a:pPr algn="just"/>
            <a:r>
              <a:rPr lang="en-US" dirty="0"/>
              <a:t>E.g., see Figure 15.2(a), where two relations EMPLOYEE and DEPARTMENT are shown. The last two employee tuples—‘Berger’ and ‘Benitez’—represent newly hired employees who have not yet been assigned to a department (assume that this does not violate any integrity constraints). </a:t>
            </a:r>
          </a:p>
          <a:p>
            <a:pPr algn="just"/>
            <a:r>
              <a:rPr lang="en-US" dirty="0"/>
              <a:t>If we want to retrieve a list of (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Dname</a:t>
            </a:r>
            <a:r>
              <a:rPr lang="en-US" dirty="0"/>
              <a:t>) values for all the employees. If we apply the NATURAL JOIN operation on EMPLOYEE and DEPARTMENT (Figure 15.2(b)), the two aforementioned tuples will </a:t>
            </a:r>
            <a:r>
              <a:rPr lang="en-US" i="1" dirty="0"/>
              <a:t>not</a:t>
            </a:r>
            <a:r>
              <a:rPr lang="en-US" dirty="0"/>
              <a:t> appear in the result.</a:t>
            </a:r>
          </a:p>
          <a:p>
            <a:pPr algn="just"/>
            <a:r>
              <a:rPr lang="en-US" altLang="en-US" dirty="0"/>
              <a:t>In such cases, LEFT OUTER JOIN may be used. The result is shown in Figure 15.2 (c).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06-02-2023 09:18</a:t>
            </a:fld>
            <a:endParaRPr lang="en-IN" dirty="0"/>
          </a:p>
        </p:txBody>
      </p:sp>
      <p:pic>
        <p:nvPicPr>
          <p:cNvPr id="5" name="Picture 4" descr="fig15_02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766" y="1290034"/>
            <a:ext cx="6036972" cy="4696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9016821" y="4892581"/>
            <a:ext cx="2892917" cy="109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effectLst/>
                <a:latin typeface="Verdana"/>
                <a:ea typeface="+mj-ea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altLang="en-US" b="1" kern="0" dirty="0">
                <a:latin typeface="Verdana" charset="0"/>
              </a:rPr>
              <a:t>Figure 15.2</a:t>
            </a:r>
          </a:p>
          <a:p>
            <a:r>
              <a:rPr lang="en-US" altLang="en-US" kern="0" dirty="0">
                <a:latin typeface="Verdana" charset="0"/>
              </a:rPr>
              <a:t>Issues with NULL-value joins. (a) Some EMPLOYEE tuples have NULL for the join attribute </a:t>
            </a:r>
            <a:r>
              <a:rPr lang="en-US" altLang="en-US" kern="0" dirty="0" err="1">
                <a:latin typeface="Verdana" charset="0"/>
              </a:rPr>
              <a:t>Dnum</a:t>
            </a:r>
            <a:r>
              <a:rPr lang="en-US" altLang="en-US" kern="0" dirty="0">
                <a:latin typeface="Verdana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0811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Slide 15- </a:t>
            </a:r>
            <a:fld id="{D37C499F-E18F-564D-81CE-45ACB4F04440}" type="slidenum">
              <a:rPr lang="en-US" altLang="en-US"/>
              <a:pPr/>
              <a:t>9</a:t>
            </a:fld>
            <a:endParaRPr lang="en-CA" altLang="en-US" dirty="0"/>
          </a:p>
        </p:txBody>
      </p:sp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1972" y="286603"/>
            <a:ext cx="11870028" cy="145075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Problems with Null Values and Dangling Tuples 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8686799" y="1676400"/>
            <a:ext cx="2324637" cy="3668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effectLst/>
                <a:latin typeface="Verdana"/>
                <a:ea typeface="+mj-ea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altLang="en-US" b="1" kern="0" dirty="0">
                <a:latin typeface="Verdana" charset="0"/>
              </a:rPr>
              <a:t>Figure 15.2 </a:t>
            </a:r>
          </a:p>
          <a:p>
            <a:r>
              <a:rPr lang="en-US" altLang="en-US" kern="0" dirty="0">
                <a:latin typeface="Verdana" charset="0"/>
                <a:ea typeface="ＭＳ Ｐゴシック"/>
              </a:rPr>
              <a:t>Issues with NULL-value joins. </a:t>
            </a:r>
          </a:p>
          <a:p>
            <a:r>
              <a:rPr lang="en-US" altLang="en-US" kern="0" dirty="0">
                <a:latin typeface="Verdana" charset="0"/>
                <a:ea typeface="ＭＳ Ｐゴシック"/>
              </a:rPr>
              <a:t>(b) Result of applying NATURAL JOIN to the EMPLOYEE and DEPARTMENT relations. </a:t>
            </a:r>
          </a:p>
          <a:p>
            <a:r>
              <a:rPr lang="en-US" altLang="en-US" kern="0" dirty="0">
                <a:latin typeface="Verdana" charset="0"/>
                <a:ea typeface="ＭＳ Ｐゴシック"/>
              </a:rPr>
              <a:t>(c) Result of applying LEFT OUTER JOIN to EMPLOYEE and DEPARTMENT</a:t>
            </a:r>
            <a:endParaRPr lang="en-US" altLang="en-US" kern="0" dirty="0">
              <a:latin typeface="Verdana" charset="0"/>
            </a:endParaRPr>
          </a:p>
        </p:txBody>
      </p:sp>
      <p:pic>
        <p:nvPicPr>
          <p:cNvPr id="10" name="Picture 9" descr="fig15_02c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3773209"/>
            <a:ext cx="6502400" cy="2375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fig15_02b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756235"/>
            <a:ext cx="6667500" cy="2032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12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Slide 15- </a:t>
            </a:r>
            <a:fld id="{3FA80E90-FA4C-6044-B527-3DEAA04D9BC6}" type="slidenum">
              <a:rPr lang="en-US" altLang="en-US"/>
              <a:pPr/>
              <a:t>10</a:t>
            </a:fld>
            <a:endParaRPr lang="en-CA" altLang="en-US" dirty="0"/>
          </a:p>
        </p:txBody>
      </p:sp>
      <p:sp>
        <p:nvSpPr>
          <p:cNvPr id="802822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About Normalization Algorithms </a:t>
            </a:r>
          </a:p>
        </p:txBody>
      </p:sp>
      <p:sp>
        <p:nvSpPr>
          <p:cNvPr id="8028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558100" cy="3589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b="1" dirty="0"/>
              <a:t>Discussion of Normalization Algorithms: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Problems: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 database designer must first specify </a:t>
            </a:r>
            <a:r>
              <a:rPr lang="en-US" altLang="en-US" sz="2400" i="1" dirty="0"/>
              <a:t>all</a:t>
            </a:r>
            <a:r>
              <a:rPr lang="en-US" altLang="en-US" sz="2400" dirty="0"/>
              <a:t> the relevant functional dependencies among the database attributes.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These algorithms are </a:t>
            </a:r>
            <a:r>
              <a:rPr lang="en-US" altLang="en-US" sz="2400" i="1" dirty="0"/>
              <a:t>not deterministic</a:t>
            </a:r>
            <a:r>
              <a:rPr lang="en-US" altLang="en-US" sz="2400" dirty="0"/>
              <a:t> in general.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It is not always possible to find a decomposition into relation schemas that preserves dependencies and allows each relation schema in the decomposition to be in BCNF.</a:t>
            </a:r>
          </a:p>
        </p:txBody>
      </p:sp>
    </p:spTree>
    <p:extLst>
      <p:ext uri="{BB962C8B-B14F-4D97-AF65-F5344CB8AC3E}">
        <p14:creationId xmlns:p14="http://schemas.microsoft.com/office/powerpoint/2010/main" val="296278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962" name="Rectangle 98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975527"/>
          </a:xfrm>
        </p:spPr>
        <p:txBody>
          <a:bodyPr/>
          <a:lstStyle/>
          <a:p>
            <a:r>
              <a:rPr lang="en-US" sz="3200" dirty="0"/>
              <a:t>Algorithms for Relational Database Schema Design</a:t>
            </a:r>
          </a:p>
        </p:txBody>
      </p:sp>
      <p:pic>
        <p:nvPicPr>
          <p:cNvPr id="804963" name="Picture 99" descr="tbl11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890" y="1262130"/>
            <a:ext cx="7714445" cy="5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741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03D13D-0AF5-4B48-8187-B9955F4F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96403"/>
            <a:ext cx="10058400" cy="1450757"/>
          </a:xfrm>
        </p:spPr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A23F-1258-4CDD-B0AE-D7AA4C94D112}" type="datetime8">
              <a:rPr lang="en-IN" smtClean="0"/>
              <a:t>06-02-2023 09:18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3763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1820</TotalTime>
  <Words>1311</Words>
  <Application>Microsoft Office PowerPoint</Application>
  <PresentationFormat>Widescreen</PresentationFormat>
  <Paragraphs>119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ＭＳ Ｐゴシック</vt:lpstr>
      <vt:lpstr>Arial</vt:lpstr>
      <vt:lpstr>Arimo</vt:lpstr>
      <vt:lpstr>Calibri</vt:lpstr>
      <vt:lpstr>Calibri Light</vt:lpstr>
      <vt:lpstr>Lucida Grande</vt:lpstr>
      <vt:lpstr>Symbol</vt:lpstr>
      <vt:lpstr>Tahoma</vt:lpstr>
      <vt:lpstr>Verdana</vt:lpstr>
      <vt:lpstr>Wingdings</vt:lpstr>
      <vt:lpstr>Wingdings 3</vt:lpstr>
      <vt:lpstr>Retrospect</vt:lpstr>
      <vt:lpstr>Algorithms for Relational Database Schema Design</vt:lpstr>
      <vt:lpstr>PowerPoint Presentation</vt:lpstr>
      <vt:lpstr>Algorithms for Relational Database Schema Design </vt:lpstr>
      <vt:lpstr>General Procedure for achieving BCNF when a relation fails BCNF</vt:lpstr>
      <vt:lpstr>Finding a Key K for R Given a set F of Functional Dependencies</vt:lpstr>
      <vt:lpstr>Algorithms for Relational Database Schema Design </vt:lpstr>
      <vt:lpstr>Example</vt:lpstr>
      <vt:lpstr>Problems with NULL values and Dangling Tuples</vt:lpstr>
      <vt:lpstr>Problems with Null Values and Dangling Tuples </vt:lpstr>
      <vt:lpstr>About Normalization Algorithms </vt:lpstr>
      <vt:lpstr>Algorithms for Relational Database Schema Design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Sanjeetha R</dc:creator>
  <cp:lastModifiedBy>ADMIN</cp:lastModifiedBy>
  <cp:revision>332</cp:revision>
  <dcterms:created xsi:type="dcterms:W3CDTF">2020-08-26T05:56:20Z</dcterms:created>
  <dcterms:modified xsi:type="dcterms:W3CDTF">2023-02-06T03:49:12Z</dcterms:modified>
</cp:coreProperties>
</file>