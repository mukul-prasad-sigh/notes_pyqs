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80" roundtripDataSignature="AMtx7mi7A0eDOLmfOUHct0k82eDfjEnB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E92CE9-0B34-4A8B-A2F2-A9D0C3FF3CA3}">
  <a:tblStyle styleId="{56E92CE9-0B34-4A8B-A2F2-A9D0C3FF3C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slide" Target="slides/slide72.xml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1" name="Google Shape;38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7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7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" name="Google Shape;37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8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8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8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8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8" name="Google Shape;68;p8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and Content">
  <p:cSld name="12_Title and Conte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76"/>
          <p:cNvSpPr/>
          <p:nvPr>
            <p:ph idx="2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rinidhi\Desktop\logo.png" id="85" name="Google Shape;85;p7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200025" y="-285750"/>
            <a:ext cx="32004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5"/>
          <p:cNvSpPr txBox="1"/>
          <p:nvPr/>
        </p:nvSpPr>
        <p:spPr>
          <a:xfrm>
            <a:off x="3714750" y="190500"/>
            <a:ext cx="5105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Computer Science and Engineering</a:t>
            </a:r>
            <a:endParaRPr/>
          </a:p>
        </p:txBody>
      </p:sp>
      <p:sp>
        <p:nvSpPr>
          <p:cNvPr id="87" name="Google Shape;87;p7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7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Relationship Id="rId4" Type="http://schemas.openxmlformats.org/officeDocument/2006/relationships/image" Target="../media/image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1.png"/><Relationship Id="rId4" Type="http://schemas.openxmlformats.org/officeDocument/2006/relationships/image" Target="../media/image4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4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2.png"/><Relationship Id="rId4" Type="http://schemas.openxmlformats.org/officeDocument/2006/relationships/image" Target="../media/image5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5" Type="http://schemas.openxmlformats.org/officeDocument/2006/relationships/image" Target="../media/image5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685800" y="1425575"/>
            <a:ext cx="7772400" cy="77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b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br>
              <a:rPr b="1" i="0" lang="en-US" sz="28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C:\Users\Srinidhi\Desktop\logo.png" id="104" name="Google Shape;10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" y="115887"/>
            <a:ext cx="301625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 txBox="1"/>
          <p:nvPr/>
        </p:nvSpPr>
        <p:spPr>
          <a:xfrm>
            <a:off x="-12700" y="1300162"/>
            <a:ext cx="9037637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M. S. Ramaiah Institute of Technology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(Autonomous Institute, Affiliated to VTU)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1676400" y="2895600"/>
            <a:ext cx="60198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000" y="3124200"/>
            <a:ext cx="754380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 CS 32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Vandana S Sardar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Mamatha Jadhav 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I 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Concepts: Pointers and Dynamic Memory Allocation, Algorithm Specification, Data Abstraction. Arrays and Structures: Arrays, Dynamically Allocated Arrays, Structures and Unions, Polynomials, Sparse Matrices, Representation of Multidimensional Arrays, Strings. 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II 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Stacks and Queues: Stacks, Stacks Using Dynamic Arrays, Queues, Circular Queues Using Dynamic Arrays, Evaluation of Expressions, Multiple Stacks and Queues. </a:t>
            </a:r>
            <a:endParaRPr/>
          </a:p>
        </p:txBody>
      </p:sp>
      <p:sp>
        <p:nvSpPr>
          <p:cNvPr id="113" name="Google Shape;113;p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Syllabus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III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Singly Linked lists and Chains, Representing Chains in C, Linked Stacks and Queues, Polynomials, Additional List operations, Sparse Matrices, Doubly Linked Lists.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IV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Trees: Introduction, Binary Trees, Binary Tree Traversals, Additional Binary Tree Operations, Threaded Binary Trees, Heaps, Binary Search Trees, Selection Trees, Forests, Representation of Disjoint Sets, Counting Binary Trees. </a:t>
            </a:r>
            <a:endParaRPr/>
          </a:p>
        </p:txBody>
      </p:sp>
      <p:sp>
        <p:nvSpPr>
          <p:cNvPr id="119" name="Google Shape;119;p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Syllabus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V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Graphs: The Graph Abstract Data Type, Elementary Graph Operations. Priority Queues: Single- and Double-Ended Priority Queues, Leftist Trees. Efficient Binary Search Trees: AVL Trees.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Book: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Horowitz, Sahni, Anderson-Freed: Fundamentals of Data Structures in C, 2nd Edition, Universities Press, 2008. </a:t>
            </a:r>
            <a:endParaRPr/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625" y="914400"/>
            <a:ext cx="8164512" cy="81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Constants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Revision of C Concepts: E Balagurusamy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Revision of C Concepts: E Balagurusamy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is a programming language developed at AT &amp; T’s Bell Laboratories of USA in 1972.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compiler is written in C.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parts of popular operating systems like Windows, UNIX, Linux is still written in C.</a:t>
            </a:r>
            <a:endParaRPr/>
          </a:p>
        </p:txBody>
      </p:sp>
      <p:sp>
        <p:nvSpPr>
          <p:cNvPr id="143" name="Google Shape;143;p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97087"/>
            <a:ext cx="8050212" cy="3922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438400"/>
            <a:ext cx="7056437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/>
        </p:nvSpPr>
        <p:spPr>
          <a:xfrm>
            <a:off x="533400" y="1676400"/>
            <a:ext cx="7848600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Identifiers: User defined word used to name of entities like variables, arrays, functions, structures.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 Reserved words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Examples: int, short, signed, unsigned, default, volatile, 	float, long, double, break, continue, typedef, static, do, 	for, union, return, while, do, extern, register, enum, case, 	goto, struct, char, auto, const etc.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built-in data types: int, float, double, char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Enumeration data type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Derived data type: pointer, array, structure, union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data type: void</a:t>
            </a:r>
            <a:endParaRPr/>
          </a:p>
        </p:txBody>
      </p:sp>
      <p:sp>
        <p:nvSpPr>
          <p:cNvPr id="168" name="Google Shape;168;p1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types of type qualifier in C: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qualifier: short, long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qualifier: signed, unsigned</a:t>
            </a:r>
            <a:endParaRPr/>
          </a:p>
        </p:txBody>
      </p:sp>
      <p:sp>
        <p:nvSpPr>
          <p:cNvPr id="174" name="Google Shape;174;p1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752600"/>
            <a:ext cx="8610600" cy="445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00200"/>
            <a:ext cx="7581900" cy="48434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Constants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00200"/>
            <a:ext cx="7696200" cy="50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00" y="2098675"/>
            <a:ext cx="8229600" cy="4810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endParaRPr/>
          </a:p>
        </p:txBody>
      </p:sp>
      <p:pic>
        <p:nvPicPr>
          <p:cNvPr id="200" name="Google Shape;2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600" y="1676400"/>
            <a:ext cx="8229600" cy="4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00" y="2582862"/>
            <a:ext cx="8229600" cy="3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" y="2968625"/>
            <a:ext cx="8229600" cy="34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endParaRPr/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52600"/>
            <a:ext cx="7924800" cy="4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212975"/>
            <a:ext cx="7924800" cy="4579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if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if..else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if else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 ladder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statement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905000"/>
            <a:ext cx="2895600" cy="1709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 : Simple if and if else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3971925"/>
            <a:ext cx="289560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C Conditional Statement: IF, IF Else and Nested IF Else with Example" id="223" name="Google Shape;223;p19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 Conditional Statement: IF, IF Else and Nested IF Else with Example" id="224" name="Google Shape;224;p19"/>
          <p:cNvSpPr txBox="1"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 Conditional Statement: IF, IF Else and Nested IF Else with Example" id="225" name="Google Shape;225;p19"/>
          <p:cNvSpPr txBox="1"/>
          <p:nvPr/>
        </p:nvSpPr>
        <p:spPr>
          <a:xfrm>
            <a:off x="460375" y="160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362200"/>
            <a:ext cx="460375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Structures: Nested if else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0662" y="1752600"/>
            <a:ext cx="5037137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775" y="1905000"/>
            <a:ext cx="3603625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2100" y="2057400"/>
            <a:ext cx="3543300" cy="421798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Structures: else if ladder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1752600"/>
            <a:ext cx="5133975" cy="4973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idx="1" type="body"/>
          </p:nvPr>
        </p:nvSpPr>
        <p:spPr>
          <a:xfrm>
            <a:off x="495300" y="1676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statement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witch Statement in C/C++ - GeeksforGeeks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524000"/>
            <a:ext cx="3581400" cy="517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 switch case statement - C Programming - c4learn.com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247900"/>
            <a:ext cx="4214812" cy="410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" type="body"/>
          </p:nvPr>
        </p:nvSpPr>
        <p:spPr>
          <a:xfrm>
            <a:off x="457200" y="2179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loop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while loop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sp>
        <p:nvSpPr>
          <p:cNvPr id="254" name="Google Shape;254;p2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/>
          </a:p>
        </p:txBody>
      </p:sp>
      <p:pic>
        <p:nvPicPr>
          <p:cNvPr id="260" name="Google Shape;260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900362"/>
            <a:ext cx="3662362" cy="329723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533400" y="1917700"/>
            <a:ext cx="25908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loop</a:t>
            </a:r>
            <a:endParaRPr/>
          </a:p>
        </p:txBody>
      </p:sp>
      <p:pic>
        <p:nvPicPr>
          <p:cNvPr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2895600"/>
            <a:ext cx="3276600" cy="33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idx="1" type="body"/>
          </p:nvPr>
        </p:nvSpPr>
        <p:spPr>
          <a:xfrm>
            <a:off x="4953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do-while loop</a:t>
            </a:r>
            <a:endParaRPr/>
          </a:p>
        </p:txBody>
      </p:sp>
      <p:sp>
        <p:nvSpPr>
          <p:cNvPr id="268" name="Google Shape;268;p2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/>
          </a:p>
        </p:txBody>
      </p:sp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595562"/>
            <a:ext cx="3400425" cy="28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87" y="2566987"/>
            <a:ext cx="3300412" cy="28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12" y="2741612"/>
            <a:ext cx="3435350" cy="301783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652462" y="1839912"/>
            <a:ext cx="3386137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pic>
        <p:nvPicPr>
          <p:cNvPr id="278" name="Google Shape;27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2609850"/>
            <a:ext cx="38862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800" y="4260850"/>
            <a:ext cx="3886200" cy="192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check whether number is even or odd.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print the grade obtained by a student using else if ladder/switch case.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find the factorial of a number.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Write a C program to print the table of a number.</a:t>
            </a:r>
            <a:endParaRPr/>
          </a:p>
        </p:txBody>
      </p:sp>
      <p:sp>
        <p:nvSpPr>
          <p:cNvPr id="285" name="Google Shape;285;p2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C Programs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is the collection of similar data types or collection of similar entity stored in contiguous memory location. 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of characters is a string. 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data item of an array is called an element and located in separated memory location. 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of elements of an array share a variable but each element having different index no. known as subscript. </a:t>
            </a:r>
            <a:endParaRPr/>
          </a:p>
        </p:txBody>
      </p:sp>
      <p:sp>
        <p:nvSpPr>
          <p:cNvPr id="291" name="Google Shape;291;p2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00200"/>
            <a:ext cx="6116637" cy="329088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Arrays: Declaration and Initialization</a:t>
            </a:r>
            <a:endParaRPr/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912" y="4953000"/>
            <a:ext cx="7583487" cy="161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175" y="1676400"/>
            <a:ext cx="7947025" cy="235426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/>
          <p:nvPr>
            <p:ph idx="1" type="body"/>
          </p:nvPr>
        </p:nvSpPr>
        <p:spPr>
          <a:xfrm>
            <a:off x="549275" y="1011237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Arrays: Memory Layout and storing elements</a:t>
            </a:r>
            <a:endParaRPr/>
          </a:p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114800"/>
            <a:ext cx="5362575" cy="2693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Dimensional arrays: Known as matrix.</a:t>
            </a:r>
            <a:endParaRPr/>
          </a:p>
        </p:txBody>
      </p:sp>
      <p:sp>
        <p:nvSpPr>
          <p:cNvPr id="311" name="Google Shape;311;p3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Arrays: 2D, Matrix</a:t>
            </a:r>
            <a:endParaRPr/>
          </a:p>
        </p:txBody>
      </p:sp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152650"/>
            <a:ext cx="52800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312" y="3276600"/>
            <a:ext cx="5564187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676400"/>
            <a:ext cx="5027612" cy="433863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Arrays: 2D Example: Display a matrix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457200" y="16002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is a simple array with char as a data type.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String is terminated with a special character ‘\0’.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914400" y="3233737"/>
            <a:ext cx="8001000" cy="9239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general syntax for declaring a variable as a string is as follows,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string_variable_name [array_size]; 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914400" y="4343400"/>
            <a:ext cx="7315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first_name[15]; //declaration of a string variable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 last_name[15]; </a:t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914400" y="5257800"/>
            <a:ext cx="7772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 compiler automatically adds a NULL character '\0' to the character array created.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Initialization</a:t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4800" y="2805112"/>
            <a:ext cx="8534400" cy="147637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first_name[15] = “RAMESH";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first_name[15] = {‘R',‘A',‘M',‘E',‘S',‘H','\0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'};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NULL character '\0' is required at end in this declaration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Read a string</a:t>
            </a:r>
            <a:endParaRPr/>
          </a:p>
        </p:txBody>
      </p:sp>
      <p:sp>
        <p:nvSpPr>
          <p:cNvPr id="340" name="Google Shape;340;p35"/>
          <p:cNvSpPr txBox="1"/>
          <p:nvPr>
            <p:ph idx="1" type="body"/>
          </p:nvPr>
        </p:nvSpPr>
        <p:spPr>
          <a:xfrm>
            <a:off x="914400" y="1958975"/>
            <a:ext cx="7162800" cy="206216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name[10];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printf("Enter your first name : 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scanf("%s", name);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914400" y="4511675"/>
            <a:ext cx="7086600" cy="184785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name[10];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printf("Enter your name: 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gets(name);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Write a string</a:t>
            </a:r>
            <a:endParaRPr/>
          </a:p>
        </p:txBody>
      </p:sp>
      <p:sp>
        <p:nvSpPr>
          <p:cNvPr id="347" name="Google Shape;347;p36"/>
          <p:cNvSpPr txBox="1"/>
          <p:nvPr>
            <p:ph idx="1" type="body"/>
          </p:nvPr>
        </p:nvSpPr>
        <p:spPr>
          <a:xfrm>
            <a:off x="533400" y="2214562"/>
            <a:ext cx="8153400" cy="46037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printf("%s", name);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48" name="Google Shape;348;p36"/>
          <p:cNvSpPr txBox="1"/>
          <p:nvPr/>
        </p:nvSpPr>
        <p:spPr>
          <a:xfrm>
            <a:off x="533400" y="3133725"/>
            <a:ext cx="8382000" cy="19399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name[15];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gets(name); //reads a string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puts(name); //displays a string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String Handling Functions</a:t>
            </a:r>
            <a:endParaRPr/>
          </a:p>
        </p:txBody>
      </p:sp>
      <p:graphicFrame>
        <p:nvGraphicFramePr>
          <p:cNvPr id="354" name="Google Shape;354;p37"/>
          <p:cNvGraphicFramePr/>
          <p:nvPr/>
        </p:nvGraphicFramePr>
        <p:xfrm>
          <a:off x="5334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{56E92CE9-0B34-4A8B-A2F2-A9D0C3FF3CA3}</a:tableStyleId>
              </a:tblPr>
              <a:tblGrid>
                <a:gridCol w="1066800"/>
                <a:gridCol w="6324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Sr.No.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&amp; Purpose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strcpy(s1, s2);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Copies string s2 into string s1.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strcat(s1, s2);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Concatenates string s2 onto the end of string s1.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strlen(s1);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the length of string s1.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strcmp(s1, s2);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0 if s1 and s2 are the same; less than 0 if s1&lt;s2; greater than 0 if s1&gt;s2.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strchr(s1, ch);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pointer to the first occurrence of character ch in string s1.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strstr(s1, s2);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 pointer to the first occurrence of string s2 in string s1.</a:t>
                      </a:r>
                      <a:endParaRPr/>
                    </a:p>
                  </a:txBody>
                  <a:tcPr marT="47250" marB="47250" marR="47250" marL="472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str[]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"MSRIT";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printf("Length of String is %d\n",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strlen(str)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Length of String is 5 	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printf("Size of String is %d\n",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sizeof(str)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 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Length of String is 6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3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strlen() and sizeof()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idx="1" type="body"/>
          </p:nvPr>
        </p:nvSpPr>
        <p:spPr>
          <a:xfrm>
            <a:off x="457200" y="1600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&lt;string.h&gt;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 ()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str1[12] = "Hello";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 str2[12] = "World";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char str3[12];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 len ;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copy str1 into str3 */  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strcpy(str3, str1);  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printf("strcpy( str3, str1) :  %s\n", str3 );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concatenates str1 and str2 */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strcat( str1, str2);  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printf("strcat( str1, str2):   %s\n", str1 );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total length of str1 after concatenation */  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 = strlen(str1); 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printf("strlen(str1) :  %d\n", len );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return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5400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3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String handling functions: A Program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/>
          <p:nvPr>
            <p:ph idx="1" type="body"/>
          </p:nvPr>
        </p:nvSpPr>
        <p:spPr>
          <a:xfrm>
            <a:off x="457200" y="21034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strncmp(str1, str2, n) :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returns 0 if the first n characters of str1 is equal to the first n characters of str2, less than 0 if str1 &lt; str2, and greater than 0 if str1 &gt; str2.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strncpy(str1, str2, n) :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function is used to copy a string from another string. Copies the first n characters of str2 to str1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strstr(str1, str2):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returns a pointer to the first occurrence of str2 in str1, or NULL if str2 not found.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strncat(str1, str2, n) :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Appends (concatenates) first n characters of str2 to the end of str1 and returns a pointer to str1.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0"/>
          <p:cNvSpPr/>
          <p:nvPr>
            <p:ph idx="1" type="body"/>
          </p:nvPr>
        </p:nvSpPr>
        <p:spPr>
          <a:xfrm>
            <a:off x="533400" y="1033462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Strings: Other functions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 is a block of code that performs a specific task.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allows you to define functions according to your need, These functions are known as user-defined functions.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functions can be classified into two categories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functions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User-defined functions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modularity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your program's structure.</a:t>
            </a:r>
            <a:endParaRPr/>
          </a:p>
          <a:p>
            <a:pPr indent="-101600" lvl="2" marL="11430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case of large programs with thousands of code lines,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and editing becomes easier.</a:t>
            </a:r>
            <a:endParaRPr/>
          </a:p>
          <a:p>
            <a:pPr indent="-158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makes the program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readable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easy to understand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58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 used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avoid rewriting same logic/code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again and again in a program.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Syntax</a:t>
            </a:r>
            <a:endParaRPr/>
          </a:p>
        </p:txBody>
      </p:sp>
      <p:pic>
        <p:nvPicPr>
          <p:cNvPr id="391" name="Google Shape;391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37" y="1592262"/>
            <a:ext cx="6519862" cy="259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7" y="4267200"/>
            <a:ext cx="6519862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P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arameters /Arguments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4"/>
          <p:cNvSpPr txBox="1"/>
          <p:nvPr>
            <p:ph idx="1" type="body"/>
          </p:nvPr>
        </p:nvSpPr>
        <p:spPr>
          <a:xfrm>
            <a:off x="609600" y="1524000"/>
            <a:ext cx="8229600" cy="64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Parameter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parameter which is written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 function definition 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known as a formal parameter.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Parameter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parameter that is written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 function call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known as the actual parameter.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sum(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               Function Declaration/ Function Prototype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a=10 ,b=20 ;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sum(a ,b 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;/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/actual parameter          Calling Function   (Function Call)  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sum(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x,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)//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parameter     Called Function (Function 								Definition 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//body of the function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with arguments and a return value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with arguments and no return value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with no arguments and no return value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with no arguments and a return value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4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Categories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Category 1</a:t>
            </a:r>
            <a:endParaRPr/>
          </a:p>
        </p:txBody>
      </p:sp>
      <p:graphicFrame>
        <p:nvGraphicFramePr>
          <p:cNvPr id="410" name="Google Shape;410;p46"/>
          <p:cNvGraphicFramePr/>
          <p:nvPr/>
        </p:nvGraphicFramePr>
        <p:xfrm>
          <a:off x="6096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{56E92CE9-0B34-4A8B-A2F2-A9D0C3FF3CA3}</a:tableStyleId>
              </a:tblPr>
              <a:tblGrid>
                <a:gridCol w="2643175"/>
                <a:gridCol w="5281600"/>
              </a:tblGrid>
              <a:tr h="40957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rabicPeriod"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arguments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with</a:t>
                      </a: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values</a:t>
                      </a:r>
                      <a:endParaRPr/>
                    </a:p>
                  </a:txBody>
                  <a:tcPr marT="66675" marB="66675" marR="142875" marL="14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declaration:</a:t>
                      </a:r>
                      <a:b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function ( int 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call: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z=function ( a );           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with argument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definition:       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function( int a )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statements;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a;               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with return value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</a:t>
                      </a:r>
                      <a:endParaRPr/>
                    </a:p>
                  </a:txBody>
                  <a:tcPr marT="66675" marB="66675" marR="142875" marL="14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Category 2</a:t>
            </a:r>
            <a:endParaRPr/>
          </a:p>
        </p:txBody>
      </p:sp>
      <p:pic>
        <p:nvPicPr>
          <p:cNvPr id="416" name="Google Shape;4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187" y="2435225"/>
            <a:ext cx="8175625" cy="35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Category 3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667000"/>
            <a:ext cx="8480425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Functions: Category 4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8" name="Google Shape;428;p49"/>
          <p:cNvGraphicFramePr/>
          <p:nvPr/>
        </p:nvGraphicFramePr>
        <p:xfrm>
          <a:off x="7620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{56E92CE9-0B34-4A8B-A2F2-A9D0C3FF3CA3}</a:tableStyleId>
              </a:tblPr>
              <a:tblGrid>
                <a:gridCol w="2971800"/>
                <a:gridCol w="5181600"/>
              </a:tblGrid>
              <a:tr h="379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 Without arguments and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 return values</a:t>
                      </a:r>
                      <a:endParaRPr/>
                    </a:p>
                  </a:txBody>
                  <a:tcPr marT="66675" marB="66675" marR="142875" marL="14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declaration:</a:t>
                      </a:r>
                      <a:b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function ( );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call: 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z= function ( );         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without argument 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definition: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 function( )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statements;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a;    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 with return value</a:t>
                      </a:r>
                      <a:b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</a:t>
                      </a:r>
                      <a:endParaRPr/>
                    </a:p>
                  </a:txBody>
                  <a:tcPr marT="66675" marB="66675" marR="142875" marL="14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0"/>
          <p:cNvSpPr txBox="1"/>
          <p:nvPr>
            <p:ph idx="1" type="body"/>
          </p:nvPr>
        </p:nvSpPr>
        <p:spPr>
          <a:xfrm>
            <a:off x="457200" y="1798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is a user-defined data type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 programming language ,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combines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logically related data items of different data types together.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keyword is used to declare the structure in C.</a:t>
            </a:r>
            <a:endParaRPr/>
          </a:p>
          <a:p>
            <a:pPr indent="-190500" lvl="1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inside the structure are called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of the structure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50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Syntax and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Syntax                                Example</a:t>
            </a:r>
            <a:endParaRPr/>
          </a:p>
        </p:txBody>
      </p:sp>
      <p:sp>
        <p:nvSpPr>
          <p:cNvPr id="440" name="Google Shape;440;p51"/>
          <p:cNvSpPr txBox="1"/>
          <p:nvPr/>
        </p:nvSpPr>
        <p:spPr>
          <a:xfrm>
            <a:off x="914400" y="2286000"/>
            <a:ext cx="3276600" cy="22463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struct_name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DataType    member1_name;          DataType    member2_name; DataType    member3_name;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 </a:t>
            </a:r>
            <a:endParaRPr/>
          </a:p>
        </p:txBody>
      </p:sp>
      <p:sp>
        <p:nvSpPr>
          <p:cNvPr id="441" name="Google Shape;441;p51"/>
          <p:cNvSpPr txBox="1"/>
          <p:nvPr/>
        </p:nvSpPr>
        <p:spPr>
          <a:xfrm>
            <a:off x="4876800" y="2414587"/>
            <a:ext cx="3124200" cy="1990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14282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employee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char    name[50];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int      age;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float   salary;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};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2"/>
          <p:cNvSpPr/>
          <p:nvPr>
            <p:ph idx="1" type="body"/>
          </p:nvPr>
        </p:nvSpPr>
        <p:spPr>
          <a:xfrm>
            <a:off x="533400" y="944562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Examples</a:t>
            </a:r>
            <a:endParaRPr/>
          </a:p>
        </p:txBody>
      </p:sp>
      <p:sp>
        <p:nvSpPr>
          <p:cNvPr id="447" name="Google Shape;447;p52"/>
          <p:cNvSpPr txBox="1"/>
          <p:nvPr/>
        </p:nvSpPr>
        <p:spPr>
          <a:xfrm>
            <a:off x="304800" y="1716087"/>
            <a:ext cx="3200400" cy="22463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char   name[60];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int     roll_no;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float  marks;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s1,s2,s3….sn; </a:t>
            </a:r>
            <a:endParaRPr/>
          </a:p>
        </p:txBody>
      </p:sp>
      <p:cxnSp>
        <p:nvCxnSpPr>
          <p:cNvPr id="448" name="Google Shape;448;p52"/>
          <p:cNvCxnSpPr/>
          <p:nvPr/>
        </p:nvCxnSpPr>
        <p:spPr>
          <a:xfrm rot="10800000">
            <a:off x="1981200" y="1903412"/>
            <a:ext cx="33528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49" name="Google Shape;449;p52"/>
          <p:cNvCxnSpPr/>
          <p:nvPr/>
        </p:nvCxnSpPr>
        <p:spPr>
          <a:xfrm rot="10800000">
            <a:off x="2133600" y="3581400"/>
            <a:ext cx="31242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50" name="Google Shape;450;p52"/>
          <p:cNvSpPr/>
          <p:nvPr/>
        </p:nvSpPr>
        <p:spPr>
          <a:xfrm>
            <a:off x="3657600" y="2209800"/>
            <a:ext cx="381000" cy="990600"/>
          </a:xfrm>
          <a:prstGeom prst="rightBrace">
            <a:avLst>
              <a:gd fmla="val 692" name="adj1"/>
              <a:gd fmla="val 50000" name="adj2"/>
            </a:avLst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2"/>
          <p:cNvSpPr txBox="1"/>
          <p:nvPr/>
        </p:nvSpPr>
        <p:spPr>
          <a:xfrm>
            <a:off x="4114800" y="2514600"/>
            <a:ext cx="26749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of the structure</a:t>
            </a:r>
            <a:endParaRPr/>
          </a:p>
        </p:txBody>
      </p:sp>
      <p:sp>
        <p:nvSpPr>
          <p:cNvPr id="452" name="Google Shape;452;p52"/>
          <p:cNvSpPr txBox="1"/>
          <p:nvPr/>
        </p:nvSpPr>
        <p:spPr>
          <a:xfrm>
            <a:off x="5486400" y="1687512"/>
            <a:ext cx="2341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structure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5334000" y="3124200"/>
            <a:ext cx="31051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Structure variables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s1,s2,s3….sn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time of definition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3352800" y="4267200"/>
            <a:ext cx="5638800" cy="206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s1,s2,s3........sn; // </a:t>
            </a:r>
            <a:r>
              <a:rPr b="1" i="0" lang="en-US" sz="1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Structure  variables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1" i="0" lang="en-US" sz="1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      within a main function. </a:t>
            </a:r>
            <a:endParaRPr b="0" i="0"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b="0" i="0" lang="en-US" sz="1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endParaRPr/>
          </a:p>
        </p:txBody>
      </p:sp>
      <p:sp>
        <p:nvSpPr>
          <p:cNvPr id="455" name="Google Shape;455;p52"/>
          <p:cNvSpPr txBox="1"/>
          <p:nvPr/>
        </p:nvSpPr>
        <p:spPr>
          <a:xfrm>
            <a:off x="228600" y="4114800"/>
            <a:ext cx="3048000" cy="230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 student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char   name[60];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int      roll_no;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float    marks;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Structures: Accessing Structure Members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3200400" y="457200"/>
            <a:ext cx="1841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3"/>
          <p:cNvSpPr txBox="1"/>
          <p:nvPr/>
        </p:nvSpPr>
        <p:spPr>
          <a:xfrm>
            <a:off x="76200" y="1590675"/>
            <a:ext cx="8610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Using Dot(.) operator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53"/>
          <p:cNvSpPr txBox="1"/>
          <p:nvPr/>
        </p:nvSpPr>
        <p:spPr>
          <a:xfrm>
            <a:off x="457200" y="2900362"/>
            <a:ext cx="3048000" cy="258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 student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char   name[60];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int      roll_no;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float    marks;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r>
              <a:rPr b="1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</a:t>
            </a:r>
            <a:r>
              <a:rPr b="0" i="0" lang="en-US" sz="1800" u="non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53"/>
          <p:cNvSpPr txBox="1"/>
          <p:nvPr/>
        </p:nvSpPr>
        <p:spPr>
          <a:xfrm>
            <a:off x="5410200" y="2057400"/>
            <a:ext cx="464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#include&lt;stdio.h&gt;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Point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x, y;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Point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{0, 1};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Accessing members of point p1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p1.x = 20;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 ("x = %d, y = %d",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p1.x, p1.y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0;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465" name="Google Shape;465;p53"/>
          <p:cNvSpPr txBox="1"/>
          <p:nvPr/>
        </p:nvSpPr>
        <p:spPr>
          <a:xfrm>
            <a:off x="228600" y="5181600"/>
            <a:ext cx="556260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/*Assigning the values to struct member here*/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s1. roll_no 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101;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s1. marks   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 25.0</a:t>
            </a:r>
            <a:endParaRPr/>
          </a:p>
        </p:txBody>
      </p:sp>
      <p:cxnSp>
        <p:nvCxnSpPr>
          <p:cNvPr id="466" name="Google Shape;466;p53"/>
          <p:cNvCxnSpPr/>
          <p:nvPr/>
        </p:nvCxnSpPr>
        <p:spPr>
          <a:xfrm rot="5400000">
            <a:off x="2856706" y="4352131"/>
            <a:ext cx="48006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67" name="Google Shape;467;p53"/>
          <p:cNvSpPr txBox="1"/>
          <p:nvPr/>
        </p:nvSpPr>
        <p:spPr>
          <a:xfrm flipH="1">
            <a:off x="5562600" y="1752600"/>
            <a:ext cx="1981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2:</a:t>
            </a:r>
            <a:endParaRPr/>
          </a:p>
        </p:txBody>
      </p:sp>
      <p:sp>
        <p:nvSpPr>
          <p:cNvPr id="468" name="Google Shape;468;p53"/>
          <p:cNvSpPr txBox="1"/>
          <p:nvPr/>
        </p:nvSpPr>
        <p:spPr>
          <a:xfrm flipH="1">
            <a:off x="381000" y="2419350"/>
            <a:ext cx="1981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Example1 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4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Examples</a:t>
            </a:r>
            <a:endParaRPr/>
          </a:p>
        </p:txBody>
      </p:sp>
      <p:sp>
        <p:nvSpPr>
          <p:cNvPr id="474" name="Google Shape;474;p54"/>
          <p:cNvSpPr txBox="1"/>
          <p:nvPr/>
        </p:nvSpPr>
        <p:spPr>
          <a:xfrm>
            <a:off x="369887" y="1766887"/>
            <a:ext cx="8458200" cy="6462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 tudent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char   name[60];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int      roll_no;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float    marks;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s3={ “pavan”, 103, 25};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struct student 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“ramesh”, 101, 23 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struct student 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“suresh”, 102, 27 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 ("x = %s, y = %d, z = %f\n",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s1.name, s1.roll_no, s1.marks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 ("x = %s, y = %d, z = %f\n",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s2.name, s2.roll_no, s2.marks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54"/>
          <p:cNvSpPr txBox="1"/>
          <p:nvPr/>
        </p:nvSpPr>
        <p:spPr>
          <a:xfrm flipH="1">
            <a:off x="5334000" y="4321175"/>
            <a:ext cx="3505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member (S1 and S2)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</a:t>
            </a:r>
            <a:endParaRPr/>
          </a:p>
        </p:txBody>
      </p:sp>
      <p:sp>
        <p:nvSpPr>
          <p:cNvPr id="476" name="Google Shape;476;p54"/>
          <p:cNvSpPr/>
          <p:nvPr/>
        </p:nvSpPr>
        <p:spPr>
          <a:xfrm>
            <a:off x="4876800" y="4419600"/>
            <a:ext cx="381000" cy="685800"/>
          </a:xfrm>
          <a:prstGeom prst="rightBrace">
            <a:avLst>
              <a:gd fmla="val 1000" name="adj1"/>
              <a:gd fmla="val 50000" name="adj2"/>
            </a:avLst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4"/>
          <p:cNvSpPr txBox="1"/>
          <p:nvPr/>
        </p:nvSpPr>
        <p:spPr>
          <a:xfrm flipH="1">
            <a:off x="3429000" y="3409950"/>
            <a:ext cx="4495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member (S3) initialization</a:t>
            </a:r>
            <a:endParaRPr/>
          </a:p>
        </p:txBody>
      </p:sp>
      <p:cxnSp>
        <p:nvCxnSpPr>
          <p:cNvPr id="478" name="Google Shape;478;p54"/>
          <p:cNvCxnSpPr/>
          <p:nvPr/>
        </p:nvCxnSpPr>
        <p:spPr>
          <a:xfrm rot="10800000">
            <a:off x="2971800" y="3656012"/>
            <a:ext cx="3810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Structures: Arrays of Structures</a:t>
            </a:r>
            <a:endParaRPr b="1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5"/>
          <p:cNvSpPr txBox="1"/>
          <p:nvPr/>
        </p:nvSpPr>
        <p:spPr>
          <a:xfrm>
            <a:off x="152400" y="1524000"/>
            <a:ext cx="899160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Array of Structures in C Initialization */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Emp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      age;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   name[10];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     salary;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Employees[4]</a:t>
            </a: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{25, "Suresh", 25000}, {24, "Tutorial", 28000}, {22, "Gateway", 35000}, {27, "Mike", 20000} }; </a:t>
            </a:r>
            <a:endParaRPr/>
          </a:p>
        </p:txBody>
      </p:sp>
      <p:sp>
        <p:nvSpPr>
          <p:cNvPr id="485" name="Google Shape;485;p55"/>
          <p:cNvSpPr txBox="1"/>
          <p:nvPr/>
        </p:nvSpPr>
        <p:spPr>
          <a:xfrm>
            <a:off x="381000" y="5105400"/>
            <a:ext cx="45720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Employees[0] ={25, "Suresh", 25000}; Employees[1] = {24, "Tutorial", 28000}; Employees[2] = {22, "Gateway", 35000}; Employees[3] =   {27, "Mike", 20000}; </a:t>
            </a:r>
            <a:endParaRPr/>
          </a:p>
        </p:txBody>
      </p:sp>
      <p:cxnSp>
        <p:nvCxnSpPr>
          <p:cNvPr id="486" name="Google Shape;486;p55"/>
          <p:cNvCxnSpPr/>
          <p:nvPr/>
        </p:nvCxnSpPr>
        <p:spPr>
          <a:xfrm>
            <a:off x="1371600" y="4386262"/>
            <a:ext cx="0" cy="71913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Structures: Arrays of Structures</a:t>
            </a:r>
            <a:endParaRPr b="1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6"/>
          <p:cNvSpPr txBox="1"/>
          <p:nvPr/>
        </p:nvSpPr>
        <p:spPr>
          <a:xfrm>
            <a:off x="228600" y="2819400"/>
            <a:ext cx="219075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student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int     age;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char   name[10];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int      marks;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}; </a:t>
            </a:r>
            <a:endParaRPr/>
          </a:p>
        </p:txBody>
      </p:sp>
      <p:sp>
        <p:nvSpPr>
          <p:cNvPr id="493" name="Google Shape;493;p56"/>
          <p:cNvSpPr txBox="1"/>
          <p:nvPr/>
        </p:nvSpPr>
        <p:spPr>
          <a:xfrm>
            <a:off x="3429000" y="1600200"/>
            <a:ext cx="5257800" cy="409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student  S[4];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S[4] = { {25, "Suresh", 25},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{24, “Ramesh", 28},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{22, “Anoop", 35},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{27, “Arun", 20}  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};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56"/>
          <p:cNvSpPr txBox="1"/>
          <p:nvPr/>
        </p:nvSpPr>
        <p:spPr>
          <a:xfrm>
            <a:off x="6324600" y="2514600"/>
            <a:ext cx="22193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 of Structures</a:t>
            </a:r>
            <a:endParaRPr/>
          </a:p>
        </p:txBody>
      </p:sp>
      <p:cxnSp>
        <p:nvCxnSpPr>
          <p:cNvPr id="495" name="Google Shape;495;p56"/>
          <p:cNvCxnSpPr/>
          <p:nvPr/>
        </p:nvCxnSpPr>
        <p:spPr>
          <a:xfrm rot="10800000">
            <a:off x="5791200" y="2667000"/>
            <a:ext cx="4572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96" name="Google Shape;496;p56"/>
          <p:cNvSpPr/>
          <p:nvPr/>
        </p:nvSpPr>
        <p:spPr>
          <a:xfrm>
            <a:off x="6705600" y="3200400"/>
            <a:ext cx="304800" cy="1295400"/>
          </a:xfrm>
          <a:prstGeom prst="rightBrace">
            <a:avLst>
              <a:gd fmla="val 424" name="adj1"/>
              <a:gd fmla="val 50000" name="adj2"/>
            </a:avLst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6"/>
          <p:cNvSpPr txBox="1"/>
          <p:nvPr/>
        </p:nvSpPr>
        <p:spPr>
          <a:xfrm>
            <a:off x="7010400" y="3352800"/>
            <a:ext cx="19145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 members</a:t>
            </a:r>
            <a:endParaRPr/>
          </a:p>
        </p:txBody>
      </p:sp>
      <p:sp>
        <p:nvSpPr>
          <p:cNvPr id="498" name="Google Shape;498;p56"/>
          <p:cNvSpPr txBox="1"/>
          <p:nvPr/>
        </p:nvSpPr>
        <p:spPr>
          <a:xfrm>
            <a:off x="228600" y="2133600"/>
            <a:ext cx="2174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Definition</a:t>
            </a:r>
            <a:endParaRPr/>
          </a:p>
        </p:txBody>
      </p:sp>
      <p:cxnSp>
        <p:nvCxnSpPr>
          <p:cNvPr id="499" name="Google Shape;499;p56"/>
          <p:cNvCxnSpPr/>
          <p:nvPr/>
        </p:nvCxnSpPr>
        <p:spPr>
          <a:xfrm flipH="1">
            <a:off x="1143000" y="2439987"/>
            <a:ext cx="1587" cy="379412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/>
          <p:nvPr>
            <p:ph idx="1" type="body"/>
          </p:nvPr>
        </p:nvSpPr>
        <p:spPr>
          <a:xfrm>
            <a:off x="533400" y="1981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find the sum of array elements.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implement a linear search technique.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find the transpose of the matrix.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 a C program to copy one string into another without using built in functions.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Write a C program to check whether number is palindrome or not using a function with argument and with return value.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 program to add to complex numbers using structures.</a:t>
            </a:r>
            <a:endParaRPr/>
          </a:p>
        </p:txBody>
      </p:sp>
      <p:sp>
        <p:nvSpPr>
          <p:cNvPr id="505" name="Google Shape;505;p5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C Programs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  <p:sp>
        <p:nvSpPr>
          <p:cNvPr id="511" name="Google Shape;511;p58"/>
          <p:cNvSpPr txBox="1"/>
          <p:nvPr/>
        </p:nvSpPr>
        <p:spPr>
          <a:xfrm>
            <a:off x="457200" y="1873250"/>
            <a:ext cx="8686800" cy="178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is a variable ,which stores the address of another variable.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purpose of pointer is to save memory space and achieve faster execution time.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&amp; symbol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to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the address of the variable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* symbol is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the value of the variable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the pointer is pointing to.</a:t>
            </a:r>
            <a:endParaRPr/>
          </a:p>
        </p:txBody>
      </p:sp>
      <p:graphicFrame>
        <p:nvGraphicFramePr>
          <p:cNvPr id="512" name="Google Shape;512;p58"/>
          <p:cNvGraphicFramePr/>
          <p:nvPr/>
        </p:nvGraphicFramePr>
        <p:xfrm>
          <a:off x="5006975" y="392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{56E92CE9-0B34-4A8B-A2F2-A9D0C3FF3CA3}</a:tableStyleId>
              </a:tblPr>
              <a:tblGrid>
                <a:gridCol w="990600"/>
                <a:gridCol w="1447800"/>
                <a:gridCol w="1371600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7E2FA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7E2F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7E2FA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7E2F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7E2FA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C7E2F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783592244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5E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*ptr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1755463112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783592244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5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  <p:cxnSp>
        <p:nvCxnSpPr>
          <p:cNvPr id="513" name="Google Shape;513;p58"/>
          <p:cNvCxnSpPr/>
          <p:nvPr/>
        </p:nvCxnSpPr>
        <p:spPr>
          <a:xfrm>
            <a:off x="4191000" y="4494212"/>
            <a:ext cx="6858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14" name="Google Shape;514;p58"/>
          <p:cNvCxnSpPr/>
          <p:nvPr/>
        </p:nvCxnSpPr>
        <p:spPr>
          <a:xfrm>
            <a:off x="4191000" y="4876800"/>
            <a:ext cx="685800" cy="1587"/>
          </a:xfrm>
          <a:prstGeom prst="straightConnector1">
            <a:avLst/>
          </a:prstGeom>
          <a:noFill/>
          <a:ln cap="flat" cmpd="sng" w="9525">
            <a:solidFill>
              <a:srgbClr val="0A6DC6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15" name="Google Shape;515;p58"/>
          <p:cNvSpPr txBox="1"/>
          <p:nvPr/>
        </p:nvSpPr>
        <p:spPr>
          <a:xfrm>
            <a:off x="2057400" y="4324350"/>
            <a:ext cx="2057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Variable</a:t>
            </a:r>
            <a:endParaRPr/>
          </a:p>
        </p:txBody>
      </p:sp>
      <p:sp>
        <p:nvSpPr>
          <p:cNvPr id="516" name="Google Shape;516;p58"/>
          <p:cNvSpPr txBox="1"/>
          <p:nvPr/>
        </p:nvSpPr>
        <p:spPr>
          <a:xfrm>
            <a:off x="1981200" y="4781550"/>
            <a:ext cx="2057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Variable</a:t>
            </a:r>
            <a:endParaRPr/>
          </a:p>
        </p:txBody>
      </p:sp>
      <p:sp>
        <p:nvSpPr>
          <p:cNvPr id="517" name="Google Shape;517;p58"/>
          <p:cNvSpPr txBox="1"/>
          <p:nvPr/>
        </p:nvSpPr>
        <p:spPr>
          <a:xfrm>
            <a:off x="685800" y="5613400"/>
            <a:ext cx="8001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variable stores the value ,whereas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variable stores the address of the variable.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Pointers: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a Pointer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59"/>
          <p:cNvSpPr txBox="1"/>
          <p:nvPr/>
        </p:nvSpPr>
        <p:spPr>
          <a:xfrm>
            <a:off x="533400" y="1676400"/>
            <a:ext cx="80772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 declaration has the following 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data_type    </a:t>
            </a:r>
            <a:r>
              <a:rPr b="1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pointer_variable_name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</p:txBody>
      </p:sp>
      <p:sp>
        <p:nvSpPr>
          <p:cNvPr id="524" name="Google Shape;524;p59"/>
          <p:cNvSpPr txBox="1"/>
          <p:nvPr/>
        </p:nvSpPr>
        <p:spPr>
          <a:xfrm>
            <a:off x="609600" y="2971800"/>
            <a:ext cx="762000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data_type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pointer's base type of C's variable types and indicates the type of the variable that the pointer points to.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asterisk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(*: the same asterisk used for multiplication) which is indirection operator, declares a pointer.</a:t>
            </a:r>
            <a:endParaRPr/>
          </a:p>
        </p:txBody>
      </p:sp>
      <p:pic>
        <p:nvPicPr>
          <p:cNvPr id="525" name="Google Shape;52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800600"/>
            <a:ext cx="62484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/>
          <p:nvPr>
            <p:ph idx="1" type="body"/>
          </p:nvPr>
        </p:nvSpPr>
        <p:spPr>
          <a:xfrm>
            <a:off x="762000" y="985837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Pointers: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Initializing a Pointer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60"/>
          <p:cNvSpPr txBox="1"/>
          <p:nvPr/>
        </p:nvSpPr>
        <p:spPr>
          <a:xfrm>
            <a:off x="3505200" y="304800"/>
            <a:ext cx="1841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0"/>
          <p:cNvSpPr txBox="1"/>
          <p:nvPr/>
        </p:nvSpPr>
        <p:spPr>
          <a:xfrm>
            <a:off x="304800" y="1444625"/>
            <a:ext cx="83820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get the address of a variable, we use the ampersand (&amp;)operator, placed before the name of a variable whose address we need. Pointer initialization is done with the following syntax.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 = &amp;variable; </a:t>
            </a:r>
            <a:endParaRPr/>
          </a:p>
        </p:txBody>
      </p:sp>
      <p:pic>
        <p:nvPicPr>
          <p:cNvPr id="533" name="Google Shape;53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505200"/>
            <a:ext cx="79248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Pointers: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the Address of a Variable </a:t>
            </a:r>
            <a:endParaRPr/>
          </a:p>
        </p:txBody>
      </p:sp>
      <p:sp>
        <p:nvSpPr>
          <p:cNvPr id="539" name="Google Shape;539;p61"/>
          <p:cNvSpPr txBox="1"/>
          <p:nvPr/>
        </p:nvSpPr>
        <p:spPr>
          <a:xfrm>
            <a:off x="228600" y="1524000"/>
            <a:ext cx="4572000" cy="409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variable is defined in C language, a memory location is assigned for it, in which it's value will be stored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can easily check this memory address, using the &amp; symbol.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location 80F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access the value 10 either by using the variable name a or by using its address 80F.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 10;</a:t>
            </a:r>
            <a:endParaRPr/>
          </a:p>
        </p:txBody>
      </p:sp>
      <p:pic>
        <p:nvPicPr>
          <p:cNvPr id="540" name="Google Shape;54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703762"/>
            <a:ext cx="2667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1"/>
          <p:cNvSpPr txBox="1"/>
          <p:nvPr/>
        </p:nvSpPr>
        <p:spPr>
          <a:xfrm>
            <a:off x="4953000" y="1600200"/>
            <a:ext cx="39624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pointer variable is therefore nothing but a variable which holds an address of some other variable.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value of a pointer variable gets stored in another memory location.</a:t>
            </a:r>
            <a:endParaRPr/>
          </a:p>
        </p:txBody>
      </p:sp>
      <p:pic>
        <p:nvPicPr>
          <p:cNvPr id="542" name="Google Shape;54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3525" y="3733800"/>
            <a:ext cx="3181350" cy="248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Pointers: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a variable through its pointer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2"/>
          <p:cNvSpPr txBox="1"/>
          <p:nvPr/>
        </p:nvSpPr>
        <p:spPr>
          <a:xfrm>
            <a:off x="457200" y="1828800"/>
            <a:ext cx="4038600" cy="424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 normal variable, assign the value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a pointer variable with the same type as the normal variable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the pointer variable with the address of normal variable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value of the variable by using asterisk (*) - it is known as dereference operator</a:t>
            </a:r>
            <a:endParaRPr/>
          </a:p>
        </p:txBody>
      </p:sp>
      <p:pic>
        <p:nvPicPr>
          <p:cNvPr id="549" name="Google Shape;54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905000"/>
            <a:ext cx="397192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3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828800"/>
            <a:ext cx="72390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4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  <p:pic>
        <p:nvPicPr>
          <p:cNvPr id="561" name="Google Shape;561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752600"/>
            <a:ext cx="781685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5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Pointers: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Benefits(use) of pointers in 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65"/>
          <p:cNvSpPr txBox="1"/>
          <p:nvPr/>
        </p:nvSpPr>
        <p:spPr>
          <a:xfrm>
            <a:off x="762000" y="1925637"/>
            <a:ext cx="8077200" cy="424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provide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access to memory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provide a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return more than one value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 functions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storage space and complexity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program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execution time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program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allows us to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dynamic memory allocation and deallocation.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 to build complex data structures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linked list, stack, queues, trees, graphs etc.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allows us to 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 the dynamically allocated memory block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66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  <p:pic>
        <p:nvPicPr>
          <p:cNvPr id="574" name="Google Shape;57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1600200"/>
            <a:ext cx="5178425" cy="51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5334000"/>
            <a:ext cx="35814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0200" y="1524000"/>
            <a:ext cx="35814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7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  <p:pic>
        <p:nvPicPr>
          <p:cNvPr id="582" name="Google Shape;58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676400"/>
            <a:ext cx="46482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5257800"/>
            <a:ext cx="4191000" cy="1187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7"/>
          <p:cNvSpPr txBox="1"/>
          <p:nvPr/>
        </p:nvSpPr>
        <p:spPr>
          <a:xfrm>
            <a:off x="228600" y="1676400"/>
            <a:ext cx="3352800" cy="455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limited set of arithmetic operations can be performed on pointers. A pointer may be: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Incremented ( ++ )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Decremented ( — )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integer may be added to a pointer ( + or += )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integer may be subtracted from a pointer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( – or -= )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8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  <p:pic>
        <p:nvPicPr>
          <p:cNvPr id="590" name="Google Shape;59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5334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19700"/>
            <a:ext cx="28765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2112" y="5181600"/>
            <a:ext cx="47212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9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and Arrays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8" name="Google Shape;598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05000"/>
            <a:ext cx="7770812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0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 and Strings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4" name="Google Shape;604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711325"/>
            <a:ext cx="6553200" cy="486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1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C-program using pointers to determine the length of a character String.</a:t>
            </a:r>
            <a:endParaRPr/>
          </a:p>
        </p:txBody>
      </p:sp>
      <p:pic>
        <p:nvPicPr>
          <p:cNvPr id="610" name="Google Shape;610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325" y="1676400"/>
            <a:ext cx="654367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2"/>
          <p:cNvSpPr/>
          <p:nvPr>
            <p:ph idx="1" type="body"/>
          </p:nvPr>
        </p:nvSpPr>
        <p:spPr>
          <a:xfrm>
            <a:off x="533400" y="990600"/>
            <a:ext cx="8153400" cy="533400"/>
          </a:xfrm>
          <a:prstGeom prst="roundRect">
            <a:avLst>
              <a:gd fmla="val 36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Pointers: Call by reference</a:t>
            </a:r>
            <a:endParaRPr/>
          </a:p>
        </p:txBody>
      </p:sp>
      <p:pic>
        <p:nvPicPr>
          <p:cNvPr id="616" name="Google Shape;616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28775"/>
            <a:ext cx="678180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ridgeCourse">
      <a:dk1>
        <a:srgbClr val="000000"/>
      </a:dk1>
      <a:lt1>
        <a:srgbClr val="C7E2FA"/>
      </a:lt1>
      <a:dk2>
        <a:srgbClr val="009DD9"/>
      </a:dk2>
      <a:lt2>
        <a:srgbClr val="90C6F6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90C6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bridgeCourse">
      <a:dk1>
        <a:srgbClr val="000000"/>
      </a:dk1>
      <a:lt1>
        <a:srgbClr val="C7E2FA"/>
      </a:lt1>
      <a:dk2>
        <a:srgbClr val="009DD9"/>
      </a:dk2>
      <a:lt2>
        <a:srgbClr val="90C6F6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90C6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2018-07-16T07:48:51Z</dcterms:created>
  <dc:creator>MSRIT</dc:creator>
</cp:coreProperties>
</file>