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0" r:id="rId6"/>
    <p:sldId id="272" r:id="rId7"/>
    <p:sldId id="273" r:id="rId8"/>
    <p:sldId id="274" r:id="rId9"/>
    <p:sldId id="271" r:id="rId10"/>
    <p:sldId id="257" r:id="rId11"/>
    <p:sldId id="275" r:id="rId12"/>
    <p:sldId id="276" r:id="rId13"/>
    <p:sldId id="262"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70C6-D136-403C-912F-9ADF3BB2CC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DB5E70-2720-46A4-B308-5EBBFE9E0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AE974B-65FF-4055-A015-A1EC9478275C}"/>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5" name="Footer Placeholder 4">
            <a:extLst>
              <a:ext uri="{FF2B5EF4-FFF2-40B4-BE49-F238E27FC236}">
                <a16:creationId xmlns:a16="http://schemas.microsoft.com/office/drawing/2014/main" id="{51ED706D-E57E-440F-9E2A-2657FBC6F7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8FDE25-8C46-4FD6-9391-3CF428B792B3}"/>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3219426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1172-6E0A-487C-8BC7-F834852F23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B32BFA-76A8-4C6E-8F9F-0FB6947868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F7267C-8863-41FD-BC93-C541EF70643B}"/>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5" name="Footer Placeholder 4">
            <a:extLst>
              <a:ext uri="{FF2B5EF4-FFF2-40B4-BE49-F238E27FC236}">
                <a16:creationId xmlns:a16="http://schemas.microsoft.com/office/drawing/2014/main" id="{3F29B858-1C83-4ADC-B245-9247869402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AC746C-B611-47E9-A131-500527D0E9B2}"/>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2486627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52B1-16C8-42CD-9BCA-CF010538DC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1DD2A8B-13E0-40A8-889E-AE2BA95642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07D721-9EA6-468C-94E5-AE0E9174F241}"/>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5" name="Footer Placeholder 4">
            <a:extLst>
              <a:ext uri="{FF2B5EF4-FFF2-40B4-BE49-F238E27FC236}">
                <a16:creationId xmlns:a16="http://schemas.microsoft.com/office/drawing/2014/main" id="{5AE189F1-A4A2-457F-9C8B-EF27C65CD0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13211F-45B7-445F-8410-EA84BED74138}"/>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892095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D062-E806-47A2-8EAB-807F1B10A9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7405B3-9C2A-4AD3-85EB-E9F3C7DCC3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99C21A-59D3-40BA-B7DD-5FB5BE6E3B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505DEE-EEE8-437E-85CF-F990CA55BE6F}"/>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6" name="Footer Placeholder 5">
            <a:extLst>
              <a:ext uri="{FF2B5EF4-FFF2-40B4-BE49-F238E27FC236}">
                <a16:creationId xmlns:a16="http://schemas.microsoft.com/office/drawing/2014/main" id="{F9C71A16-7981-438A-B555-0785112EAD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0AD291-7C47-4363-9BB9-8CCBDFB70BE5}"/>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1587519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F756-098E-4A44-9AB0-22E0D80B11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B459FF-2E51-4E42-A2B9-611F2C6D66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3F87BC-6611-4C25-A3DB-385E03A7F1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EBE0E1-61C8-4E81-9C69-F4BA6603CE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6F6A13-0B1D-4B8C-B907-E1B5B2AA2F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277B2A-F084-4977-ABDC-78368F324122}"/>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8" name="Footer Placeholder 7">
            <a:extLst>
              <a:ext uri="{FF2B5EF4-FFF2-40B4-BE49-F238E27FC236}">
                <a16:creationId xmlns:a16="http://schemas.microsoft.com/office/drawing/2014/main" id="{F0031A26-24A4-4EF2-A3F0-561B90316BC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159C662-AC66-4614-A486-E046FBD56EB8}"/>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4141456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CB79-86B4-40F9-B8EC-FE58C7BB2FF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FAC81B-BAF5-4147-9702-16D4B5D80D61}"/>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4" name="Footer Placeholder 3">
            <a:extLst>
              <a:ext uri="{FF2B5EF4-FFF2-40B4-BE49-F238E27FC236}">
                <a16:creationId xmlns:a16="http://schemas.microsoft.com/office/drawing/2014/main" id="{298F043B-09D4-401D-90D8-60D8DD9965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2E733C-6611-4CFD-BFA4-9FD18F883B5E}"/>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3781833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D29D7-0D3D-4618-81C4-06779E98CA97}"/>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3" name="Footer Placeholder 2">
            <a:extLst>
              <a:ext uri="{FF2B5EF4-FFF2-40B4-BE49-F238E27FC236}">
                <a16:creationId xmlns:a16="http://schemas.microsoft.com/office/drawing/2014/main" id="{AA01D658-0B2F-47E4-ACEB-ABD5D75542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7B6CB1-D653-42CE-AFD6-AD6687E6BEEE}"/>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1569022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7FEA1-FE76-4A48-82AB-2404F0EED7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18AE7A-4730-4671-99F5-C7CF4B0449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EFF35A-BEA5-4995-9781-DA1D90D87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059BB8-B82C-453E-84D0-DC0C24F67509}"/>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6" name="Footer Placeholder 5">
            <a:extLst>
              <a:ext uri="{FF2B5EF4-FFF2-40B4-BE49-F238E27FC236}">
                <a16:creationId xmlns:a16="http://schemas.microsoft.com/office/drawing/2014/main" id="{F418C1F4-5315-4D08-BD78-6435970316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54A536-F271-4C3F-BBE1-228F30F0D8E0}"/>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413243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96639-FAD9-4E22-B907-614328AFF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D72770-2654-40B7-8C75-BAA3D4752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914409-7071-46B4-88CB-4DF64E4DD3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3C71EF-4993-480A-90B5-63C3FA37C4F6}"/>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6" name="Footer Placeholder 5">
            <a:extLst>
              <a:ext uri="{FF2B5EF4-FFF2-40B4-BE49-F238E27FC236}">
                <a16:creationId xmlns:a16="http://schemas.microsoft.com/office/drawing/2014/main" id="{51325F9D-DC30-4094-A928-859A7BEACA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692B49-2912-40A6-9235-9448FD959428}"/>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1001464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42C21-98F9-4CF5-A07D-C60262603FF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3D63AE-779B-4C5B-9A80-735F224C2A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46C2B8-A4BF-4F2D-9747-E36F9A673CB1}"/>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5" name="Footer Placeholder 4">
            <a:extLst>
              <a:ext uri="{FF2B5EF4-FFF2-40B4-BE49-F238E27FC236}">
                <a16:creationId xmlns:a16="http://schemas.microsoft.com/office/drawing/2014/main" id="{D6DBD0FD-860A-485C-B46E-38C92A1616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C7CDB0-E2DD-4AC0-A6EA-843C262DB7C4}"/>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2488821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DCCC18-0183-42A0-8DB8-9054C7FBAC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32272B-3FE2-49E4-8CB2-C969EFB4B0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9CB2A5-D5D4-4551-9268-7223B0FDC469}"/>
              </a:ext>
            </a:extLst>
          </p:cNvPr>
          <p:cNvSpPr>
            <a:spLocks noGrp="1"/>
          </p:cNvSpPr>
          <p:nvPr>
            <p:ph type="dt" sz="half" idx="10"/>
          </p:nvPr>
        </p:nvSpPr>
        <p:spPr/>
        <p:txBody>
          <a:bodyPr/>
          <a:lstStyle/>
          <a:p>
            <a:fld id="{FAAF5663-FEAA-4C1B-BA57-DDA820BE28B3}" type="datetimeFigureOut">
              <a:rPr lang="en-IN" smtClean="0"/>
              <a:t>07-02-2022</a:t>
            </a:fld>
            <a:endParaRPr lang="en-IN"/>
          </a:p>
        </p:txBody>
      </p:sp>
      <p:sp>
        <p:nvSpPr>
          <p:cNvPr id="5" name="Footer Placeholder 4">
            <a:extLst>
              <a:ext uri="{FF2B5EF4-FFF2-40B4-BE49-F238E27FC236}">
                <a16:creationId xmlns:a16="http://schemas.microsoft.com/office/drawing/2014/main" id="{69B92DC9-0B45-4C9F-B02F-2C66D90C69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CE92E0-C195-48A7-A852-5001AC5E6DD4}"/>
              </a:ext>
            </a:extLst>
          </p:cNvPr>
          <p:cNvSpPr>
            <a:spLocks noGrp="1"/>
          </p:cNvSpPr>
          <p:nvPr>
            <p:ph type="sldNum" sz="quarter" idx="12"/>
          </p:nvPr>
        </p:nvSpPr>
        <p:spPr/>
        <p:txBody>
          <a:bodyPr/>
          <a:lstStyle/>
          <a:p>
            <a:fld id="{8CF73007-6446-41DB-8A7E-468989F63F2C}" type="slidenum">
              <a:rPr lang="en-IN" smtClean="0"/>
              <a:t>‹#›</a:t>
            </a:fld>
            <a:endParaRPr lang="en-IN"/>
          </a:p>
        </p:txBody>
      </p:sp>
    </p:spTree>
    <p:extLst>
      <p:ext uri="{BB962C8B-B14F-4D97-AF65-F5344CB8AC3E}">
        <p14:creationId xmlns:p14="http://schemas.microsoft.com/office/powerpoint/2010/main" val="349594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F4878-CB6A-437C-9FDE-1F953E0CF6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E32D8D-E66A-4268-AD34-F53A82D380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1198D5-7FAF-47E8-BDEC-8754707106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F5663-FEAA-4C1B-BA57-DDA820BE28B3}" type="datetimeFigureOut">
              <a:rPr lang="en-IN" smtClean="0"/>
              <a:t>07-02-2022</a:t>
            </a:fld>
            <a:endParaRPr lang="en-IN"/>
          </a:p>
        </p:txBody>
      </p:sp>
      <p:sp>
        <p:nvSpPr>
          <p:cNvPr id="5" name="Footer Placeholder 4">
            <a:extLst>
              <a:ext uri="{FF2B5EF4-FFF2-40B4-BE49-F238E27FC236}">
                <a16:creationId xmlns:a16="http://schemas.microsoft.com/office/drawing/2014/main" id="{030937FC-C5E3-4A24-97DF-F9C83ECC34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A16FDE-FE11-45E0-9368-50F537A0FE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F73007-6446-41DB-8A7E-468989F63F2C}" type="slidenum">
              <a:rPr lang="en-IN" smtClean="0"/>
              <a:t>‹#›</a:t>
            </a:fld>
            <a:endParaRPr lang="en-IN"/>
          </a:p>
        </p:txBody>
      </p:sp>
    </p:spTree>
    <p:extLst>
      <p:ext uri="{BB962C8B-B14F-4D97-AF65-F5344CB8AC3E}">
        <p14:creationId xmlns:p14="http://schemas.microsoft.com/office/powerpoint/2010/main" val="3659785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050BA-53CB-4515-9336-2FA558D6A98F}"/>
              </a:ext>
            </a:extLst>
          </p:cNvPr>
          <p:cNvSpPr>
            <a:spLocks noGrp="1"/>
          </p:cNvSpPr>
          <p:nvPr>
            <p:ph type="ctrTitle"/>
          </p:nvPr>
        </p:nvSpPr>
        <p:spPr/>
        <p:txBody>
          <a:bodyPr/>
          <a:lstStyle/>
          <a:p>
            <a:r>
              <a:rPr kumimoji="0" lang="en-US" sz="3500" b="0" i="0" u="none" strike="noStrike" kern="1200" cap="none" spc="0" normalizeH="0" baseline="0" noProof="0" dirty="0">
                <a:ln>
                  <a:noFill/>
                </a:ln>
                <a:solidFill>
                  <a:prstClr val="black"/>
                </a:solidFill>
                <a:effectLst/>
                <a:uLnTx/>
                <a:uFillTx/>
                <a:latin typeface="Calibri Light" panose="020F0302020204030204"/>
                <a:ea typeface="+mj-ea"/>
                <a:cs typeface="+mj-cs"/>
              </a:rPr>
              <a:t>Communicative English  </a:t>
            </a:r>
            <a:br>
              <a:rPr kumimoji="0" lang="en-US" sz="2100" b="0" i="0" u="none" strike="noStrike" kern="1200" cap="none" spc="0" normalizeH="0" baseline="0" noProof="0" dirty="0">
                <a:ln>
                  <a:noFill/>
                </a:ln>
                <a:solidFill>
                  <a:prstClr val="black"/>
                </a:solidFill>
                <a:effectLst/>
                <a:uLnTx/>
                <a:uFillTx/>
                <a:latin typeface="Calibri" panose="020F0502020204030204"/>
                <a:ea typeface="+mj-ea"/>
                <a:cs typeface="+mj-cs"/>
              </a:rPr>
            </a:br>
            <a:r>
              <a:rPr kumimoji="0" lang="en-US" sz="2100" b="0" i="0" u="none" strike="noStrike" kern="1200" cap="none" spc="0" normalizeH="0" baseline="0" noProof="0" dirty="0">
                <a:ln>
                  <a:noFill/>
                </a:ln>
                <a:solidFill>
                  <a:prstClr val="black"/>
                </a:solidFill>
                <a:effectLst/>
                <a:uLnTx/>
                <a:uFillTx/>
                <a:latin typeface="Calibri" panose="020F0502020204030204"/>
                <a:ea typeface="+mj-ea"/>
                <a:cs typeface="+mj-cs"/>
              </a:rPr>
              <a:t>Faculty – Dr. Kiran Magavi</a:t>
            </a:r>
            <a:br>
              <a:rPr kumimoji="0" lang="en-US" sz="2100" b="0" i="0" u="none" strike="noStrike" kern="1200" cap="none" spc="0" normalizeH="0" baseline="0" noProof="0" dirty="0">
                <a:ln>
                  <a:noFill/>
                </a:ln>
                <a:solidFill>
                  <a:prstClr val="black"/>
                </a:solidFill>
                <a:effectLst/>
                <a:uLnTx/>
                <a:uFillTx/>
                <a:latin typeface="Calibri" panose="020F0502020204030204"/>
                <a:ea typeface="+mj-ea"/>
                <a:cs typeface="+mj-cs"/>
              </a:rPr>
            </a:br>
            <a:r>
              <a:rPr kumimoji="0" lang="en-US" sz="2100" b="0" i="0" u="none" strike="noStrike" kern="1200" cap="none" spc="0" normalizeH="0" baseline="0" noProof="0" dirty="0">
                <a:ln>
                  <a:noFill/>
                </a:ln>
                <a:solidFill>
                  <a:prstClr val="black"/>
                </a:solidFill>
                <a:effectLst/>
                <a:uLnTx/>
                <a:uFillTx/>
                <a:latin typeface="Calibri" panose="020F0502020204030204"/>
                <a:ea typeface="+mj-ea"/>
                <a:cs typeface="+mj-cs"/>
              </a:rPr>
              <a:t>Department – Humanities and Social Sciences</a:t>
            </a:r>
            <a:r>
              <a:rPr lang="en-US" dirty="0"/>
              <a:t> </a:t>
            </a:r>
            <a:endParaRPr lang="en-IN" dirty="0"/>
          </a:p>
        </p:txBody>
      </p:sp>
      <p:sp>
        <p:nvSpPr>
          <p:cNvPr id="3" name="Subtitle 2">
            <a:extLst>
              <a:ext uri="{FF2B5EF4-FFF2-40B4-BE49-F238E27FC236}">
                <a16:creationId xmlns:a16="http://schemas.microsoft.com/office/drawing/2014/main" id="{EB639049-95C2-448B-AA04-BD88F945C252}"/>
              </a:ext>
            </a:extLst>
          </p:cNvPr>
          <p:cNvSpPr>
            <a:spLocks noGrp="1"/>
          </p:cNvSpPr>
          <p:nvPr>
            <p:ph type="subTitle" idx="1"/>
          </p:nvPr>
        </p:nvSpPr>
        <p:spPr/>
        <p:txBody>
          <a:bodyPr>
            <a:norm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Difference between General and Technical Communication </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7165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1CF0-6F13-4016-9C98-F46EA848F83F}"/>
              </a:ext>
            </a:extLst>
          </p:cNvPr>
          <p:cNvSpPr>
            <a:spLocks noGrp="1"/>
          </p:cNvSpPr>
          <p:nvPr>
            <p:ph type="title"/>
          </p:nvPr>
        </p:nvSpPr>
        <p:spPr/>
        <p:txBody>
          <a:bodyPr/>
          <a:lstStyle/>
          <a:p>
            <a:r>
              <a:rPr lang="en-US" dirty="0"/>
              <a:t>Introduction </a:t>
            </a:r>
            <a:endParaRPr lang="en-IN" dirty="0"/>
          </a:p>
        </p:txBody>
      </p:sp>
      <p:sp>
        <p:nvSpPr>
          <p:cNvPr id="3" name="Content Placeholder 2">
            <a:extLst>
              <a:ext uri="{FF2B5EF4-FFF2-40B4-BE49-F238E27FC236}">
                <a16:creationId xmlns:a16="http://schemas.microsoft.com/office/drawing/2014/main" id="{C0312ACF-3FE2-4139-89C7-1AC6EFF202AC}"/>
              </a:ext>
            </a:extLst>
          </p:cNvPr>
          <p:cNvSpPr>
            <a:spLocks noGrp="1"/>
          </p:cNvSpPr>
          <p:nvPr>
            <p:ph idx="1"/>
          </p:nvPr>
        </p:nvSpPr>
        <p:spPr/>
        <p:txBody>
          <a:bodyPr/>
          <a:lstStyle/>
          <a:p>
            <a:r>
              <a:rPr lang="en-US" dirty="0"/>
              <a:t>Communication is important not only in the organization but also in one’s daily life. It is an integral part of daily activity . </a:t>
            </a:r>
          </a:p>
          <a:p>
            <a:r>
              <a:rPr lang="en-US" dirty="0"/>
              <a:t>When an alarm clock goes off , it is communication through sound , urging one to get out of bed . </a:t>
            </a:r>
          </a:p>
          <a:p>
            <a:r>
              <a:rPr lang="en-US" dirty="0"/>
              <a:t>When one feels loyal towards a particular brand of toothpaste , it is possible that the television (TV) commercials for that brand have been successful in communicating the message </a:t>
            </a:r>
          </a:p>
          <a:p>
            <a:r>
              <a:rPr lang="en-US" dirty="0"/>
              <a:t>Watching news on TV , Saying goodbye to one’s  family , or calling a cab and giving directions are all different types of communication.</a:t>
            </a:r>
            <a:endParaRPr lang="en-IN" dirty="0"/>
          </a:p>
        </p:txBody>
      </p:sp>
    </p:spTree>
    <p:extLst>
      <p:ext uri="{BB962C8B-B14F-4D97-AF65-F5344CB8AC3E}">
        <p14:creationId xmlns:p14="http://schemas.microsoft.com/office/powerpoint/2010/main" val="827951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26257-710C-4847-AEF5-5FEE4771CB58}"/>
              </a:ext>
            </a:extLst>
          </p:cNvPr>
          <p:cNvSpPr>
            <a:spLocks noGrp="1"/>
          </p:cNvSpPr>
          <p:nvPr>
            <p:ph type="title"/>
          </p:nvPr>
        </p:nvSpPr>
        <p:spPr>
          <a:xfrm>
            <a:off x="838200" y="365126"/>
            <a:ext cx="10515600" cy="801066"/>
          </a:xfrm>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A62131C4-C73A-40B5-927C-7C20577699B6}"/>
              </a:ext>
            </a:extLst>
          </p:cNvPr>
          <p:cNvSpPr>
            <a:spLocks noGrp="1"/>
          </p:cNvSpPr>
          <p:nvPr>
            <p:ph idx="1"/>
          </p:nvPr>
        </p:nvSpPr>
        <p:spPr>
          <a:xfrm>
            <a:off x="838200" y="1166193"/>
            <a:ext cx="10515600" cy="4651512"/>
          </a:xfrm>
        </p:spPr>
        <p:txBody>
          <a:bodyPr/>
          <a:lstStyle/>
          <a:p>
            <a:endParaRPr lang="en-US" dirty="0"/>
          </a:p>
          <a:p>
            <a:r>
              <a:rPr lang="en-US" dirty="0"/>
              <a:t>At the workplace , all activities revolve around oral or written communication .</a:t>
            </a:r>
          </a:p>
          <a:p>
            <a:r>
              <a:rPr lang="en-US" dirty="0"/>
              <a:t> Interacting with one’s boss , reading the newspaper at home , or even dreaming in one’s sleep are all examples of communication.</a:t>
            </a:r>
          </a:p>
          <a:p>
            <a:r>
              <a:rPr lang="en-US" dirty="0"/>
              <a:t>Messages that are non-technical of informal in nature are categorized as general – purpose communication </a:t>
            </a:r>
          </a:p>
          <a:p>
            <a:r>
              <a:rPr lang="en-US" dirty="0"/>
              <a:t> Whereas messages pertaining to technical , industrial , business matters belong to the category of technical or business or professional communication .</a:t>
            </a:r>
            <a:endParaRPr lang="en-IN" dirty="0"/>
          </a:p>
        </p:txBody>
      </p:sp>
    </p:spTree>
    <p:extLst>
      <p:ext uri="{BB962C8B-B14F-4D97-AF65-F5344CB8AC3E}">
        <p14:creationId xmlns:p14="http://schemas.microsoft.com/office/powerpoint/2010/main" val="2284389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EDA15-E48F-4794-BB0B-08BAD6A33509}"/>
              </a:ext>
            </a:extLst>
          </p:cNvPr>
          <p:cNvSpPr>
            <a:spLocks noGrp="1"/>
          </p:cNvSpPr>
          <p:nvPr>
            <p:ph type="title"/>
          </p:nvPr>
        </p:nvSpPr>
        <p:spPr/>
        <p:txBody>
          <a:bodyPr/>
          <a:lstStyle/>
          <a:p>
            <a:r>
              <a:rPr lang="en-US" dirty="0"/>
              <a:t>General communication </a:t>
            </a:r>
            <a:endParaRPr lang="en-IN" dirty="0"/>
          </a:p>
        </p:txBody>
      </p:sp>
      <p:sp>
        <p:nvSpPr>
          <p:cNvPr id="3" name="Content Placeholder 2">
            <a:extLst>
              <a:ext uri="{FF2B5EF4-FFF2-40B4-BE49-F238E27FC236}">
                <a16:creationId xmlns:a16="http://schemas.microsoft.com/office/drawing/2014/main" id="{8627C7B7-786D-4CDE-8324-CD3C10BFABDE}"/>
              </a:ext>
            </a:extLst>
          </p:cNvPr>
          <p:cNvSpPr>
            <a:spLocks noGrp="1"/>
          </p:cNvSpPr>
          <p:nvPr>
            <p:ph idx="1"/>
          </p:nvPr>
        </p:nvSpPr>
        <p:spPr/>
        <p:txBody>
          <a:bodyPr/>
          <a:lstStyle/>
          <a:p>
            <a:r>
              <a:rPr lang="en-US" dirty="0"/>
              <a:t>Contains a general message</a:t>
            </a:r>
          </a:p>
          <a:p>
            <a:r>
              <a:rPr lang="en-US" dirty="0"/>
              <a:t> Informal in style and approach</a:t>
            </a:r>
          </a:p>
          <a:p>
            <a:r>
              <a:rPr lang="en-US" dirty="0"/>
              <a:t> No set pattern of communication</a:t>
            </a:r>
          </a:p>
          <a:p>
            <a:r>
              <a:rPr lang="en-US" dirty="0"/>
              <a:t> Mostly oral</a:t>
            </a:r>
          </a:p>
          <a:p>
            <a:r>
              <a:rPr lang="en-US" dirty="0"/>
              <a:t> Not always for a specific audience</a:t>
            </a:r>
          </a:p>
          <a:p>
            <a:r>
              <a:rPr lang="en-US" dirty="0"/>
              <a:t> Does not involve the use of technical vocabulary or graphics </a:t>
            </a:r>
            <a:r>
              <a:rPr lang="en-US" dirty="0" err="1"/>
              <a:t>etc</a:t>
            </a:r>
            <a:endParaRPr lang="en-IN" dirty="0"/>
          </a:p>
        </p:txBody>
      </p:sp>
    </p:spTree>
    <p:extLst>
      <p:ext uri="{BB962C8B-B14F-4D97-AF65-F5344CB8AC3E}">
        <p14:creationId xmlns:p14="http://schemas.microsoft.com/office/powerpoint/2010/main" val="2029883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FD383-66EF-4316-9D12-419991E5AB93}"/>
              </a:ext>
            </a:extLst>
          </p:cNvPr>
          <p:cNvSpPr>
            <a:spLocks noGrp="1"/>
          </p:cNvSpPr>
          <p:nvPr>
            <p:ph type="title"/>
          </p:nvPr>
        </p:nvSpPr>
        <p:spPr>
          <a:xfrm>
            <a:off x="838200" y="365126"/>
            <a:ext cx="10515600" cy="774562"/>
          </a:xfrm>
        </p:spPr>
        <p:txBody>
          <a:bodyPr/>
          <a:lstStyle/>
          <a:p>
            <a:r>
              <a:rPr lang="en-US" dirty="0"/>
              <a:t>Technical Communication </a:t>
            </a:r>
            <a:endParaRPr lang="en-IN" dirty="0"/>
          </a:p>
        </p:txBody>
      </p:sp>
      <p:sp>
        <p:nvSpPr>
          <p:cNvPr id="3" name="Content Placeholder 2">
            <a:extLst>
              <a:ext uri="{FF2B5EF4-FFF2-40B4-BE49-F238E27FC236}">
                <a16:creationId xmlns:a16="http://schemas.microsoft.com/office/drawing/2014/main" id="{888088CD-A7B4-40E4-A849-517BC200CDA3}"/>
              </a:ext>
            </a:extLst>
          </p:cNvPr>
          <p:cNvSpPr>
            <a:spLocks noGrp="1"/>
          </p:cNvSpPr>
          <p:nvPr>
            <p:ph idx="1"/>
          </p:nvPr>
        </p:nvSpPr>
        <p:spPr>
          <a:xfrm>
            <a:off x="838200" y="1258957"/>
            <a:ext cx="10515600" cy="4918006"/>
          </a:xfrm>
        </p:spPr>
        <p:txBody>
          <a:bodyPr/>
          <a:lstStyle/>
          <a:p>
            <a:r>
              <a:rPr lang="en-US" dirty="0"/>
              <a:t>Contains a technical message</a:t>
            </a:r>
          </a:p>
          <a:p>
            <a:r>
              <a:rPr lang="en-US" dirty="0"/>
              <a:t>Mostly formal</a:t>
            </a:r>
          </a:p>
          <a:p>
            <a:r>
              <a:rPr lang="en-US" dirty="0"/>
              <a:t>Follows a set pattern</a:t>
            </a:r>
          </a:p>
          <a:p>
            <a:r>
              <a:rPr lang="en-US" dirty="0"/>
              <a:t>Both oral and written</a:t>
            </a:r>
          </a:p>
          <a:p>
            <a:r>
              <a:rPr lang="en-US" dirty="0"/>
              <a:t> Always for a specific audience</a:t>
            </a:r>
          </a:p>
          <a:p>
            <a:r>
              <a:rPr lang="en-US" dirty="0"/>
              <a:t>Frequently involves jargon , graphics , vocabulary specific to the field concerned </a:t>
            </a:r>
            <a:r>
              <a:rPr lang="en-US" dirty="0" err="1"/>
              <a:t>etc</a:t>
            </a:r>
            <a:endParaRPr lang="en-US" dirty="0"/>
          </a:p>
          <a:p>
            <a:r>
              <a:rPr lang="en-US" dirty="0"/>
              <a:t>It is a process for planning, writing, and editing technical documents, including assessing the needs of users, selecting document formats, and making effective use of graphics.</a:t>
            </a:r>
            <a:endParaRPr lang="en-IN" dirty="0"/>
          </a:p>
        </p:txBody>
      </p:sp>
    </p:spTree>
    <p:extLst>
      <p:ext uri="{BB962C8B-B14F-4D97-AF65-F5344CB8AC3E}">
        <p14:creationId xmlns:p14="http://schemas.microsoft.com/office/powerpoint/2010/main" val="1068989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828E1-0BF9-420B-BD4C-01C4E2CAE691}"/>
              </a:ext>
            </a:extLst>
          </p:cNvPr>
          <p:cNvSpPr>
            <a:spLocks noGrp="1"/>
          </p:cNvSpPr>
          <p:nvPr>
            <p:ph type="title"/>
          </p:nvPr>
        </p:nvSpPr>
        <p:spPr/>
        <p:txBody>
          <a:bodyPr/>
          <a:lstStyle/>
          <a:p>
            <a:r>
              <a:rPr lang="en-IN" dirty="0"/>
              <a:t>Importance of technical communication</a:t>
            </a:r>
          </a:p>
        </p:txBody>
      </p:sp>
      <p:sp>
        <p:nvSpPr>
          <p:cNvPr id="3" name="Content Placeholder 2">
            <a:extLst>
              <a:ext uri="{FF2B5EF4-FFF2-40B4-BE49-F238E27FC236}">
                <a16:creationId xmlns:a16="http://schemas.microsoft.com/office/drawing/2014/main" id="{13205086-82CF-4B72-B3E0-8E31EEE2560C}"/>
              </a:ext>
            </a:extLst>
          </p:cNvPr>
          <p:cNvSpPr>
            <a:spLocks noGrp="1"/>
          </p:cNvSpPr>
          <p:nvPr>
            <p:ph idx="1"/>
          </p:nvPr>
        </p:nvSpPr>
        <p:spPr/>
        <p:txBody>
          <a:bodyPr/>
          <a:lstStyle/>
          <a:p>
            <a:r>
              <a:rPr lang="en-US" dirty="0"/>
              <a:t>Technical  communication plays a pivotal role in any set-up, whether it is business enterprise an industry as a whole , or an academic institution</a:t>
            </a:r>
          </a:p>
          <a:p>
            <a:r>
              <a:rPr lang="en-US" dirty="0"/>
              <a:t> All managerial or administrative activities involve communication, be it planning organizing, recruiting, coordinating , or decision – making.</a:t>
            </a:r>
          </a:p>
          <a:p>
            <a:r>
              <a:rPr lang="en-US" dirty="0"/>
              <a:t> When you write reports , give instructions , or read brochures and manuals , you are involved in the process of communication.</a:t>
            </a:r>
          </a:p>
          <a:p>
            <a:endParaRPr lang="en-IN" dirty="0"/>
          </a:p>
        </p:txBody>
      </p:sp>
    </p:spTree>
    <p:extLst>
      <p:ext uri="{BB962C8B-B14F-4D97-AF65-F5344CB8AC3E}">
        <p14:creationId xmlns:p14="http://schemas.microsoft.com/office/powerpoint/2010/main" val="4099444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D18E8-8BC7-47B5-96A1-CD2881434EA5}"/>
              </a:ext>
            </a:extLst>
          </p:cNvPr>
          <p:cNvSpPr>
            <a:spLocks noGrp="1"/>
          </p:cNvSpPr>
          <p:nvPr>
            <p:ph type="title"/>
          </p:nvPr>
        </p:nvSpPr>
        <p:spPr>
          <a:xfrm>
            <a:off x="838200" y="365125"/>
            <a:ext cx="10515600" cy="734805"/>
          </a:xfrm>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01EBFB38-5986-4F6D-A57F-FDDA6D8CC1EA}"/>
              </a:ext>
            </a:extLst>
          </p:cNvPr>
          <p:cNvSpPr>
            <a:spLocks noGrp="1"/>
          </p:cNvSpPr>
          <p:nvPr>
            <p:ph idx="1"/>
          </p:nvPr>
        </p:nvSpPr>
        <p:spPr>
          <a:xfrm>
            <a:off x="838200" y="1431235"/>
            <a:ext cx="10515600" cy="4745728"/>
          </a:xfrm>
        </p:spPr>
        <p:txBody>
          <a:bodyPr>
            <a:normAutofit/>
          </a:bodyPr>
          <a:lstStyle/>
          <a:p>
            <a:r>
              <a:rPr lang="en-US" dirty="0"/>
              <a:t>Technical Communication serves as an instrument to measure the success or growth of an organization . For example , papers published by R&amp;D organization presents his/her company’s achievements in a meeting, each of the participants comes to know of these milestones.</a:t>
            </a:r>
          </a:p>
          <a:p>
            <a:r>
              <a:rPr lang="en-US" dirty="0"/>
              <a:t>The higher one’s position is, the greater is their need to communicate. A laborer , for example , may not be as involved in formal communication as a top – level executive . </a:t>
            </a:r>
          </a:p>
          <a:p>
            <a:r>
              <a:rPr lang="en-US" dirty="0"/>
              <a:t>However, it has been noticed though most professionals are well aware of the importance of communications, they do not develop their skills to good effect. Hence, care is taken nowadays to introduce training in technical communication at the under graduate level itself. </a:t>
            </a:r>
            <a:endParaRPr lang="en-IN" dirty="0"/>
          </a:p>
        </p:txBody>
      </p:sp>
    </p:spTree>
    <p:extLst>
      <p:ext uri="{BB962C8B-B14F-4D97-AF65-F5344CB8AC3E}">
        <p14:creationId xmlns:p14="http://schemas.microsoft.com/office/powerpoint/2010/main" val="2488763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27C127-BACA-46A6-8429-C97F17D2EA84}"/>
              </a:ext>
            </a:extLst>
          </p:cNvPr>
          <p:cNvSpPr>
            <a:spLocks noGrp="1"/>
          </p:cNvSpPr>
          <p:nvPr>
            <p:ph idx="1"/>
          </p:nvPr>
        </p:nvSpPr>
        <p:spPr>
          <a:xfrm>
            <a:off x="838200" y="1192696"/>
            <a:ext cx="10515600" cy="4984267"/>
          </a:xfrm>
        </p:spPr>
        <p:txBody>
          <a:bodyPr/>
          <a:lstStyle/>
          <a:p>
            <a:endParaRPr lang="en-US" dirty="0"/>
          </a:p>
          <a:p>
            <a:r>
              <a:rPr lang="en-US" b="1" i="1" dirty="0">
                <a:solidFill>
                  <a:srgbClr val="00B050"/>
                </a:solidFill>
              </a:rPr>
              <a:t>The more people participate in the communication process, the better they develop their skills in collecting and organizing information , analyzing and evaluating facts , appreciating the difference between facts and inferences , and communicating effectively </a:t>
            </a:r>
          </a:p>
          <a:p>
            <a:r>
              <a:rPr lang="en-US" b="1" i="1" dirty="0">
                <a:solidFill>
                  <a:srgbClr val="00B050"/>
                </a:solidFill>
              </a:rPr>
              <a:t>To become an effective communicator , one needs to communicate , communicate and communicate . There is no other way out. Practice is key </a:t>
            </a:r>
            <a:endParaRPr lang="en-IN" b="1" i="1" dirty="0">
              <a:solidFill>
                <a:srgbClr val="00B050"/>
              </a:solidFill>
            </a:endParaRPr>
          </a:p>
        </p:txBody>
      </p:sp>
    </p:spTree>
    <p:extLst>
      <p:ext uri="{BB962C8B-B14F-4D97-AF65-F5344CB8AC3E}">
        <p14:creationId xmlns:p14="http://schemas.microsoft.com/office/powerpoint/2010/main" val="3820143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5E2A2-14DE-4B4A-998D-94C99089B07B}"/>
              </a:ext>
            </a:extLst>
          </p:cNvPr>
          <p:cNvSpPr>
            <a:spLocks noGrp="1"/>
          </p:cNvSpPr>
          <p:nvPr>
            <p:ph type="title"/>
          </p:nvPr>
        </p:nvSpPr>
        <p:spPr>
          <a:xfrm>
            <a:off x="838200" y="365125"/>
            <a:ext cx="10515600" cy="986597"/>
          </a:xfrm>
        </p:spPr>
        <p:txBody>
          <a:bodyPr>
            <a:normAutofit fontScale="90000"/>
          </a:bodyPr>
          <a:lstStyle/>
          <a:p>
            <a:br>
              <a:rPr lang="en-IN" dirty="0"/>
            </a:br>
            <a:r>
              <a:rPr lang="en-IN" dirty="0"/>
              <a:t>Tips of effective Communication</a:t>
            </a:r>
            <a:br>
              <a:rPr lang="en-IN" dirty="0"/>
            </a:br>
            <a:endParaRPr lang="en-IN" dirty="0"/>
          </a:p>
        </p:txBody>
      </p:sp>
      <p:sp>
        <p:nvSpPr>
          <p:cNvPr id="3" name="Content Placeholder 2">
            <a:extLst>
              <a:ext uri="{FF2B5EF4-FFF2-40B4-BE49-F238E27FC236}">
                <a16:creationId xmlns:a16="http://schemas.microsoft.com/office/drawing/2014/main" id="{13684791-47D7-4E69-80DB-96032D084F86}"/>
              </a:ext>
            </a:extLst>
          </p:cNvPr>
          <p:cNvSpPr>
            <a:spLocks noGrp="1"/>
          </p:cNvSpPr>
          <p:nvPr>
            <p:ph idx="1"/>
          </p:nvPr>
        </p:nvSpPr>
        <p:spPr>
          <a:xfrm>
            <a:off x="838200" y="1550504"/>
            <a:ext cx="10515600" cy="5035825"/>
          </a:xfrm>
        </p:spPr>
        <p:txBody>
          <a:bodyPr>
            <a:normAutofit/>
          </a:bodyPr>
          <a:lstStyle/>
          <a:p>
            <a:pPr marL="0" indent="0">
              <a:buNone/>
            </a:pPr>
            <a:r>
              <a:rPr lang="en-US" dirty="0"/>
              <a:t>Constant practice and rigorous implementation of these ideas will help you become an excellent communicator</a:t>
            </a:r>
          </a:p>
          <a:p>
            <a:r>
              <a:rPr lang="en-US" dirty="0"/>
              <a:t>Create an open communication environment</a:t>
            </a:r>
          </a:p>
          <a:p>
            <a:r>
              <a:rPr lang="en-US" dirty="0"/>
              <a:t>  Always keep the receiver in mind</a:t>
            </a:r>
          </a:p>
          <a:p>
            <a:r>
              <a:rPr lang="en-US" dirty="0"/>
              <a:t>Avoid having too many transfer stations</a:t>
            </a:r>
          </a:p>
          <a:p>
            <a:r>
              <a:rPr lang="en-US" dirty="0"/>
              <a:t>  Be aware of diversity in culture , language </a:t>
            </a:r>
            <a:r>
              <a:rPr lang="en-US" dirty="0" err="1"/>
              <a:t>etc</a:t>
            </a:r>
            <a:endParaRPr lang="en-US" dirty="0"/>
          </a:p>
          <a:p>
            <a:r>
              <a:rPr lang="en-US" dirty="0"/>
              <a:t>  Use of appropriate non verbal cues.</a:t>
            </a:r>
          </a:p>
          <a:p>
            <a:r>
              <a:rPr lang="en-US" dirty="0"/>
              <a:t>  Select the most suitable medium</a:t>
            </a:r>
          </a:p>
          <a:p>
            <a:r>
              <a:rPr lang="en-US" dirty="0"/>
              <a:t> Analyze the feedback</a:t>
            </a:r>
          </a:p>
          <a:p>
            <a:r>
              <a:rPr lang="en-US" dirty="0"/>
              <a:t>Do not communicate when you are emotionally disturbed</a:t>
            </a:r>
            <a:endParaRPr lang="en-IN" dirty="0"/>
          </a:p>
        </p:txBody>
      </p:sp>
    </p:spTree>
    <p:extLst>
      <p:ext uri="{BB962C8B-B14F-4D97-AF65-F5344CB8AC3E}">
        <p14:creationId xmlns:p14="http://schemas.microsoft.com/office/powerpoint/2010/main" val="11928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EFF7-F86C-4151-A007-78C752A33265}"/>
              </a:ext>
            </a:extLst>
          </p:cNvPr>
          <p:cNvSpPr>
            <a:spLocks noGrp="1"/>
          </p:cNvSpPr>
          <p:nvPr>
            <p:ph type="title"/>
          </p:nvPr>
        </p:nvSpPr>
        <p:spPr>
          <a:xfrm>
            <a:off x="838200" y="365125"/>
            <a:ext cx="10515600" cy="821837"/>
          </a:xfrm>
        </p:spPr>
        <p:txBody>
          <a:bodyPr/>
          <a:lstStyle/>
          <a:p>
            <a:r>
              <a:rPr lang="en-US" dirty="0"/>
              <a:t>Points to ponder </a:t>
            </a:r>
            <a:endParaRPr lang="en-IN" dirty="0"/>
          </a:p>
        </p:txBody>
      </p:sp>
      <p:sp>
        <p:nvSpPr>
          <p:cNvPr id="3" name="Content Placeholder 2">
            <a:extLst>
              <a:ext uri="{FF2B5EF4-FFF2-40B4-BE49-F238E27FC236}">
                <a16:creationId xmlns:a16="http://schemas.microsoft.com/office/drawing/2014/main" id="{765998D7-31D8-4690-B62A-A1DECF943167}"/>
              </a:ext>
            </a:extLst>
          </p:cNvPr>
          <p:cNvSpPr>
            <a:spLocks noGrp="1"/>
          </p:cNvSpPr>
          <p:nvPr>
            <p:ph idx="1"/>
          </p:nvPr>
        </p:nvSpPr>
        <p:spPr>
          <a:xfrm>
            <a:off x="838200" y="1310055"/>
            <a:ext cx="10515600" cy="4600416"/>
          </a:xfrm>
        </p:spPr>
        <p:txBody>
          <a:bodyPr>
            <a:normAutofit/>
          </a:bodyPr>
          <a:lstStyle/>
          <a:p>
            <a:endParaRPr lang="en-US" dirty="0">
              <a:solidFill>
                <a:srgbClr val="202124"/>
              </a:solidFill>
              <a:latin typeface="arial" panose="020B0604020202020204" pitchFamily="34" charset="0"/>
            </a:endParaRPr>
          </a:p>
          <a:p>
            <a:r>
              <a:rPr lang="en-US" dirty="0">
                <a:solidFill>
                  <a:srgbClr val="202124"/>
                </a:solidFill>
              </a:rPr>
              <a:t>S</a:t>
            </a:r>
            <a:r>
              <a:rPr lang="en-US" b="0" i="0" dirty="0">
                <a:solidFill>
                  <a:srgbClr val="202124"/>
                </a:solidFill>
                <a:effectLst/>
              </a:rPr>
              <a:t>ome of the world's best projects are a result of effective </a:t>
            </a:r>
            <a:r>
              <a:rPr lang="en-US" b="1" i="0" dirty="0">
                <a:solidFill>
                  <a:srgbClr val="202124"/>
                </a:solidFill>
                <a:effectLst/>
              </a:rPr>
              <a:t>communication</a:t>
            </a:r>
            <a:r>
              <a:rPr lang="en-US" dirty="0">
                <a:solidFill>
                  <a:srgbClr val="202124"/>
                </a:solidFill>
              </a:rPr>
              <a:t> combined with </a:t>
            </a:r>
            <a:r>
              <a:rPr lang="en-US" b="0" i="0" dirty="0">
                <a:solidFill>
                  <a:srgbClr val="202124"/>
                </a:solidFill>
                <a:effectLst/>
              </a:rPr>
              <a:t>fresh ideas, and collective teamwork.  </a:t>
            </a:r>
            <a:endParaRPr lang="en-US" dirty="0">
              <a:solidFill>
                <a:srgbClr val="202124"/>
              </a:solidFill>
            </a:endParaRPr>
          </a:p>
          <a:p>
            <a:r>
              <a:rPr lang="en-US" b="0" i="0" dirty="0">
                <a:solidFill>
                  <a:srgbClr val="202124"/>
                </a:solidFill>
                <a:effectLst/>
              </a:rPr>
              <a:t>People who can </a:t>
            </a:r>
            <a:r>
              <a:rPr lang="en-US" b="1" i="0" dirty="0">
                <a:solidFill>
                  <a:srgbClr val="202124"/>
                </a:solidFill>
                <a:effectLst/>
              </a:rPr>
              <a:t>communicate</a:t>
            </a:r>
            <a:r>
              <a:rPr lang="en-US" b="0" i="0" dirty="0">
                <a:solidFill>
                  <a:srgbClr val="202124"/>
                </a:solidFill>
                <a:effectLst/>
              </a:rPr>
              <a:t> their desires, goals and outcomes are game-changers, and those people are valuable for any company or projects </a:t>
            </a:r>
          </a:p>
          <a:p>
            <a:r>
              <a:rPr lang="en-US" b="0" i="0" dirty="0">
                <a:effectLst/>
              </a:rPr>
              <a:t>Great pioneers of businesses, organizations, institutions are all very clear on what they want and are very good at communicating these ideas efficiently to people and get work done.</a:t>
            </a:r>
          </a:p>
          <a:p>
            <a:pPr marL="0" indent="0">
              <a:buNone/>
            </a:pPr>
            <a:endParaRPr lang="en-US" b="0" i="0" dirty="0">
              <a:solidFill>
                <a:srgbClr val="202124"/>
              </a:solidFill>
              <a:effectLst/>
              <a:latin typeface="arial" panose="020B0604020202020204" pitchFamily="34" charset="0"/>
            </a:endParaRPr>
          </a:p>
        </p:txBody>
      </p:sp>
    </p:spTree>
    <p:extLst>
      <p:ext uri="{BB962C8B-B14F-4D97-AF65-F5344CB8AC3E}">
        <p14:creationId xmlns:p14="http://schemas.microsoft.com/office/powerpoint/2010/main" val="388978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1321-A987-493A-8F61-87DA70ACBA50}"/>
              </a:ext>
            </a:extLst>
          </p:cNvPr>
          <p:cNvSpPr>
            <a:spLocks noGrp="1"/>
          </p:cNvSpPr>
          <p:nvPr>
            <p:ph type="title"/>
          </p:nvPr>
        </p:nvSpPr>
        <p:spPr>
          <a:xfrm>
            <a:off x="838200" y="365125"/>
            <a:ext cx="10515600" cy="801065"/>
          </a:xfrm>
        </p:spPr>
        <p:txBody>
          <a:bodyPr>
            <a:normAutofit/>
          </a:bodyPr>
          <a:lstStyle/>
          <a:p>
            <a:r>
              <a:rPr lang="en-US" dirty="0"/>
              <a:t>Differences between TW and GW</a:t>
            </a:r>
            <a:endParaRPr lang="en-IN" dirty="0"/>
          </a:p>
        </p:txBody>
      </p:sp>
      <p:sp>
        <p:nvSpPr>
          <p:cNvPr id="3" name="Content Placeholder 2">
            <a:extLst>
              <a:ext uri="{FF2B5EF4-FFF2-40B4-BE49-F238E27FC236}">
                <a16:creationId xmlns:a16="http://schemas.microsoft.com/office/drawing/2014/main" id="{32974F5A-8FB0-4C54-A858-3B2BAAF68C5D}"/>
              </a:ext>
            </a:extLst>
          </p:cNvPr>
          <p:cNvSpPr>
            <a:spLocks noGrp="1"/>
          </p:cNvSpPr>
          <p:nvPr>
            <p:ph idx="1"/>
          </p:nvPr>
        </p:nvSpPr>
        <p:spPr>
          <a:xfrm>
            <a:off x="838200" y="1404730"/>
            <a:ext cx="10515600" cy="5088143"/>
          </a:xfrm>
        </p:spPr>
        <p:txBody>
          <a:bodyPr>
            <a:normAutofit lnSpcReduction="10000"/>
          </a:bodyPr>
          <a:lstStyle/>
          <a:p>
            <a:pPr marL="514350" indent="-514350">
              <a:buAutoNum type="arabicPeriod"/>
            </a:pPr>
            <a:r>
              <a:rPr lang="en-US" dirty="0"/>
              <a:t>Technical writing focuses on factual and straight forward content. General writing focuses on general subjects of writing.</a:t>
            </a:r>
          </a:p>
          <a:p>
            <a:pPr marL="514350" indent="-514350">
              <a:buAutoNum type="arabicPeriod"/>
            </a:pPr>
            <a:r>
              <a:rPr lang="en-US" dirty="0"/>
              <a:t>Technical writing aims to impart information, instructions and explanations. General writing aims at amusement.</a:t>
            </a:r>
          </a:p>
          <a:p>
            <a:pPr marL="514350" indent="-514350">
              <a:buAutoNum type="arabicPeriod"/>
            </a:pPr>
            <a:r>
              <a:rPr lang="en-US" dirty="0"/>
              <a:t>Technical writing is based on objective tone. General writing is based on subjective tone or personal style.</a:t>
            </a:r>
          </a:p>
          <a:p>
            <a:pPr marL="514350" indent="-514350">
              <a:buAutoNum type="arabicPeriod"/>
            </a:pPr>
            <a:r>
              <a:rPr lang="en-US" dirty="0"/>
              <a:t>TW follows standard structured format. GW follows artistic unstructured format.</a:t>
            </a:r>
          </a:p>
          <a:p>
            <a:pPr marL="514350" indent="-514350">
              <a:buAutoNum type="arabicPeriod"/>
            </a:pPr>
            <a:r>
              <a:rPr lang="en-US" dirty="0"/>
              <a:t>TW is usually based on a formal way of writing. GW may be formal or informal way of writing.</a:t>
            </a:r>
          </a:p>
          <a:p>
            <a:pPr marL="514350" indent="-514350">
              <a:buAutoNum type="arabicPeriod"/>
            </a:pPr>
            <a:r>
              <a:rPr lang="en-US" dirty="0"/>
              <a:t>The voice used in technical writing is 3rd person. The voice used in general writing is 1st person.</a:t>
            </a:r>
            <a:endParaRPr lang="en-IN" dirty="0"/>
          </a:p>
        </p:txBody>
      </p:sp>
    </p:spTree>
    <p:extLst>
      <p:ext uri="{BB962C8B-B14F-4D97-AF65-F5344CB8AC3E}">
        <p14:creationId xmlns:p14="http://schemas.microsoft.com/office/powerpoint/2010/main" val="3381427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C5AD-CEF9-4556-A29D-C0417F984824}"/>
              </a:ext>
            </a:extLst>
          </p:cNvPr>
          <p:cNvSpPr>
            <a:spLocks noGrp="1"/>
          </p:cNvSpPr>
          <p:nvPr>
            <p:ph type="title"/>
          </p:nvPr>
        </p:nvSpPr>
        <p:spPr>
          <a:xfrm>
            <a:off x="838200" y="365126"/>
            <a:ext cx="10515600" cy="787814"/>
          </a:xfrm>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AA6D3F44-65F0-4D67-8DCE-0057212666A6}"/>
              </a:ext>
            </a:extLst>
          </p:cNvPr>
          <p:cNvSpPr>
            <a:spLocks noGrp="1"/>
          </p:cNvSpPr>
          <p:nvPr>
            <p:ph idx="1"/>
          </p:nvPr>
        </p:nvSpPr>
        <p:spPr>
          <a:xfrm>
            <a:off x="838200" y="1258957"/>
            <a:ext cx="10515600" cy="5353878"/>
          </a:xfrm>
        </p:spPr>
        <p:txBody>
          <a:bodyPr>
            <a:normAutofit/>
          </a:bodyPr>
          <a:lstStyle/>
          <a:p>
            <a:pPr marL="0" indent="0">
              <a:buNone/>
            </a:pPr>
            <a:r>
              <a:rPr lang="en-US" dirty="0"/>
              <a:t>7. In technical writing specialized vocabulary is required.	In General writing evocative vocabulary is required.</a:t>
            </a:r>
          </a:p>
          <a:p>
            <a:pPr marL="0" indent="0">
              <a:buNone/>
            </a:pPr>
            <a:r>
              <a:rPr lang="en-US" dirty="0"/>
              <a:t>8. Technical writing has its specific set of audience or readers.	General writing has no specific set of audience or readers.</a:t>
            </a:r>
          </a:p>
          <a:p>
            <a:pPr marL="0" indent="0">
              <a:buNone/>
            </a:pPr>
            <a:r>
              <a:rPr lang="en-US" dirty="0"/>
              <a:t>9. Technical writing is archival. General writing is non-archival.</a:t>
            </a:r>
          </a:p>
          <a:p>
            <a:pPr marL="0" indent="0">
              <a:buNone/>
            </a:pPr>
            <a:r>
              <a:rPr lang="en-US" dirty="0"/>
              <a:t>10. TW is accurate and more precise in manner. GW is decorative and bombastic in manner.</a:t>
            </a:r>
          </a:p>
          <a:p>
            <a:pPr marL="0" indent="0">
              <a:buNone/>
            </a:pPr>
            <a:r>
              <a:rPr lang="en-US" dirty="0"/>
              <a:t>11. Technical writing is related to any specific area or domain. General domain is related to any life in general.</a:t>
            </a:r>
          </a:p>
          <a:p>
            <a:pPr marL="0" indent="0">
              <a:buNone/>
            </a:pPr>
            <a:r>
              <a:rPr lang="en-US" dirty="0"/>
              <a:t>12. TW focuses on more technical words specific to the area. GW focuses on more common words suitable to the general topic.</a:t>
            </a:r>
            <a:endParaRPr lang="en-IN" dirty="0"/>
          </a:p>
        </p:txBody>
      </p:sp>
    </p:spTree>
    <p:extLst>
      <p:ext uri="{BB962C8B-B14F-4D97-AF65-F5344CB8AC3E}">
        <p14:creationId xmlns:p14="http://schemas.microsoft.com/office/powerpoint/2010/main" val="257306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3DDDD-0B7D-4022-86A4-E8CCE481BEFE}"/>
              </a:ext>
            </a:extLst>
          </p:cNvPr>
          <p:cNvSpPr>
            <a:spLocks noGrp="1"/>
          </p:cNvSpPr>
          <p:nvPr>
            <p:ph type="title"/>
          </p:nvPr>
        </p:nvSpPr>
        <p:spPr>
          <a:xfrm>
            <a:off x="838200" y="365126"/>
            <a:ext cx="10515600" cy="589032"/>
          </a:xfrm>
        </p:spPr>
        <p:txBody>
          <a:bodyPr>
            <a:normAutofit fontScale="90000"/>
          </a:bodyPr>
          <a:lstStyle/>
          <a:p>
            <a:r>
              <a:rPr lang="en-US" dirty="0"/>
              <a:t>Concluding remarks and comments </a:t>
            </a:r>
            <a:endParaRPr lang="en-IN" dirty="0"/>
          </a:p>
        </p:txBody>
      </p:sp>
      <p:sp>
        <p:nvSpPr>
          <p:cNvPr id="3" name="Content Placeholder 2">
            <a:extLst>
              <a:ext uri="{FF2B5EF4-FFF2-40B4-BE49-F238E27FC236}">
                <a16:creationId xmlns:a16="http://schemas.microsoft.com/office/drawing/2014/main" id="{E5A9E6CF-D776-4EAE-AC43-70D7F5DFC7DE}"/>
              </a:ext>
            </a:extLst>
          </p:cNvPr>
          <p:cNvSpPr>
            <a:spLocks noGrp="1"/>
          </p:cNvSpPr>
          <p:nvPr>
            <p:ph idx="1"/>
          </p:nvPr>
        </p:nvSpPr>
        <p:spPr>
          <a:xfrm>
            <a:off x="838200" y="1126435"/>
            <a:ext cx="10515600" cy="5366440"/>
          </a:xfrm>
        </p:spPr>
        <p:txBody>
          <a:bodyPr>
            <a:normAutofit/>
          </a:bodyPr>
          <a:lstStyle/>
          <a:p>
            <a:pPr marL="0" indent="0">
              <a:buNone/>
            </a:pPr>
            <a:r>
              <a:rPr lang="en-US" b="0" i="0" dirty="0">
                <a:effectLst/>
                <a:latin typeface="Open Sans"/>
              </a:rPr>
              <a:t> </a:t>
            </a:r>
            <a:r>
              <a:rPr lang="en-US" dirty="0">
                <a:latin typeface="Open Sans"/>
              </a:rPr>
              <a:t>1. T</a:t>
            </a:r>
            <a:r>
              <a:rPr lang="en-US" b="0" i="0" dirty="0">
                <a:effectLst/>
                <a:latin typeface="Open Sans"/>
              </a:rPr>
              <a:t>o let the world know what your ideas are about, you must know how to communicate well.</a:t>
            </a:r>
          </a:p>
          <a:p>
            <a:pPr marL="0" indent="0">
              <a:buNone/>
            </a:pPr>
            <a:r>
              <a:rPr lang="en-US" dirty="0">
                <a:latin typeface="Open Sans"/>
              </a:rPr>
              <a:t>2. </a:t>
            </a:r>
            <a:r>
              <a:rPr lang="en-US" b="0" i="0" dirty="0">
                <a:effectLst/>
                <a:latin typeface="Open Sans"/>
              </a:rPr>
              <a:t>Good communication skills can ease these interactions, and ensure that you can get your point across calmly and clearly, and also take on board the responses.</a:t>
            </a:r>
          </a:p>
          <a:p>
            <a:pPr marL="0" indent="0">
              <a:buNone/>
            </a:pPr>
            <a:r>
              <a:rPr lang="en-US" dirty="0">
                <a:latin typeface="Open Sans"/>
              </a:rPr>
              <a:t>3. </a:t>
            </a:r>
            <a:r>
              <a:rPr lang="en-US" b="0" i="0" dirty="0">
                <a:effectLst/>
                <a:latin typeface="Open Sans"/>
              </a:rPr>
              <a:t>It is not predictable about where you could be in 10 or 20 years. </a:t>
            </a:r>
          </a:p>
          <a:p>
            <a:pPr marL="0" indent="0">
              <a:buNone/>
            </a:pPr>
            <a:r>
              <a:rPr lang="en-US" b="0" i="0" dirty="0">
                <a:effectLst/>
                <a:latin typeface="Open Sans"/>
              </a:rPr>
              <a:t>4. However, focusing on mastering your communication skills  while you’re still young and improving intellectually, will make you ready for a </a:t>
            </a:r>
            <a:r>
              <a:rPr lang="en-US" dirty="0">
                <a:latin typeface="Open Sans"/>
              </a:rPr>
              <a:t>good </a:t>
            </a:r>
            <a:r>
              <a:rPr lang="en-US" b="0" i="0" dirty="0">
                <a:effectLst/>
                <a:latin typeface="Open Sans"/>
              </a:rPr>
              <a:t>career and ability to face challenges.</a:t>
            </a:r>
          </a:p>
          <a:p>
            <a:pPr marL="0" indent="0">
              <a:buNone/>
            </a:pPr>
            <a:r>
              <a:rPr lang="en-US" dirty="0">
                <a:latin typeface="Open Sans"/>
              </a:rPr>
              <a:t>5. A mastery in general communication makes it easier to master technical communication </a:t>
            </a:r>
            <a:endParaRPr lang="en-US" b="0" i="0" dirty="0">
              <a:effectLst/>
              <a:latin typeface="Open Sans"/>
            </a:endParaRPr>
          </a:p>
          <a:p>
            <a:pPr marL="0" indent="0">
              <a:buNone/>
            </a:pPr>
            <a:endParaRPr lang="en-IN" dirty="0"/>
          </a:p>
          <a:p>
            <a:pPr marL="0" indent="0">
              <a:buNone/>
            </a:pPr>
            <a:endParaRPr lang="en-US" b="0" i="0" dirty="0">
              <a:effectLst/>
              <a:latin typeface="Open Sans"/>
            </a:endParaRPr>
          </a:p>
          <a:p>
            <a:endParaRPr lang="en-IN" dirty="0"/>
          </a:p>
        </p:txBody>
      </p:sp>
    </p:spTree>
    <p:extLst>
      <p:ext uri="{BB962C8B-B14F-4D97-AF65-F5344CB8AC3E}">
        <p14:creationId xmlns:p14="http://schemas.microsoft.com/office/powerpoint/2010/main" val="478294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57C7AF-D422-40D1-9566-57C56DC0F50C}"/>
              </a:ext>
            </a:extLst>
          </p:cNvPr>
          <p:cNvSpPr>
            <a:spLocks noGrp="1"/>
          </p:cNvSpPr>
          <p:nvPr>
            <p:ph idx="1"/>
          </p:nvPr>
        </p:nvSpPr>
        <p:spPr/>
        <p:txBody>
          <a:bodyPr/>
          <a:lstStyle/>
          <a:p>
            <a:r>
              <a:rPr lang="en-US" dirty="0"/>
              <a:t>Communication skills cannot be only taught, they need to be developed through proper training and learnt through dedication and hard work. </a:t>
            </a:r>
          </a:p>
          <a:p>
            <a:r>
              <a:rPr lang="en-US" dirty="0"/>
              <a:t>It is imperative that students should get the proper opportunity to develop their communication skills at graduation level itself </a:t>
            </a:r>
          </a:p>
          <a:p>
            <a:endParaRPr lang="en-US"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1" u="none" strike="noStrike" kern="1200" cap="none" spc="0" normalizeH="0" baseline="0" noProof="0" dirty="0">
                <a:ln>
                  <a:noFill/>
                </a:ln>
                <a:solidFill>
                  <a:srgbClr val="00B0F0"/>
                </a:solidFill>
                <a:effectLst/>
                <a:uLnTx/>
                <a:uFillTx/>
                <a:latin typeface="Calibri" panose="020F0502020204030204"/>
                <a:ea typeface="+mn-ea"/>
                <a:cs typeface="+mn-cs"/>
              </a:rPr>
              <a:t>Indian former Prime Minister Mr. Jawaharlal Nehru once said that, “The destiny of a nation is shaped in her classrooms”. </a:t>
            </a:r>
          </a:p>
          <a:p>
            <a:pPr marL="0" indent="0">
              <a:buNone/>
            </a:pPr>
            <a:endParaRPr lang="en-IN" dirty="0"/>
          </a:p>
        </p:txBody>
      </p:sp>
    </p:spTree>
    <p:extLst>
      <p:ext uri="{BB962C8B-B14F-4D97-AF65-F5344CB8AC3E}">
        <p14:creationId xmlns:p14="http://schemas.microsoft.com/office/powerpoint/2010/main" val="3733477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1352</TotalTime>
  <Words>1156</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vt:lpstr>
      <vt:lpstr>Calibri</vt:lpstr>
      <vt:lpstr>Calibri Light</vt:lpstr>
      <vt:lpstr>Open Sans</vt:lpstr>
      <vt:lpstr>Office Theme</vt:lpstr>
      <vt:lpstr>Communicative English   Faculty – Dr. Kiran Magavi Department – Humanities and Social Sciences </vt:lpstr>
      <vt:lpstr>Introduction </vt:lpstr>
      <vt:lpstr>Contd…</vt:lpstr>
      <vt:lpstr>General communication </vt:lpstr>
      <vt:lpstr>Technical Communication </vt:lpstr>
      <vt:lpstr>Importance of technical communication</vt:lpstr>
      <vt:lpstr>Contd…</vt:lpstr>
      <vt:lpstr>PowerPoint Presentation</vt:lpstr>
      <vt:lpstr> Tips of effective Communication </vt:lpstr>
      <vt:lpstr>Points to ponder </vt:lpstr>
      <vt:lpstr>Differences between TW and GW</vt:lpstr>
      <vt:lpstr>Contd…</vt:lpstr>
      <vt:lpstr>Concluding remarks and comments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Rishi Magavi</dc:creator>
  <cp:lastModifiedBy>Rishi Magavi</cp:lastModifiedBy>
  <cp:revision>24</cp:revision>
  <dcterms:created xsi:type="dcterms:W3CDTF">2021-01-11T07:57:34Z</dcterms:created>
  <dcterms:modified xsi:type="dcterms:W3CDTF">2022-02-07T16:42:47Z</dcterms:modified>
</cp:coreProperties>
</file>