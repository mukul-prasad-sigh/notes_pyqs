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sldIdLst>
    <p:sldId id="256" r:id="rId2"/>
    <p:sldId id="257" r:id="rId3"/>
    <p:sldId id="282" r:id="rId4"/>
    <p:sldId id="283" r:id="rId5"/>
    <p:sldId id="284" r:id="rId6"/>
    <p:sldId id="285" r:id="rId7"/>
    <p:sldId id="286" r:id="rId8"/>
    <p:sldId id="287" r:id="rId9"/>
    <p:sldId id="288" r:id="rId10"/>
    <p:sldId id="289" r:id="rId11"/>
    <p:sldId id="333"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36" r:id="rId30"/>
    <p:sldId id="337" r:id="rId31"/>
    <p:sldId id="338" r:id="rId32"/>
    <p:sldId id="339" r:id="rId33"/>
    <p:sldId id="340" r:id="rId34"/>
    <p:sldId id="341" r:id="rId35"/>
    <p:sldId id="307" r:id="rId36"/>
    <p:sldId id="308" r:id="rId37"/>
    <p:sldId id="309" r:id="rId38"/>
    <p:sldId id="310" r:id="rId39"/>
    <p:sldId id="311" r:id="rId40"/>
    <p:sldId id="312" r:id="rId41"/>
    <p:sldId id="313" r:id="rId42"/>
    <p:sldId id="335" r:id="rId43"/>
    <p:sldId id="314" r:id="rId44"/>
    <p:sldId id="315" r:id="rId45"/>
    <p:sldId id="316" r:id="rId46"/>
    <p:sldId id="317" r:id="rId47"/>
    <p:sldId id="318" r:id="rId48"/>
    <p:sldId id="319" r:id="rId49"/>
    <p:sldId id="320" r:id="rId50"/>
    <p:sldId id="321" r:id="rId51"/>
    <p:sldId id="322" r:id="rId52"/>
    <p:sldId id="323" r:id="rId53"/>
    <p:sldId id="324" r:id="rId54"/>
    <p:sldId id="325" r:id="rId55"/>
    <p:sldId id="326" r:id="rId56"/>
    <p:sldId id="334" r:id="rId57"/>
    <p:sldId id="327" r:id="rId58"/>
    <p:sldId id="328" r:id="rId59"/>
    <p:sldId id="329" r:id="rId60"/>
    <p:sldId id="330" r:id="rId61"/>
    <p:sldId id="331" r:id="rId6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971540"/>
          </a:xfrm>
          <a:custGeom>
            <a:avLst/>
            <a:gdLst/>
            <a:ahLst/>
            <a:cxnLst/>
            <a:rect l="l" t="t" r="r" b="b"/>
            <a:pathLst>
              <a:path w="9144000" h="5971540">
                <a:moveTo>
                  <a:pt x="0" y="5971032"/>
                </a:moveTo>
                <a:lnTo>
                  <a:pt x="9144000" y="5971032"/>
                </a:lnTo>
                <a:lnTo>
                  <a:pt x="9144000" y="0"/>
                </a:lnTo>
                <a:lnTo>
                  <a:pt x="0" y="0"/>
                </a:lnTo>
                <a:lnTo>
                  <a:pt x="0" y="5971032"/>
                </a:lnTo>
                <a:close/>
              </a:path>
            </a:pathLst>
          </a:custGeom>
          <a:solidFill>
            <a:srgbClr val="775F54"/>
          </a:solidFill>
        </p:spPr>
        <p:txBody>
          <a:bodyPr wrap="square" lIns="0" tIns="0" rIns="0" bIns="0" rtlCol="0"/>
          <a:lstStyle/>
          <a:p>
            <a:endParaRPr/>
          </a:p>
        </p:txBody>
      </p:sp>
      <p:sp>
        <p:nvSpPr>
          <p:cNvPr id="17" name="bg object 17"/>
          <p:cNvSpPr/>
          <p:nvPr/>
        </p:nvSpPr>
        <p:spPr>
          <a:xfrm>
            <a:off x="0" y="5971032"/>
            <a:ext cx="9144000" cy="887094"/>
          </a:xfrm>
          <a:custGeom>
            <a:avLst/>
            <a:gdLst/>
            <a:ahLst/>
            <a:cxnLst/>
            <a:rect l="l" t="t" r="r" b="b"/>
            <a:pathLst>
              <a:path w="9144000" h="887095">
                <a:moveTo>
                  <a:pt x="9144000" y="0"/>
                </a:moveTo>
                <a:lnTo>
                  <a:pt x="0" y="0"/>
                </a:lnTo>
                <a:lnTo>
                  <a:pt x="0" y="886968"/>
                </a:lnTo>
                <a:lnTo>
                  <a:pt x="9144000" y="886968"/>
                </a:lnTo>
                <a:lnTo>
                  <a:pt x="9144000" y="0"/>
                </a:lnTo>
                <a:close/>
              </a:path>
            </a:pathLst>
          </a:custGeom>
          <a:solidFill>
            <a:srgbClr val="FFFFFF"/>
          </a:solidFill>
        </p:spPr>
        <p:txBody>
          <a:bodyPr wrap="square" lIns="0" tIns="0" rIns="0" bIns="0" rtlCol="0"/>
          <a:lstStyle/>
          <a:p>
            <a:endParaRPr/>
          </a:p>
        </p:txBody>
      </p:sp>
      <p:sp>
        <p:nvSpPr>
          <p:cNvPr id="18" name="bg object 18"/>
          <p:cNvSpPr/>
          <p:nvPr/>
        </p:nvSpPr>
        <p:spPr>
          <a:xfrm>
            <a:off x="0" y="6053328"/>
            <a:ext cx="2240280" cy="713740"/>
          </a:xfrm>
          <a:custGeom>
            <a:avLst/>
            <a:gdLst/>
            <a:ahLst/>
            <a:cxnLst/>
            <a:rect l="l" t="t" r="r" b="b"/>
            <a:pathLst>
              <a:path w="2240280" h="713740">
                <a:moveTo>
                  <a:pt x="2240280" y="0"/>
                </a:moveTo>
                <a:lnTo>
                  <a:pt x="0" y="0"/>
                </a:lnTo>
                <a:lnTo>
                  <a:pt x="0" y="713232"/>
                </a:lnTo>
                <a:lnTo>
                  <a:pt x="2240280" y="713232"/>
                </a:lnTo>
                <a:lnTo>
                  <a:pt x="2240280" y="0"/>
                </a:lnTo>
                <a:close/>
              </a:path>
            </a:pathLst>
          </a:custGeom>
          <a:solidFill>
            <a:srgbClr val="DD8046"/>
          </a:solidFill>
        </p:spPr>
        <p:txBody>
          <a:bodyPr wrap="square" lIns="0" tIns="0" rIns="0" bIns="0" rtlCol="0"/>
          <a:lstStyle/>
          <a:p>
            <a:endParaRPr/>
          </a:p>
        </p:txBody>
      </p:sp>
      <p:sp>
        <p:nvSpPr>
          <p:cNvPr id="19" name="bg object 19"/>
          <p:cNvSpPr/>
          <p:nvPr/>
        </p:nvSpPr>
        <p:spPr>
          <a:xfrm>
            <a:off x="2359151" y="6044184"/>
            <a:ext cx="6784975" cy="713740"/>
          </a:xfrm>
          <a:custGeom>
            <a:avLst/>
            <a:gdLst/>
            <a:ahLst/>
            <a:cxnLst/>
            <a:rect l="l" t="t" r="r" b="b"/>
            <a:pathLst>
              <a:path w="6784975" h="713740">
                <a:moveTo>
                  <a:pt x="6784848" y="0"/>
                </a:moveTo>
                <a:lnTo>
                  <a:pt x="0" y="0"/>
                </a:lnTo>
                <a:lnTo>
                  <a:pt x="0" y="713231"/>
                </a:lnTo>
                <a:lnTo>
                  <a:pt x="6784848" y="713231"/>
                </a:lnTo>
                <a:lnTo>
                  <a:pt x="6784848" y="0"/>
                </a:lnTo>
                <a:close/>
              </a:path>
            </a:pathLst>
          </a:custGeom>
          <a:solidFill>
            <a:srgbClr val="93B6D2"/>
          </a:solidFill>
        </p:spPr>
        <p:txBody>
          <a:bodyPr wrap="square" lIns="0" tIns="0" rIns="0" bIns="0" rtlCol="0"/>
          <a:lstStyle/>
          <a:p>
            <a:endParaRPr/>
          </a:p>
        </p:txBody>
      </p:sp>
      <p:sp>
        <p:nvSpPr>
          <p:cNvPr id="2" name="Holder 2"/>
          <p:cNvSpPr>
            <a:spLocks noGrp="1"/>
          </p:cNvSpPr>
          <p:nvPr>
            <p:ph type="ctrTitle"/>
          </p:nvPr>
        </p:nvSpPr>
        <p:spPr>
          <a:xfrm>
            <a:off x="1198270" y="853566"/>
            <a:ext cx="6747459" cy="756919"/>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775F54"/>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6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775F54"/>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775F54"/>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280160"/>
            <a:ext cx="533400" cy="228600"/>
          </a:xfrm>
          <a:custGeom>
            <a:avLst/>
            <a:gdLst/>
            <a:ahLst/>
            <a:cxnLst/>
            <a:rect l="l" t="t" r="r" b="b"/>
            <a:pathLst>
              <a:path w="533400" h="228600">
                <a:moveTo>
                  <a:pt x="533400" y="0"/>
                </a:moveTo>
                <a:lnTo>
                  <a:pt x="0" y="0"/>
                </a:lnTo>
                <a:lnTo>
                  <a:pt x="0" y="228600"/>
                </a:lnTo>
                <a:lnTo>
                  <a:pt x="533400" y="228600"/>
                </a:lnTo>
                <a:lnTo>
                  <a:pt x="533400" y="0"/>
                </a:lnTo>
                <a:close/>
              </a:path>
            </a:pathLst>
          </a:custGeom>
          <a:solidFill>
            <a:srgbClr val="DD8046"/>
          </a:solidFill>
        </p:spPr>
        <p:txBody>
          <a:bodyPr wrap="square" lIns="0" tIns="0" rIns="0" bIns="0" rtlCol="0"/>
          <a:lstStyle/>
          <a:p>
            <a:endParaRPr/>
          </a:p>
        </p:txBody>
      </p:sp>
      <p:sp>
        <p:nvSpPr>
          <p:cNvPr id="17" name="bg object 17"/>
          <p:cNvSpPr/>
          <p:nvPr/>
        </p:nvSpPr>
        <p:spPr>
          <a:xfrm>
            <a:off x="591312" y="1280160"/>
            <a:ext cx="8552815" cy="228600"/>
          </a:xfrm>
          <a:custGeom>
            <a:avLst/>
            <a:gdLst/>
            <a:ahLst/>
            <a:cxnLst/>
            <a:rect l="l" t="t" r="r" b="b"/>
            <a:pathLst>
              <a:path w="8552815" h="228600">
                <a:moveTo>
                  <a:pt x="8552688" y="0"/>
                </a:moveTo>
                <a:lnTo>
                  <a:pt x="0" y="0"/>
                </a:lnTo>
                <a:lnTo>
                  <a:pt x="0" y="228600"/>
                </a:lnTo>
                <a:lnTo>
                  <a:pt x="8552688" y="228600"/>
                </a:lnTo>
                <a:lnTo>
                  <a:pt x="8552688" y="0"/>
                </a:lnTo>
                <a:close/>
              </a:path>
            </a:pathLst>
          </a:custGeom>
          <a:solidFill>
            <a:srgbClr val="93B6D2"/>
          </a:solidFill>
        </p:spPr>
        <p:txBody>
          <a:bodyPr wrap="square" lIns="0" tIns="0" rIns="0" bIns="0" rtlCol="0"/>
          <a:lstStyle/>
          <a:p>
            <a:endParaRPr/>
          </a:p>
        </p:txBody>
      </p:sp>
      <p:sp>
        <p:nvSpPr>
          <p:cNvPr id="2" name="Holder 2"/>
          <p:cNvSpPr>
            <a:spLocks noGrp="1"/>
          </p:cNvSpPr>
          <p:nvPr>
            <p:ph type="title"/>
          </p:nvPr>
        </p:nvSpPr>
        <p:spPr>
          <a:xfrm>
            <a:off x="307340" y="206451"/>
            <a:ext cx="8529319" cy="1002030"/>
          </a:xfrm>
          <a:prstGeom prst="rect">
            <a:avLst/>
          </a:prstGeom>
        </p:spPr>
        <p:txBody>
          <a:bodyPr wrap="square" lIns="0" tIns="0" rIns="0" bIns="0">
            <a:spAutoFit/>
          </a:bodyPr>
          <a:lstStyle>
            <a:lvl1pPr>
              <a:defRPr sz="3200" b="1" i="0">
                <a:solidFill>
                  <a:srgbClr val="775F54"/>
                </a:solidFill>
                <a:latin typeface="Times New Roman"/>
                <a:cs typeface="Times New Roman"/>
              </a:defRPr>
            </a:lvl1pPr>
          </a:lstStyle>
          <a:p>
            <a:endParaRPr/>
          </a:p>
        </p:txBody>
      </p:sp>
      <p:sp>
        <p:nvSpPr>
          <p:cNvPr id="3" name="Holder 3"/>
          <p:cNvSpPr>
            <a:spLocks noGrp="1"/>
          </p:cNvSpPr>
          <p:nvPr>
            <p:ph type="body" idx="1"/>
          </p:nvPr>
        </p:nvSpPr>
        <p:spPr>
          <a:xfrm>
            <a:off x="298805" y="1383295"/>
            <a:ext cx="6748145" cy="3435350"/>
          </a:xfrm>
          <a:prstGeom prst="rect">
            <a:avLst/>
          </a:prstGeom>
        </p:spPr>
        <p:txBody>
          <a:bodyPr wrap="square" lIns="0" tIns="0" rIns="0" bIns="0">
            <a:spAutoFit/>
          </a:bodyPr>
          <a:lstStyle>
            <a:lvl1pPr>
              <a:defRPr sz="16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9/1/2023</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98270" y="853566"/>
            <a:ext cx="6746875" cy="756920"/>
          </a:xfrm>
          <a:prstGeom prst="rect">
            <a:avLst/>
          </a:prstGeom>
        </p:spPr>
        <p:txBody>
          <a:bodyPr vert="horz" wrap="square" lIns="0" tIns="12700" rIns="0" bIns="0" rtlCol="0">
            <a:spAutoFit/>
          </a:bodyPr>
          <a:lstStyle/>
          <a:p>
            <a:pPr marL="12700">
              <a:lnSpc>
                <a:spcPct val="100000"/>
              </a:lnSpc>
              <a:spcBef>
                <a:spcPts val="100"/>
              </a:spcBef>
              <a:tabLst>
                <a:tab pos="1790064" algn="l"/>
              </a:tabLst>
            </a:pPr>
            <a:r>
              <a:rPr sz="4800" b="1" spc="-5" dirty="0">
                <a:solidFill>
                  <a:srgbClr val="FFFFFF"/>
                </a:solidFill>
                <a:latin typeface="Times New Roman"/>
                <a:cs typeface="Times New Roman"/>
              </a:rPr>
              <a:t>JAVA	PROGRAMMING</a:t>
            </a:r>
            <a:endParaRPr sz="4800">
              <a:latin typeface="Times New Roman"/>
              <a:cs typeface="Times New Roman"/>
            </a:endParaRPr>
          </a:p>
        </p:txBody>
      </p:sp>
      <p:sp>
        <p:nvSpPr>
          <p:cNvPr id="3" name="object 3"/>
          <p:cNvSpPr txBox="1"/>
          <p:nvPr/>
        </p:nvSpPr>
        <p:spPr>
          <a:xfrm>
            <a:off x="3324605" y="2316860"/>
            <a:ext cx="2496185" cy="756920"/>
          </a:xfrm>
          <a:prstGeom prst="rect">
            <a:avLst/>
          </a:prstGeom>
        </p:spPr>
        <p:txBody>
          <a:bodyPr vert="horz" wrap="square" lIns="0" tIns="12700" rIns="0" bIns="0" rtlCol="0">
            <a:spAutoFit/>
          </a:bodyPr>
          <a:lstStyle/>
          <a:p>
            <a:pPr marL="12700">
              <a:lnSpc>
                <a:spcPct val="100000"/>
              </a:lnSpc>
              <a:spcBef>
                <a:spcPts val="100"/>
              </a:spcBef>
            </a:pPr>
            <a:r>
              <a:rPr sz="4800" b="1" spc="-5" dirty="0">
                <a:solidFill>
                  <a:srgbClr val="FFFFFF"/>
                </a:solidFill>
                <a:latin typeface="Times New Roman"/>
                <a:cs typeface="Times New Roman"/>
              </a:rPr>
              <a:t>UNIT </a:t>
            </a:r>
            <a:r>
              <a:rPr sz="4800" b="1" dirty="0">
                <a:solidFill>
                  <a:srgbClr val="FFFFFF"/>
                </a:solidFill>
                <a:latin typeface="Times New Roman"/>
                <a:cs typeface="Times New Roman"/>
              </a:rPr>
              <a:t>-</a:t>
            </a:r>
            <a:r>
              <a:rPr sz="4800" b="1" spc="-85" dirty="0">
                <a:solidFill>
                  <a:srgbClr val="FFFFFF"/>
                </a:solidFill>
                <a:latin typeface="Times New Roman"/>
                <a:cs typeface="Times New Roman"/>
              </a:rPr>
              <a:t> </a:t>
            </a:r>
            <a:r>
              <a:rPr sz="4800" b="1" spc="-5" dirty="0">
                <a:solidFill>
                  <a:srgbClr val="FFFFFF"/>
                </a:solidFill>
                <a:latin typeface="Times New Roman"/>
                <a:cs typeface="Times New Roman"/>
              </a:rPr>
              <a:t>V</a:t>
            </a:r>
            <a:endParaRPr sz="4800">
              <a:latin typeface="Times New Roman"/>
              <a:cs typeface="Times New Roman"/>
            </a:endParaRPr>
          </a:p>
        </p:txBody>
      </p:sp>
      <p:sp>
        <p:nvSpPr>
          <p:cNvPr id="4" name="object 4"/>
          <p:cNvSpPr/>
          <p:nvPr/>
        </p:nvSpPr>
        <p:spPr>
          <a:xfrm>
            <a:off x="2133600" y="3200400"/>
            <a:ext cx="4300728" cy="26670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1953260"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Sylla</a:t>
            </a:r>
            <a:r>
              <a:rPr sz="4400" b="0" spc="5" dirty="0">
                <a:latin typeface="Times New Roman"/>
                <a:cs typeface="Times New Roman"/>
              </a:rPr>
              <a:t>b</a:t>
            </a:r>
            <a:r>
              <a:rPr sz="4400" b="0" dirty="0">
                <a:latin typeface="Times New Roman"/>
                <a:cs typeface="Times New Roman"/>
              </a:rPr>
              <a:t>us</a:t>
            </a:r>
            <a:endParaRPr sz="4400">
              <a:latin typeface="Times New Roman"/>
              <a:cs typeface="Times New Roman"/>
            </a:endParaRPr>
          </a:p>
        </p:txBody>
      </p:sp>
      <p:sp>
        <p:nvSpPr>
          <p:cNvPr id="4" name="object 4"/>
          <p:cNvSpPr txBox="1"/>
          <p:nvPr/>
        </p:nvSpPr>
        <p:spPr>
          <a:xfrm>
            <a:off x="574040" y="2717114"/>
            <a:ext cx="2429510" cy="878840"/>
          </a:xfrm>
          <a:prstGeom prst="rect">
            <a:avLst/>
          </a:prstGeom>
        </p:spPr>
        <p:txBody>
          <a:bodyPr vert="horz" wrap="square" lIns="0" tIns="12065" rIns="0" bIns="0" rtlCol="0">
            <a:spAutoFit/>
          </a:bodyPr>
          <a:lstStyle/>
          <a:p>
            <a:pPr marL="332740" indent="-320040">
              <a:lnSpc>
                <a:spcPct val="100000"/>
              </a:lnSpc>
              <a:spcBef>
                <a:spcPts val="95"/>
              </a:spcBef>
              <a:buClr>
                <a:srgbClr val="DD8046"/>
              </a:buClr>
              <a:buSzPct val="60714"/>
              <a:buFont typeface="DejaVu Sans"/>
              <a:buChar char="◻"/>
              <a:tabLst>
                <a:tab pos="332105" algn="l"/>
                <a:tab pos="332740" algn="l"/>
              </a:tabLst>
            </a:pPr>
            <a:r>
              <a:rPr sz="2800" b="1" spc="-5" dirty="0">
                <a:latin typeface="Times New Roman"/>
                <a:cs typeface="Times New Roman"/>
              </a:rPr>
              <a:t>Exception</a:t>
            </a:r>
            <a:endParaRPr sz="2800" dirty="0">
              <a:latin typeface="Times New Roman"/>
              <a:cs typeface="Times New Roman"/>
            </a:endParaRPr>
          </a:p>
          <a:p>
            <a:pPr marL="332740">
              <a:lnSpc>
                <a:spcPct val="100000"/>
              </a:lnSpc>
              <a:spcBef>
                <a:spcPts val="5"/>
              </a:spcBef>
            </a:pPr>
            <a:r>
              <a:rPr sz="2800" spc="-5" dirty="0">
                <a:latin typeface="Times New Roman"/>
                <a:cs typeface="Times New Roman"/>
              </a:rPr>
              <a:t>Fundamentals,</a:t>
            </a:r>
            <a:endParaRPr sz="2800" dirty="0">
              <a:latin typeface="Times New Roman"/>
              <a:cs typeface="Times New Roman"/>
            </a:endParaRPr>
          </a:p>
        </p:txBody>
      </p:sp>
      <p:sp>
        <p:nvSpPr>
          <p:cNvPr id="5" name="object 5"/>
          <p:cNvSpPr txBox="1"/>
          <p:nvPr/>
        </p:nvSpPr>
        <p:spPr>
          <a:xfrm>
            <a:off x="3267583" y="2717114"/>
            <a:ext cx="5302885" cy="878840"/>
          </a:xfrm>
          <a:prstGeom prst="rect">
            <a:avLst/>
          </a:prstGeom>
        </p:spPr>
        <p:txBody>
          <a:bodyPr vert="horz" wrap="square" lIns="0" tIns="12065" rIns="0" bIns="0" rtlCol="0">
            <a:spAutoFit/>
          </a:bodyPr>
          <a:lstStyle/>
          <a:p>
            <a:pPr marL="317500" marR="5080" indent="-304800">
              <a:lnSpc>
                <a:spcPct val="100000"/>
              </a:lnSpc>
              <a:spcBef>
                <a:spcPts val="95"/>
              </a:spcBef>
              <a:tabLst>
                <a:tab pos="2352040" algn="l"/>
                <a:tab pos="2406650" algn="l"/>
                <a:tab pos="3906520" algn="l"/>
              </a:tabLst>
            </a:pPr>
            <a:r>
              <a:rPr sz="2800" b="1" spc="-5" dirty="0">
                <a:latin typeface="Times New Roman"/>
                <a:cs typeface="Times New Roman"/>
              </a:rPr>
              <a:t>Hand</a:t>
            </a:r>
            <a:r>
              <a:rPr sz="2800" b="1" dirty="0">
                <a:latin typeface="Times New Roman"/>
                <a:cs typeface="Times New Roman"/>
              </a:rPr>
              <a:t>l</a:t>
            </a:r>
            <a:r>
              <a:rPr sz="2800" b="1" spc="-5" dirty="0">
                <a:latin typeface="Times New Roman"/>
                <a:cs typeface="Times New Roman"/>
              </a:rPr>
              <a:t>in</a:t>
            </a:r>
            <a:r>
              <a:rPr sz="2800" b="1" spc="5" dirty="0">
                <a:latin typeface="Times New Roman"/>
                <a:cs typeface="Times New Roman"/>
              </a:rPr>
              <a:t>g</a:t>
            </a:r>
            <a:r>
              <a:rPr sz="2800" b="1" spc="-5" dirty="0">
                <a:latin typeface="Times New Roman"/>
                <a:cs typeface="Times New Roman"/>
              </a:rPr>
              <a:t>:</a:t>
            </a:r>
            <a:r>
              <a:rPr sz="2800" b="1" dirty="0">
                <a:latin typeface="Times New Roman"/>
                <a:cs typeface="Times New Roman"/>
              </a:rPr>
              <a:t>		</a:t>
            </a:r>
            <a:r>
              <a:rPr sz="2800" spc="-5" dirty="0">
                <a:latin typeface="Times New Roman"/>
                <a:cs typeface="Times New Roman"/>
              </a:rPr>
              <a:t>Exceptio</a:t>
            </a:r>
            <a:r>
              <a:rPr sz="2800" dirty="0">
                <a:latin typeface="Times New Roman"/>
                <a:cs typeface="Times New Roman"/>
              </a:rPr>
              <a:t>n</a:t>
            </a:r>
            <a:r>
              <a:rPr sz="2800" spc="-5" dirty="0">
                <a:latin typeface="Times New Roman"/>
                <a:cs typeface="Times New Roman"/>
              </a:rPr>
              <a:t>-H</a:t>
            </a:r>
            <a:r>
              <a:rPr sz="2800" spc="-20" dirty="0">
                <a:latin typeface="Times New Roman"/>
                <a:cs typeface="Times New Roman"/>
              </a:rPr>
              <a:t>a</a:t>
            </a:r>
            <a:r>
              <a:rPr sz="2800" spc="-5" dirty="0">
                <a:latin typeface="Times New Roman"/>
                <a:cs typeface="Times New Roman"/>
              </a:rPr>
              <a:t>n</a:t>
            </a:r>
            <a:r>
              <a:rPr sz="2800" dirty="0">
                <a:latin typeface="Times New Roman"/>
                <a:cs typeface="Times New Roman"/>
              </a:rPr>
              <a:t>d</a:t>
            </a:r>
            <a:r>
              <a:rPr sz="2800" spc="-20" dirty="0">
                <a:latin typeface="Times New Roman"/>
                <a:cs typeface="Times New Roman"/>
              </a:rPr>
              <a:t>l</a:t>
            </a:r>
            <a:r>
              <a:rPr sz="2800" spc="-5" dirty="0">
                <a:latin typeface="Times New Roman"/>
                <a:cs typeface="Times New Roman"/>
              </a:rPr>
              <a:t>ing  Exc</a:t>
            </a:r>
            <a:r>
              <a:rPr sz="2800" spc="-15" dirty="0">
                <a:latin typeface="Times New Roman"/>
                <a:cs typeface="Times New Roman"/>
              </a:rPr>
              <a:t>e</a:t>
            </a:r>
            <a:r>
              <a:rPr sz="2800" spc="-5" dirty="0">
                <a:latin typeface="Times New Roman"/>
                <a:cs typeface="Times New Roman"/>
              </a:rPr>
              <a:t>p</a:t>
            </a:r>
            <a:r>
              <a:rPr sz="2800" dirty="0">
                <a:latin typeface="Times New Roman"/>
                <a:cs typeface="Times New Roman"/>
              </a:rPr>
              <a:t>t</a:t>
            </a:r>
            <a:r>
              <a:rPr sz="2800" spc="-15" dirty="0">
                <a:latin typeface="Times New Roman"/>
                <a:cs typeface="Times New Roman"/>
              </a:rPr>
              <a:t>i</a:t>
            </a:r>
            <a:r>
              <a:rPr sz="2800" spc="-5" dirty="0">
                <a:latin typeface="Times New Roman"/>
                <a:cs typeface="Times New Roman"/>
              </a:rPr>
              <a:t>on</a:t>
            </a:r>
            <a:r>
              <a:rPr sz="2800" dirty="0">
                <a:latin typeface="Times New Roman"/>
                <a:cs typeface="Times New Roman"/>
              </a:rPr>
              <a:t>	</a:t>
            </a:r>
            <a:r>
              <a:rPr sz="2800" spc="-5" dirty="0">
                <a:latin typeface="Times New Roman"/>
                <a:cs typeface="Times New Roman"/>
              </a:rPr>
              <a:t>Types,</a:t>
            </a:r>
            <a:r>
              <a:rPr sz="2800" dirty="0">
                <a:latin typeface="Times New Roman"/>
                <a:cs typeface="Times New Roman"/>
              </a:rPr>
              <a:t>	</a:t>
            </a:r>
            <a:r>
              <a:rPr sz="2800" spc="-5" dirty="0">
                <a:latin typeface="Times New Roman"/>
                <a:cs typeface="Times New Roman"/>
              </a:rPr>
              <a:t>Unca</a:t>
            </a:r>
            <a:r>
              <a:rPr sz="2800" dirty="0">
                <a:latin typeface="Times New Roman"/>
                <a:cs typeface="Times New Roman"/>
              </a:rPr>
              <a:t>u</a:t>
            </a:r>
            <a:r>
              <a:rPr sz="2800" spc="-5" dirty="0">
                <a:latin typeface="Times New Roman"/>
                <a:cs typeface="Times New Roman"/>
              </a:rPr>
              <a:t>g</a:t>
            </a:r>
            <a:r>
              <a:rPr sz="2800" dirty="0">
                <a:latin typeface="Times New Roman"/>
                <a:cs typeface="Times New Roman"/>
              </a:rPr>
              <a:t>h</a:t>
            </a:r>
            <a:r>
              <a:rPr sz="2800" spc="-5" dirty="0">
                <a:latin typeface="Times New Roman"/>
                <a:cs typeface="Times New Roman"/>
              </a:rPr>
              <a:t>t</a:t>
            </a:r>
            <a:endParaRPr sz="2800" dirty="0">
              <a:latin typeface="Times New Roman"/>
              <a:cs typeface="Times New Roman"/>
            </a:endParaRPr>
          </a:p>
        </p:txBody>
      </p:sp>
      <p:sp>
        <p:nvSpPr>
          <p:cNvPr id="6" name="object 6"/>
          <p:cNvSpPr txBox="1"/>
          <p:nvPr/>
        </p:nvSpPr>
        <p:spPr>
          <a:xfrm>
            <a:off x="3593719" y="3571113"/>
            <a:ext cx="2506980" cy="878840"/>
          </a:xfrm>
          <a:prstGeom prst="rect">
            <a:avLst/>
          </a:prstGeom>
        </p:spPr>
        <p:txBody>
          <a:bodyPr vert="horz" wrap="square" lIns="0" tIns="12065" rIns="0" bIns="0" rtlCol="0">
            <a:spAutoFit/>
          </a:bodyPr>
          <a:lstStyle/>
          <a:p>
            <a:pPr marL="12700" marR="5080" indent="237490">
              <a:lnSpc>
                <a:spcPct val="100000"/>
              </a:lnSpc>
              <a:spcBef>
                <a:spcPts val="95"/>
              </a:spcBef>
              <a:tabLst>
                <a:tab pos="894715" algn="l"/>
                <a:tab pos="1364615" algn="l"/>
                <a:tab pos="1656714" algn="l"/>
              </a:tabLst>
            </a:pPr>
            <a:r>
              <a:rPr sz="2800" spc="-5" dirty="0">
                <a:latin typeface="Times New Roman"/>
                <a:cs typeface="Times New Roman"/>
              </a:rPr>
              <a:t>try	and	c</a:t>
            </a:r>
            <a:r>
              <a:rPr sz="2800" spc="-20" dirty="0">
                <a:latin typeface="Times New Roman"/>
                <a:cs typeface="Times New Roman"/>
              </a:rPr>
              <a:t>a</a:t>
            </a:r>
            <a:r>
              <a:rPr sz="2800" spc="-5" dirty="0">
                <a:latin typeface="Times New Roman"/>
                <a:cs typeface="Times New Roman"/>
              </a:rPr>
              <a:t>tch,  throws,	finally,</a:t>
            </a:r>
            <a:endParaRPr sz="2800" dirty="0">
              <a:latin typeface="Times New Roman"/>
              <a:cs typeface="Times New Roman"/>
            </a:endParaRPr>
          </a:p>
        </p:txBody>
      </p:sp>
      <p:sp>
        <p:nvSpPr>
          <p:cNvPr id="7" name="object 7"/>
          <p:cNvSpPr txBox="1"/>
          <p:nvPr/>
        </p:nvSpPr>
        <p:spPr>
          <a:xfrm>
            <a:off x="6257925" y="3571113"/>
            <a:ext cx="2313305" cy="878840"/>
          </a:xfrm>
          <a:prstGeom prst="rect">
            <a:avLst/>
          </a:prstGeom>
        </p:spPr>
        <p:txBody>
          <a:bodyPr vert="horz" wrap="square" lIns="0" tIns="12065" rIns="0" bIns="0" rtlCol="0">
            <a:spAutoFit/>
          </a:bodyPr>
          <a:lstStyle/>
          <a:p>
            <a:pPr marL="12700" marR="5080" indent="65405">
              <a:lnSpc>
                <a:spcPct val="100000"/>
              </a:lnSpc>
              <a:spcBef>
                <a:spcPts val="95"/>
              </a:spcBef>
              <a:tabLst>
                <a:tab pos="1193800" algn="l"/>
                <a:tab pos="1551940" algn="l"/>
              </a:tabLst>
            </a:pPr>
            <a:r>
              <a:rPr sz="2800" spc="5" dirty="0">
                <a:latin typeface="Times New Roman"/>
                <a:cs typeface="Times New Roman"/>
              </a:rPr>
              <a:t>M</a:t>
            </a:r>
            <a:r>
              <a:rPr sz="2800" spc="-5" dirty="0">
                <a:latin typeface="Times New Roman"/>
                <a:cs typeface="Times New Roman"/>
              </a:rPr>
              <a:t>u</a:t>
            </a:r>
            <a:r>
              <a:rPr sz="2800" dirty="0">
                <a:latin typeface="Times New Roman"/>
                <a:cs typeface="Times New Roman"/>
              </a:rPr>
              <a:t>l</a:t>
            </a:r>
            <a:r>
              <a:rPr sz="2800" spc="-15" dirty="0">
                <a:latin typeface="Times New Roman"/>
                <a:cs typeface="Times New Roman"/>
              </a:rPr>
              <a:t>t</a:t>
            </a:r>
            <a:r>
              <a:rPr sz="2800" spc="-5" dirty="0">
                <a:latin typeface="Times New Roman"/>
                <a:cs typeface="Times New Roman"/>
              </a:rPr>
              <a:t>i</a:t>
            </a:r>
            <a:r>
              <a:rPr sz="2800" dirty="0">
                <a:latin typeface="Times New Roman"/>
                <a:cs typeface="Times New Roman"/>
              </a:rPr>
              <a:t>p</a:t>
            </a:r>
            <a:r>
              <a:rPr sz="2800" spc="-5" dirty="0">
                <a:latin typeface="Times New Roman"/>
                <a:cs typeface="Times New Roman"/>
              </a:rPr>
              <a:t>le</a:t>
            </a:r>
            <a:r>
              <a:rPr sz="2800" dirty="0">
                <a:latin typeface="Times New Roman"/>
                <a:cs typeface="Times New Roman"/>
              </a:rPr>
              <a:t>	</a:t>
            </a:r>
            <a:r>
              <a:rPr sz="2800" spc="-5" dirty="0">
                <a:latin typeface="Times New Roman"/>
                <a:cs typeface="Times New Roman"/>
              </a:rPr>
              <a:t>c</a:t>
            </a:r>
            <a:r>
              <a:rPr sz="2800" spc="-20" dirty="0">
                <a:latin typeface="Times New Roman"/>
                <a:cs typeface="Times New Roman"/>
              </a:rPr>
              <a:t>a</a:t>
            </a:r>
            <a:r>
              <a:rPr sz="2800" spc="-5" dirty="0">
                <a:latin typeface="Times New Roman"/>
                <a:cs typeface="Times New Roman"/>
              </a:rPr>
              <a:t>tch  </a:t>
            </a:r>
            <a:r>
              <a:rPr sz="2800" spc="-10" dirty="0">
                <a:latin typeface="Times New Roman"/>
                <a:cs typeface="Times New Roman"/>
              </a:rPr>
              <a:t>Jav</a:t>
            </a:r>
            <a:r>
              <a:rPr sz="2800" spc="-20" dirty="0">
                <a:latin typeface="Times New Roman"/>
                <a:cs typeface="Times New Roman"/>
              </a:rPr>
              <a:t>a</a:t>
            </a:r>
            <a:r>
              <a:rPr sz="2800" spc="-5" dirty="0">
                <a:latin typeface="Times New Roman"/>
                <a:cs typeface="Times New Roman"/>
              </a:rPr>
              <a:t>’s</a:t>
            </a:r>
            <a:r>
              <a:rPr sz="2800" dirty="0">
                <a:latin typeface="Times New Roman"/>
                <a:cs typeface="Times New Roman"/>
              </a:rPr>
              <a:t>	</a:t>
            </a:r>
            <a:r>
              <a:rPr sz="2800" spc="-5" dirty="0">
                <a:latin typeface="Times New Roman"/>
                <a:cs typeface="Times New Roman"/>
              </a:rPr>
              <a:t>Buil</a:t>
            </a:r>
            <a:r>
              <a:rPr sz="2800" spc="5" dirty="0">
                <a:latin typeface="Times New Roman"/>
                <a:cs typeface="Times New Roman"/>
              </a:rPr>
              <a:t>t</a:t>
            </a:r>
            <a:r>
              <a:rPr sz="2800" spc="-15" dirty="0">
                <a:latin typeface="Times New Roman"/>
                <a:cs typeface="Times New Roman"/>
              </a:rPr>
              <a:t>-in</a:t>
            </a:r>
            <a:endParaRPr sz="2800">
              <a:latin typeface="Times New Roman"/>
              <a:cs typeface="Times New Roman"/>
            </a:endParaRPr>
          </a:p>
        </p:txBody>
      </p:sp>
      <p:sp>
        <p:nvSpPr>
          <p:cNvPr id="8" name="object 8"/>
          <p:cNvSpPr txBox="1"/>
          <p:nvPr/>
        </p:nvSpPr>
        <p:spPr>
          <a:xfrm>
            <a:off x="894080" y="3571113"/>
            <a:ext cx="2713355" cy="1305560"/>
          </a:xfrm>
          <a:prstGeom prst="rect">
            <a:avLst/>
          </a:prstGeom>
        </p:spPr>
        <p:txBody>
          <a:bodyPr vert="horz" wrap="square" lIns="0" tIns="12065" rIns="0" bIns="0" rtlCol="0">
            <a:spAutoFit/>
          </a:bodyPr>
          <a:lstStyle/>
          <a:p>
            <a:pPr marL="12700" marR="5080">
              <a:lnSpc>
                <a:spcPct val="100000"/>
              </a:lnSpc>
              <a:spcBef>
                <a:spcPts val="95"/>
              </a:spcBef>
              <a:tabLst>
                <a:tab pos="1498600" algn="l"/>
                <a:tab pos="1928495" algn="l"/>
              </a:tabLst>
            </a:pPr>
            <a:r>
              <a:rPr sz="2800" spc="-5" dirty="0">
                <a:latin typeface="Times New Roman"/>
                <a:cs typeface="Times New Roman"/>
              </a:rPr>
              <a:t>Exce</a:t>
            </a:r>
            <a:r>
              <a:rPr sz="2800" dirty="0">
                <a:latin typeface="Times New Roman"/>
                <a:cs typeface="Times New Roman"/>
              </a:rPr>
              <a:t>p</a:t>
            </a:r>
            <a:r>
              <a:rPr sz="2800" spc="-5" dirty="0">
                <a:latin typeface="Times New Roman"/>
                <a:cs typeface="Times New Roman"/>
              </a:rPr>
              <a:t>t</a:t>
            </a:r>
            <a:r>
              <a:rPr sz="2800" dirty="0">
                <a:latin typeface="Times New Roman"/>
                <a:cs typeface="Times New Roman"/>
              </a:rPr>
              <a:t>io</a:t>
            </a:r>
            <a:r>
              <a:rPr sz="2800" spc="-5" dirty="0">
                <a:latin typeface="Times New Roman"/>
                <a:cs typeface="Times New Roman"/>
              </a:rPr>
              <a:t>ns,</a:t>
            </a:r>
            <a:r>
              <a:rPr sz="2800" dirty="0">
                <a:latin typeface="Times New Roman"/>
                <a:cs typeface="Times New Roman"/>
              </a:rPr>
              <a:t>	u</a:t>
            </a:r>
            <a:r>
              <a:rPr sz="2800" spc="-5" dirty="0">
                <a:latin typeface="Times New Roman"/>
                <a:cs typeface="Times New Roman"/>
              </a:rPr>
              <a:t>s</a:t>
            </a:r>
            <a:r>
              <a:rPr sz="2800" dirty="0">
                <a:latin typeface="Times New Roman"/>
                <a:cs typeface="Times New Roman"/>
              </a:rPr>
              <a:t>in</a:t>
            </a:r>
            <a:r>
              <a:rPr sz="2800" spc="-5" dirty="0">
                <a:latin typeface="Times New Roman"/>
                <a:cs typeface="Times New Roman"/>
              </a:rPr>
              <a:t>g  Clauses,	throw,  Exceptions.</a:t>
            </a:r>
            <a:endParaRPr sz="28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405765"/>
            <a:ext cx="8108950" cy="680720"/>
          </a:xfrm>
          <a:prstGeom prst="rect">
            <a:avLst/>
          </a:prstGeom>
        </p:spPr>
        <p:txBody>
          <a:bodyPr vert="horz" wrap="square" lIns="0" tIns="12065" rIns="0" bIns="0" rtlCol="0">
            <a:spAutoFit/>
          </a:bodyPr>
          <a:lstStyle/>
          <a:p>
            <a:pPr marL="12700">
              <a:lnSpc>
                <a:spcPct val="100000"/>
              </a:lnSpc>
              <a:spcBef>
                <a:spcPts val="95"/>
              </a:spcBef>
            </a:pPr>
            <a:r>
              <a:rPr sz="4300" spc="-5" dirty="0"/>
              <a:t>Exception Handling -</a:t>
            </a:r>
            <a:r>
              <a:rPr sz="4300" spc="20" dirty="0"/>
              <a:t> </a:t>
            </a:r>
            <a:r>
              <a:rPr sz="4300" spc="-5" dirty="0"/>
              <a:t>Introduction</a:t>
            </a:r>
            <a:endParaRPr sz="4300"/>
          </a:p>
        </p:txBody>
      </p:sp>
      <p:sp>
        <p:nvSpPr>
          <p:cNvPr id="3" name="object 3"/>
          <p:cNvSpPr txBox="1"/>
          <p:nvPr/>
        </p:nvSpPr>
        <p:spPr>
          <a:xfrm>
            <a:off x="535940" y="1618614"/>
            <a:ext cx="8149590" cy="5040482"/>
          </a:xfrm>
          <a:prstGeom prst="rect">
            <a:avLst/>
          </a:prstGeom>
        </p:spPr>
        <p:txBody>
          <a:bodyPr vert="horz" wrap="square" lIns="0" tIns="13335" rIns="0" bIns="0" rtlCol="0">
            <a:spAutoFit/>
          </a:bodyPr>
          <a:lstStyle/>
          <a:p>
            <a:pPr marL="332740" marR="5080" indent="-320040">
              <a:lnSpc>
                <a:spcPct val="100000"/>
              </a:lnSpc>
              <a:spcBef>
                <a:spcPts val="105"/>
              </a:spcBef>
              <a:buClr>
                <a:srgbClr val="DD8046"/>
              </a:buClr>
              <a:buSzPct val="60000"/>
              <a:buFont typeface="DejaVu Sans"/>
              <a:buChar char="◻"/>
              <a:tabLst>
                <a:tab pos="332740" algn="l"/>
              </a:tabLst>
            </a:pPr>
            <a:r>
              <a:rPr sz="3500" dirty="0">
                <a:latin typeface="Times New Roman"/>
                <a:cs typeface="Times New Roman"/>
              </a:rPr>
              <a:t>An </a:t>
            </a:r>
            <a:r>
              <a:rPr sz="3500" spc="-5" dirty="0">
                <a:latin typeface="Times New Roman"/>
                <a:cs typeface="Times New Roman"/>
              </a:rPr>
              <a:t>exception is </a:t>
            </a:r>
            <a:r>
              <a:rPr sz="3500" dirty="0">
                <a:latin typeface="Times New Roman"/>
                <a:cs typeface="Times New Roman"/>
              </a:rPr>
              <a:t>an </a:t>
            </a:r>
            <a:r>
              <a:rPr sz="3500" spc="-5" dirty="0">
                <a:latin typeface="Times New Roman"/>
                <a:cs typeface="Times New Roman"/>
              </a:rPr>
              <a:t>abnormal </a:t>
            </a:r>
            <a:r>
              <a:rPr sz="3500" dirty="0">
                <a:latin typeface="Times New Roman"/>
                <a:cs typeface="Times New Roman"/>
              </a:rPr>
              <a:t>condition that  arises </a:t>
            </a:r>
            <a:r>
              <a:rPr sz="3500" spc="-5" dirty="0">
                <a:latin typeface="Times New Roman"/>
                <a:cs typeface="Times New Roman"/>
              </a:rPr>
              <a:t>in </a:t>
            </a:r>
            <a:r>
              <a:rPr sz="3500" dirty="0">
                <a:latin typeface="Times New Roman"/>
                <a:cs typeface="Times New Roman"/>
              </a:rPr>
              <a:t>a code sequence at run</a:t>
            </a:r>
            <a:r>
              <a:rPr sz="3500" spc="-120" dirty="0">
                <a:latin typeface="Times New Roman"/>
                <a:cs typeface="Times New Roman"/>
              </a:rPr>
              <a:t> </a:t>
            </a:r>
            <a:r>
              <a:rPr sz="3500" dirty="0">
                <a:latin typeface="Times New Roman"/>
                <a:cs typeface="Times New Roman"/>
              </a:rPr>
              <a:t>time.</a:t>
            </a:r>
          </a:p>
          <a:p>
            <a:pPr marL="332740" marR="5080" indent="-320040">
              <a:lnSpc>
                <a:spcPct val="100000"/>
              </a:lnSpc>
              <a:spcBef>
                <a:spcPts val="695"/>
              </a:spcBef>
              <a:buClr>
                <a:srgbClr val="DD8046"/>
              </a:buClr>
              <a:buSzPct val="60000"/>
              <a:buFont typeface="DejaVu Sans"/>
              <a:buChar char="◻"/>
              <a:tabLst>
                <a:tab pos="332740" algn="l"/>
              </a:tabLst>
            </a:pPr>
            <a:r>
              <a:rPr sz="3500" dirty="0">
                <a:latin typeface="Times New Roman"/>
                <a:cs typeface="Times New Roman"/>
              </a:rPr>
              <a:t>In other </a:t>
            </a:r>
            <a:r>
              <a:rPr sz="3500" spc="-5" dirty="0">
                <a:latin typeface="Times New Roman"/>
                <a:cs typeface="Times New Roman"/>
              </a:rPr>
              <a:t>words, </a:t>
            </a:r>
            <a:r>
              <a:rPr sz="3500" dirty="0">
                <a:latin typeface="Times New Roman"/>
                <a:cs typeface="Times New Roman"/>
              </a:rPr>
              <a:t>an </a:t>
            </a:r>
            <a:r>
              <a:rPr sz="3500" spc="-5" dirty="0">
                <a:latin typeface="Times New Roman"/>
                <a:cs typeface="Times New Roman"/>
              </a:rPr>
              <a:t>exception is </a:t>
            </a:r>
            <a:r>
              <a:rPr sz="3500" dirty="0">
                <a:latin typeface="Times New Roman"/>
                <a:cs typeface="Times New Roman"/>
              </a:rPr>
              <a:t>a </a:t>
            </a:r>
            <a:r>
              <a:rPr sz="3500" spc="-5" dirty="0">
                <a:latin typeface="Times New Roman"/>
                <a:cs typeface="Times New Roman"/>
              </a:rPr>
              <a:t>run-time  </a:t>
            </a:r>
            <a:r>
              <a:rPr sz="3500" dirty="0">
                <a:latin typeface="Times New Roman"/>
                <a:cs typeface="Times New Roman"/>
              </a:rPr>
              <a:t>error</a:t>
            </a:r>
            <a:r>
              <a:rPr sz="3500" dirty="0" smtClean="0">
                <a:latin typeface="Times New Roman"/>
                <a:cs typeface="Times New Roman"/>
              </a:rPr>
              <a:t>.</a:t>
            </a:r>
            <a:endParaRPr lang="en-US" sz="3500" dirty="0" smtClean="0">
              <a:latin typeface="Times New Roman"/>
              <a:cs typeface="Times New Roman"/>
            </a:endParaRPr>
          </a:p>
          <a:p>
            <a:pPr marL="332740" marR="5080" indent="-320040">
              <a:lnSpc>
                <a:spcPct val="100000"/>
              </a:lnSpc>
              <a:spcBef>
                <a:spcPts val="695"/>
              </a:spcBef>
              <a:buClr>
                <a:srgbClr val="DD8046"/>
              </a:buClr>
              <a:buSzPct val="60000"/>
              <a:buFont typeface="DejaVu Sans"/>
              <a:buChar char="◻"/>
              <a:tabLst>
                <a:tab pos="332740" algn="l"/>
              </a:tabLst>
            </a:pPr>
            <a:r>
              <a:rPr lang="en-US" sz="3500" dirty="0" smtClean="0">
                <a:latin typeface="Times New Roman"/>
                <a:cs typeface="Times New Roman"/>
              </a:rPr>
              <a:t>It is an event triggered during the execution of the program which interrupts the execution and stops the execution abruptly and handling this event is called exception handling.</a:t>
            </a:r>
            <a:endParaRPr sz="35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430148"/>
            <a:ext cx="7886065" cy="635000"/>
          </a:xfrm>
          <a:prstGeom prst="rect">
            <a:avLst/>
          </a:prstGeom>
        </p:spPr>
        <p:txBody>
          <a:bodyPr vert="horz" wrap="square" lIns="0" tIns="12065" rIns="0" bIns="0" rtlCol="0">
            <a:spAutoFit/>
          </a:bodyPr>
          <a:lstStyle/>
          <a:p>
            <a:pPr marL="12700">
              <a:lnSpc>
                <a:spcPct val="100000"/>
              </a:lnSpc>
              <a:spcBef>
                <a:spcPts val="95"/>
              </a:spcBef>
            </a:pPr>
            <a:r>
              <a:rPr sz="4000" spc="-5" dirty="0"/>
              <a:t>Exception Handling -</a:t>
            </a:r>
            <a:r>
              <a:rPr sz="4000" spc="30" dirty="0"/>
              <a:t> </a:t>
            </a:r>
            <a:r>
              <a:rPr sz="4000" spc="-5" dirty="0"/>
              <a:t>Fundamentals</a:t>
            </a:r>
            <a:endParaRPr sz="4000"/>
          </a:p>
        </p:txBody>
      </p:sp>
      <p:sp>
        <p:nvSpPr>
          <p:cNvPr id="3" name="object 3"/>
          <p:cNvSpPr txBox="1"/>
          <p:nvPr/>
        </p:nvSpPr>
        <p:spPr>
          <a:xfrm>
            <a:off x="535940" y="1570685"/>
            <a:ext cx="8149590" cy="4732655"/>
          </a:xfrm>
          <a:prstGeom prst="rect">
            <a:avLst/>
          </a:prstGeom>
        </p:spPr>
        <p:txBody>
          <a:bodyPr vert="horz" wrap="square" lIns="0" tIns="62230" rIns="0" bIns="0" rtlCol="0">
            <a:spAutoFit/>
          </a:bodyPr>
          <a:lstStyle/>
          <a:p>
            <a:pPr marL="332740" marR="5080" indent="-320040" algn="just">
              <a:lnSpc>
                <a:spcPct val="90000"/>
              </a:lnSpc>
              <a:spcBef>
                <a:spcPts val="490"/>
              </a:spcBef>
              <a:buClr>
                <a:srgbClr val="DD8046"/>
              </a:buClr>
              <a:buSzPct val="59375"/>
              <a:buFont typeface="DejaVu Sans"/>
              <a:buChar char="◻"/>
              <a:tabLst>
                <a:tab pos="332740" algn="l"/>
              </a:tabLst>
            </a:pPr>
            <a:r>
              <a:rPr sz="3200" dirty="0">
                <a:latin typeface="Times New Roman"/>
                <a:cs typeface="Times New Roman"/>
              </a:rPr>
              <a:t>A Java exception </a:t>
            </a:r>
            <a:r>
              <a:rPr sz="3200" spc="-5" dirty="0">
                <a:latin typeface="Times New Roman"/>
                <a:cs typeface="Times New Roman"/>
              </a:rPr>
              <a:t>is </a:t>
            </a:r>
            <a:r>
              <a:rPr sz="3200" dirty="0">
                <a:latin typeface="Times New Roman"/>
                <a:cs typeface="Times New Roman"/>
              </a:rPr>
              <a:t>an </a:t>
            </a:r>
            <a:r>
              <a:rPr sz="3200" spc="-5" dirty="0">
                <a:latin typeface="Times New Roman"/>
                <a:cs typeface="Times New Roman"/>
              </a:rPr>
              <a:t>object that </a:t>
            </a:r>
            <a:r>
              <a:rPr sz="3200" dirty="0">
                <a:latin typeface="Times New Roman"/>
                <a:cs typeface="Times New Roman"/>
              </a:rPr>
              <a:t>describes </a:t>
            </a:r>
            <a:r>
              <a:rPr sz="3200" spc="5" dirty="0">
                <a:latin typeface="Times New Roman"/>
                <a:cs typeface="Times New Roman"/>
              </a:rPr>
              <a:t>an  </a:t>
            </a:r>
            <a:r>
              <a:rPr sz="3200" dirty="0">
                <a:latin typeface="Times New Roman"/>
                <a:cs typeface="Times New Roman"/>
              </a:rPr>
              <a:t>exceptional </a:t>
            </a:r>
            <a:r>
              <a:rPr sz="3200" spc="-5" dirty="0">
                <a:latin typeface="Times New Roman"/>
                <a:cs typeface="Times New Roman"/>
              </a:rPr>
              <a:t>(that </a:t>
            </a:r>
            <a:r>
              <a:rPr sz="3200" dirty="0">
                <a:latin typeface="Times New Roman"/>
                <a:cs typeface="Times New Roman"/>
              </a:rPr>
              <a:t>is, </a:t>
            </a:r>
            <a:r>
              <a:rPr sz="3200" spc="-5" dirty="0">
                <a:latin typeface="Times New Roman"/>
                <a:cs typeface="Times New Roman"/>
              </a:rPr>
              <a:t>error) condition that </a:t>
            </a:r>
            <a:r>
              <a:rPr sz="3200" dirty="0">
                <a:latin typeface="Times New Roman"/>
                <a:cs typeface="Times New Roman"/>
              </a:rPr>
              <a:t>has  </a:t>
            </a:r>
            <a:r>
              <a:rPr sz="3200" spc="5" dirty="0">
                <a:latin typeface="Times New Roman"/>
                <a:cs typeface="Times New Roman"/>
              </a:rPr>
              <a:t>occurred </a:t>
            </a:r>
            <a:r>
              <a:rPr sz="3200" spc="-5" dirty="0">
                <a:latin typeface="Times New Roman"/>
                <a:cs typeface="Times New Roman"/>
              </a:rPr>
              <a:t>in </a:t>
            </a:r>
            <a:r>
              <a:rPr sz="3200" dirty="0">
                <a:latin typeface="Times New Roman"/>
                <a:cs typeface="Times New Roman"/>
              </a:rPr>
              <a:t>a piece of</a:t>
            </a:r>
            <a:r>
              <a:rPr sz="3200" spc="-80" dirty="0">
                <a:latin typeface="Times New Roman"/>
                <a:cs typeface="Times New Roman"/>
              </a:rPr>
              <a:t> </a:t>
            </a:r>
            <a:r>
              <a:rPr sz="3200" spc="5" dirty="0">
                <a:latin typeface="Times New Roman"/>
                <a:cs typeface="Times New Roman"/>
              </a:rPr>
              <a:t>code.</a:t>
            </a:r>
            <a:endParaRPr sz="3200">
              <a:latin typeface="Times New Roman"/>
              <a:cs typeface="Times New Roman"/>
            </a:endParaRPr>
          </a:p>
          <a:p>
            <a:pPr marL="332740" marR="5080" indent="-320040" algn="just">
              <a:lnSpc>
                <a:spcPct val="90000"/>
              </a:lnSpc>
              <a:spcBef>
                <a:spcPts val="695"/>
              </a:spcBef>
              <a:buClr>
                <a:srgbClr val="DD8046"/>
              </a:buClr>
              <a:buSzPct val="59375"/>
              <a:buFont typeface="DejaVu Sans"/>
              <a:buChar char="◻"/>
              <a:tabLst>
                <a:tab pos="332740" algn="l"/>
              </a:tabLst>
            </a:pPr>
            <a:r>
              <a:rPr sz="3200" dirty="0">
                <a:latin typeface="Times New Roman"/>
                <a:cs typeface="Times New Roman"/>
              </a:rPr>
              <a:t>When </a:t>
            </a:r>
            <a:r>
              <a:rPr sz="3200" spc="-5" dirty="0">
                <a:latin typeface="Times New Roman"/>
                <a:cs typeface="Times New Roman"/>
              </a:rPr>
              <a:t>an </a:t>
            </a:r>
            <a:r>
              <a:rPr sz="3200" dirty="0">
                <a:latin typeface="Times New Roman"/>
                <a:cs typeface="Times New Roman"/>
              </a:rPr>
              <a:t>exceptional </a:t>
            </a:r>
            <a:r>
              <a:rPr sz="3200" spc="-5" dirty="0">
                <a:latin typeface="Times New Roman"/>
                <a:cs typeface="Times New Roman"/>
              </a:rPr>
              <a:t>condition </a:t>
            </a:r>
            <a:r>
              <a:rPr sz="3200" dirty="0">
                <a:latin typeface="Times New Roman"/>
                <a:cs typeface="Times New Roman"/>
              </a:rPr>
              <a:t>arises, an object  representing that exception </a:t>
            </a:r>
            <a:r>
              <a:rPr sz="3200" spc="-5" dirty="0">
                <a:latin typeface="Times New Roman"/>
                <a:cs typeface="Times New Roman"/>
              </a:rPr>
              <a:t>is </a:t>
            </a:r>
            <a:r>
              <a:rPr sz="3200" dirty="0">
                <a:latin typeface="Times New Roman"/>
                <a:cs typeface="Times New Roman"/>
              </a:rPr>
              <a:t>created </a:t>
            </a:r>
            <a:r>
              <a:rPr sz="3200" spc="-10" dirty="0">
                <a:latin typeface="Times New Roman"/>
                <a:cs typeface="Times New Roman"/>
              </a:rPr>
              <a:t>and  </a:t>
            </a:r>
            <a:r>
              <a:rPr sz="3200" dirty="0">
                <a:latin typeface="Times New Roman"/>
                <a:cs typeface="Times New Roman"/>
              </a:rPr>
              <a:t>thrown </a:t>
            </a:r>
            <a:r>
              <a:rPr sz="3200" spc="-5" dirty="0">
                <a:latin typeface="Times New Roman"/>
                <a:cs typeface="Times New Roman"/>
              </a:rPr>
              <a:t>in </a:t>
            </a:r>
            <a:r>
              <a:rPr sz="3200" dirty="0">
                <a:latin typeface="Times New Roman"/>
                <a:cs typeface="Times New Roman"/>
              </a:rPr>
              <a:t>the method that caused the</a:t>
            </a:r>
            <a:r>
              <a:rPr sz="3200" spc="-90" dirty="0">
                <a:latin typeface="Times New Roman"/>
                <a:cs typeface="Times New Roman"/>
              </a:rPr>
              <a:t> </a:t>
            </a:r>
            <a:r>
              <a:rPr sz="3200" dirty="0">
                <a:latin typeface="Times New Roman"/>
                <a:cs typeface="Times New Roman"/>
              </a:rPr>
              <a:t>error.</a:t>
            </a:r>
            <a:endParaRPr sz="3200">
              <a:latin typeface="Times New Roman"/>
              <a:cs typeface="Times New Roman"/>
            </a:endParaRPr>
          </a:p>
          <a:p>
            <a:pPr marL="332740" marR="5715" indent="-320040" algn="just">
              <a:lnSpc>
                <a:spcPts val="3460"/>
              </a:lnSpc>
              <a:spcBef>
                <a:spcPts val="745"/>
              </a:spcBef>
              <a:buClr>
                <a:srgbClr val="DD8046"/>
              </a:buClr>
              <a:buSzPct val="59375"/>
              <a:buFont typeface="DejaVu Sans"/>
              <a:buChar char="◻"/>
              <a:tabLst>
                <a:tab pos="332740" algn="l"/>
              </a:tabLst>
            </a:pPr>
            <a:r>
              <a:rPr sz="3200" dirty="0">
                <a:latin typeface="Times New Roman"/>
                <a:cs typeface="Times New Roman"/>
              </a:rPr>
              <a:t>That </a:t>
            </a:r>
            <a:r>
              <a:rPr sz="3200" spc="-5" dirty="0">
                <a:latin typeface="Times New Roman"/>
                <a:cs typeface="Times New Roman"/>
              </a:rPr>
              <a:t>method </a:t>
            </a:r>
            <a:r>
              <a:rPr sz="3200" dirty="0">
                <a:latin typeface="Times New Roman"/>
                <a:cs typeface="Times New Roman"/>
              </a:rPr>
              <a:t>may choose </a:t>
            </a:r>
            <a:r>
              <a:rPr sz="3200" spc="-5" dirty="0">
                <a:latin typeface="Times New Roman"/>
                <a:cs typeface="Times New Roman"/>
              </a:rPr>
              <a:t>to </a:t>
            </a:r>
            <a:r>
              <a:rPr sz="3200" dirty="0">
                <a:latin typeface="Times New Roman"/>
                <a:cs typeface="Times New Roman"/>
              </a:rPr>
              <a:t>handle the  </a:t>
            </a:r>
            <a:r>
              <a:rPr sz="3200" spc="5" dirty="0">
                <a:latin typeface="Times New Roman"/>
                <a:cs typeface="Times New Roman"/>
              </a:rPr>
              <a:t>exception </a:t>
            </a:r>
            <a:r>
              <a:rPr sz="3200" dirty="0">
                <a:latin typeface="Times New Roman"/>
                <a:cs typeface="Times New Roman"/>
              </a:rPr>
              <a:t>itself, or pass </a:t>
            </a:r>
            <a:r>
              <a:rPr sz="3200" spc="-5" dirty="0">
                <a:latin typeface="Times New Roman"/>
                <a:cs typeface="Times New Roman"/>
              </a:rPr>
              <a:t>it</a:t>
            </a:r>
            <a:r>
              <a:rPr sz="3200" spc="-90" dirty="0">
                <a:latin typeface="Times New Roman"/>
                <a:cs typeface="Times New Roman"/>
              </a:rPr>
              <a:t> </a:t>
            </a:r>
            <a:r>
              <a:rPr sz="3200" spc="5" dirty="0">
                <a:latin typeface="Times New Roman"/>
                <a:cs typeface="Times New Roman"/>
              </a:rPr>
              <a:t>on.</a:t>
            </a:r>
            <a:endParaRPr sz="3200">
              <a:latin typeface="Times New Roman"/>
              <a:cs typeface="Times New Roman"/>
            </a:endParaRPr>
          </a:p>
          <a:p>
            <a:pPr marL="332740" marR="5715" indent="-320040" algn="just">
              <a:lnSpc>
                <a:spcPts val="3460"/>
              </a:lnSpc>
              <a:spcBef>
                <a:spcPts val="700"/>
              </a:spcBef>
              <a:buClr>
                <a:srgbClr val="DD8046"/>
              </a:buClr>
              <a:buSzPct val="59375"/>
              <a:buFont typeface="DejaVu Sans"/>
              <a:buChar char="◻"/>
              <a:tabLst>
                <a:tab pos="332740" algn="l"/>
              </a:tabLst>
            </a:pPr>
            <a:r>
              <a:rPr sz="3200" dirty="0">
                <a:latin typeface="Times New Roman"/>
                <a:cs typeface="Times New Roman"/>
              </a:rPr>
              <a:t>Either way, at </a:t>
            </a:r>
            <a:r>
              <a:rPr sz="3200" spc="-5" dirty="0">
                <a:latin typeface="Times New Roman"/>
                <a:cs typeface="Times New Roman"/>
              </a:rPr>
              <a:t>some </a:t>
            </a:r>
            <a:r>
              <a:rPr sz="3200" dirty="0">
                <a:latin typeface="Times New Roman"/>
                <a:cs typeface="Times New Roman"/>
              </a:rPr>
              <a:t>point, </a:t>
            </a:r>
            <a:r>
              <a:rPr sz="3200" spc="-5" dirty="0">
                <a:latin typeface="Times New Roman"/>
                <a:cs typeface="Times New Roman"/>
              </a:rPr>
              <a:t>the </a:t>
            </a:r>
            <a:r>
              <a:rPr sz="3200" dirty="0">
                <a:latin typeface="Times New Roman"/>
                <a:cs typeface="Times New Roman"/>
              </a:rPr>
              <a:t>exception </a:t>
            </a:r>
            <a:r>
              <a:rPr sz="3200" spc="-5" dirty="0">
                <a:latin typeface="Times New Roman"/>
                <a:cs typeface="Times New Roman"/>
              </a:rPr>
              <a:t>is  </a:t>
            </a:r>
            <a:r>
              <a:rPr sz="3200" spc="5" dirty="0">
                <a:latin typeface="Times New Roman"/>
                <a:cs typeface="Times New Roman"/>
              </a:rPr>
              <a:t>caught and</a:t>
            </a:r>
            <a:r>
              <a:rPr sz="3200" spc="-70" dirty="0">
                <a:latin typeface="Times New Roman"/>
                <a:cs typeface="Times New Roman"/>
              </a:rPr>
              <a:t> </a:t>
            </a:r>
            <a:r>
              <a:rPr sz="3200" spc="5" dirty="0">
                <a:latin typeface="Times New Roman"/>
                <a:cs typeface="Times New Roman"/>
              </a:rPr>
              <a:t>processed.</a:t>
            </a:r>
            <a:endParaRPr sz="320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84835"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a:t>
            </a:r>
            <a:endParaRPr sz="4400">
              <a:latin typeface="Times New Roman"/>
              <a:cs typeface="Times New Roman"/>
            </a:endParaRPr>
          </a:p>
        </p:txBody>
      </p:sp>
      <p:sp>
        <p:nvSpPr>
          <p:cNvPr id="3" name="object 3"/>
          <p:cNvSpPr txBox="1"/>
          <p:nvPr/>
        </p:nvSpPr>
        <p:spPr>
          <a:xfrm>
            <a:off x="691387" y="1619452"/>
            <a:ext cx="7997190" cy="4183379"/>
          </a:xfrm>
          <a:prstGeom prst="rect">
            <a:avLst/>
          </a:prstGeom>
        </p:spPr>
        <p:txBody>
          <a:bodyPr vert="horz" wrap="square" lIns="0" tIns="13335" rIns="0" bIns="0" rtlCol="0">
            <a:spAutoFit/>
          </a:bodyPr>
          <a:lstStyle/>
          <a:p>
            <a:pPr marL="332740" marR="6985" indent="-320675" algn="just">
              <a:lnSpc>
                <a:spcPct val="100000"/>
              </a:lnSpc>
              <a:spcBef>
                <a:spcPts val="105"/>
              </a:spcBef>
              <a:buClr>
                <a:srgbClr val="DD8046"/>
              </a:buClr>
              <a:buSzPct val="58620"/>
              <a:buFont typeface="DejaVu Sans"/>
              <a:buChar char="◻"/>
              <a:tabLst>
                <a:tab pos="333375" algn="l"/>
              </a:tabLst>
            </a:pPr>
            <a:r>
              <a:rPr sz="2900" spc="-5" dirty="0">
                <a:latin typeface="Times New Roman"/>
                <a:cs typeface="Times New Roman"/>
              </a:rPr>
              <a:t>Exceptions can </a:t>
            </a:r>
            <a:r>
              <a:rPr sz="2900" dirty="0">
                <a:latin typeface="Times New Roman"/>
                <a:cs typeface="Times New Roman"/>
              </a:rPr>
              <a:t>be generated by </a:t>
            </a:r>
            <a:r>
              <a:rPr sz="2900" spc="-5" dirty="0">
                <a:latin typeface="Times New Roman"/>
                <a:cs typeface="Times New Roman"/>
              </a:rPr>
              <a:t>the Java </a:t>
            </a:r>
            <a:r>
              <a:rPr sz="2900" spc="-10" dirty="0">
                <a:latin typeface="Times New Roman"/>
                <a:cs typeface="Times New Roman"/>
              </a:rPr>
              <a:t>run-time  </a:t>
            </a:r>
            <a:r>
              <a:rPr sz="2900" spc="-5" dirty="0">
                <a:latin typeface="Times New Roman"/>
                <a:cs typeface="Times New Roman"/>
              </a:rPr>
              <a:t>system, </a:t>
            </a:r>
            <a:r>
              <a:rPr sz="2900" dirty="0">
                <a:latin typeface="Times New Roman"/>
                <a:cs typeface="Times New Roman"/>
              </a:rPr>
              <a:t>or they </a:t>
            </a:r>
            <a:r>
              <a:rPr sz="2900" spc="-5" dirty="0">
                <a:latin typeface="Times New Roman"/>
                <a:cs typeface="Times New Roman"/>
              </a:rPr>
              <a:t>can </a:t>
            </a:r>
            <a:r>
              <a:rPr sz="2900" dirty="0">
                <a:latin typeface="Times New Roman"/>
                <a:cs typeface="Times New Roman"/>
              </a:rPr>
              <a:t>be </a:t>
            </a:r>
            <a:r>
              <a:rPr sz="2900" spc="-10" dirty="0">
                <a:latin typeface="Times New Roman"/>
                <a:cs typeface="Times New Roman"/>
              </a:rPr>
              <a:t>manually </a:t>
            </a:r>
            <a:r>
              <a:rPr sz="2900" spc="-5" dirty="0">
                <a:latin typeface="Times New Roman"/>
                <a:cs typeface="Times New Roman"/>
              </a:rPr>
              <a:t>generated </a:t>
            </a:r>
            <a:r>
              <a:rPr sz="2900" dirty="0">
                <a:latin typeface="Times New Roman"/>
                <a:cs typeface="Times New Roman"/>
              </a:rPr>
              <a:t>by </a:t>
            </a:r>
            <a:r>
              <a:rPr sz="2900" spc="-10" dirty="0">
                <a:latin typeface="Times New Roman"/>
                <a:cs typeface="Times New Roman"/>
              </a:rPr>
              <a:t>your  </a:t>
            </a:r>
            <a:r>
              <a:rPr sz="2900" spc="-5" dirty="0">
                <a:latin typeface="Times New Roman"/>
                <a:cs typeface="Times New Roman"/>
              </a:rPr>
              <a:t>code.</a:t>
            </a:r>
            <a:endParaRPr sz="2900">
              <a:latin typeface="Times New Roman"/>
              <a:cs typeface="Times New Roman"/>
            </a:endParaRPr>
          </a:p>
          <a:p>
            <a:pPr marL="332740" marR="5080" indent="-320675" algn="just">
              <a:lnSpc>
                <a:spcPct val="100000"/>
              </a:lnSpc>
              <a:spcBef>
                <a:spcPts val="715"/>
              </a:spcBef>
              <a:buClr>
                <a:srgbClr val="DD8046"/>
              </a:buClr>
              <a:buSzPct val="58620"/>
              <a:buFont typeface="DejaVu Sans"/>
              <a:buChar char="◻"/>
              <a:tabLst>
                <a:tab pos="333375" algn="l"/>
              </a:tabLst>
            </a:pPr>
            <a:r>
              <a:rPr sz="2900" spc="-5" dirty="0">
                <a:latin typeface="Times New Roman"/>
                <a:cs typeface="Times New Roman"/>
              </a:rPr>
              <a:t>Exceptions </a:t>
            </a:r>
            <a:r>
              <a:rPr sz="2900" dirty="0">
                <a:latin typeface="Times New Roman"/>
                <a:cs typeface="Times New Roman"/>
              </a:rPr>
              <a:t>thrown by Java </a:t>
            </a:r>
            <a:r>
              <a:rPr sz="2900" spc="-5" dirty="0">
                <a:latin typeface="Times New Roman"/>
                <a:cs typeface="Times New Roman"/>
              </a:rPr>
              <a:t>relate to fundamental  errors </a:t>
            </a:r>
            <a:r>
              <a:rPr sz="2900" dirty="0">
                <a:latin typeface="Times New Roman"/>
                <a:cs typeface="Times New Roman"/>
              </a:rPr>
              <a:t>that </a:t>
            </a:r>
            <a:r>
              <a:rPr sz="2900" spc="-5" dirty="0">
                <a:latin typeface="Times New Roman"/>
                <a:cs typeface="Times New Roman"/>
              </a:rPr>
              <a:t>violate the rules </a:t>
            </a:r>
            <a:r>
              <a:rPr sz="2900" dirty="0">
                <a:latin typeface="Times New Roman"/>
                <a:cs typeface="Times New Roman"/>
              </a:rPr>
              <a:t>of the Java </a:t>
            </a:r>
            <a:r>
              <a:rPr sz="2900" spc="-5" dirty="0">
                <a:latin typeface="Times New Roman"/>
                <a:cs typeface="Times New Roman"/>
              </a:rPr>
              <a:t>language </a:t>
            </a:r>
            <a:r>
              <a:rPr sz="2900" spc="-10" dirty="0">
                <a:latin typeface="Times New Roman"/>
                <a:cs typeface="Times New Roman"/>
              </a:rPr>
              <a:t>or  </a:t>
            </a:r>
            <a:r>
              <a:rPr sz="2900" dirty="0">
                <a:latin typeface="Times New Roman"/>
                <a:cs typeface="Times New Roman"/>
              </a:rPr>
              <a:t>the constraints of the Java </a:t>
            </a:r>
            <a:r>
              <a:rPr sz="2900" spc="-5" dirty="0">
                <a:latin typeface="Times New Roman"/>
                <a:cs typeface="Times New Roman"/>
              </a:rPr>
              <a:t>execution</a:t>
            </a:r>
            <a:r>
              <a:rPr sz="2900" spc="-90" dirty="0">
                <a:latin typeface="Times New Roman"/>
                <a:cs typeface="Times New Roman"/>
              </a:rPr>
              <a:t> </a:t>
            </a:r>
            <a:r>
              <a:rPr sz="2900" spc="-5" dirty="0">
                <a:latin typeface="Times New Roman"/>
                <a:cs typeface="Times New Roman"/>
              </a:rPr>
              <a:t>environment.</a:t>
            </a:r>
            <a:endParaRPr sz="2900">
              <a:latin typeface="Times New Roman"/>
              <a:cs typeface="Times New Roman"/>
            </a:endParaRPr>
          </a:p>
          <a:p>
            <a:pPr marL="332740" marR="5080" indent="-320675" algn="just">
              <a:lnSpc>
                <a:spcPct val="100000"/>
              </a:lnSpc>
              <a:spcBef>
                <a:spcPts val="695"/>
              </a:spcBef>
              <a:buClr>
                <a:srgbClr val="DD8046"/>
              </a:buClr>
              <a:buSzPct val="58620"/>
              <a:buFont typeface="DejaVu Sans"/>
              <a:buChar char="◻"/>
              <a:tabLst>
                <a:tab pos="333375" algn="l"/>
              </a:tabLst>
            </a:pPr>
            <a:r>
              <a:rPr sz="2900" dirty="0">
                <a:latin typeface="Times New Roman"/>
                <a:cs typeface="Times New Roman"/>
              </a:rPr>
              <a:t>Manually </a:t>
            </a:r>
            <a:r>
              <a:rPr sz="2900" spc="-5" dirty="0">
                <a:latin typeface="Times New Roman"/>
                <a:cs typeface="Times New Roman"/>
              </a:rPr>
              <a:t>generated exceptions are typically used  to report </a:t>
            </a:r>
            <a:r>
              <a:rPr sz="2900" spc="-10" dirty="0">
                <a:latin typeface="Times New Roman"/>
                <a:cs typeface="Times New Roman"/>
              </a:rPr>
              <a:t>some </a:t>
            </a:r>
            <a:r>
              <a:rPr sz="2900" dirty="0">
                <a:latin typeface="Times New Roman"/>
                <a:cs typeface="Times New Roman"/>
              </a:rPr>
              <a:t>error </a:t>
            </a:r>
            <a:r>
              <a:rPr sz="2900" spc="-5" dirty="0">
                <a:latin typeface="Times New Roman"/>
                <a:cs typeface="Times New Roman"/>
              </a:rPr>
              <a:t>condition to </a:t>
            </a:r>
            <a:r>
              <a:rPr sz="2900" dirty="0">
                <a:latin typeface="Times New Roman"/>
                <a:cs typeface="Times New Roman"/>
              </a:rPr>
              <a:t>the </a:t>
            </a:r>
            <a:r>
              <a:rPr sz="2900" spc="-5" dirty="0">
                <a:latin typeface="Times New Roman"/>
                <a:cs typeface="Times New Roman"/>
              </a:rPr>
              <a:t>caller </a:t>
            </a:r>
            <a:r>
              <a:rPr sz="2900" spc="-10" dirty="0">
                <a:latin typeface="Times New Roman"/>
                <a:cs typeface="Times New Roman"/>
              </a:rPr>
              <a:t>of </a:t>
            </a:r>
            <a:r>
              <a:rPr sz="2900" dirty="0">
                <a:latin typeface="Times New Roman"/>
                <a:cs typeface="Times New Roman"/>
              </a:rPr>
              <a:t>a  </a:t>
            </a:r>
            <a:r>
              <a:rPr sz="2900" spc="-10" dirty="0">
                <a:latin typeface="Times New Roman"/>
                <a:cs typeface="Times New Roman"/>
              </a:rPr>
              <a:t>method.</a:t>
            </a:r>
            <a:endParaRPr sz="29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84835"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a:t>
            </a:r>
            <a:endParaRPr sz="4400">
              <a:latin typeface="Times New Roman"/>
              <a:cs typeface="Times New Roman"/>
            </a:endParaRPr>
          </a:p>
        </p:txBody>
      </p:sp>
      <p:sp>
        <p:nvSpPr>
          <p:cNvPr id="3" name="object 3"/>
          <p:cNvSpPr txBox="1"/>
          <p:nvPr/>
        </p:nvSpPr>
        <p:spPr>
          <a:xfrm>
            <a:off x="383540" y="1546301"/>
            <a:ext cx="8305800" cy="4815205"/>
          </a:xfrm>
          <a:prstGeom prst="rect">
            <a:avLst/>
          </a:prstGeom>
        </p:spPr>
        <p:txBody>
          <a:bodyPr vert="horz" wrap="square" lIns="0" tIns="85725" rIns="0" bIns="0" rtlCol="0">
            <a:spAutoFit/>
          </a:bodyPr>
          <a:lstStyle/>
          <a:p>
            <a:pPr marL="332740" marR="8890" indent="-320040" algn="just">
              <a:lnSpc>
                <a:spcPts val="2400"/>
              </a:lnSpc>
              <a:spcBef>
                <a:spcPts val="675"/>
              </a:spcBef>
              <a:buClr>
                <a:srgbClr val="DD8046"/>
              </a:buClr>
              <a:buSzPct val="60000"/>
              <a:buFont typeface="DejaVu Sans"/>
              <a:buChar char="◻"/>
              <a:tabLst>
                <a:tab pos="332740" algn="l"/>
              </a:tabLst>
            </a:pPr>
            <a:r>
              <a:rPr sz="2500" spc="-5" dirty="0">
                <a:latin typeface="Times New Roman"/>
                <a:cs typeface="Times New Roman"/>
              </a:rPr>
              <a:t>In </a:t>
            </a:r>
            <a:r>
              <a:rPr sz="2500" dirty="0">
                <a:latin typeface="Times New Roman"/>
                <a:cs typeface="Times New Roman"/>
              </a:rPr>
              <a:t>Java exception handled </a:t>
            </a:r>
            <a:r>
              <a:rPr sz="2500" spc="-5" dirty="0">
                <a:latin typeface="Times New Roman"/>
                <a:cs typeface="Times New Roman"/>
              </a:rPr>
              <a:t>by Five </a:t>
            </a:r>
            <a:r>
              <a:rPr sz="2500" dirty="0">
                <a:latin typeface="Times New Roman"/>
                <a:cs typeface="Times New Roman"/>
              </a:rPr>
              <a:t>keywords: </a:t>
            </a:r>
            <a:r>
              <a:rPr sz="2500" b="1" dirty="0">
                <a:solidFill>
                  <a:srgbClr val="FF0000"/>
                </a:solidFill>
                <a:latin typeface="Times New Roman"/>
                <a:cs typeface="Times New Roman"/>
              </a:rPr>
              <a:t>try, catch,  </a:t>
            </a:r>
            <a:r>
              <a:rPr sz="2500" b="1" spc="-5" dirty="0">
                <a:solidFill>
                  <a:srgbClr val="FF0000"/>
                </a:solidFill>
                <a:latin typeface="Times New Roman"/>
                <a:cs typeface="Times New Roman"/>
              </a:rPr>
              <a:t>throw, throws, and</a:t>
            </a:r>
            <a:r>
              <a:rPr sz="2500" b="1" spc="25" dirty="0">
                <a:solidFill>
                  <a:srgbClr val="FF0000"/>
                </a:solidFill>
                <a:latin typeface="Times New Roman"/>
                <a:cs typeface="Times New Roman"/>
              </a:rPr>
              <a:t> </a:t>
            </a:r>
            <a:r>
              <a:rPr sz="2500" b="1" spc="-5" dirty="0">
                <a:solidFill>
                  <a:srgbClr val="FF0000"/>
                </a:solidFill>
                <a:latin typeface="Times New Roman"/>
                <a:cs typeface="Times New Roman"/>
              </a:rPr>
              <a:t>finally.</a:t>
            </a:r>
            <a:endParaRPr sz="2500">
              <a:latin typeface="Times New Roman"/>
              <a:cs typeface="Times New Roman"/>
            </a:endParaRPr>
          </a:p>
          <a:p>
            <a:pPr marL="332740" marR="7620" indent="-320040" algn="just">
              <a:lnSpc>
                <a:spcPts val="2400"/>
              </a:lnSpc>
              <a:spcBef>
                <a:spcPts val="715"/>
              </a:spcBef>
              <a:buClr>
                <a:srgbClr val="DD8046"/>
              </a:buClr>
              <a:buSzPct val="60000"/>
              <a:buFont typeface="DejaVu Sans"/>
              <a:buChar char="◻"/>
              <a:tabLst>
                <a:tab pos="332740" algn="l"/>
              </a:tabLst>
            </a:pPr>
            <a:r>
              <a:rPr sz="2500" dirty="0">
                <a:latin typeface="Times New Roman"/>
                <a:cs typeface="Times New Roman"/>
              </a:rPr>
              <a:t>Program statements that </a:t>
            </a:r>
            <a:r>
              <a:rPr sz="2500" spc="-5" dirty="0">
                <a:latin typeface="Times New Roman"/>
                <a:cs typeface="Times New Roman"/>
              </a:rPr>
              <a:t>you </a:t>
            </a:r>
            <a:r>
              <a:rPr sz="2500" dirty="0">
                <a:latin typeface="Times New Roman"/>
                <a:cs typeface="Times New Roman"/>
              </a:rPr>
              <a:t>want </a:t>
            </a:r>
            <a:r>
              <a:rPr sz="2500" spc="-5" dirty="0">
                <a:latin typeface="Times New Roman"/>
                <a:cs typeface="Times New Roman"/>
              </a:rPr>
              <a:t>to </a:t>
            </a:r>
            <a:r>
              <a:rPr sz="2500" dirty="0">
                <a:latin typeface="Times New Roman"/>
                <a:cs typeface="Times New Roman"/>
              </a:rPr>
              <a:t>monitor for </a:t>
            </a:r>
            <a:r>
              <a:rPr sz="2500" spc="-5" dirty="0">
                <a:latin typeface="Times New Roman"/>
                <a:cs typeface="Times New Roman"/>
              </a:rPr>
              <a:t>exceptions  are </a:t>
            </a:r>
            <a:r>
              <a:rPr sz="2500" dirty="0">
                <a:latin typeface="Times New Roman"/>
                <a:cs typeface="Times New Roman"/>
              </a:rPr>
              <a:t>contained </a:t>
            </a:r>
            <a:r>
              <a:rPr sz="2500" spc="-5" dirty="0">
                <a:latin typeface="Times New Roman"/>
                <a:cs typeface="Times New Roman"/>
              </a:rPr>
              <a:t>within a </a:t>
            </a:r>
            <a:r>
              <a:rPr sz="2500" dirty="0">
                <a:solidFill>
                  <a:srgbClr val="FF0000"/>
                </a:solidFill>
                <a:latin typeface="Times New Roman"/>
                <a:cs typeface="Times New Roman"/>
              </a:rPr>
              <a:t>try </a:t>
            </a:r>
            <a:r>
              <a:rPr sz="2500" dirty="0">
                <a:latin typeface="Times New Roman"/>
                <a:cs typeface="Times New Roman"/>
              </a:rPr>
              <a:t>block. If </a:t>
            </a:r>
            <a:r>
              <a:rPr sz="2500" spc="-5" dirty="0">
                <a:latin typeface="Times New Roman"/>
                <a:cs typeface="Times New Roman"/>
              </a:rPr>
              <a:t>an </a:t>
            </a:r>
            <a:r>
              <a:rPr sz="2500" dirty="0">
                <a:latin typeface="Times New Roman"/>
                <a:cs typeface="Times New Roman"/>
              </a:rPr>
              <a:t>exception </a:t>
            </a:r>
            <a:r>
              <a:rPr sz="2500" spc="-5" dirty="0">
                <a:latin typeface="Times New Roman"/>
                <a:cs typeface="Times New Roman"/>
              </a:rPr>
              <a:t>occurs within  the try block, it is</a:t>
            </a:r>
            <a:r>
              <a:rPr sz="2500" spc="55" dirty="0">
                <a:latin typeface="Times New Roman"/>
                <a:cs typeface="Times New Roman"/>
              </a:rPr>
              <a:t> </a:t>
            </a:r>
            <a:r>
              <a:rPr sz="2500" spc="-5" dirty="0">
                <a:latin typeface="Times New Roman"/>
                <a:cs typeface="Times New Roman"/>
              </a:rPr>
              <a:t>thrown.</a:t>
            </a:r>
            <a:endParaRPr sz="2500">
              <a:latin typeface="Times New Roman"/>
              <a:cs typeface="Times New Roman"/>
            </a:endParaRPr>
          </a:p>
          <a:p>
            <a:pPr marL="332740" marR="5080" indent="-320040" algn="just">
              <a:lnSpc>
                <a:spcPts val="2400"/>
              </a:lnSpc>
              <a:spcBef>
                <a:spcPts val="695"/>
              </a:spcBef>
              <a:buClr>
                <a:srgbClr val="DD8046"/>
              </a:buClr>
              <a:buSzPct val="60000"/>
              <a:buFont typeface="DejaVu Sans"/>
              <a:buChar char="◻"/>
              <a:tabLst>
                <a:tab pos="332740" algn="l"/>
              </a:tabLst>
            </a:pPr>
            <a:r>
              <a:rPr sz="2500" spc="-5" dirty="0">
                <a:latin typeface="Times New Roman"/>
                <a:cs typeface="Times New Roman"/>
              </a:rPr>
              <a:t>Your code can </a:t>
            </a:r>
            <a:r>
              <a:rPr sz="2500" dirty="0">
                <a:latin typeface="Times New Roman"/>
                <a:cs typeface="Times New Roman"/>
              </a:rPr>
              <a:t>catch this </a:t>
            </a:r>
            <a:r>
              <a:rPr sz="2500" spc="-5" dirty="0">
                <a:latin typeface="Times New Roman"/>
                <a:cs typeface="Times New Roman"/>
              </a:rPr>
              <a:t>exception (using </a:t>
            </a:r>
            <a:r>
              <a:rPr sz="2500" dirty="0">
                <a:solidFill>
                  <a:srgbClr val="FF0000"/>
                </a:solidFill>
                <a:latin typeface="Times New Roman"/>
                <a:cs typeface="Times New Roman"/>
              </a:rPr>
              <a:t>catch</a:t>
            </a:r>
            <a:r>
              <a:rPr sz="2500" dirty="0">
                <a:latin typeface="Times New Roman"/>
                <a:cs typeface="Times New Roman"/>
              </a:rPr>
              <a:t>) </a:t>
            </a:r>
            <a:r>
              <a:rPr sz="2500" spc="-5" dirty="0">
                <a:latin typeface="Times New Roman"/>
                <a:cs typeface="Times New Roman"/>
              </a:rPr>
              <a:t>and </a:t>
            </a:r>
            <a:r>
              <a:rPr sz="2500" dirty="0">
                <a:latin typeface="Times New Roman"/>
                <a:cs typeface="Times New Roman"/>
              </a:rPr>
              <a:t>handle </a:t>
            </a:r>
            <a:r>
              <a:rPr sz="2500" spc="10" dirty="0">
                <a:latin typeface="Times New Roman"/>
                <a:cs typeface="Times New Roman"/>
              </a:rPr>
              <a:t>it  </a:t>
            </a:r>
            <a:r>
              <a:rPr sz="2500" spc="-5" dirty="0">
                <a:latin typeface="Times New Roman"/>
                <a:cs typeface="Times New Roman"/>
              </a:rPr>
              <a:t>in </a:t>
            </a:r>
            <a:r>
              <a:rPr sz="2500" spc="-10" dirty="0">
                <a:latin typeface="Times New Roman"/>
                <a:cs typeface="Times New Roman"/>
              </a:rPr>
              <a:t>some </a:t>
            </a:r>
            <a:r>
              <a:rPr sz="2500" spc="-5" dirty="0">
                <a:latin typeface="Times New Roman"/>
                <a:cs typeface="Times New Roman"/>
              </a:rPr>
              <a:t>rational</a:t>
            </a:r>
            <a:r>
              <a:rPr sz="2500" spc="90" dirty="0">
                <a:latin typeface="Times New Roman"/>
                <a:cs typeface="Times New Roman"/>
              </a:rPr>
              <a:t> </a:t>
            </a:r>
            <a:r>
              <a:rPr sz="2500" spc="-10" dirty="0">
                <a:latin typeface="Times New Roman"/>
                <a:cs typeface="Times New Roman"/>
              </a:rPr>
              <a:t>manner.</a:t>
            </a:r>
            <a:endParaRPr sz="2500">
              <a:latin typeface="Times New Roman"/>
              <a:cs typeface="Times New Roman"/>
            </a:endParaRPr>
          </a:p>
          <a:p>
            <a:pPr marL="332740" marR="6350" indent="-320040" algn="just">
              <a:lnSpc>
                <a:spcPts val="2400"/>
              </a:lnSpc>
              <a:spcBef>
                <a:spcPts val="695"/>
              </a:spcBef>
              <a:buClr>
                <a:srgbClr val="DD8046"/>
              </a:buClr>
              <a:buSzPct val="60000"/>
              <a:buFont typeface="DejaVu Sans"/>
              <a:buChar char="◻"/>
              <a:tabLst>
                <a:tab pos="332740" algn="l"/>
              </a:tabLst>
            </a:pPr>
            <a:r>
              <a:rPr sz="2500" dirty="0">
                <a:latin typeface="Times New Roman"/>
                <a:cs typeface="Times New Roman"/>
              </a:rPr>
              <a:t>System-generated </a:t>
            </a:r>
            <a:r>
              <a:rPr sz="2500" spc="-5" dirty="0">
                <a:latin typeface="Times New Roman"/>
                <a:cs typeface="Times New Roman"/>
              </a:rPr>
              <a:t>exceptions </a:t>
            </a:r>
            <a:r>
              <a:rPr sz="2500" dirty="0">
                <a:latin typeface="Times New Roman"/>
                <a:cs typeface="Times New Roman"/>
              </a:rPr>
              <a:t>are automatically </a:t>
            </a:r>
            <a:r>
              <a:rPr sz="2500" spc="-5" dirty="0">
                <a:latin typeface="Times New Roman"/>
                <a:cs typeface="Times New Roman"/>
              </a:rPr>
              <a:t>thrown </a:t>
            </a:r>
            <a:r>
              <a:rPr sz="2500" dirty="0">
                <a:latin typeface="Times New Roman"/>
                <a:cs typeface="Times New Roman"/>
              </a:rPr>
              <a:t>by the </a:t>
            </a:r>
            <a:r>
              <a:rPr sz="2500" dirty="0">
                <a:solidFill>
                  <a:srgbClr val="FF0000"/>
                </a:solidFill>
                <a:latin typeface="Times New Roman"/>
                <a:cs typeface="Times New Roman"/>
              </a:rPr>
              <a:t> </a:t>
            </a:r>
            <a:r>
              <a:rPr sz="2500" spc="-5" dirty="0">
                <a:solidFill>
                  <a:srgbClr val="FF0000"/>
                </a:solidFill>
                <a:latin typeface="Times New Roman"/>
                <a:cs typeface="Times New Roman"/>
              </a:rPr>
              <a:t>Java run-time</a:t>
            </a:r>
            <a:r>
              <a:rPr sz="2500" spc="65" dirty="0">
                <a:solidFill>
                  <a:srgbClr val="FF0000"/>
                </a:solidFill>
                <a:latin typeface="Times New Roman"/>
                <a:cs typeface="Times New Roman"/>
              </a:rPr>
              <a:t> </a:t>
            </a:r>
            <a:r>
              <a:rPr sz="2500" spc="-5" dirty="0">
                <a:solidFill>
                  <a:srgbClr val="FF0000"/>
                </a:solidFill>
                <a:latin typeface="Times New Roman"/>
                <a:cs typeface="Times New Roman"/>
              </a:rPr>
              <a:t>system</a:t>
            </a:r>
            <a:r>
              <a:rPr sz="2500" spc="-5" dirty="0">
                <a:latin typeface="Times New Roman"/>
                <a:cs typeface="Times New Roman"/>
              </a:rPr>
              <a:t>.</a:t>
            </a:r>
            <a:endParaRPr sz="2500">
              <a:latin typeface="Times New Roman"/>
              <a:cs typeface="Times New Roman"/>
            </a:endParaRPr>
          </a:p>
          <a:p>
            <a:pPr marL="332740" marR="8255" indent="-320040" algn="just">
              <a:lnSpc>
                <a:spcPts val="2400"/>
              </a:lnSpc>
              <a:spcBef>
                <a:spcPts val="715"/>
              </a:spcBef>
              <a:buClr>
                <a:srgbClr val="DD8046"/>
              </a:buClr>
              <a:buSzPct val="60000"/>
              <a:buFont typeface="DejaVu Sans"/>
              <a:buChar char="◻"/>
              <a:tabLst>
                <a:tab pos="332740" algn="l"/>
              </a:tabLst>
            </a:pPr>
            <a:r>
              <a:rPr sz="2500" spc="-5" dirty="0">
                <a:latin typeface="Times New Roman"/>
                <a:cs typeface="Times New Roman"/>
              </a:rPr>
              <a:t>To </a:t>
            </a:r>
            <a:r>
              <a:rPr sz="2500" dirty="0">
                <a:solidFill>
                  <a:srgbClr val="FF0000"/>
                </a:solidFill>
                <a:latin typeface="Times New Roman"/>
                <a:cs typeface="Times New Roman"/>
              </a:rPr>
              <a:t>manually throw </a:t>
            </a:r>
            <a:r>
              <a:rPr sz="2500" spc="-5" dirty="0">
                <a:latin typeface="Times New Roman"/>
                <a:cs typeface="Times New Roman"/>
              </a:rPr>
              <a:t>an </a:t>
            </a:r>
            <a:r>
              <a:rPr sz="2500" dirty="0">
                <a:latin typeface="Times New Roman"/>
                <a:cs typeface="Times New Roman"/>
              </a:rPr>
              <a:t>exception, </a:t>
            </a:r>
            <a:r>
              <a:rPr sz="2500" spc="-5" dirty="0">
                <a:latin typeface="Times New Roman"/>
                <a:cs typeface="Times New Roman"/>
              </a:rPr>
              <a:t>use </a:t>
            </a:r>
            <a:r>
              <a:rPr sz="2500" dirty="0">
                <a:latin typeface="Times New Roman"/>
                <a:cs typeface="Times New Roman"/>
              </a:rPr>
              <a:t>the keyword </a:t>
            </a:r>
            <a:r>
              <a:rPr sz="2500" spc="-5" dirty="0">
                <a:solidFill>
                  <a:srgbClr val="FF0000"/>
                </a:solidFill>
                <a:latin typeface="Times New Roman"/>
                <a:cs typeface="Times New Roman"/>
              </a:rPr>
              <a:t>throw</a:t>
            </a:r>
            <a:r>
              <a:rPr sz="2500" spc="-5" dirty="0">
                <a:latin typeface="Times New Roman"/>
                <a:cs typeface="Times New Roman"/>
              </a:rPr>
              <a:t>. Any  exception </a:t>
            </a:r>
            <a:r>
              <a:rPr sz="2500" dirty="0">
                <a:latin typeface="Times New Roman"/>
                <a:cs typeface="Times New Roman"/>
              </a:rPr>
              <a:t>that </a:t>
            </a:r>
            <a:r>
              <a:rPr sz="2500" spc="-5" dirty="0">
                <a:latin typeface="Times New Roman"/>
                <a:cs typeface="Times New Roman"/>
              </a:rPr>
              <a:t>is thrown out </a:t>
            </a:r>
            <a:r>
              <a:rPr sz="2500" dirty="0">
                <a:latin typeface="Times New Roman"/>
                <a:cs typeface="Times New Roman"/>
              </a:rPr>
              <a:t>of </a:t>
            </a:r>
            <a:r>
              <a:rPr sz="2500" spc="-5" dirty="0">
                <a:latin typeface="Times New Roman"/>
                <a:cs typeface="Times New Roman"/>
              </a:rPr>
              <a:t>a method must </a:t>
            </a:r>
            <a:r>
              <a:rPr sz="2500" dirty="0">
                <a:latin typeface="Times New Roman"/>
                <a:cs typeface="Times New Roman"/>
              </a:rPr>
              <a:t>be specified </a:t>
            </a:r>
            <a:r>
              <a:rPr sz="2500" spc="-10" dirty="0">
                <a:latin typeface="Times New Roman"/>
                <a:cs typeface="Times New Roman"/>
              </a:rPr>
              <a:t>as  </a:t>
            </a:r>
            <a:r>
              <a:rPr sz="2500" spc="-5" dirty="0">
                <a:latin typeface="Times New Roman"/>
                <a:cs typeface="Times New Roman"/>
              </a:rPr>
              <a:t>such by a </a:t>
            </a:r>
            <a:r>
              <a:rPr sz="2500" spc="-5" dirty="0">
                <a:solidFill>
                  <a:srgbClr val="FF0000"/>
                </a:solidFill>
                <a:latin typeface="Times New Roman"/>
                <a:cs typeface="Times New Roman"/>
              </a:rPr>
              <a:t>throws</a:t>
            </a:r>
            <a:r>
              <a:rPr sz="2500" spc="45" dirty="0">
                <a:solidFill>
                  <a:srgbClr val="FF0000"/>
                </a:solidFill>
                <a:latin typeface="Times New Roman"/>
                <a:cs typeface="Times New Roman"/>
              </a:rPr>
              <a:t> </a:t>
            </a:r>
            <a:r>
              <a:rPr sz="2500" spc="-5" dirty="0">
                <a:solidFill>
                  <a:srgbClr val="FF0000"/>
                </a:solidFill>
                <a:latin typeface="Times New Roman"/>
                <a:cs typeface="Times New Roman"/>
              </a:rPr>
              <a:t>clause</a:t>
            </a:r>
            <a:r>
              <a:rPr sz="2500" spc="-5" dirty="0">
                <a:latin typeface="Times New Roman"/>
                <a:cs typeface="Times New Roman"/>
              </a:rPr>
              <a:t>.</a:t>
            </a:r>
            <a:endParaRPr sz="2500">
              <a:latin typeface="Times New Roman"/>
              <a:cs typeface="Times New Roman"/>
            </a:endParaRPr>
          </a:p>
          <a:p>
            <a:pPr marL="332740" marR="9525" indent="-320040" algn="just">
              <a:lnSpc>
                <a:spcPts val="2400"/>
              </a:lnSpc>
              <a:spcBef>
                <a:spcPts val="695"/>
              </a:spcBef>
              <a:buClr>
                <a:srgbClr val="DD8046"/>
              </a:buClr>
              <a:buSzPct val="60000"/>
              <a:buFont typeface="DejaVu Sans"/>
              <a:buChar char="◻"/>
              <a:tabLst>
                <a:tab pos="332740" algn="l"/>
              </a:tabLst>
            </a:pPr>
            <a:r>
              <a:rPr sz="2500" spc="-5" dirty="0">
                <a:latin typeface="Times New Roman"/>
                <a:cs typeface="Times New Roman"/>
              </a:rPr>
              <a:t>Any code </a:t>
            </a:r>
            <a:r>
              <a:rPr sz="2500" dirty="0">
                <a:latin typeface="Times New Roman"/>
                <a:cs typeface="Times New Roman"/>
              </a:rPr>
              <a:t>that absolutely </a:t>
            </a:r>
            <a:r>
              <a:rPr sz="2500" spc="-5" dirty="0">
                <a:latin typeface="Times New Roman"/>
                <a:cs typeface="Times New Roman"/>
              </a:rPr>
              <a:t>must be </a:t>
            </a:r>
            <a:r>
              <a:rPr sz="2500" dirty="0">
                <a:latin typeface="Times New Roman"/>
                <a:cs typeface="Times New Roman"/>
              </a:rPr>
              <a:t>executed after </a:t>
            </a:r>
            <a:r>
              <a:rPr sz="2500" spc="-5" dirty="0">
                <a:latin typeface="Times New Roman"/>
                <a:cs typeface="Times New Roman"/>
              </a:rPr>
              <a:t>a </a:t>
            </a:r>
            <a:r>
              <a:rPr sz="2500" dirty="0">
                <a:latin typeface="Times New Roman"/>
                <a:cs typeface="Times New Roman"/>
              </a:rPr>
              <a:t>try block  </a:t>
            </a:r>
            <a:r>
              <a:rPr sz="2500" spc="-5" dirty="0">
                <a:latin typeface="Times New Roman"/>
                <a:cs typeface="Times New Roman"/>
              </a:rPr>
              <a:t>completes is put in a </a:t>
            </a:r>
            <a:r>
              <a:rPr sz="2500" spc="-5" dirty="0">
                <a:solidFill>
                  <a:srgbClr val="FF0000"/>
                </a:solidFill>
                <a:latin typeface="Times New Roman"/>
                <a:cs typeface="Times New Roman"/>
              </a:rPr>
              <a:t>finally</a:t>
            </a:r>
            <a:r>
              <a:rPr sz="2500" spc="140" dirty="0">
                <a:solidFill>
                  <a:srgbClr val="FF0000"/>
                </a:solidFill>
                <a:latin typeface="Times New Roman"/>
                <a:cs typeface="Times New Roman"/>
              </a:rPr>
              <a:t> </a:t>
            </a:r>
            <a:r>
              <a:rPr sz="2500" spc="-5" dirty="0">
                <a:solidFill>
                  <a:srgbClr val="FF0000"/>
                </a:solidFill>
                <a:latin typeface="Times New Roman"/>
                <a:cs typeface="Times New Roman"/>
              </a:rPr>
              <a:t>block</a:t>
            </a:r>
            <a:r>
              <a:rPr sz="2500" spc="-5" dirty="0">
                <a:latin typeface="Times New Roman"/>
                <a:cs typeface="Times New Roman"/>
              </a:rPr>
              <a:t>.</a:t>
            </a:r>
            <a:endParaRPr sz="25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939" y="421894"/>
            <a:ext cx="8420100" cy="574040"/>
          </a:xfrm>
          <a:prstGeom prst="rect">
            <a:avLst/>
          </a:prstGeom>
        </p:spPr>
        <p:txBody>
          <a:bodyPr vert="horz" wrap="square" lIns="0" tIns="12700" rIns="0" bIns="0" rtlCol="0">
            <a:spAutoFit/>
          </a:bodyPr>
          <a:lstStyle/>
          <a:p>
            <a:pPr marL="12700">
              <a:lnSpc>
                <a:spcPct val="100000"/>
              </a:lnSpc>
              <a:spcBef>
                <a:spcPts val="100"/>
              </a:spcBef>
            </a:pPr>
            <a:r>
              <a:rPr sz="3600" b="0" spc="-5" dirty="0">
                <a:latin typeface="Times New Roman"/>
                <a:cs typeface="Times New Roman"/>
              </a:rPr>
              <a:t>General form of an exception-handling</a:t>
            </a:r>
            <a:r>
              <a:rPr sz="3600" b="0" spc="110" dirty="0">
                <a:latin typeface="Times New Roman"/>
                <a:cs typeface="Times New Roman"/>
              </a:rPr>
              <a:t> </a:t>
            </a:r>
            <a:r>
              <a:rPr sz="3600" b="0" spc="-5" dirty="0">
                <a:latin typeface="Times New Roman"/>
                <a:cs typeface="Times New Roman"/>
              </a:rPr>
              <a:t>block:</a:t>
            </a:r>
            <a:endParaRPr sz="3600">
              <a:latin typeface="Times New Roman"/>
              <a:cs typeface="Times New Roman"/>
            </a:endParaRPr>
          </a:p>
        </p:txBody>
      </p:sp>
      <p:sp>
        <p:nvSpPr>
          <p:cNvPr id="3" name="object 3"/>
          <p:cNvSpPr txBox="1"/>
          <p:nvPr/>
        </p:nvSpPr>
        <p:spPr>
          <a:xfrm>
            <a:off x="154939" y="1534678"/>
            <a:ext cx="7466965" cy="5026660"/>
          </a:xfrm>
          <a:prstGeom prst="rect">
            <a:avLst/>
          </a:prstGeom>
        </p:spPr>
        <p:txBody>
          <a:bodyPr vert="horz" wrap="square" lIns="0" tIns="34290" rIns="0" bIns="0" rtlCol="0">
            <a:spAutoFit/>
          </a:bodyPr>
          <a:lstStyle/>
          <a:p>
            <a:pPr marL="12700">
              <a:lnSpc>
                <a:spcPct val="100000"/>
              </a:lnSpc>
              <a:spcBef>
                <a:spcPts val="270"/>
              </a:spcBef>
            </a:pPr>
            <a:r>
              <a:rPr sz="2200" b="1" spc="-5" dirty="0">
                <a:solidFill>
                  <a:srgbClr val="FF0000"/>
                </a:solidFill>
                <a:latin typeface="Times New Roman"/>
                <a:cs typeface="Times New Roman"/>
              </a:rPr>
              <a:t>try </a:t>
            </a:r>
            <a:r>
              <a:rPr sz="2200" spc="-5" dirty="0">
                <a:solidFill>
                  <a:srgbClr val="FF0000"/>
                </a:solidFill>
                <a:latin typeface="Times New Roman"/>
                <a:cs typeface="Times New Roman"/>
              </a:rPr>
              <a:t>{</a:t>
            </a:r>
            <a:endParaRPr sz="2200">
              <a:latin typeface="Times New Roman"/>
              <a:cs typeface="Times New Roman"/>
            </a:endParaRPr>
          </a:p>
          <a:p>
            <a:pPr marL="927100">
              <a:lnSpc>
                <a:spcPct val="100000"/>
              </a:lnSpc>
              <a:spcBef>
                <a:spcPts val="175"/>
              </a:spcBef>
            </a:pPr>
            <a:r>
              <a:rPr sz="2200" spc="-5" dirty="0">
                <a:solidFill>
                  <a:srgbClr val="FF0000"/>
                </a:solidFill>
                <a:latin typeface="Times New Roman"/>
                <a:cs typeface="Times New Roman"/>
              </a:rPr>
              <a:t>// block of code to monitor for</a:t>
            </a:r>
            <a:r>
              <a:rPr sz="2200" spc="20" dirty="0">
                <a:solidFill>
                  <a:srgbClr val="FF0000"/>
                </a:solidFill>
                <a:latin typeface="Times New Roman"/>
                <a:cs typeface="Times New Roman"/>
              </a:rPr>
              <a:t> </a:t>
            </a:r>
            <a:r>
              <a:rPr sz="2200" spc="-5" dirty="0">
                <a:solidFill>
                  <a:srgbClr val="FF0000"/>
                </a:solidFill>
                <a:latin typeface="Times New Roman"/>
                <a:cs typeface="Times New Roman"/>
              </a:rPr>
              <a:t>errors</a:t>
            </a:r>
            <a:endParaRPr sz="2200">
              <a:latin typeface="Times New Roman"/>
              <a:cs typeface="Times New Roman"/>
            </a:endParaRPr>
          </a:p>
          <a:p>
            <a:pPr marL="12700">
              <a:lnSpc>
                <a:spcPct val="100000"/>
              </a:lnSpc>
              <a:spcBef>
                <a:spcPts val="180"/>
              </a:spcBef>
            </a:pPr>
            <a:r>
              <a:rPr sz="2200" spc="-5" dirty="0">
                <a:solidFill>
                  <a:srgbClr val="FF0000"/>
                </a:solidFill>
                <a:latin typeface="Times New Roman"/>
                <a:cs typeface="Times New Roman"/>
              </a:rPr>
              <a:t>}</a:t>
            </a:r>
            <a:endParaRPr sz="2200">
              <a:latin typeface="Times New Roman"/>
              <a:cs typeface="Times New Roman"/>
            </a:endParaRPr>
          </a:p>
          <a:p>
            <a:pPr marL="12700">
              <a:lnSpc>
                <a:spcPct val="100000"/>
              </a:lnSpc>
              <a:spcBef>
                <a:spcPts val="165"/>
              </a:spcBef>
            </a:pPr>
            <a:r>
              <a:rPr sz="2200" b="1" spc="-5" dirty="0">
                <a:latin typeface="Times New Roman"/>
                <a:cs typeface="Times New Roman"/>
              </a:rPr>
              <a:t>catch </a:t>
            </a:r>
            <a:r>
              <a:rPr sz="2200" dirty="0">
                <a:latin typeface="Times New Roman"/>
                <a:cs typeface="Times New Roman"/>
              </a:rPr>
              <a:t>(ExceptionType1 </a:t>
            </a:r>
            <a:r>
              <a:rPr sz="2200" spc="-5" dirty="0">
                <a:latin typeface="Times New Roman"/>
                <a:cs typeface="Times New Roman"/>
              </a:rPr>
              <a:t>exOb) {</a:t>
            </a:r>
            <a:endParaRPr sz="2200">
              <a:latin typeface="Times New Roman"/>
              <a:cs typeface="Times New Roman"/>
            </a:endParaRPr>
          </a:p>
          <a:p>
            <a:pPr marL="927100">
              <a:lnSpc>
                <a:spcPct val="100000"/>
              </a:lnSpc>
              <a:spcBef>
                <a:spcPts val="170"/>
              </a:spcBef>
            </a:pPr>
            <a:r>
              <a:rPr sz="2200" spc="-5" dirty="0">
                <a:latin typeface="Times New Roman"/>
                <a:cs typeface="Times New Roman"/>
              </a:rPr>
              <a:t>// exception handler </a:t>
            </a:r>
            <a:r>
              <a:rPr sz="2200" dirty="0">
                <a:latin typeface="Times New Roman"/>
                <a:cs typeface="Times New Roman"/>
              </a:rPr>
              <a:t>for</a:t>
            </a:r>
            <a:r>
              <a:rPr sz="2200" spc="10" dirty="0">
                <a:latin typeface="Times New Roman"/>
                <a:cs typeface="Times New Roman"/>
              </a:rPr>
              <a:t> </a:t>
            </a:r>
            <a:r>
              <a:rPr sz="2200" dirty="0">
                <a:latin typeface="Times New Roman"/>
                <a:cs typeface="Times New Roman"/>
              </a:rPr>
              <a:t>ExceptionType1</a:t>
            </a:r>
            <a:endParaRPr sz="2200">
              <a:latin typeface="Times New Roman"/>
              <a:cs typeface="Times New Roman"/>
            </a:endParaRPr>
          </a:p>
          <a:p>
            <a:pPr marL="12700">
              <a:lnSpc>
                <a:spcPct val="100000"/>
              </a:lnSpc>
              <a:spcBef>
                <a:spcPts val="180"/>
              </a:spcBef>
            </a:pPr>
            <a:r>
              <a:rPr sz="2200" spc="-5" dirty="0">
                <a:latin typeface="Times New Roman"/>
                <a:cs typeface="Times New Roman"/>
              </a:rPr>
              <a:t>}</a:t>
            </a:r>
            <a:endParaRPr sz="2200">
              <a:latin typeface="Times New Roman"/>
              <a:cs typeface="Times New Roman"/>
            </a:endParaRPr>
          </a:p>
          <a:p>
            <a:pPr marL="12700">
              <a:lnSpc>
                <a:spcPct val="100000"/>
              </a:lnSpc>
              <a:spcBef>
                <a:spcPts val="170"/>
              </a:spcBef>
            </a:pPr>
            <a:r>
              <a:rPr sz="2200" b="1" spc="-5" dirty="0">
                <a:latin typeface="Times New Roman"/>
                <a:cs typeface="Times New Roman"/>
              </a:rPr>
              <a:t>catch </a:t>
            </a:r>
            <a:r>
              <a:rPr sz="2200" dirty="0">
                <a:latin typeface="Times New Roman"/>
                <a:cs typeface="Times New Roman"/>
              </a:rPr>
              <a:t>(ExceptionType2 </a:t>
            </a:r>
            <a:r>
              <a:rPr sz="2200" spc="-5" dirty="0">
                <a:latin typeface="Times New Roman"/>
                <a:cs typeface="Times New Roman"/>
              </a:rPr>
              <a:t>exOb) {</a:t>
            </a:r>
            <a:endParaRPr sz="2200">
              <a:latin typeface="Times New Roman"/>
              <a:cs typeface="Times New Roman"/>
            </a:endParaRPr>
          </a:p>
          <a:p>
            <a:pPr marL="927100">
              <a:lnSpc>
                <a:spcPct val="100000"/>
              </a:lnSpc>
              <a:spcBef>
                <a:spcPts val="165"/>
              </a:spcBef>
            </a:pPr>
            <a:r>
              <a:rPr sz="2200" spc="-5" dirty="0">
                <a:latin typeface="Times New Roman"/>
                <a:cs typeface="Times New Roman"/>
              </a:rPr>
              <a:t>// exception handler </a:t>
            </a:r>
            <a:r>
              <a:rPr sz="2200" dirty="0">
                <a:latin typeface="Times New Roman"/>
                <a:cs typeface="Times New Roman"/>
              </a:rPr>
              <a:t>for</a:t>
            </a:r>
            <a:r>
              <a:rPr sz="2200" spc="5" dirty="0">
                <a:latin typeface="Times New Roman"/>
                <a:cs typeface="Times New Roman"/>
              </a:rPr>
              <a:t> </a:t>
            </a:r>
            <a:r>
              <a:rPr sz="2200" dirty="0">
                <a:latin typeface="Times New Roman"/>
                <a:cs typeface="Times New Roman"/>
              </a:rPr>
              <a:t>ExceptionType2</a:t>
            </a:r>
            <a:endParaRPr sz="2200">
              <a:latin typeface="Times New Roman"/>
              <a:cs typeface="Times New Roman"/>
            </a:endParaRPr>
          </a:p>
          <a:p>
            <a:pPr marL="12700">
              <a:lnSpc>
                <a:spcPct val="100000"/>
              </a:lnSpc>
              <a:spcBef>
                <a:spcPts val="180"/>
              </a:spcBef>
            </a:pPr>
            <a:r>
              <a:rPr sz="2200" spc="-5" dirty="0">
                <a:latin typeface="Times New Roman"/>
                <a:cs typeface="Times New Roman"/>
              </a:rPr>
              <a:t>}</a:t>
            </a:r>
            <a:endParaRPr sz="2200">
              <a:latin typeface="Times New Roman"/>
              <a:cs typeface="Times New Roman"/>
            </a:endParaRPr>
          </a:p>
          <a:p>
            <a:pPr marL="12700">
              <a:lnSpc>
                <a:spcPct val="100000"/>
              </a:lnSpc>
              <a:spcBef>
                <a:spcPts val="175"/>
              </a:spcBef>
            </a:pPr>
            <a:r>
              <a:rPr sz="2200" spc="-5" dirty="0">
                <a:latin typeface="Times New Roman"/>
                <a:cs typeface="Times New Roman"/>
              </a:rPr>
              <a:t>//</a:t>
            </a:r>
            <a:r>
              <a:rPr sz="2200" spc="-10" dirty="0">
                <a:latin typeface="Times New Roman"/>
                <a:cs typeface="Times New Roman"/>
              </a:rPr>
              <a:t> </a:t>
            </a:r>
            <a:r>
              <a:rPr sz="2200" dirty="0">
                <a:latin typeface="Times New Roman"/>
                <a:cs typeface="Times New Roman"/>
              </a:rPr>
              <a:t>...</a:t>
            </a:r>
            <a:endParaRPr sz="2200">
              <a:latin typeface="Times New Roman"/>
              <a:cs typeface="Times New Roman"/>
            </a:endParaRPr>
          </a:p>
          <a:p>
            <a:pPr marL="12700">
              <a:lnSpc>
                <a:spcPct val="100000"/>
              </a:lnSpc>
              <a:spcBef>
                <a:spcPts val="165"/>
              </a:spcBef>
            </a:pPr>
            <a:r>
              <a:rPr sz="2200" b="1" spc="-5" dirty="0">
                <a:solidFill>
                  <a:srgbClr val="001F5F"/>
                </a:solidFill>
                <a:latin typeface="Times New Roman"/>
                <a:cs typeface="Times New Roman"/>
              </a:rPr>
              <a:t>finally</a:t>
            </a:r>
            <a:r>
              <a:rPr sz="2200" b="1" spc="10" dirty="0">
                <a:solidFill>
                  <a:srgbClr val="001F5F"/>
                </a:solidFill>
                <a:latin typeface="Times New Roman"/>
                <a:cs typeface="Times New Roman"/>
              </a:rPr>
              <a:t> </a:t>
            </a:r>
            <a:r>
              <a:rPr sz="2200" spc="-5" dirty="0">
                <a:solidFill>
                  <a:srgbClr val="001F5F"/>
                </a:solidFill>
                <a:latin typeface="Times New Roman"/>
                <a:cs typeface="Times New Roman"/>
              </a:rPr>
              <a:t>{</a:t>
            </a:r>
            <a:endParaRPr sz="2200">
              <a:latin typeface="Times New Roman"/>
              <a:cs typeface="Times New Roman"/>
            </a:endParaRPr>
          </a:p>
          <a:p>
            <a:pPr marL="927100">
              <a:lnSpc>
                <a:spcPct val="100000"/>
              </a:lnSpc>
              <a:spcBef>
                <a:spcPts val="180"/>
              </a:spcBef>
            </a:pPr>
            <a:r>
              <a:rPr sz="2200" spc="-5" dirty="0">
                <a:solidFill>
                  <a:srgbClr val="001F5F"/>
                </a:solidFill>
                <a:latin typeface="Times New Roman"/>
                <a:cs typeface="Times New Roman"/>
              </a:rPr>
              <a:t>// block of code to be executed after try block</a:t>
            </a:r>
            <a:r>
              <a:rPr sz="2200" spc="40" dirty="0">
                <a:solidFill>
                  <a:srgbClr val="001F5F"/>
                </a:solidFill>
                <a:latin typeface="Times New Roman"/>
                <a:cs typeface="Times New Roman"/>
              </a:rPr>
              <a:t> </a:t>
            </a:r>
            <a:r>
              <a:rPr sz="2200" spc="-5" dirty="0">
                <a:solidFill>
                  <a:srgbClr val="001F5F"/>
                </a:solidFill>
                <a:latin typeface="Times New Roman"/>
                <a:cs typeface="Times New Roman"/>
              </a:rPr>
              <a:t>ends</a:t>
            </a:r>
            <a:endParaRPr sz="2200">
              <a:latin typeface="Times New Roman"/>
              <a:cs typeface="Times New Roman"/>
            </a:endParaRPr>
          </a:p>
          <a:p>
            <a:pPr marL="12700">
              <a:lnSpc>
                <a:spcPct val="100000"/>
              </a:lnSpc>
              <a:spcBef>
                <a:spcPts val="170"/>
              </a:spcBef>
            </a:pPr>
            <a:r>
              <a:rPr sz="2200" spc="-5" dirty="0">
                <a:solidFill>
                  <a:srgbClr val="001F5F"/>
                </a:solidFill>
                <a:latin typeface="Times New Roman"/>
                <a:cs typeface="Times New Roman"/>
              </a:rPr>
              <a:t>}</a:t>
            </a:r>
            <a:endParaRPr sz="2200">
              <a:latin typeface="Times New Roman"/>
              <a:cs typeface="Times New Roman"/>
            </a:endParaRPr>
          </a:p>
          <a:p>
            <a:pPr marL="12700">
              <a:lnSpc>
                <a:spcPct val="100000"/>
              </a:lnSpc>
              <a:spcBef>
                <a:spcPts val="170"/>
              </a:spcBef>
            </a:pPr>
            <a:r>
              <a:rPr sz="2200" spc="-5" dirty="0">
                <a:latin typeface="Times New Roman"/>
                <a:cs typeface="Times New Roman"/>
              </a:rPr>
              <a:t>Here, </a:t>
            </a:r>
            <a:r>
              <a:rPr sz="2200" b="1" spc="-5" dirty="0">
                <a:latin typeface="Times New Roman"/>
                <a:cs typeface="Times New Roman"/>
              </a:rPr>
              <a:t>ExceptionType </a:t>
            </a:r>
            <a:r>
              <a:rPr sz="2200" spc="-5" dirty="0">
                <a:latin typeface="Times New Roman"/>
                <a:cs typeface="Times New Roman"/>
              </a:rPr>
              <a:t>is </a:t>
            </a:r>
            <a:r>
              <a:rPr sz="2200" dirty="0">
                <a:latin typeface="Times New Roman"/>
                <a:cs typeface="Times New Roman"/>
              </a:rPr>
              <a:t>the type </a:t>
            </a:r>
            <a:r>
              <a:rPr sz="2200" spc="-5" dirty="0">
                <a:latin typeface="Times New Roman"/>
                <a:cs typeface="Times New Roman"/>
              </a:rPr>
              <a:t>of </a:t>
            </a:r>
            <a:r>
              <a:rPr sz="2200" b="1" spc="-5" dirty="0">
                <a:latin typeface="Times New Roman"/>
                <a:cs typeface="Times New Roman"/>
              </a:rPr>
              <a:t>exception that has</a:t>
            </a:r>
            <a:r>
              <a:rPr sz="2200" b="1" spc="95" dirty="0">
                <a:latin typeface="Times New Roman"/>
                <a:cs typeface="Times New Roman"/>
              </a:rPr>
              <a:t> </a:t>
            </a:r>
            <a:r>
              <a:rPr sz="2200" b="1" spc="-5" dirty="0">
                <a:latin typeface="Times New Roman"/>
                <a:cs typeface="Times New Roman"/>
              </a:rPr>
              <a:t>occurred</a:t>
            </a:r>
            <a:r>
              <a:rPr sz="2200" spc="-5" dirty="0">
                <a:latin typeface="Times New Roman"/>
                <a:cs typeface="Times New Roman"/>
              </a:rPr>
              <a:t>.</a:t>
            </a:r>
            <a:endParaRPr sz="22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364312"/>
            <a:ext cx="635635" cy="757555"/>
          </a:xfrm>
          <a:prstGeom prst="rect">
            <a:avLst/>
          </a:prstGeom>
        </p:spPr>
        <p:txBody>
          <a:bodyPr vert="horz" wrap="square" lIns="0" tIns="12700" rIns="0" bIns="0" rtlCol="0">
            <a:spAutoFit/>
          </a:bodyPr>
          <a:lstStyle/>
          <a:p>
            <a:pPr marL="12700">
              <a:lnSpc>
                <a:spcPct val="100000"/>
              </a:lnSpc>
              <a:spcBef>
                <a:spcPts val="100"/>
              </a:spcBef>
            </a:pPr>
            <a:r>
              <a:rPr sz="4800" dirty="0"/>
              <a:t>…</a:t>
            </a:r>
            <a:endParaRPr sz="4800"/>
          </a:p>
        </p:txBody>
      </p:sp>
      <p:sp>
        <p:nvSpPr>
          <p:cNvPr id="3" name="object 3"/>
          <p:cNvSpPr txBox="1"/>
          <p:nvPr/>
        </p:nvSpPr>
        <p:spPr>
          <a:xfrm>
            <a:off x="535940" y="1514923"/>
            <a:ext cx="6576059" cy="2166620"/>
          </a:xfrm>
          <a:prstGeom prst="rect">
            <a:avLst/>
          </a:prstGeom>
        </p:spPr>
        <p:txBody>
          <a:bodyPr vert="horz" wrap="square" lIns="0" tIns="118110" rIns="0" bIns="0" rtlCol="0">
            <a:spAutoFit/>
          </a:bodyPr>
          <a:lstStyle/>
          <a:p>
            <a:pPr marL="12700">
              <a:lnSpc>
                <a:spcPct val="100000"/>
              </a:lnSpc>
              <a:spcBef>
                <a:spcPts val="930"/>
              </a:spcBef>
            </a:pPr>
            <a:r>
              <a:rPr sz="3200" b="1" dirty="0">
                <a:latin typeface="Times New Roman"/>
                <a:cs typeface="Times New Roman"/>
              </a:rPr>
              <a:t>Note:</a:t>
            </a:r>
            <a:endParaRPr sz="3200">
              <a:latin typeface="Times New Roman"/>
              <a:cs typeface="Times New Roman"/>
            </a:endParaRPr>
          </a:p>
          <a:p>
            <a:pPr marL="527685" indent="-515620">
              <a:lnSpc>
                <a:spcPct val="100000"/>
              </a:lnSpc>
              <a:spcBef>
                <a:spcPts val="715"/>
              </a:spcBef>
              <a:buClr>
                <a:srgbClr val="DD8046"/>
              </a:buClr>
              <a:buSzPct val="60714"/>
              <a:buAutoNum type="arabicPeriod"/>
              <a:tabLst>
                <a:tab pos="527685" algn="l"/>
                <a:tab pos="528320" algn="l"/>
              </a:tabLst>
            </a:pPr>
            <a:r>
              <a:rPr sz="2800" spc="-5" dirty="0">
                <a:latin typeface="Times New Roman"/>
                <a:cs typeface="Times New Roman"/>
              </a:rPr>
              <a:t>try </a:t>
            </a:r>
            <a:r>
              <a:rPr sz="2800" spc="-10" dirty="0">
                <a:latin typeface="Times New Roman"/>
                <a:cs typeface="Times New Roman"/>
              </a:rPr>
              <a:t>must </a:t>
            </a:r>
            <a:r>
              <a:rPr sz="2800" spc="-5" dirty="0">
                <a:latin typeface="Times New Roman"/>
                <a:cs typeface="Times New Roman"/>
              </a:rPr>
              <a:t>be followed by</a:t>
            </a:r>
            <a:r>
              <a:rPr sz="2800" spc="10" dirty="0">
                <a:latin typeface="Times New Roman"/>
                <a:cs typeface="Times New Roman"/>
              </a:rPr>
              <a:t> </a:t>
            </a:r>
            <a:r>
              <a:rPr sz="2800" spc="-5" dirty="0">
                <a:latin typeface="Times New Roman"/>
                <a:cs typeface="Times New Roman"/>
              </a:rPr>
              <a:t>catch</a:t>
            </a:r>
            <a:endParaRPr sz="2800">
              <a:latin typeface="Times New Roman"/>
              <a:cs typeface="Times New Roman"/>
            </a:endParaRPr>
          </a:p>
          <a:p>
            <a:pPr marL="527685" indent="-515620">
              <a:lnSpc>
                <a:spcPct val="100000"/>
              </a:lnSpc>
              <a:spcBef>
                <a:spcPts val="695"/>
              </a:spcBef>
              <a:buClr>
                <a:srgbClr val="DD8046"/>
              </a:buClr>
              <a:buSzPct val="60714"/>
              <a:buAutoNum type="arabicPeriod"/>
              <a:tabLst>
                <a:tab pos="527685" algn="l"/>
                <a:tab pos="528320" algn="l"/>
              </a:tabLst>
            </a:pPr>
            <a:r>
              <a:rPr sz="2800" spc="-5" dirty="0">
                <a:latin typeface="Times New Roman"/>
                <a:cs typeface="Times New Roman"/>
              </a:rPr>
              <a:t>try &amp; </a:t>
            </a:r>
            <a:r>
              <a:rPr sz="2800" spc="-10" dirty="0">
                <a:latin typeface="Times New Roman"/>
                <a:cs typeface="Times New Roman"/>
              </a:rPr>
              <a:t>catch must </a:t>
            </a:r>
            <a:r>
              <a:rPr sz="2800" spc="-5" dirty="0">
                <a:latin typeface="Times New Roman"/>
                <a:cs typeface="Times New Roman"/>
              </a:rPr>
              <a:t>be perfect</a:t>
            </a:r>
            <a:r>
              <a:rPr sz="2800" spc="30" dirty="0">
                <a:latin typeface="Times New Roman"/>
                <a:cs typeface="Times New Roman"/>
              </a:rPr>
              <a:t> </a:t>
            </a:r>
            <a:r>
              <a:rPr sz="2800" spc="-5" dirty="0">
                <a:latin typeface="Times New Roman"/>
                <a:cs typeface="Times New Roman"/>
              </a:rPr>
              <a:t>pairs.</a:t>
            </a:r>
            <a:endParaRPr sz="2800">
              <a:latin typeface="Times New Roman"/>
              <a:cs typeface="Times New Roman"/>
            </a:endParaRPr>
          </a:p>
          <a:p>
            <a:pPr marL="527685" indent="-515620">
              <a:lnSpc>
                <a:spcPct val="100000"/>
              </a:lnSpc>
              <a:spcBef>
                <a:spcPts val="695"/>
              </a:spcBef>
              <a:buClr>
                <a:srgbClr val="DD8046"/>
              </a:buClr>
              <a:buSzPct val="60714"/>
              <a:buAutoNum type="arabicPeriod"/>
              <a:tabLst>
                <a:tab pos="527685" algn="l"/>
                <a:tab pos="528320" algn="l"/>
              </a:tabLst>
            </a:pPr>
            <a:r>
              <a:rPr sz="2800" spc="-5" dirty="0">
                <a:latin typeface="Times New Roman"/>
                <a:cs typeface="Times New Roman"/>
              </a:rPr>
              <a:t>A </a:t>
            </a:r>
            <a:r>
              <a:rPr sz="2800" dirty="0">
                <a:latin typeface="Times New Roman"/>
                <a:cs typeface="Times New Roman"/>
              </a:rPr>
              <a:t>try </a:t>
            </a:r>
            <a:r>
              <a:rPr sz="2800" spc="-10" dirty="0">
                <a:latin typeface="Times New Roman"/>
                <a:cs typeface="Times New Roman"/>
              </a:rPr>
              <a:t>can </a:t>
            </a:r>
            <a:r>
              <a:rPr sz="2800" spc="-5" dirty="0">
                <a:latin typeface="Times New Roman"/>
                <a:cs typeface="Times New Roman"/>
              </a:rPr>
              <a:t>be followed by multiple</a:t>
            </a:r>
            <a:r>
              <a:rPr sz="2800" spc="-10" dirty="0">
                <a:latin typeface="Times New Roman"/>
                <a:cs typeface="Times New Roman"/>
              </a:rPr>
              <a:t> </a:t>
            </a:r>
            <a:r>
              <a:rPr sz="2800" spc="-5" dirty="0">
                <a:latin typeface="Times New Roman"/>
                <a:cs typeface="Times New Roman"/>
              </a:rPr>
              <a:t>catches.</a:t>
            </a:r>
            <a:endParaRPr sz="280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59740"/>
            <a:ext cx="4343400" cy="757555"/>
          </a:xfrm>
          <a:prstGeom prst="rect">
            <a:avLst/>
          </a:prstGeom>
        </p:spPr>
        <p:txBody>
          <a:bodyPr vert="horz" wrap="square" lIns="0" tIns="12700" rIns="0" bIns="0" rtlCol="0">
            <a:spAutoFit/>
          </a:bodyPr>
          <a:lstStyle/>
          <a:p>
            <a:pPr marL="12700">
              <a:lnSpc>
                <a:spcPct val="100000"/>
              </a:lnSpc>
              <a:spcBef>
                <a:spcPts val="100"/>
              </a:spcBef>
            </a:pPr>
            <a:r>
              <a:rPr sz="4800" dirty="0"/>
              <a:t>Exception</a:t>
            </a:r>
            <a:r>
              <a:rPr sz="4800" spc="-80" dirty="0"/>
              <a:t> </a:t>
            </a:r>
            <a:r>
              <a:rPr sz="4800" spc="-5" dirty="0"/>
              <a:t>Types</a:t>
            </a:r>
            <a:endParaRPr sz="4800"/>
          </a:p>
        </p:txBody>
      </p:sp>
      <p:sp>
        <p:nvSpPr>
          <p:cNvPr id="3" name="object 3"/>
          <p:cNvSpPr/>
          <p:nvPr/>
        </p:nvSpPr>
        <p:spPr>
          <a:xfrm>
            <a:off x="1395161" y="1853452"/>
            <a:ext cx="6169553" cy="437029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59740"/>
            <a:ext cx="635635" cy="757555"/>
          </a:xfrm>
          <a:prstGeom prst="rect">
            <a:avLst/>
          </a:prstGeom>
        </p:spPr>
        <p:txBody>
          <a:bodyPr vert="horz" wrap="square" lIns="0" tIns="12700" rIns="0" bIns="0" rtlCol="0">
            <a:spAutoFit/>
          </a:bodyPr>
          <a:lstStyle/>
          <a:p>
            <a:pPr marL="12700">
              <a:lnSpc>
                <a:spcPct val="100000"/>
              </a:lnSpc>
              <a:spcBef>
                <a:spcPts val="100"/>
              </a:spcBef>
            </a:pPr>
            <a:r>
              <a:rPr sz="4800" dirty="0"/>
              <a:t>…</a:t>
            </a:r>
            <a:endParaRPr sz="4800"/>
          </a:p>
        </p:txBody>
      </p:sp>
      <p:sp>
        <p:nvSpPr>
          <p:cNvPr id="3" name="object 3"/>
          <p:cNvSpPr txBox="1"/>
          <p:nvPr/>
        </p:nvSpPr>
        <p:spPr>
          <a:xfrm>
            <a:off x="228600" y="1371600"/>
            <a:ext cx="8735291" cy="4548040"/>
          </a:xfrm>
          <a:prstGeom prst="rect">
            <a:avLst/>
          </a:prstGeom>
        </p:spPr>
        <p:txBody>
          <a:bodyPr vert="horz" wrap="square" lIns="0" tIns="13335" rIns="0" bIns="0" rtlCol="0">
            <a:spAutoFit/>
          </a:bodyPr>
          <a:lstStyle/>
          <a:p>
            <a:pPr marL="332740" marR="5080" indent="-320040" algn="just">
              <a:lnSpc>
                <a:spcPct val="100000"/>
              </a:lnSpc>
              <a:spcBef>
                <a:spcPts val="105"/>
              </a:spcBef>
              <a:buClr>
                <a:srgbClr val="DD8046"/>
              </a:buClr>
              <a:buSzPct val="59375"/>
              <a:buFont typeface="DejaVu Sans"/>
              <a:buChar char="◻"/>
              <a:tabLst>
                <a:tab pos="332740" algn="l"/>
              </a:tabLst>
            </a:pPr>
            <a:r>
              <a:rPr sz="3200" dirty="0">
                <a:latin typeface="Times New Roman"/>
                <a:cs typeface="Times New Roman"/>
              </a:rPr>
              <a:t>All exception </a:t>
            </a:r>
            <a:r>
              <a:rPr sz="3200" spc="-5" dirty="0">
                <a:latin typeface="Times New Roman"/>
                <a:cs typeface="Times New Roman"/>
              </a:rPr>
              <a:t>types </a:t>
            </a:r>
            <a:r>
              <a:rPr sz="3200" dirty="0">
                <a:latin typeface="Times New Roman"/>
                <a:cs typeface="Times New Roman"/>
              </a:rPr>
              <a:t>are subclasses of the built-  in class</a:t>
            </a:r>
            <a:r>
              <a:rPr sz="3200" spc="-15" dirty="0">
                <a:latin typeface="Times New Roman"/>
                <a:cs typeface="Times New Roman"/>
              </a:rPr>
              <a:t> </a:t>
            </a:r>
            <a:r>
              <a:rPr sz="2800" b="1" spc="-5" dirty="0" err="1">
                <a:solidFill>
                  <a:srgbClr val="FF0000"/>
                </a:solidFill>
                <a:latin typeface="Times New Roman"/>
                <a:cs typeface="Times New Roman"/>
              </a:rPr>
              <a:t>Throwable</a:t>
            </a:r>
            <a:r>
              <a:rPr sz="3200" spc="-5" dirty="0" smtClean="0">
                <a:latin typeface="Times New Roman"/>
                <a:cs typeface="Times New Roman"/>
              </a:rPr>
              <a:t>.</a:t>
            </a:r>
            <a:endParaRPr lang="en-US" sz="3200" spc="-5" dirty="0" smtClean="0">
              <a:latin typeface="Times New Roman"/>
              <a:cs typeface="Times New Roman"/>
            </a:endParaRPr>
          </a:p>
          <a:p>
            <a:pPr marL="332740" marR="5080" indent="-320040" algn="just">
              <a:lnSpc>
                <a:spcPct val="100000"/>
              </a:lnSpc>
              <a:spcBef>
                <a:spcPts val="105"/>
              </a:spcBef>
              <a:buClr>
                <a:srgbClr val="DD8046"/>
              </a:buClr>
              <a:buSzPct val="59375"/>
              <a:buFont typeface="DejaVu Sans"/>
              <a:buChar char="◻"/>
              <a:tabLst>
                <a:tab pos="332740" algn="l"/>
              </a:tabLst>
            </a:pPr>
            <a:r>
              <a:rPr lang="en-US" sz="3200" spc="-5" dirty="0" err="1" smtClean="0">
                <a:latin typeface="Times New Roman"/>
                <a:cs typeface="Times New Roman"/>
              </a:rPr>
              <a:t>Throwable</a:t>
            </a:r>
            <a:r>
              <a:rPr lang="en-US" sz="3200" spc="-5" dirty="0" smtClean="0">
                <a:latin typeface="Times New Roman"/>
                <a:cs typeface="Times New Roman"/>
              </a:rPr>
              <a:t> is at the top of the exception class hierarchy.</a:t>
            </a:r>
            <a:endParaRPr sz="3200" dirty="0">
              <a:latin typeface="Times New Roman"/>
              <a:cs typeface="Times New Roman"/>
            </a:endParaRPr>
          </a:p>
          <a:p>
            <a:pPr marL="332740" marR="6350" indent="-320040" algn="just">
              <a:lnSpc>
                <a:spcPct val="100000"/>
              </a:lnSpc>
              <a:spcBef>
                <a:spcPts val="695"/>
              </a:spcBef>
              <a:buClr>
                <a:srgbClr val="DD8046"/>
              </a:buClr>
              <a:buSzPct val="59375"/>
              <a:buFont typeface="DejaVu Sans"/>
              <a:buChar char="◻"/>
              <a:tabLst>
                <a:tab pos="332740" algn="l"/>
              </a:tabLst>
            </a:pPr>
            <a:r>
              <a:rPr sz="3200" dirty="0">
                <a:solidFill>
                  <a:srgbClr val="FF0000"/>
                </a:solidFill>
                <a:latin typeface="Times New Roman"/>
                <a:cs typeface="Times New Roman"/>
              </a:rPr>
              <a:t>Exception </a:t>
            </a:r>
            <a:r>
              <a:rPr sz="3200" spc="-5" dirty="0">
                <a:latin typeface="Times New Roman"/>
                <a:cs typeface="Times New Roman"/>
              </a:rPr>
              <a:t>is </a:t>
            </a:r>
            <a:r>
              <a:rPr sz="3200" dirty="0">
                <a:latin typeface="Times New Roman"/>
                <a:cs typeface="Times New Roman"/>
              </a:rPr>
              <a:t>a subclass of </a:t>
            </a:r>
            <a:r>
              <a:rPr sz="3200" spc="-5" dirty="0">
                <a:latin typeface="Times New Roman"/>
                <a:cs typeface="Times New Roman"/>
              </a:rPr>
              <a:t>Throwable.  </a:t>
            </a:r>
            <a:r>
              <a:rPr sz="3200" dirty="0">
                <a:latin typeface="Times New Roman"/>
                <a:cs typeface="Times New Roman"/>
              </a:rPr>
              <a:t>Exception class </a:t>
            </a:r>
            <a:r>
              <a:rPr sz="3200" spc="-5" dirty="0">
                <a:latin typeface="Times New Roman"/>
                <a:cs typeface="Times New Roman"/>
              </a:rPr>
              <a:t>is </a:t>
            </a:r>
            <a:r>
              <a:rPr sz="3200" dirty="0">
                <a:latin typeface="Times New Roman"/>
                <a:cs typeface="Times New Roman"/>
              </a:rPr>
              <a:t>used for catching exceptional  conditions arise </a:t>
            </a:r>
            <a:r>
              <a:rPr sz="3200" spc="-5" dirty="0">
                <a:latin typeface="Times New Roman"/>
                <a:cs typeface="Times New Roman"/>
              </a:rPr>
              <a:t>in </a:t>
            </a:r>
            <a:r>
              <a:rPr sz="3200" dirty="0">
                <a:latin typeface="Times New Roman"/>
                <a:cs typeface="Times New Roman"/>
              </a:rPr>
              <a:t>the user </a:t>
            </a:r>
            <a:r>
              <a:rPr sz="3200" spc="-5" dirty="0">
                <a:latin typeface="Times New Roman"/>
                <a:cs typeface="Times New Roman"/>
              </a:rPr>
              <a:t>programs. This </a:t>
            </a:r>
            <a:r>
              <a:rPr sz="3200" dirty="0">
                <a:latin typeface="Times New Roman"/>
                <a:cs typeface="Times New Roman"/>
              </a:rPr>
              <a:t>is  also </a:t>
            </a:r>
            <a:r>
              <a:rPr sz="3200" spc="-5" dirty="0">
                <a:latin typeface="Times New Roman"/>
                <a:cs typeface="Times New Roman"/>
              </a:rPr>
              <a:t>the </a:t>
            </a:r>
            <a:r>
              <a:rPr sz="3200" dirty="0">
                <a:latin typeface="Times New Roman"/>
                <a:cs typeface="Times New Roman"/>
              </a:rPr>
              <a:t>class </a:t>
            </a:r>
            <a:r>
              <a:rPr sz="3200" spc="-5" dirty="0">
                <a:latin typeface="Times New Roman"/>
                <a:cs typeface="Times New Roman"/>
              </a:rPr>
              <a:t>that </a:t>
            </a:r>
            <a:r>
              <a:rPr sz="3200" dirty="0">
                <a:latin typeface="Times New Roman"/>
                <a:cs typeface="Times New Roman"/>
              </a:rPr>
              <a:t>you </a:t>
            </a:r>
            <a:r>
              <a:rPr sz="3200" spc="-5" dirty="0">
                <a:latin typeface="Times New Roman"/>
                <a:cs typeface="Times New Roman"/>
              </a:rPr>
              <a:t>will </a:t>
            </a:r>
            <a:r>
              <a:rPr sz="3200" dirty="0">
                <a:latin typeface="Times New Roman"/>
                <a:cs typeface="Times New Roman"/>
              </a:rPr>
              <a:t>subclass to </a:t>
            </a:r>
            <a:r>
              <a:rPr sz="3200" spc="-5" dirty="0">
                <a:latin typeface="Times New Roman"/>
                <a:cs typeface="Times New Roman"/>
              </a:rPr>
              <a:t>create  </a:t>
            </a:r>
            <a:r>
              <a:rPr sz="3200" spc="5" dirty="0">
                <a:latin typeface="Times New Roman"/>
                <a:cs typeface="Times New Roman"/>
              </a:rPr>
              <a:t>your </a:t>
            </a:r>
            <a:r>
              <a:rPr sz="3200" dirty="0">
                <a:latin typeface="Times New Roman"/>
                <a:cs typeface="Times New Roman"/>
              </a:rPr>
              <a:t>own </a:t>
            </a:r>
            <a:r>
              <a:rPr sz="3200" dirty="0">
                <a:solidFill>
                  <a:srgbClr val="FF0000"/>
                </a:solidFill>
                <a:latin typeface="Times New Roman"/>
                <a:cs typeface="Times New Roman"/>
              </a:rPr>
              <a:t>custom exception</a:t>
            </a:r>
            <a:r>
              <a:rPr sz="3200" spc="-95" dirty="0">
                <a:solidFill>
                  <a:srgbClr val="FF0000"/>
                </a:solidFill>
                <a:latin typeface="Times New Roman"/>
                <a:cs typeface="Times New Roman"/>
              </a:rPr>
              <a:t> </a:t>
            </a:r>
            <a:r>
              <a:rPr sz="3200" dirty="0">
                <a:latin typeface="Times New Roman"/>
                <a:cs typeface="Times New Roman"/>
              </a:rPr>
              <a:t>types</a:t>
            </a:r>
            <a:r>
              <a:rPr sz="3200" dirty="0" smtClean="0">
                <a:latin typeface="Times New Roman"/>
                <a:cs typeface="Times New Roman"/>
              </a:rPr>
              <a:t>.</a:t>
            </a:r>
            <a:endParaRPr sz="32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59740"/>
            <a:ext cx="635635" cy="757555"/>
          </a:xfrm>
          <a:prstGeom prst="rect">
            <a:avLst/>
          </a:prstGeom>
        </p:spPr>
        <p:txBody>
          <a:bodyPr vert="horz" wrap="square" lIns="0" tIns="12700" rIns="0" bIns="0" rtlCol="0">
            <a:spAutoFit/>
          </a:bodyPr>
          <a:lstStyle/>
          <a:p>
            <a:pPr marL="12700">
              <a:lnSpc>
                <a:spcPct val="100000"/>
              </a:lnSpc>
              <a:spcBef>
                <a:spcPts val="100"/>
              </a:spcBef>
            </a:pPr>
            <a:r>
              <a:rPr sz="4800" dirty="0"/>
              <a:t>…</a:t>
            </a:r>
            <a:endParaRPr sz="4800"/>
          </a:p>
        </p:txBody>
      </p:sp>
      <p:sp>
        <p:nvSpPr>
          <p:cNvPr id="3" name="object 3"/>
          <p:cNvSpPr txBox="1"/>
          <p:nvPr/>
        </p:nvSpPr>
        <p:spPr>
          <a:xfrm>
            <a:off x="304800" y="1752600"/>
            <a:ext cx="8735291" cy="2993768"/>
          </a:xfrm>
          <a:prstGeom prst="rect">
            <a:avLst/>
          </a:prstGeom>
        </p:spPr>
        <p:txBody>
          <a:bodyPr vert="horz" wrap="square" lIns="0" tIns="13335" rIns="0" bIns="0" rtlCol="0">
            <a:spAutoFit/>
          </a:bodyPr>
          <a:lstStyle/>
          <a:p>
            <a:pPr marL="332740" marR="5080" indent="-320040" algn="just">
              <a:spcBef>
                <a:spcPts val="105"/>
              </a:spcBef>
              <a:buClr>
                <a:srgbClr val="DD8046"/>
              </a:buClr>
              <a:buSzPct val="59375"/>
              <a:buFont typeface="DejaVu Sans"/>
              <a:buChar char="◻"/>
              <a:tabLst>
                <a:tab pos="332740" algn="l"/>
              </a:tabLst>
            </a:pPr>
            <a:r>
              <a:rPr lang="en-US" sz="3200" dirty="0">
                <a:latin typeface="Times New Roman"/>
                <a:cs typeface="Times New Roman"/>
              </a:rPr>
              <a:t>There </a:t>
            </a:r>
            <a:r>
              <a:rPr lang="en-US" sz="3200" spc="-5" dirty="0">
                <a:latin typeface="Times New Roman"/>
                <a:cs typeface="Times New Roman"/>
              </a:rPr>
              <a:t>is an important </a:t>
            </a:r>
            <a:r>
              <a:rPr lang="en-US" sz="3200" dirty="0">
                <a:latin typeface="Times New Roman"/>
                <a:cs typeface="Times New Roman"/>
              </a:rPr>
              <a:t>subclass of </a:t>
            </a:r>
            <a:r>
              <a:rPr lang="en-US" sz="2800" b="1" spc="-5" dirty="0">
                <a:solidFill>
                  <a:srgbClr val="FF0000"/>
                </a:solidFill>
                <a:latin typeface="Times New Roman"/>
                <a:cs typeface="Times New Roman"/>
              </a:rPr>
              <a:t>Exception</a:t>
            </a:r>
            <a:r>
              <a:rPr lang="en-US" sz="3200" spc="-5" dirty="0">
                <a:latin typeface="Times New Roman"/>
                <a:cs typeface="Times New Roman"/>
              </a:rPr>
              <a:t>,  </a:t>
            </a:r>
            <a:r>
              <a:rPr lang="en-US" sz="3200" dirty="0">
                <a:latin typeface="Times New Roman"/>
                <a:cs typeface="Times New Roman"/>
              </a:rPr>
              <a:t>called</a:t>
            </a:r>
            <a:r>
              <a:rPr lang="en-US" sz="3200" spc="-20" dirty="0">
                <a:latin typeface="Times New Roman"/>
                <a:cs typeface="Times New Roman"/>
              </a:rPr>
              <a:t> </a:t>
            </a:r>
            <a:r>
              <a:rPr lang="en-US" sz="2800" b="1" spc="-5" dirty="0" err="1">
                <a:solidFill>
                  <a:srgbClr val="FF0000"/>
                </a:solidFill>
                <a:latin typeface="Times New Roman"/>
                <a:cs typeface="Times New Roman"/>
              </a:rPr>
              <a:t>RuntimeException</a:t>
            </a:r>
            <a:r>
              <a:rPr lang="en-US" sz="3200" spc="-5" dirty="0">
                <a:latin typeface="Times New Roman"/>
                <a:cs typeface="Times New Roman"/>
              </a:rPr>
              <a:t>.</a:t>
            </a:r>
            <a:endParaRPr lang="en-US" sz="3200" dirty="0">
              <a:latin typeface="Times New Roman"/>
              <a:cs typeface="Times New Roman"/>
            </a:endParaRPr>
          </a:p>
          <a:p>
            <a:pPr marL="332740" marR="5080" indent="-320040" algn="just">
              <a:lnSpc>
                <a:spcPct val="100000"/>
              </a:lnSpc>
              <a:spcBef>
                <a:spcPts val="105"/>
              </a:spcBef>
              <a:buClr>
                <a:srgbClr val="DD8046"/>
              </a:buClr>
              <a:buSzPct val="59375"/>
              <a:buFont typeface="DejaVu Sans"/>
              <a:buChar char="◻"/>
              <a:tabLst>
                <a:tab pos="332740" algn="l"/>
              </a:tabLst>
            </a:pPr>
            <a:r>
              <a:rPr lang="en-US" sz="3200" dirty="0" smtClean="0">
                <a:latin typeface="Times New Roman"/>
                <a:cs typeface="Times New Roman"/>
              </a:rPr>
              <a:t>Exception of this type are automatically defined for the programs that you write and include things such as division by zero and invalid array indexing</a:t>
            </a:r>
          </a:p>
          <a:p>
            <a:pPr marL="332740" marR="5080" indent="-320040" algn="just">
              <a:lnSpc>
                <a:spcPct val="100000"/>
              </a:lnSpc>
              <a:spcBef>
                <a:spcPts val="105"/>
              </a:spcBef>
              <a:buClr>
                <a:srgbClr val="DD8046"/>
              </a:buClr>
              <a:buSzPct val="59375"/>
              <a:buFont typeface="DejaVu Sans"/>
              <a:buChar char="◻"/>
              <a:tabLst>
                <a:tab pos="332740" algn="l"/>
              </a:tabLst>
            </a:pPr>
            <a:endParaRPr sz="3200" dirty="0">
              <a:latin typeface="Times New Roman"/>
              <a:cs typeface="Times New Roman"/>
            </a:endParaRPr>
          </a:p>
        </p:txBody>
      </p:sp>
    </p:spTree>
    <p:extLst>
      <p:ext uri="{BB962C8B-B14F-4D97-AF65-F5344CB8AC3E}">
        <p14:creationId xmlns:p14="http://schemas.microsoft.com/office/powerpoint/2010/main" val="748319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59740"/>
            <a:ext cx="8153400" cy="505267"/>
          </a:xfrm>
          <a:prstGeom prst="rect">
            <a:avLst/>
          </a:prstGeom>
        </p:spPr>
        <p:txBody>
          <a:bodyPr vert="horz" wrap="square" lIns="0" tIns="12700" rIns="0" bIns="0" rtlCol="0">
            <a:spAutoFit/>
          </a:bodyPr>
          <a:lstStyle/>
          <a:p>
            <a:pPr marL="12700" algn="just">
              <a:spcBef>
                <a:spcPts val="100"/>
              </a:spcBef>
            </a:pPr>
            <a:r>
              <a:rPr lang="en-US" spc="-5" dirty="0">
                <a:solidFill>
                  <a:srgbClr val="FF0000"/>
                </a:solidFill>
              </a:rPr>
              <a:t>Error </a:t>
            </a:r>
            <a:r>
              <a:rPr lang="en-US" spc="-5" dirty="0"/>
              <a:t>is </a:t>
            </a:r>
            <a:r>
              <a:rPr lang="en-US" dirty="0"/>
              <a:t>another subclass </a:t>
            </a:r>
            <a:r>
              <a:rPr lang="en-US" spc="-5" dirty="0"/>
              <a:t>of </a:t>
            </a:r>
            <a:r>
              <a:rPr lang="en-US" spc="-5" dirty="0" err="1" smtClean="0"/>
              <a:t>Throwable</a:t>
            </a:r>
            <a:r>
              <a:rPr lang="en-US" spc="-5" dirty="0" smtClean="0"/>
              <a:t>.</a:t>
            </a:r>
            <a:endParaRPr sz="4800" dirty="0"/>
          </a:p>
        </p:txBody>
      </p:sp>
      <p:sp>
        <p:nvSpPr>
          <p:cNvPr id="3" name="object 3"/>
          <p:cNvSpPr txBox="1"/>
          <p:nvPr/>
        </p:nvSpPr>
        <p:spPr>
          <a:xfrm>
            <a:off x="304800" y="1600200"/>
            <a:ext cx="8686800" cy="5130251"/>
          </a:xfrm>
          <a:prstGeom prst="rect">
            <a:avLst/>
          </a:prstGeom>
        </p:spPr>
        <p:txBody>
          <a:bodyPr vert="horz" wrap="square" lIns="0" tIns="13335" rIns="0" bIns="0" rtlCol="0">
            <a:spAutoFit/>
          </a:bodyPr>
          <a:lstStyle/>
          <a:p>
            <a:pPr marL="332740" marR="5080" indent="-320040" algn="just">
              <a:lnSpc>
                <a:spcPct val="100000"/>
              </a:lnSpc>
              <a:spcBef>
                <a:spcPts val="105"/>
              </a:spcBef>
              <a:buClr>
                <a:srgbClr val="DD8046"/>
              </a:buClr>
              <a:buSzPct val="60714"/>
              <a:buFont typeface="DejaVu Sans"/>
              <a:buChar char="◻"/>
              <a:tabLst>
                <a:tab pos="332740" algn="l"/>
              </a:tabLst>
            </a:pPr>
            <a:r>
              <a:rPr lang="en-US" sz="3200" spc="-5" dirty="0" smtClean="0">
                <a:latin typeface="Times New Roman"/>
                <a:cs typeface="Times New Roman"/>
              </a:rPr>
              <a:t>Error defines the exceptions that are not expected to be caught under normal circumstances by your program.</a:t>
            </a:r>
          </a:p>
          <a:p>
            <a:pPr marL="332740" marR="5080" indent="-320040" algn="just">
              <a:lnSpc>
                <a:spcPct val="100000"/>
              </a:lnSpc>
              <a:spcBef>
                <a:spcPts val="105"/>
              </a:spcBef>
              <a:buClr>
                <a:srgbClr val="DD8046"/>
              </a:buClr>
              <a:buSzPct val="60714"/>
              <a:buFont typeface="DejaVu Sans"/>
              <a:buChar char="◻"/>
              <a:tabLst>
                <a:tab pos="332740" algn="l"/>
              </a:tabLst>
            </a:pPr>
            <a:r>
              <a:rPr sz="3200" spc="-5" dirty="0" smtClean="0">
                <a:latin typeface="Times New Roman"/>
                <a:cs typeface="Times New Roman"/>
              </a:rPr>
              <a:t>These  </a:t>
            </a:r>
            <a:r>
              <a:rPr sz="3200" dirty="0">
                <a:latin typeface="Times New Roman"/>
                <a:cs typeface="Times New Roman"/>
              </a:rPr>
              <a:t>are not exceptions at all, </a:t>
            </a:r>
            <a:r>
              <a:rPr sz="3200" spc="-5" dirty="0">
                <a:latin typeface="Times New Roman"/>
                <a:cs typeface="Times New Roman"/>
              </a:rPr>
              <a:t>but </a:t>
            </a:r>
            <a:r>
              <a:rPr sz="3200" dirty="0">
                <a:latin typeface="Times New Roman"/>
                <a:cs typeface="Times New Roman"/>
              </a:rPr>
              <a:t>problems </a:t>
            </a:r>
            <a:r>
              <a:rPr sz="3200" spc="-5" dirty="0">
                <a:latin typeface="Times New Roman"/>
                <a:cs typeface="Times New Roman"/>
              </a:rPr>
              <a:t>that </a:t>
            </a:r>
            <a:r>
              <a:rPr sz="3200" dirty="0">
                <a:latin typeface="Times New Roman"/>
                <a:cs typeface="Times New Roman"/>
              </a:rPr>
              <a:t>arise  beyond the </a:t>
            </a:r>
            <a:r>
              <a:rPr sz="3200" spc="-5" dirty="0">
                <a:latin typeface="Times New Roman"/>
                <a:cs typeface="Times New Roman"/>
              </a:rPr>
              <a:t>control of the </a:t>
            </a:r>
            <a:r>
              <a:rPr sz="3200" spc="5" dirty="0">
                <a:latin typeface="Times New Roman"/>
                <a:cs typeface="Times New Roman"/>
              </a:rPr>
              <a:t>user </a:t>
            </a:r>
            <a:r>
              <a:rPr sz="3200" spc="-5" dirty="0">
                <a:latin typeface="Times New Roman"/>
                <a:cs typeface="Times New Roman"/>
              </a:rPr>
              <a:t>or </a:t>
            </a:r>
            <a:r>
              <a:rPr sz="3200" dirty="0">
                <a:latin typeface="Times New Roman"/>
                <a:cs typeface="Times New Roman"/>
              </a:rPr>
              <a:t>the  programmer.</a:t>
            </a:r>
          </a:p>
          <a:p>
            <a:pPr marL="332740" marR="5080" indent="-320040" algn="just">
              <a:lnSpc>
                <a:spcPct val="100000"/>
              </a:lnSpc>
              <a:spcBef>
                <a:spcPts val="695"/>
              </a:spcBef>
              <a:buClr>
                <a:srgbClr val="DD8046"/>
              </a:buClr>
              <a:buSzPct val="59375"/>
              <a:buFont typeface="DejaVu Sans"/>
              <a:buChar char="◻"/>
              <a:tabLst>
                <a:tab pos="332740" algn="l"/>
              </a:tabLst>
            </a:pPr>
            <a:r>
              <a:rPr sz="3200" dirty="0">
                <a:latin typeface="Times New Roman"/>
                <a:cs typeface="Times New Roman"/>
              </a:rPr>
              <a:t>Errors are </a:t>
            </a:r>
            <a:r>
              <a:rPr sz="3200" spc="-5" dirty="0">
                <a:latin typeface="Times New Roman"/>
                <a:cs typeface="Times New Roman"/>
              </a:rPr>
              <a:t>typically ignored in </a:t>
            </a:r>
            <a:r>
              <a:rPr sz="3200" dirty="0">
                <a:latin typeface="Times New Roman"/>
                <a:cs typeface="Times New Roman"/>
              </a:rPr>
              <a:t>your code  because you can rarely </a:t>
            </a:r>
            <a:r>
              <a:rPr sz="3200" spc="-5" dirty="0">
                <a:latin typeface="Times New Roman"/>
                <a:cs typeface="Times New Roman"/>
              </a:rPr>
              <a:t>do anything </a:t>
            </a:r>
            <a:r>
              <a:rPr sz="3200" dirty="0">
                <a:latin typeface="Times New Roman"/>
                <a:cs typeface="Times New Roman"/>
              </a:rPr>
              <a:t>about </a:t>
            </a:r>
            <a:r>
              <a:rPr sz="3200" spc="5" dirty="0">
                <a:latin typeface="Times New Roman"/>
                <a:cs typeface="Times New Roman"/>
              </a:rPr>
              <a:t>an  </a:t>
            </a:r>
            <a:r>
              <a:rPr sz="3200" dirty="0">
                <a:latin typeface="Times New Roman"/>
                <a:cs typeface="Times New Roman"/>
              </a:rPr>
              <a:t>error.</a:t>
            </a:r>
          </a:p>
          <a:p>
            <a:pPr marL="332740" marR="7620" indent="-320040" algn="just">
              <a:lnSpc>
                <a:spcPct val="100000"/>
              </a:lnSpc>
              <a:spcBef>
                <a:spcPts val="700"/>
              </a:spcBef>
              <a:buClr>
                <a:srgbClr val="DD8046"/>
              </a:buClr>
              <a:buSzPct val="59375"/>
              <a:buFont typeface="DejaVu Sans"/>
              <a:buChar char="◻"/>
              <a:tabLst>
                <a:tab pos="332740" algn="l"/>
              </a:tabLst>
            </a:pPr>
            <a:r>
              <a:rPr sz="3200" dirty="0">
                <a:latin typeface="Times New Roman"/>
                <a:cs typeface="Times New Roman"/>
              </a:rPr>
              <a:t>For example, </a:t>
            </a:r>
            <a:r>
              <a:rPr sz="3200" spc="-10" dirty="0">
                <a:latin typeface="Times New Roman"/>
                <a:cs typeface="Times New Roman"/>
              </a:rPr>
              <a:t>if </a:t>
            </a:r>
            <a:r>
              <a:rPr sz="3200" dirty="0">
                <a:latin typeface="Times New Roman"/>
                <a:cs typeface="Times New Roman"/>
              </a:rPr>
              <a:t>a stack </a:t>
            </a:r>
            <a:r>
              <a:rPr sz="3200" spc="-5" dirty="0">
                <a:latin typeface="Times New Roman"/>
                <a:cs typeface="Times New Roman"/>
              </a:rPr>
              <a:t>overflow </a:t>
            </a:r>
            <a:r>
              <a:rPr sz="3200" dirty="0">
                <a:latin typeface="Times New Roman"/>
                <a:cs typeface="Times New Roman"/>
              </a:rPr>
              <a:t>occurs, </a:t>
            </a:r>
            <a:r>
              <a:rPr sz="3200" spc="-5" dirty="0">
                <a:latin typeface="Times New Roman"/>
                <a:cs typeface="Times New Roman"/>
              </a:rPr>
              <a:t>an  </a:t>
            </a:r>
            <a:r>
              <a:rPr sz="3200" dirty="0">
                <a:latin typeface="Times New Roman"/>
                <a:cs typeface="Times New Roman"/>
              </a:rPr>
              <a:t>error will</a:t>
            </a:r>
            <a:r>
              <a:rPr sz="3200" spc="-40" dirty="0">
                <a:latin typeface="Times New Roman"/>
                <a:cs typeface="Times New Roman"/>
              </a:rPr>
              <a:t> </a:t>
            </a:r>
            <a:r>
              <a:rPr sz="3200" dirty="0">
                <a:latin typeface="Times New Roman"/>
                <a:cs typeface="Times New Roman"/>
              </a:rPr>
              <a:t>arise.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7088505"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Three Categories of</a:t>
            </a:r>
            <a:r>
              <a:rPr sz="4400" b="0" spc="-100" dirty="0">
                <a:latin typeface="Times New Roman"/>
                <a:cs typeface="Times New Roman"/>
              </a:rPr>
              <a:t> </a:t>
            </a:r>
            <a:r>
              <a:rPr sz="4400" b="0" dirty="0">
                <a:latin typeface="Times New Roman"/>
                <a:cs typeface="Times New Roman"/>
              </a:rPr>
              <a:t>Exceptions</a:t>
            </a:r>
            <a:endParaRPr sz="4400">
              <a:latin typeface="Times New Roman"/>
              <a:cs typeface="Times New Roman"/>
            </a:endParaRPr>
          </a:p>
        </p:txBody>
      </p:sp>
      <p:sp>
        <p:nvSpPr>
          <p:cNvPr id="3" name="object 3"/>
          <p:cNvSpPr txBox="1"/>
          <p:nvPr/>
        </p:nvSpPr>
        <p:spPr>
          <a:xfrm>
            <a:off x="-73660" y="1620977"/>
            <a:ext cx="8763000" cy="3820160"/>
          </a:xfrm>
          <a:prstGeom prst="rect">
            <a:avLst/>
          </a:prstGeom>
        </p:spPr>
        <p:txBody>
          <a:bodyPr vert="horz" wrap="square" lIns="0" tIns="12700" rIns="0" bIns="0" rtlCol="0">
            <a:spAutoFit/>
          </a:bodyPr>
          <a:lstStyle/>
          <a:p>
            <a:pPr marL="332740" marR="5080" indent="-320040" algn="just">
              <a:lnSpc>
                <a:spcPct val="100000"/>
              </a:lnSpc>
              <a:spcBef>
                <a:spcPts val="100"/>
              </a:spcBef>
              <a:buClr>
                <a:srgbClr val="DD8046"/>
              </a:buClr>
              <a:buSzPct val="59259"/>
              <a:buFont typeface="DejaVu Sans"/>
              <a:buChar char="◻"/>
              <a:tabLst>
                <a:tab pos="332740" algn="l"/>
              </a:tabLst>
            </a:pPr>
            <a:r>
              <a:rPr sz="2700" b="1" dirty="0">
                <a:solidFill>
                  <a:srgbClr val="FF0000"/>
                </a:solidFill>
                <a:latin typeface="Times New Roman"/>
                <a:cs typeface="Times New Roman"/>
              </a:rPr>
              <a:t>1. Checked exceptions: </a:t>
            </a:r>
            <a:r>
              <a:rPr sz="2700" dirty="0">
                <a:latin typeface="Times New Roman"/>
                <a:cs typeface="Times New Roman"/>
              </a:rPr>
              <a:t>A checked </a:t>
            </a:r>
            <a:r>
              <a:rPr sz="2700" spc="-5" dirty="0">
                <a:latin typeface="Times New Roman"/>
                <a:cs typeface="Times New Roman"/>
              </a:rPr>
              <a:t>exception </a:t>
            </a:r>
            <a:r>
              <a:rPr sz="2700" dirty="0">
                <a:latin typeface="Times New Roman"/>
                <a:cs typeface="Times New Roman"/>
              </a:rPr>
              <a:t>is </a:t>
            </a:r>
            <a:r>
              <a:rPr sz="2700" spc="-15" dirty="0">
                <a:latin typeface="Times New Roman"/>
                <a:cs typeface="Times New Roman"/>
              </a:rPr>
              <a:t>an   </a:t>
            </a:r>
            <a:r>
              <a:rPr sz="2700" dirty="0">
                <a:latin typeface="Times New Roman"/>
                <a:cs typeface="Times New Roman"/>
              </a:rPr>
              <a:t>exception </a:t>
            </a:r>
            <a:r>
              <a:rPr sz="2700" spc="-5" dirty="0">
                <a:latin typeface="Times New Roman"/>
                <a:cs typeface="Times New Roman"/>
              </a:rPr>
              <a:t>that </a:t>
            </a:r>
            <a:r>
              <a:rPr sz="2700" dirty="0">
                <a:latin typeface="Times New Roman"/>
                <a:cs typeface="Times New Roman"/>
              </a:rPr>
              <a:t>occurs at the </a:t>
            </a:r>
            <a:r>
              <a:rPr sz="2700" spc="-5" dirty="0">
                <a:latin typeface="Times New Roman"/>
                <a:cs typeface="Times New Roman"/>
              </a:rPr>
              <a:t>compile </a:t>
            </a:r>
            <a:r>
              <a:rPr sz="2700" spc="-10" dirty="0">
                <a:latin typeface="Times New Roman"/>
                <a:cs typeface="Times New Roman"/>
              </a:rPr>
              <a:t>time, </a:t>
            </a:r>
            <a:r>
              <a:rPr sz="2700" dirty="0">
                <a:latin typeface="Times New Roman"/>
                <a:cs typeface="Times New Roman"/>
              </a:rPr>
              <a:t>these are also  </a:t>
            </a:r>
            <a:r>
              <a:rPr sz="2700" spc="-5" dirty="0">
                <a:latin typeface="Times New Roman"/>
                <a:cs typeface="Times New Roman"/>
              </a:rPr>
              <a:t>called as compile time </a:t>
            </a:r>
            <a:r>
              <a:rPr sz="2700" dirty="0">
                <a:latin typeface="Times New Roman"/>
                <a:cs typeface="Times New Roman"/>
              </a:rPr>
              <a:t>exceptions. These exceptions cannot  </a:t>
            </a:r>
            <a:r>
              <a:rPr sz="2700" spc="-5" dirty="0">
                <a:latin typeface="Times New Roman"/>
                <a:cs typeface="Times New Roman"/>
              </a:rPr>
              <a:t>simply </a:t>
            </a:r>
            <a:r>
              <a:rPr sz="2700" dirty="0">
                <a:latin typeface="Times New Roman"/>
                <a:cs typeface="Times New Roman"/>
              </a:rPr>
              <a:t>be ignored at the </a:t>
            </a:r>
            <a:r>
              <a:rPr sz="2700" spc="-5" dirty="0">
                <a:latin typeface="Times New Roman"/>
                <a:cs typeface="Times New Roman"/>
              </a:rPr>
              <a:t>time </a:t>
            </a:r>
            <a:r>
              <a:rPr sz="2700" dirty="0">
                <a:latin typeface="Times New Roman"/>
                <a:cs typeface="Times New Roman"/>
              </a:rPr>
              <a:t>of compilation, the  </a:t>
            </a:r>
            <a:r>
              <a:rPr sz="2700" spc="-5" dirty="0">
                <a:latin typeface="Times New Roman"/>
                <a:cs typeface="Times New Roman"/>
              </a:rPr>
              <a:t>programmer </a:t>
            </a:r>
            <a:r>
              <a:rPr sz="2700" dirty="0">
                <a:latin typeface="Times New Roman"/>
                <a:cs typeface="Times New Roman"/>
              </a:rPr>
              <a:t>should take care of (handle) these</a:t>
            </a:r>
            <a:r>
              <a:rPr sz="2700" spc="-35" dirty="0">
                <a:latin typeface="Times New Roman"/>
                <a:cs typeface="Times New Roman"/>
              </a:rPr>
              <a:t> </a:t>
            </a:r>
            <a:r>
              <a:rPr sz="2700" dirty="0">
                <a:latin typeface="Times New Roman"/>
                <a:cs typeface="Times New Roman"/>
              </a:rPr>
              <a:t>exceptions.</a:t>
            </a:r>
            <a:endParaRPr sz="2700">
              <a:latin typeface="Times New Roman"/>
              <a:cs typeface="Times New Roman"/>
            </a:endParaRPr>
          </a:p>
          <a:p>
            <a:pPr marL="332740" marR="5715" indent="-320040" algn="just">
              <a:lnSpc>
                <a:spcPct val="100000"/>
              </a:lnSpc>
              <a:spcBef>
                <a:spcPts val="715"/>
              </a:spcBef>
              <a:buClr>
                <a:srgbClr val="DD8046"/>
              </a:buClr>
              <a:buSzPct val="59259"/>
              <a:buFont typeface="DejaVu Sans"/>
              <a:buChar char="◻"/>
              <a:tabLst>
                <a:tab pos="332740" algn="l"/>
              </a:tabLst>
            </a:pPr>
            <a:r>
              <a:rPr sz="2700" spc="-5" dirty="0">
                <a:latin typeface="Times New Roman"/>
                <a:cs typeface="Times New Roman"/>
              </a:rPr>
              <a:t>For example, </a:t>
            </a:r>
            <a:r>
              <a:rPr sz="2700" dirty="0">
                <a:latin typeface="Times New Roman"/>
                <a:cs typeface="Times New Roman"/>
              </a:rPr>
              <a:t>if you use </a:t>
            </a:r>
            <a:r>
              <a:rPr sz="2700" spc="-5" dirty="0">
                <a:latin typeface="Times New Roman"/>
                <a:cs typeface="Times New Roman"/>
              </a:rPr>
              <a:t>FileReader class in </a:t>
            </a:r>
            <a:r>
              <a:rPr sz="2700" dirty="0">
                <a:latin typeface="Times New Roman"/>
                <a:cs typeface="Times New Roman"/>
              </a:rPr>
              <a:t>your program </a:t>
            </a:r>
            <a:r>
              <a:rPr sz="2700" spc="5" dirty="0">
                <a:latin typeface="Times New Roman"/>
                <a:cs typeface="Times New Roman"/>
              </a:rPr>
              <a:t>to  </a:t>
            </a:r>
            <a:r>
              <a:rPr sz="2700" dirty="0">
                <a:latin typeface="Times New Roman"/>
                <a:cs typeface="Times New Roman"/>
              </a:rPr>
              <a:t>read data </a:t>
            </a:r>
            <a:r>
              <a:rPr sz="2700" spc="-5" dirty="0">
                <a:latin typeface="Times New Roman"/>
                <a:cs typeface="Times New Roman"/>
              </a:rPr>
              <a:t>from </a:t>
            </a:r>
            <a:r>
              <a:rPr sz="2700" dirty="0">
                <a:latin typeface="Times New Roman"/>
                <a:cs typeface="Times New Roman"/>
              </a:rPr>
              <a:t>a </a:t>
            </a:r>
            <a:r>
              <a:rPr sz="2700" spc="-5" dirty="0">
                <a:latin typeface="Times New Roman"/>
                <a:cs typeface="Times New Roman"/>
              </a:rPr>
              <a:t>file, </a:t>
            </a:r>
            <a:r>
              <a:rPr sz="2700" dirty="0">
                <a:latin typeface="Times New Roman"/>
                <a:cs typeface="Times New Roman"/>
              </a:rPr>
              <a:t>if the </a:t>
            </a:r>
            <a:r>
              <a:rPr sz="2700" spc="-5" dirty="0">
                <a:latin typeface="Times New Roman"/>
                <a:cs typeface="Times New Roman"/>
              </a:rPr>
              <a:t>file </a:t>
            </a:r>
            <a:r>
              <a:rPr sz="2700" dirty="0">
                <a:latin typeface="Times New Roman"/>
                <a:cs typeface="Times New Roman"/>
              </a:rPr>
              <a:t>specified in its </a:t>
            </a:r>
            <a:r>
              <a:rPr sz="2700" spc="-5" dirty="0">
                <a:latin typeface="Times New Roman"/>
                <a:cs typeface="Times New Roman"/>
              </a:rPr>
              <a:t>constructor  doesn't </a:t>
            </a:r>
            <a:r>
              <a:rPr sz="2700" dirty="0">
                <a:latin typeface="Times New Roman"/>
                <a:cs typeface="Times New Roman"/>
              </a:rPr>
              <a:t>exist, then a </a:t>
            </a:r>
            <a:r>
              <a:rPr sz="2700" spc="-5" dirty="0">
                <a:latin typeface="Times New Roman"/>
                <a:cs typeface="Times New Roman"/>
              </a:rPr>
              <a:t>FileNotFoundException </a:t>
            </a:r>
            <a:r>
              <a:rPr sz="2700" dirty="0">
                <a:latin typeface="Times New Roman"/>
                <a:cs typeface="Times New Roman"/>
              </a:rPr>
              <a:t>occurs, and the  compiler </a:t>
            </a:r>
            <a:r>
              <a:rPr sz="2700" spc="-5" dirty="0">
                <a:latin typeface="Times New Roman"/>
                <a:cs typeface="Times New Roman"/>
              </a:rPr>
              <a:t>prompts </a:t>
            </a:r>
            <a:r>
              <a:rPr sz="2700" dirty="0">
                <a:latin typeface="Times New Roman"/>
                <a:cs typeface="Times New Roman"/>
              </a:rPr>
              <a:t>the </a:t>
            </a:r>
            <a:r>
              <a:rPr sz="2700" spc="-5" dirty="0">
                <a:latin typeface="Times New Roman"/>
                <a:cs typeface="Times New Roman"/>
              </a:rPr>
              <a:t>programmer </a:t>
            </a:r>
            <a:r>
              <a:rPr sz="2700" dirty="0">
                <a:latin typeface="Times New Roman"/>
                <a:cs typeface="Times New Roman"/>
              </a:rPr>
              <a:t>to handle the</a:t>
            </a:r>
            <a:r>
              <a:rPr sz="2700" spc="-5" dirty="0">
                <a:latin typeface="Times New Roman"/>
                <a:cs typeface="Times New Roman"/>
              </a:rPr>
              <a:t> </a:t>
            </a:r>
            <a:r>
              <a:rPr sz="2700" dirty="0">
                <a:latin typeface="Times New Roman"/>
                <a:cs typeface="Times New Roman"/>
              </a:rPr>
              <a:t>exception.</a:t>
            </a:r>
            <a:endParaRPr sz="27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7088505"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Three Categories of</a:t>
            </a:r>
            <a:r>
              <a:rPr sz="4400" b="0" spc="-100" dirty="0">
                <a:latin typeface="Times New Roman"/>
                <a:cs typeface="Times New Roman"/>
              </a:rPr>
              <a:t> </a:t>
            </a:r>
            <a:r>
              <a:rPr sz="4400" b="0" dirty="0">
                <a:latin typeface="Times New Roman"/>
                <a:cs typeface="Times New Roman"/>
              </a:rPr>
              <a:t>Exceptions</a:t>
            </a:r>
            <a:endParaRPr sz="4400">
              <a:latin typeface="Times New Roman"/>
              <a:cs typeface="Times New Roman"/>
            </a:endParaRPr>
          </a:p>
        </p:txBody>
      </p:sp>
      <p:sp>
        <p:nvSpPr>
          <p:cNvPr id="3" name="object 3"/>
          <p:cNvSpPr txBox="1"/>
          <p:nvPr/>
        </p:nvSpPr>
        <p:spPr>
          <a:xfrm>
            <a:off x="-73660" y="1575257"/>
            <a:ext cx="8763635" cy="4227830"/>
          </a:xfrm>
          <a:prstGeom prst="rect">
            <a:avLst/>
          </a:prstGeom>
        </p:spPr>
        <p:txBody>
          <a:bodyPr vert="horz" wrap="square" lIns="0" tIns="57785" rIns="0" bIns="0" rtlCol="0">
            <a:spAutoFit/>
          </a:bodyPr>
          <a:lstStyle/>
          <a:p>
            <a:pPr marL="332740" marR="5080" indent="-320040" algn="just">
              <a:lnSpc>
                <a:spcPct val="90000"/>
              </a:lnSpc>
              <a:spcBef>
                <a:spcPts val="455"/>
              </a:spcBef>
              <a:buClr>
                <a:srgbClr val="DD8046"/>
              </a:buClr>
              <a:buSzPct val="58620"/>
              <a:buFont typeface="DejaVu Sans"/>
              <a:buChar char="◻"/>
              <a:tabLst>
                <a:tab pos="332740" algn="l"/>
              </a:tabLst>
            </a:pPr>
            <a:r>
              <a:rPr sz="2900" b="1" spc="-5" dirty="0">
                <a:solidFill>
                  <a:srgbClr val="FF0000"/>
                </a:solidFill>
                <a:latin typeface="Times New Roman"/>
                <a:cs typeface="Times New Roman"/>
              </a:rPr>
              <a:t>2. </a:t>
            </a:r>
            <a:r>
              <a:rPr sz="2900" b="1" dirty="0">
                <a:solidFill>
                  <a:srgbClr val="FF0000"/>
                </a:solidFill>
                <a:latin typeface="Times New Roman"/>
                <a:cs typeface="Times New Roman"/>
              </a:rPr>
              <a:t>Un </a:t>
            </a:r>
            <a:r>
              <a:rPr sz="2900" b="1" spc="-5" dirty="0">
                <a:solidFill>
                  <a:srgbClr val="FF0000"/>
                </a:solidFill>
                <a:latin typeface="Times New Roman"/>
                <a:cs typeface="Times New Roman"/>
              </a:rPr>
              <a:t>checked exceptions: </a:t>
            </a:r>
            <a:r>
              <a:rPr sz="2900" dirty="0">
                <a:latin typeface="Times New Roman"/>
                <a:cs typeface="Times New Roman"/>
              </a:rPr>
              <a:t>An </a:t>
            </a:r>
            <a:r>
              <a:rPr sz="2900" spc="-5" dirty="0">
                <a:latin typeface="Times New Roman"/>
                <a:cs typeface="Times New Roman"/>
              </a:rPr>
              <a:t>unchecked exception </a:t>
            </a:r>
            <a:r>
              <a:rPr sz="2900" spc="-15" dirty="0">
                <a:latin typeface="Times New Roman"/>
                <a:cs typeface="Times New Roman"/>
              </a:rPr>
              <a:t>is  </a:t>
            </a:r>
            <a:r>
              <a:rPr sz="2900" spc="-5" dirty="0">
                <a:latin typeface="Times New Roman"/>
                <a:cs typeface="Times New Roman"/>
              </a:rPr>
              <a:t>an exception </a:t>
            </a:r>
            <a:r>
              <a:rPr sz="2900" dirty="0">
                <a:latin typeface="Times New Roman"/>
                <a:cs typeface="Times New Roman"/>
              </a:rPr>
              <a:t>that </a:t>
            </a:r>
            <a:r>
              <a:rPr sz="2900" spc="-5" dirty="0">
                <a:latin typeface="Times New Roman"/>
                <a:cs typeface="Times New Roman"/>
              </a:rPr>
              <a:t>occurs at the </a:t>
            </a:r>
            <a:r>
              <a:rPr sz="2900" spc="-10" dirty="0">
                <a:latin typeface="Times New Roman"/>
                <a:cs typeface="Times New Roman"/>
              </a:rPr>
              <a:t>time </a:t>
            </a:r>
            <a:r>
              <a:rPr sz="2900" dirty="0">
                <a:latin typeface="Times New Roman"/>
                <a:cs typeface="Times New Roman"/>
              </a:rPr>
              <a:t>of </a:t>
            </a:r>
            <a:r>
              <a:rPr sz="2900" spc="-5" dirty="0">
                <a:latin typeface="Times New Roman"/>
                <a:cs typeface="Times New Roman"/>
              </a:rPr>
              <a:t>execution. </a:t>
            </a:r>
            <a:r>
              <a:rPr sz="2900" dirty="0">
                <a:latin typeface="Times New Roman"/>
                <a:cs typeface="Times New Roman"/>
              </a:rPr>
              <a:t>These  are also </a:t>
            </a:r>
            <a:r>
              <a:rPr sz="2900" spc="-5" dirty="0">
                <a:latin typeface="Times New Roman"/>
                <a:cs typeface="Times New Roman"/>
              </a:rPr>
              <a:t>called as Runtime Exceptions. </a:t>
            </a:r>
            <a:r>
              <a:rPr sz="2900" dirty="0">
                <a:latin typeface="Times New Roman"/>
                <a:cs typeface="Times New Roman"/>
              </a:rPr>
              <a:t>These </a:t>
            </a:r>
            <a:r>
              <a:rPr sz="2900" spc="-5" dirty="0">
                <a:latin typeface="Times New Roman"/>
                <a:cs typeface="Times New Roman"/>
              </a:rPr>
              <a:t>include  programming bugs, such as logic errors </a:t>
            </a:r>
            <a:r>
              <a:rPr sz="2900" dirty="0">
                <a:latin typeface="Times New Roman"/>
                <a:cs typeface="Times New Roman"/>
              </a:rPr>
              <a:t>or </a:t>
            </a:r>
            <a:r>
              <a:rPr sz="2900" spc="-5" dirty="0">
                <a:latin typeface="Times New Roman"/>
                <a:cs typeface="Times New Roman"/>
              </a:rPr>
              <a:t>improper use  </a:t>
            </a:r>
            <a:r>
              <a:rPr sz="2900" dirty="0">
                <a:latin typeface="Times New Roman"/>
                <a:cs typeface="Times New Roman"/>
              </a:rPr>
              <a:t>of </a:t>
            </a:r>
            <a:r>
              <a:rPr sz="2900" spc="-5" dirty="0">
                <a:latin typeface="Times New Roman"/>
                <a:cs typeface="Times New Roman"/>
              </a:rPr>
              <a:t>an API. Runtime exceptions </a:t>
            </a:r>
            <a:r>
              <a:rPr sz="2900" dirty="0">
                <a:latin typeface="Times New Roman"/>
                <a:cs typeface="Times New Roman"/>
              </a:rPr>
              <a:t>are </a:t>
            </a:r>
            <a:r>
              <a:rPr sz="2900" spc="-5" dirty="0">
                <a:latin typeface="Times New Roman"/>
                <a:cs typeface="Times New Roman"/>
              </a:rPr>
              <a:t>ignored at the </a:t>
            </a:r>
            <a:r>
              <a:rPr sz="2900" spc="-10" dirty="0">
                <a:latin typeface="Times New Roman"/>
                <a:cs typeface="Times New Roman"/>
              </a:rPr>
              <a:t>time </a:t>
            </a:r>
            <a:r>
              <a:rPr sz="2900" dirty="0">
                <a:latin typeface="Times New Roman"/>
                <a:cs typeface="Times New Roman"/>
              </a:rPr>
              <a:t>of  </a:t>
            </a:r>
            <a:r>
              <a:rPr sz="2900" spc="-5" dirty="0">
                <a:latin typeface="Times New Roman"/>
                <a:cs typeface="Times New Roman"/>
              </a:rPr>
              <a:t>compilation.</a:t>
            </a:r>
            <a:endParaRPr sz="2900">
              <a:latin typeface="Times New Roman"/>
              <a:cs typeface="Times New Roman"/>
            </a:endParaRPr>
          </a:p>
          <a:p>
            <a:pPr marL="332740" marR="5080" indent="-320040" algn="just">
              <a:lnSpc>
                <a:spcPct val="90000"/>
              </a:lnSpc>
              <a:spcBef>
                <a:spcPts val="705"/>
              </a:spcBef>
              <a:buClr>
                <a:srgbClr val="DD8046"/>
              </a:buClr>
              <a:buSzPct val="58620"/>
              <a:buFont typeface="DejaVu Sans"/>
              <a:buChar char="◻"/>
              <a:tabLst>
                <a:tab pos="332740" algn="l"/>
              </a:tabLst>
            </a:pPr>
            <a:r>
              <a:rPr sz="2900" spc="-5" dirty="0">
                <a:latin typeface="Times New Roman"/>
                <a:cs typeface="Times New Roman"/>
              </a:rPr>
              <a:t>For example, </a:t>
            </a:r>
            <a:r>
              <a:rPr sz="2900" spc="-10" dirty="0">
                <a:latin typeface="Times New Roman"/>
                <a:cs typeface="Times New Roman"/>
              </a:rPr>
              <a:t>if </a:t>
            </a:r>
            <a:r>
              <a:rPr sz="2900" spc="-5" dirty="0">
                <a:latin typeface="Times New Roman"/>
                <a:cs typeface="Times New Roman"/>
              </a:rPr>
              <a:t>you </a:t>
            </a:r>
            <a:r>
              <a:rPr sz="2900" dirty="0">
                <a:latin typeface="Times New Roman"/>
                <a:cs typeface="Times New Roman"/>
              </a:rPr>
              <a:t>have </a:t>
            </a:r>
            <a:r>
              <a:rPr sz="2900" spc="-5" dirty="0">
                <a:latin typeface="Times New Roman"/>
                <a:cs typeface="Times New Roman"/>
              </a:rPr>
              <a:t>declared an </a:t>
            </a:r>
            <a:r>
              <a:rPr sz="2900" dirty="0">
                <a:latin typeface="Times New Roman"/>
                <a:cs typeface="Times New Roman"/>
              </a:rPr>
              <a:t>array </a:t>
            </a:r>
            <a:r>
              <a:rPr sz="2900" spc="-5" dirty="0">
                <a:latin typeface="Times New Roman"/>
                <a:cs typeface="Times New Roman"/>
              </a:rPr>
              <a:t>of </a:t>
            </a:r>
            <a:r>
              <a:rPr sz="2900" spc="-10" dirty="0">
                <a:latin typeface="Times New Roman"/>
                <a:cs typeface="Times New Roman"/>
              </a:rPr>
              <a:t>size </a:t>
            </a:r>
            <a:r>
              <a:rPr sz="2900" dirty="0">
                <a:latin typeface="Times New Roman"/>
                <a:cs typeface="Times New Roman"/>
              </a:rPr>
              <a:t>5 </a:t>
            </a:r>
            <a:r>
              <a:rPr sz="2900" spc="-5" dirty="0">
                <a:latin typeface="Times New Roman"/>
                <a:cs typeface="Times New Roman"/>
              </a:rPr>
              <a:t>in  </a:t>
            </a:r>
            <a:r>
              <a:rPr sz="2900" dirty="0">
                <a:latin typeface="Times New Roman"/>
                <a:cs typeface="Times New Roman"/>
              </a:rPr>
              <a:t>your </a:t>
            </a:r>
            <a:r>
              <a:rPr sz="2900" spc="-5" dirty="0">
                <a:latin typeface="Times New Roman"/>
                <a:cs typeface="Times New Roman"/>
              </a:rPr>
              <a:t>program, </a:t>
            </a:r>
            <a:r>
              <a:rPr sz="2900" dirty="0">
                <a:latin typeface="Times New Roman"/>
                <a:cs typeface="Times New Roman"/>
              </a:rPr>
              <a:t>and </a:t>
            </a:r>
            <a:r>
              <a:rPr sz="2900" spc="-5" dirty="0">
                <a:latin typeface="Times New Roman"/>
                <a:cs typeface="Times New Roman"/>
              </a:rPr>
              <a:t>trying to </a:t>
            </a:r>
            <a:r>
              <a:rPr sz="2900" dirty="0">
                <a:latin typeface="Times New Roman"/>
                <a:cs typeface="Times New Roman"/>
              </a:rPr>
              <a:t>call the </a:t>
            </a:r>
            <a:r>
              <a:rPr sz="2900" spc="-5" dirty="0">
                <a:latin typeface="Times New Roman"/>
                <a:cs typeface="Times New Roman"/>
              </a:rPr>
              <a:t>6th element </a:t>
            </a:r>
            <a:r>
              <a:rPr sz="2900" dirty="0">
                <a:latin typeface="Times New Roman"/>
                <a:cs typeface="Times New Roman"/>
              </a:rPr>
              <a:t>of the  array then</a:t>
            </a:r>
            <a:r>
              <a:rPr sz="2900" spc="-40" dirty="0">
                <a:latin typeface="Times New Roman"/>
                <a:cs typeface="Times New Roman"/>
              </a:rPr>
              <a:t> </a:t>
            </a:r>
            <a:r>
              <a:rPr sz="2900" spc="-10" dirty="0">
                <a:latin typeface="Times New Roman"/>
                <a:cs typeface="Times New Roman"/>
              </a:rPr>
              <a:t>an</a:t>
            </a:r>
            <a:endParaRPr sz="2900">
              <a:latin typeface="Times New Roman"/>
              <a:cs typeface="Times New Roman"/>
            </a:endParaRPr>
          </a:p>
          <a:p>
            <a:pPr marL="565785" algn="just">
              <a:lnSpc>
                <a:spcPct val="100000"/>
              </a:lnSpc>
              <a:spcBef>
                <a:spcPts val="350"/>
              </a:spcBef>
            </a:pPr>
            <a:r>
              <a:rPr sz="2900" spc="-5" dirty="0">
                <a:solidFill>
                  <a:srgbClr val="001F5F"/>
                </a:solidFill>
                <a:latin typeface="Times New Roman"/>
                <a:cs typeface="Times New Roman"/>
              </a:rPr>
              <a:t>ArrayIndexOutOfBoundsExceptionexception</a:t>
            </a:r>
            <a:r>
              <a:rPr sz="2900" spc="-20" dirty="0">
                <a:solidFill>
                  <a:srgbClr val="001F5F"/>
                </a:solidFill>
                <a:latin typeface="Times New Roman"/>
                <a:cs typeface="Times New Roman"/>
              </a:rPr>
              <a:t> </a:t>
            </a:r>
            <a:r>
              <a:rPr sz="2900" dirty="0">
                <a:latin typeface="Times New Roman"/>
                <a:cs typeface="Times New Roman"/>
              </a:rPr>
              <a:t>occurs.</a:t>
            </a:r>
            <a:endParaRPr sz="29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7088505"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Three Categories of</a:t>
            </a:r>
            <a:r>
              <a:rPr sz="4400" b="0" spc="-100" dirty="0">
                <a:latin typeface="Times New Roman"/>
                <a:cs typeface="Times New Roman"/>
              </a:rPr>
              <a:t> </a:t>
            </a:r>
            <a:r>
              <a:rPr sz="4400" b="0" dirty="0">
                <a:latin typeface="Times New Roman"/>
                <a:cs typeface="Times New Roman"/>
              </a:rPr>
              <a:t>Exceptions</a:t>
            </a:r>
            <a:endParaRPr sz="4400">
              <a:latin typeface="Times New Roman"/>
              <a:cs typeface="Times New Roman"/>
            </a:endParaRPr>
          </a:p>
        </p:txBody>
      </p:sp>
      <p:sp>
        <p:nvSpPr>
          <p:cNvPr id="3" name="object 3"/>
          <p:cNvSpPr txBox="1"/>
          <p:nvPr/>
        </p:nvSpPr>
        <p:spPr>
          <a:xfrm>
            <a:off x="-73660" y="1619452"/>
            <a:ext cx="8763635" cy="2769235"/>
          </a:xfrm>
          <a:prstGeom prst="rect">
            <a:avLst/>
          </a:prstGeom>
        </p:spPr>
        <p:txBody>
          <a:bodyPr vert="horz" wrap="square" lIns="0" tIns="13335" rIns="0" bIns="0" rtlCol="0">
            <a:spAutoFit/>
          </a:bodyPr>
          <a:lstStyle/>
          <a:p>
            <a:pPr marL="332740" marR="5080" indent="-320040" algn="just">
              <a:lnSpc>
                <a:spcPct val="100000"/>
              </a:lnSpc>
              <a:spcBef>
                <a:spcPts val="105"/>
              </a:spcBef>
              <a:buClr>
                <a:srgbClr val="DD8046"/>
              </a:buClr>
              <a:buSzPct val="58620"/>
              <a:buFont typeface="DejaVu Sans"/>
              <a:buChar char="◻"/>
              <a:tabLst>
                <a:tab pos="332740" algn="l"/>
              </a:tabLst>
            </a:pPr>
            <a:r>
              <a:rPr sz="2900" b="1" spc="-5" dirty="0">
                <a:solidFill>
                  <a:srgbClr val="FF0000"/>
                </a:solidFill>
                <a:latin typeface="Times New Roman"/>
                <a:cs typeface="Times New Roman"/>
              </a:rPr>
              <a:t>3. Errors: </a:t>
            </a:r>
            <a:r>
              <a:rPr sz="2900" dirty="0">
                <a:latin typeface="Times New Roman"/>
                <a:cs typeface="Times New Roman"/>
              </a:rPr>
              <a:t>These </a:t>
            </a:r>
            <a:r>
              <a:rPr sz="2900" spc="-5" dirty="0">
                <a:latin typeface="Times New Roman"/>
                <a:cs typeface="Times New Roman"/>
              </a:rPr>
              <a:t>are not exceptions at all, but problems  </a:t>
            </a:r>
            <a:r>
              <a:rPr sz="2900" dirty="0">
                <a:latin typeface="Times New Roman"/>
                <a:cs typeface="Times New Roman"/>
              </a:rPr>
              <a:t>that </a:t>
            </a:r>
            <a:r>
              <a:rPr sz="2900" spc="-5" dirty="0">
                <a:latin typeface="Times New Roman"/>
                <a:cs typeface="Times New Roman"/>
              </a:rPr>
              <a:t>arise </a:t>
            </a:r>
            <a:r>
              <a:rPr sz="2900" dirty="0">
                <a:latin typeface="Times New Roman"/>
                <a:cs typeface="Times New Roman"/>
              </a:rPr>
              <a:t>beyond the </a:t>
            </a:r>
            <a:r>
              <a:rPr sz="2900" spc="-5" dirty="0">
                <a:latin typeface="Times New Roman"/>
                <a:cs typeface="Times New Roman"/>
              </a:rPr>
              <a:t>control </a:t>
            </a:r>
            <a:r>
              <a:rPr sz="2900" dirty="0">
                <a:latin typeface="Times New Roman"/>
                <a:cs typeface="Times New Roman"/>
              </a:rPr>
              <a:t>of </a:t>
            </a:r>
            <a:r>
              <a:rPr sz="2900" spc="-5" dirty="0">
                <a:latin typeface="Times New Roman"/>
                <a:cs typeface="Times New Roman"/>
              </a:rPr>
              <a:t>the user </a:t>
            </a:r>
            <a:r>
              <a:rPr sz="2900" dirty="0">
                <a:latin typeface="Times New Roman"/>
                <a:cs typeface="Times New Roman"/>
              </a:rPr>
              <a:t>or the  </a:t>
            </a:r>
            <a:r>
              <a:rPr sz="2900" spc="-5" dirty="0">
                <a:latin typeface="Times New Roman"/>
                <a:cs typeface="Times New Roman"/>
              </a:rPr>
              <a:t>programmer. Errors </a:t>
            </a:r>
            <a:r>
              <a:rPr sz="2900" dirty="0">
                <a:latin typeface="Times New Roman"/>
                <a:cs typeface="Times New Roman"/>
              </a:rPr>
              <a:t>are </a:t>
            </a:r>
            <a:r>
              <a:rPr sz="2900" spc="-5" dirty="0">
                <a:latin typeface="Times New Roman"/>
                <a:cs typeface="Times New Roman"/>
              </a:rPr>
              <a:t>typically ignored in your </a:t>
            </a:r>
            <a:r>
              <a:rPr sz="2900" dirty="0">
                <a:latin typeface="Times New Roman"/>
                <a:cs typeface="Times New Roman"/>
              </a:rPr>
              <a:t>code  </a:t>
            </a:r>
            <a:r>
              <a:rPr sz="2900" spc="-5" dirty="0">
                <a:latin typeface="Times New Roman"/>
                <a:cs typeface="Times New Roman"/>
              </a:rPr>
              <a:t>because you can </a:t>
            </a:r>
            <a:r>
              <a:rPr sz="2900" dirty="0">
                <a:latin typeface="Times New Roman"/>
                <a:cs typeface="Times New Roman"/>
              </a:rPr>
              <a:t>rarely do anything about </a:t>
            </a:r>
            <a:r>
              <a:rPr sz="2900" spc="-5" dirty="0">
                <a:latin typeface="Times New Roman"/>
                <a:cs typeface="Times New Roman"/>
              </a:rPr>
              <a:t>an</a:t>
            </a:r>
            <a:r>
              <a:rPr sz="2900" spc="-65" dirty="0">
                <a:latin typeface="Times New Roman"/>
                <a:cs typeface="Times New Roman"/>
              </a:rPr>
              <a:t> </a:t>
            </a:r>
            <a:r>
              <a:rPr sz="2900" dirty="0">
                <a:latin typeface="Times New Roman"/>
                <a:cs typeface="Times New Roman"/>
              </a:rPr>
              <a:t>error.</a:t>
            </a:r>
            <a:endParaRPr sz="2900">
              <a:latin typeface="Times New Roman"/>
              <a:cs typeface="Times New Roman"/>
            </a:endParaRPr>
          </a:p>
          <a:p>
            <a:pPr marL="332740" marR="5715" indent="-320040" algn="just">
              <a:lnSpc>
                <a:spcPct val="100000"/>
              </a:lnSpc>
              <a:spcBef>
                <a:spcPts val="715"/>
              </a:spcBef>
              <a:buClr>
                <a:srgbClr val="DD8046"/>
              </a:buClr>
              <a:buSzPct val="58620"/>
              <a:buFont typeface="DejaVu Sans"/>
              <a:buChar char="◻"/>
              <a:tabLst>
                <a:tab pos="332740" algn="l"/>
              </a:tabLst>
            </a:pPr>
            <a:r>
              <a:rPr sz="2900" dirty="0">
                <a:latin typeface="Times New Roman"/>
                <a:cs typeface="Times New Roman"/>
              </a:rPr>
              <a:t>For </a:t>
            </a:r>
            <a:r>
              <a:rPr sz="2900" spc="-5" dirty="0">
                <a:latin typeface="Times New Roman"/>
                <a:cs typeface="Times New Roman"/>
              </a:rPr>
              <a:t>example, if </a:t>
            </a:r>
            <a:r>
              <a:rPr sz="2900" dirty="0">
                <a:latin typeface="Times New Roman"/>
                <a:cs typeface="Times New Roman"/>
              </a:rPr>
              <a:t>a </a:t>
            </a:r>
            <a:r>
              <a:rPr sz="2900" spc="-5" dirty="0">
                <a:latin typeface="Times New Roman"/>
                <a:cs typeface="Times New Roman"/>
              </a:rPr>
              <a:t>stack overflow occurs, an error </a:t>
            </a:r>
            <a:r>
              <a:rPr sz="2900" spc="-10" dirty="0">
                <a:latin typeface="Times New Roman"/>
                <a:cs typeface="Times New Roman"/>
              </a:rPr>
              <a:t>will  </a:t>
            </a:r>
            <a:r>
              <a:rPr sz="2900" spc="-5" dirty="0">
                <a:latin typeface="Times New Roman"/>
                <a:cs typeface="Times New Roman"/>
              </a:rPr>
              <a:t>arise. </a:t>
            </a:r>
            <a:r>
              <a:rPr sz="2900" dirty="0">
                <a:latin typeface="Times New Roman"/>
                <a:cs typeface="Times New Roman"/>
              </a:rPr>
              <a:t>They are </a:t>
            </a:r>
            <a:r>
              <a:rPr sz="2900" spc="-5" dirty="0">
                <a:latin typeface="Times New Roman"/>
                <a:cs typeface="Times New Roman"/>
              </a:rPr>
              <a:t>also </a:t>
            </a:r>
            <a:r>
              <a:rPr sz="2900" dirty="0">
                <a:latin typeface="Times New Roman"/>
                <a:cs typeface="Times New Roman"/>
              </a:rPr>
              <a:t>ignored </a:t>
            </a:r>
            <a:r>
              <a:rPr sz="2900" spc="-5" dirty="0">
                <a:latin typeface="Times New Roman"/>
                <a:cs typeface="Times New Roman"/>
              </a:rPr>
              <a:t>at </a:t>
            </a:r>
            <a:r>
              <a:rPr sz="2900" dirty="0">
                <a:latin typeface="Times New Roman"/>
                <a:cs typeface="Times New Roman"/>
              </a:rPr>
              <a:t>the </a:t>
            </a:r>
            <a:r>
              <a:rPr sz="2900" spc="-15" dirty="0">
                <a:latin typeface="Times New Roman"/>
                <a:cs typeface="Times New Roman"/>
              </a:rPr>
              <a:t>time </a:t>
            </a:r>
            <a:r>
              <a:rPr sz="2900" dirty="0">
                <a:latin typeface="Times New Roman"/>
                <a:cs typeface="Times New Roman"/>
              </a:rPr>
              <a:t>of</a:t>
            </a:r>
            <a:r>
              <a:rPr sz="2900" spc="-30" dirty="0">
                <a:latin typeface="Times New Roman"/>
                <a:cs typeface="Times New Roman"/>
              </a:rPr>
              <a:t> </a:t>
            </a:r>
            <a:r>
              <a:rPr sz="2900" spc="-5" dirty="0">
                <a:latin typeface="Times New Roman"/>
                <a:cs typeface="Times New Roman"/>
              </a:rPr>
              <a:t>compilation.</a:t>
            </a:r>
            <a:endParaRPr sz="290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4824095"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Uncaught</a:t>
            </a:r>
            <a:r>
              <a:rPr sz="4400" b="0" spc="-80" dirty="0">
                <a:latin typeface="Times New Roman"/>
                <a:cs typeface="Times New Roman"/>
              </a:rPr>
              <a:t> </a:t>
            </a:r>
            <a:r>
              <a:rPr sz="4400" b="0" dirty="0">
                <a:latin typeface="Times New Roman"/>
                <a:cs typeface="Times New Roman"/>
              </a:rPr>
              <a:t>Exceptions</a:t>
            </a:r>
            <a:endParaRPr sz="4400">
              <a:latin typeface="Times New Roman"/>
              <a:cs typeface="Times New Roman"/>
            </a:endParaRPr>
          </a:p>
        </p:txBody>
      </p:sp>
      <p:sp>
        <p:nvSpPr>
          <p:cNvPr id="3" name="object 3"/>
          <p:cNvSpPr txBox="1"/>
          <p:nvPr/>
        </p:nvSpPr>
        <p:spPr>
          <a:xfrm>
            <a:off x="307340" y="1530697"/>
            <a:ext cx="8380730" cy="5184775"/>
          </a:xfrm>
          <a:prstGeom prst="rect">
            <a:avLst/>
          </a:prstGeom>
        </p:spPr>
        <p:txBody>
          <a:bodyPr vert="horz" wrap="square" lIns="0" tIns="62229" rIns="0" bIns="0" rtlCol="0">
            <a:spAutoFit/>
          </a:bodyPr>
          <a:lstStyle/>
          <a:p>
            <a:pPr marL="12700">
              <a:lnSpc>
                <a:spcPct val="100000"/>
              </a:lnSpc>
              <a:spcBef>
                <a:spcPts val="489"/>
              </a:spcBef>
            </a:pPr>
            <a:r>
              <a:rPr sz="2700" dirty="0">
                <a:latin typeface="Times New Roman"/>
                <a:cs typeface="Times New Roman"/>
              </a:rPr>
              <a:t>class Exc0</a:t>
            </a:r>
            <a:r>
              <a:rPr sz="2700" spc="-35" dirty="0">
                <a:latin typeface="Times New Roman"/>
                <a:cs typeface="Times New Roman"/>
              </a:rPr>
              <a:t> </a:t>
            </a:r>
            <a:r>
              <a:rPr sz="2700" dirty="0">
                <a:latin typeface="Times New Roman"/>
                <a:cs typeface="Times New Roman"/>
              </a:rPr>
              <a:t>{</a:t>
            </a:r>
            <a:endParaRPr sz="2700">
              <a:latin typeface="Times New Roman"/>
              <a:cs typeface="Times New Roman"/>
            </a:endParaRPr>
          </a:p>
          <a:p>
            <a:pPr marL="927100" marR="2113915">
              <a:lnSpc>
                <a:spcPct val="111500"/>
              </a:lnSpc>
              <a:spcBef>
                <a:spcPts val="10"/>
              </a:spcBef>
            </a:pPr>
            <a:r>
              <a:rPr sz="2700" dirty="0">
                <a:latin typeface="Times New Roman"/>
                <a:cs typeface="Times New Roman"/>
              </a:rPr>
              <a:t>public static void main(String </a:t>
            </a:r>
            <a:r>
              <a:rPr sz="2700" spc="-5" dirty="0">
                <a:latin typeface="Times New Roman"/>
                <a:cs typeface="Times New Roman"/>
              </a:rPr>
              <a:t>args[])</a:t>
            </a:r>
            <a:r>
              <a:rPr sz="2700" spc="-135" dirty="0">
                <a:latin typeface="Times New Roman"/>
                <a:cs typeface="Times New Roman"/>
              </a:rPr>
              <a:t> </a:t>
            </a:r>
            <a:r>
              <a:rPr sz="2700" dirty="0">
                <a:latin typeface="Times New Roman"/>
                <a:cs typeface="Times New Roman"/>
              </a:rPr>
              <a:t>{  int d =</a:t>
            </a:r>
            <a:r>
              <a:rPr sz="2700" spc="-30" dirty="0">
                <a:latin typeface="Times New Roman"/>
                <a:cs typeface="Times New Roman"/>
              </a:rPr>
              <a:t> </a:t>
            </a:r>
            <a:r>
              <a:rPr sz="2700" dirty="0">
                <a:latin typeface="Times New Roman"/>
                <a:cs typeface="Times New Roman"/>
              </a:rPr>
              <a:t>0;</a:t>
            </a:r>
            <a:endParaRPr sz="2700">
              <a:latin typeface="Times New Roman"/>
              <a:cs typeface="Times New Roman"/>
            </a:endParaRPr>
          </a:p>
          <a:p>
            <a:pPr marL="927100">
              <a:lnSpc>
                <a:spcPct val="100000"/>
              </a:lnSpc>
              <a:spcBef>
                <a:spcPts val="375"/>
              </a:spcBef>
            </a:pPr>
            <a:r>
              <a:rPr sz="2700" dirty="0">
                <a:latin typeface="Times New Roman"/>
                <a:cs typeface="Times New Roman"/>
              </a:rPr>
              <a:t>int a = 42 /</a:t>
            </a:r>
            <a:r>
              <a:rPr sz="2700" spc="-30" dirty="0">
                <a:latin typeface="Times New Roman"/>
                <a:cs typeface="Times New Roman"/>
              </a:rPr>
              <a:t> </a:t>
            </a:r>
            <a:r>
              <a:rPr sz="2700" dirty="0">
                <a:latin typeface="Times New Roman"/>
                <a:cs typeface="Times New Roman"/>
              </a:rPr>
              <a:t>d;</a:t>
            </a:r>
            <a:endParaRPr sz="2700">
              <a:latin typeface="Times New Roman"/>
              <a:cs typeface="Times New Roman"/>
            </a:endParaRPr>
          </a:p>
          <a:p>
            <a:pPr marL="525780">
              <a:lnSpc>
                <a:spcPct val="100000"/>
              </a:lnSpc>
              <a:spcBef>
                <a:spcPts val="385"/>
              </a:spcBef>
            </a:pPr>
            <a:r>
              <a:rPr sz="2700" dirty="0">
                <a:latin typeface="Times New Roman"/>
                <a:cs typeface="Times New Roman"/>
              </a:rPr>
              <a:t>}</a:t>
            </a:r>
            <a:endParaRPr sz="2700">
              <a:latin typeface="Times New Roman"/>
              <a:cs typeface="Times New Roman"/>
            </a:endParaRPr>
          </a:p>
          <a:p>
            <a:pPr marL="12700">
              <a:lnSpc>
                <a:spcPct val="100000"/>
              </a:lnSpc>
              <a:spcBef>
                <a:spcPts val="370"/>
              </a:spcBef>
            </a:pPr>
            <a:r>
              <a:rPr sz="2700" dirty="0">
                <a:latin typeface="Times New Roman"/>
                <a:cs typeface="Times New Roman"/>
              </a:rPr>
              <a:t>}</a:t>
            </a:r>
            <a:endParaRPr sz="2700">
              <a:latin typeface="Times New Roman"/>
              <a:cs typeface="Times New Roman"/>
            </a:endParaRPr>
          </a:p>
          <a:p>
            <a:pPr marL="332740" marR="5080" indent="-320040" algn="just">
              <a:lnSpc>
                <a:spcPct val="90000"/>
              </a:lnSpc>
              <a:spcBef>
                <a:spcPts val="700"/>
              </a:spcBef>
              <a:buClr>
                <a:srgbClr val="DD8046"/>
              </a:buClr>
              <a:buSzPct val="59259"/>
              <a:buFont typeface="DejaVu Sans"/>
              <a:buChar char="◻"/>
              <a:tabLst>
                <a:tab pos="332740" algn="l"/>
              </a:tabLst>
            </a:pPr>
            <a:r>
              <a:rPr sz="2700" dirty="0">
                <a:latin typeface="Times New Roman"/>
                <a:cs typeface="Times New Roman"/>
              </a:rPr>
              <a:t>When the Java </a:t>
            </a:r>
            <a:r>
              <a:rPr sz="2700" spc="-5" dirty="0">
                <a:latin typeface="Times New Roman"/>
                <a:cs typeface="Times New Roman"/>
              </a:rPr>
              <a:t>run-time </a:t>
            </a:r>
            <a:r>
              <a:rPr sz="2700" dirty="0">
                <a:latin typeface="Times New Roman"/>
                <a:cs typeface="Times New Roman"/>
              </a:rPr>
              <a:t>system detects the </a:t>
            </a:r>
            <a:r>
              <a:rPr sz="2700" spc="-5" dirty="0">
                <a:latin typeface="Times New Roman"/>
                <a:cs typeface="Times New Roman"/>
              </a:rPr>
              <a:t>attempt to  </a:t>
            </a:r>
            <a:r>
              <a:rPr sz="2700" dirty="0">
                <a:latin typeface="Times New Roman"/>
                <a:cs typeface="Times New Roman"/>
              </a:rPr>
              <a:t>divide by zero, it constructs a </a:t>
            </a:r>
            <a:r>
              <a:rPr sz="2700" spc="-5" dirty="0">
                <a:latin typeface="Times New Roman"/>
                <a:cs typeface="Times New Roman"/>
              </a:rPr>
              <a:t>new </a:t>
            </a:r>
            <a:r>
              <a:rPr sz="2700" dirty="0">
                <a:latin typeface="Times New Roman"/>
                <a:cs typeface="Times New Roman"/>
              </a:rPr>
              <a:t>exception object and  then throws this</a:t>
            </a:r>
            <a:r>
              <a:rPr sz="2700" spc="-35" dirty="0">
                <a:latin typeface="Times New Roman"/>
                <a:cs typeface="Times New Roman"/>
              </a:rPr>
              <a:t> </a:t>
            </a:r>
            <a:r>
              <a:rPr sz="2700" dirty="0">
                <a:latin typeface="Times New Roman"/>
                <a:cs typeface="Times New Roman"/>
              </a:rPr>
              <a:t>exception.</a:t>
            </a:r>
            <a:endParaRPr sz="2700">
              <a:latin typeface="Times New Roman"/>
              <a:cs typeface="Times New Roman"/>
            </a:endParaRPr>
          </a:p>
          <a:p>
            <a:pPr marL="332740" marR="5080" indent="-320040" algn="just">
              <a:lnSpc>
                <a:spcPct val="90000"/>
              </a:lnSpc>
              <a:spcBef>
                <a:spcPts val="705"/>
              </a:spcBef>
              <a:buClr>
                <a:srgbClr val="DD8046"/>
              </a:buClr>
              <a:buSzPct val="59259"/>
              <a:buFont typeface="DejaVu Sans"/>
              <a:buChar char="◻"/>
              <a:tabLst>
                <a:tab pos="332740" algn="l"/>
              </a:tabLst>
            </a:pPr>
            <a:r>
              <a:rPr sz="2700" dirty="0">
                <a:latin typeface="Times New Roman"/>
                <a:cs typeface="Times New Roman"/>
              </a:rPr>
              <a:t>This </a:t>
            </a:r>
            <a:r>
              <a:rPr sz="2700" spc="-5" dirty="0">
                <a:latin typeface="Times New Roman"/>
                <a:cs typeface="Times New Roman"/>
              </a:rPr>
              <a:t>causes </a:t>
            </a:r>
            <a:r>
              <a:rPr sz="2700" dirty="0">
                <a:latin typeface="Times New Roman"/>
                <a:cs typeface="Times New Roman"/>
              </a:rPr>
              <a:t>the </a:t>
            </a:r>
            <a:r>
              <a:rPr sz="2700" spc="-5" dirty="0">
                <a:latin typeface="Times New Roman"/>
                <a:cs typeface="Times New Roman"/>
              </a:rPr>
              <a:t>execution </a:t>
            </a:r>
            <a:r>
              <a:rPr sz="2700" dirty="0">
                <a:latin typeface="Times New Roman"/>
                <a:cs typeface="Times New Roman"/>
              </a:rPr>
              <a:t>of Exc0 </a:t>
            </a:r>
            <a:r>
              <a:rPr sz="2700" spc="-5" dirty="0">
                <a:latin typeface="Times New Roman"/>
                <a:cs typeface="Times New Roman"/>
              </a:rPr>
              <a:t>to stop, </a:t>
            </a:r>
            <a:r>
              <a:rPr sz="2700" dirty="0">
                <a:latin typeface="Times New Roman"/>
                <a:cs typeface="Times New Roman"/>
              </a:rPr>
              <a:t>because once  an exception </a:t>
            </a:r>
            <a:r>
              <a:rPr sz="2700" spc="-5" dirty="0">
                <a:latin typeface="Times New Roman"/>
                <a:cs typeface="Times New Roman"/>
              </a:rPr>
              <a:t>has </a:t>
            </a:r>
            <a:r>
              <a:rPr sz="2700" dirty="0">
                <a:latin typeface="Times New Roman"/>
                <a:cs typeface="Times New Roman"/>
              </a:rPr>
              <a:t>been </a:t>
            </a:r>
            <a:r>
              <a:rPr sz="2700" spc="-5" dirty="0">
                <a:latin typeface="Times New Roman"/>
                <a:cs typeface="Times New Roman"/>
              </a:rPr>
              <a:t>thrown, </a:t>
            </a:r>
            <a:r>
              <a:rPr sz="2700" dirty="0">
                <a:latin typeface="Times New Roman"/>
                <a:cs typeface="Times New Roman"/>
              </a:rPr>
              <a:t>it </a:t>
            </a:r>
            <a:r>
              <a:rPr sz="2700" spc="-5" dirty="0">
                <a:latin typeface="Times New Roman"/>
                <a:cs typeface="Times New Roman"/>
              </a:rPr>
              <a:t>must be </a:t>
            </a:r>
            <a:r>
              <a:rPr sz="2700" dirty="0">
                <a:latin typeface="Times New Roman"/>
                <a:cs typeface="Times New Roman"/>
              </a:rPr>
              <a:t>caught </a:t>
            </a:r>
            <a:r>
              <a:rPr sz="2700" spc="-5" dirty="0">
                <a:latin typeface="Times New Roman"/>
                <a:cs typeface="Times New Roman"/>
              </a:rPr>
              <a:t>by </a:t>
            </a:r>
            <a:r>
              <a:rPr sz="2700" dirty="0">
                <a:latin typeface="Times New Roman"/>
                <a:cs typeface="Times New Roman"/>
              </a:rPr>
              <a:t>an  exception handler and dealt with</a:t>
            </a:r>
            <a:r>
              <a:rPr sz="2700" spc="-55" dirty="0">
                <a:latin typeface="Times New Roman"/>
                <a:cs typeface="Times New Roman"/>
              </a:rPr>
              <a:t> </a:t>
            </a:r>
            <a:r>
              <a:rPr sz="2700" dirty="0">
                <a:latin typeface="Times New Roman"/>
                <a:cs typeface="Times New Roman"/>
              </a:rPr>
              <a:t>immediately.</a:t>
            </a:r>
            <a:endParaRPr sz="270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84835"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a:t>
            </a:r>
            <a:endParaRPr sz="4400">
              <a:latin typeface="Times New Roman"/>
              <a:cs typeface="Times New Roman"/>
            </a:endParaRPr>
          </a:p>
        </p:txBody>
      </p:sp>
      <p:sp>
        <p:nvSpPr>
          <p:cNvPr id="3" name="object 3"/>
          <p:cNvSpPr txBox="1"/>
          <p:nvPr/>
        </p:nvSpPr>
        <p:spPr>
          <a:xfrm>
            <a:off x="307340" y="1620977"/>
            <a:ext cx="4403090" cy="437515"/>
          </a:xfrm>
          <a:prstGeom prst="rect">
            <a:avLst/>
          </a:prstGeom>
        </p:spPr>
        <p:txBody>
          <a:bodyPr vert="horz" wrap="square" lIns="0" tIns="12700" rIns="0" bIns="0" rtlCol="0">
            <a:spAutoFit/>
          </a:bodyPr>
          <a:lstStyle/>
          <a:p>
            <a:pPr marL="332740" indent="-320040">
              <a:lnSpc>
                <a:spcPct val="100000"/>
              </a:lnSpc>
              <a:spcBef>
                <a:spcPts val="100"/>
              </a:spcBef>
              <a:buClr>
                <a:srgbClr val="DD8046"/>
              </a:buClr>
              <a:buSzPct val="59259"/>
              <a:buFont typeface="DejaVu Sans"/>
              <a:buChar char="◻"/>
              <a:tabLst>
                <a:tab pos="332105" algn="l"/>
                <a:tab pos="332740" algn="l"/>
                <a:tab pos="2216150" algn="l"/>
                <a:tab pos="4045585" algn="l"/>
              </a:tabLst>
            </a:pPr>
            <a:r>
              <a:rPr sz="2700" dirty="0">
                <a:latin typeface="Times New Roman"/>
                <a:cs typeface="Times New Roman"/>
              </a:rPr>
              <a:t>Exception	ge</a:t>
            </a:r>
            <a:r>
              <a:rPr sz="2700" spc="5" dirty="0">
                <a:latin typeface="Times New Roman"/>
                <a:cs typeface="Times New Roman"/>
              </a:rPr>
              <a:t>n</a:t>
            </a:r>
            <a:r>
              <a:rPr sz="2700" dirty="0">
                <a:latin typeface="Times New Roman"/>
                <a:cs typeface="Times New Roman"/>
              </a:rPr>
              <a:t>erated	by</a:t>
            </a:r>
            <a:endParaRPr sz="2700">
              <a:latin typeface="Times New Roman"/>
              <a:cs typeface="Times New Roman"/>
            </a:endParaRPr>
          </a:p>
        </p:txBody>
      </p:sp>
      <p:sp>
        <p:nvSpPr>
          <p:cNvPr id="4" name="object 4"/>
          <p:cNvSpPr txBox="1"/>
          <p:nvPr/>
        </p:nvSpPr>
        <p:spPr>
          <a:xfrm>
            <a:off x="5177409" y="1620977"/>
            <a:ext cx="3510915" cy="849630"/>
          </a:xfrm>
          <a:prstGeom prst="rect">
            <a:avLst/>
          </a:prstGeom>
        </p:spPr>
        <p:txBody>
          <a:bodyPr vert="horz" wrap="square" lIns="0" tIns="12700" rIns="0" bIns="0" rtlCol="0">
            <a:spAutoFit/>
          </a:bodyPr>
          <a:lstStyle/>
          <a:p>
            <a:pPr marR="5715" algn="r">
              <a:lnSpc>
                <a:spcPct val="100000"/>
              </a:lnSpc>
              <a:spcBef>
                <a:spcPts val="100"/>
              </a:spcBef>
              <a:tabLst>
                <a:tab pos="913765" algn="l"/>
                <a:tab pos="2226310" algn="l"/>
              </a:tabLst>
            </a:pPr>
            <a:r>
              <a:rPr sz="2700" spc="5" dirty="0">
                <a:latin typeface="Times New Roman"/>
                <a:cs typeface="Times New Roman"/>
              </a:rPr>
              <a:t>th</a:t>
            </a:r>
            <a:r>
              <a:rPr sz="2700" dirty="0">
                <a:latin typeface="Times New Roman"/>
                <a:cs typeface="Times New Roman"/>
              </a:rPr>
              <a:t>e	</a:t>
            </a:r>
            <a:r>
              <a:rPr sz="2700" spc="-15" dirty="0">
                <a:latin typeface="Times New Roman"/>
                <a:cs typeface="Times New Roman"/>
              </a:rPr>
              <a:t>a</a:t>
            </a:r>
            <a:r>
              <a:rPr sz="2700" dirty="0">
                <a:latin typeface="Times New Roman"/>
                <a:cs typeface="Times New Roman"/>
              </a:rPr>
              <a:t>bove	progra</a:t>
            </a:r>
            <a:r>
              <a:rPr sz="2700" spc="-10" dirty="0">
                <a:latin typeface="Times New Roman"/>
                <a:cs typeface="Times New Roman"/>
              </a:rPr>
              <a:t>m</a:t>
            </a:r>
            <a:r>
              <a:rPr sz="2700" dirty="0">
                <a:latin typeface="Times New Roman"/>
                <a:cs typeface="Times New Roman"/>
              </a:rPr>
              <a:t>:</a:t>
            </a:r>
            <a:endParaRPr sz="2700">
              <a:latin typeface="Times New Roman"/>
              <a:cs typeface="Times New Roman"/>
            </a:endParaRPr>
          </a:p>
          <a:p>
            <a:pPr marR="5080" algn="r">
              <a:lnSpc>
                <a:spcPct val="100000"/>
              </a:lnSpc>
              <a:spcBef>
                <a:spcPts val="5"/>
              </a:spcBef>
              <a:tabLst>
                <a:tab pos="875030" algn="l"/>
                <a:tab pos="2016125" algn="l"/>
              </a:tabLst>
            </a:pPr>
            <a:r>
              <a:rPr sz="2700" b="1" spc="-10" dirty="0">
                <a:solidFill>
                  <a:srgbClr val="FF0000"/>
                </a:solidFill>
                <a:latin typeface="Times New Roman"/>
                <a:cs typeface="Times New Roman"/>
              </a:rPr>
              <a:t>b</a:t>
            </a:r>
            <a:r>
              <a:rPr sz="2700" b="1" spc="-5" dirty="0">
                <a:solidFill>
                  <a:srgbClr val="FF0000"/>
                </a:solidFill>
                <a:latin typeface="Times New Roman"/>
                <a:cs typeface="Times New Roman"/>
              </a:rPr>
              <a:t>y</a:t>
            </a:r>
            <a:r>
              <a:rPr sz="2700" b="1" dirty="0">
                <a:solidFill>
                  <a:srgbClr val="FF0000"/>
                </a:solidFill>
                <a:latin typeface="Times New Roman"/>
                <a:cs typeface="Times New Roman"/>
              </a:rPr>
              <a:t>	</a:t>
            </a:r>
            <a:r>
              <a:rPr sz="2700" b="1" spc="-15" dirty="0">
                <a:solidFill>
                  <a:srgbClr val="FF0000"/>
                </a:solidFill>
                <a:latin typeface="Times New Roman"/>
                <a:cs typeface="Times New Roman"/>
              </a:rPr>
              <a:t>z</a:t>
            </a:r>
            <a:r>
              <a:rPr sz="2700" b="1" dirty="0">
                <a:solidFill>
                  <a:srgbClr val="FF0000"/>
                </a:solidFill>
                <a:latin typeface="Times New Roman"/>
                <a:cs typeface="Times New Roman"/>
              </a:rPr>
              <a:t>ero	</a:t>
            </a:r>
            <a:r>
              <a:rPr sz="2700" b="1" spc="5" dirty="0">
                <a:solidFill>
                  <a:srgbClr val="FF0000"/>
                </a:solidFill>
                <a:latin typeface="Times New Roman"/>
                <a:cs typeface="Times New Roman"/>
              </a:rPr>
              <a:t>at</a:t>
            </a:r>
            <a:endParaRPr sz="2700">
              <a:latin typeface="Times New Roman"/>
              <a:cs typeface="Times New Roman"/>
            </a:endParaRPr>
          </a:p>
        </p:txBody>
      </p:sp>
      <p:sp>
        <p:nvSpPr>
          <p:cNvPr id="5" name="object 5"/>
          <p:cNvSpPr txBox="1"/>
          <p:nvPr/>
        </p:nvSpPr>
        <p:spPr>
          <a:xfrm>
            <a:off x="627380" y="2033142"/>
            <a:ext cx="5242560" cy="848360"/>
          </a:xfrm>
          <a:prstGeom prst="rect">
            <a:avLst/>
          </a:prstGeom>
        </p:spPr>
        <p:txBody>
          <a:bodyPr vert="horz" wrap="square" lIns="0" tIns="12700" rIns="0" bIns="0" rtlCol="0">
            <a:spAutoFit/>
          </a:bodyPr>
          <a:lstStyle/>
          <a:p>
            <a:pPr marL="12700" marR="5080">
              <a:lnSpc>
                <a:spcPct val="100000"/>
              </a:lnSpc>
              <a:spcBef>
                <a:spcPts val="100"/>
              </a:spcBef>
              <a:tabLst>
                <a:tab pos="5133975" algn="l"/>
              </a:tabLst>
            </a:pPr>
            <a:r>
              <a:rPr sz="2700" b="1" dirty="0">
                <a:solidFill>
                  <a:srgbClr val="FF0000"/>
                </a:solidFill>
                <a:latin typeface="Times New Roman"/>
                <a:cs typeface="Times New Roman"/>
              </a:rPr>
              <a:t>jav</a:t>
            </a:r>
            <a:r>
              <a:rPr sz="2700" b="1" spc="5" dirty="0">
                <a:solidFill>
                  <a:srgbClr val="FF0000"/>
                </a:solidFill>
                <a:latin typeface="Times New Roman"/>
                <a:cs typeface="Times New Roman"/>
              </a:rPr>
              <a:t>a</a:t>
            </a:r>
            <a:r>
              <a:rPr sz="2700" b="1" spc="-5" dirty="0">
                <a:solidFill>
                  <a:srgbClr val="FF0000"/>
                </a:solidFill>
                <a:latin typeface="Times New Roman"/>
                <a:cs typeface="Times New Roman"/>
              </a:rPr>
              <a:t>.</a:t>
            </a:r>
            <a:r>
              <a:rPr sz="2700" b="1" dirty="0">
                <a:solidFill>
                  <a:srgbClr val="FF0000"/>
                </a:solidFill>
                <a:latin typeface="Times New Roman"/>
                <a:cs typeface="Times New Roman"/>
              </a:rPr>
              <a:t>l</a:t>
            </a:r>
            <a:r>
              <a:rPr sz="2700" b="1" spc="5" dirty="0">
                <a:solidFill>
                  <a:srgbClr val="FF0000"/>
                </a:solidFill>
                <a:latin typeface="Times New Roman"/>
                <a:cs typeface="Times New Roman"/>
              </a:rPr>
              <a:t>a</a:t>
            </a:r>
            <a:r>
              <a:rPr sz="2700" b="1" spc="-20" dirty="0">
                <a:solidFill>
                  <a:srgbClr val="FF0000"/>
                </a:solidFill>
                <a:latin typeface="Times New Roman"/>
                <a:cs typeface="Times New Roman"/>
              </a:rPr>
              <a:t>n</a:t>
            </a:r>
            <a:r>
              <a:rPr sz="2700" b="1" spc="5" dirty="0">
                <a:solidFill>
                  <a:srgbClr val="FF0000"/>
                </a:solidFill>
                <a:latin typeface="Times New Roman"/>
                <a:cs typeface="Times New Roman"/>
              </a:rPr>
              <a:t>g</a:t>
            </a:r>
            <a:r>
              <a:rPr sz="2700" b="1" spc="-15" dirty="0">
                <a:solidFill>
                  <a:srgbClr val="FF0000"/>
                </a:solidFill>
                <a:latin typeface="Times New Roman"/>
                <a:cs typeface="Times New Roman"/>
              </a:rPr>
              <a:t>.</a:t>
            </a:r>
            <a:r>
              <a:rPr sz="2700" b="1" dirty="0">
                <a:solidFill>
                  <a:srgbClr val="FF0000"/>
                </a:solidFill>
                <a:latin typeface="Times New Roman"/>
                <a:cs typeface="Times New Roman"/>
              </a:rPr>
              <a:t>ArithmeticE</a:t>
            </a:r>
            <a:r>
              <a:rPr sz="2700" b="1" spc="5" dirty="0">
                <a:solidFill>
                  <a:srgbClr val="FF0000"/>
                </a:solidFill>
                <a:latin typeface="Times New Roman"/>
                <a:cs typeface="Times New Roman"/>
              </a:rPr>
              <a:t>x</a:t>
            </a:r>
            <a:r>
              <a:rPr sz="2700" b="1" dirty="0">
                <a:solidFill>
                  <a:srgbClr val="FF0000"/>
                </a:solidFill>
                <a:latin typeface="Times New Roman"/>
                <a:cs typeface="Times New Roman"/>
              </a:rPr>
              <a:t>cepti</a:t>
            </a:r>
            <a:r>
              <a:rPr sz="2700" b="1" spc="-15" dirty="0">
                <a:solidFill>
                  <a:srgbClr val="FF0000"/>
                </a:solidFill>
                <a:latin typeface="Times New Roman"/>
                <a:cs typeface="Times New Roman"/>
              </a:rPr>
              <a:t>o</a:t>
            </a:r>
            <a:r>
              <a:rPr sz="2700" b="1" dirty="0">
                <a:solidFill>
                  <a:srgbClr val="FF0000"/>
                </a:solidFill>
                <a:latin typeface="Times New Roman"/>
                <a:cs typeface="Times New Roman"/>
              </a:rPr>
              <a:t>n:	/  Exc0.main(Exc0.java:4)</a:t>
            </a:r>
            <a:endParaRPr sz="2700">
              <a:latin typeface="Times New Roman"/>
              <a:cs typeface="Times New Roman"/>
            </a:endParaRPr>
          </a:p>
        </p:txBody>
      </p:sp>
      <p:sp>
        <p:nvSpPr>
          <p:cNvPr id="6" name="object 6"/>
          <p:cNvSpPr txBox="1"/>
          <p:nvPr/>
        </p:nvSpPr>
        <p:spPr>
          <a:xfrm>
            <a:off x="307340" y="2945714"/>
            <a:ext cx="8382000" cy="2583815"/>
          </a:xfrm>
          <a:prstGeom prst="rect">
            <a:avLst/>
          </a:prstGeom>
        </p:spPr>
        <p:txBody>
          <a:bodyPr vert="horz" wrap="square" lIns="0" tIns="12700" rIns="0" bIns="0" rtlCol="0">
            <a:spAutoFit/>
          </a:bodyPr>
          <a:lstStyle/>
          <a:p>
            <a:pPr marL="332740" marR="5715" indent="-320040" algn="just">
              <a:lnSpc>
                <a:spcPct val="100000"/>
              </a:lnSpc>
              <a:spcBef>
                <a:spcPts val="100"/>
              </a:spcBef>
              <a:buClr>
                <a:srgbClr val="DD8046"/>
              </a:buClr>
              <a:buSzPct val="59259"/>
              <a:buFont typeface="DejaVu Sans"/>
              <a:buChar char="◻"/>
              <a:tabLst>
                <a:tab pos="332740" algn="l"/>
              </a:tabLst>
            </a:pPr>
            <a:r>
              <a:rPr sz="2700" dirty="0">
                <a:latin typeface="Times New Roman"/>
                <a:cs typeface="Times New Roman"/>
              </a:rPr>
              <a:t>Notice </a:t>
            </a:r>
            <a:r>
              <a:rPr sz="2700" spc="-5" dirty="0">
                <a:latin typeface="Times New Roman"/>
                <a:cs typeface="Times New Roman"/>
              </a:rPr>
              <a:t>that </a:t>
            </a:r>
            <a:r>
              <a:rPr sz="2700" dirty="0">
                <a:latin typeface="Times New Roman"/>
                <a:cs typeface="Times New Roman"/>
              </a:rPr>
              <a:t>here Exc0 is a </a:t>
            </a:r>
            <a:r>
              <a:rPr sz="2700" spc="-5" dirty="0">
                <a:latin typeface="Times New Roman"/>
                <a:cs typeface="Times New Roman"/>
              </a:rPr>
              <a:t>class name; </a:t>
            </a:r>
            <a:r>
              <a:rPr sz="2700" dirty="0">
                <a:latin typeface="Times New Roman"/>
                <a:cs typeface="Times New Roman"/>
              </a:rPr>
              <a:t>the </a:t>
            </a:r>
            <a:r>
              <a:rPr sz="2700" spc="-5" dirty="0">
                <a:latin typeface="Times New Roman"/>
                <a:cs typeface="Times New Roman"/>
              </a:rPr>
              <a:t>method name  </a:t>
            </a:r>
            <a:r>
              <a:rPr sz="2700" dirty="0">
                <a:latin typeface="Times New Roman"/>
                <a:cs typeface="Times New Roman"/>
              </a:rPr>
              <a:t>main(); and the </a:t>
            </a:r>
            <a:r>
              <a:rPr sz="2700" spc="-5" dirty="0">
                <a:latin typeface="Times New Roman"/>
                <a:cs typeface="Times New Roman"/>
              </a:rPr>
              <a:t>filename </a:t>
            </a:r>
            <a:r>
              <a:rPr sz="2700" dirty="0">
                <a:latin typeface="Times New Roman"/>
                <a:cs typeface="Times New Roman"/>
              </a:rPr>
              <a:t>is Exc0.java; and </a:t>
            </a:r>
            <a:r>
              <a:rPr sz="2700" spc="-10" dirty="0">
                <a:latin typeface="Times New Roman"/>
                <a:cs typeface="Times New Roman"/>
              </a:rPr>
              <a:t>the </a:t>
            </a:r>
            <a:r>
              <a:rPr sz="2700" dirty="0">
                <a:latin typeface="Times New Roman"/>
                <a:cs typeface="Times New Roman"/>
              </a:rPr>
              <a:t>line  </a:t>
            </a:r>
            <a:r>
              <a:rPr sz="2700" spc="-5" dirty="0">
                <a:latin typeface="Times New Roman"/>
                <a:cs typeface="Times New Roman"/>
              </a:rPr>
              <a:t>number, </a:t>
            </a:r>
            <a:r>
              <a:rPr sz="2700" dirty="0">
                <a:latin typeface="Times New Roman"/>
                <a:cs typeface="Times New Roman"/>
              </a:rPr>
              <a:t>4, are all included in the </a:t>
            </a:r>
            <a:r>
              <a:rPr sz="2700" spc="-5" dirty="0">
                <a:latin typeface="Times New Roman"/>
                <a:cs typeface="Times New Roman"/>
              </a:rPr>
              <a:t>simple </a:t>
            </a:r>
            <a:r>
              <a:rPr sz="2700" dirty="0">
                <a:latin typeface="Times New Roman"/>
                <a:cs typeface="Times New Roman"/>
              </a:rPr>
              <a:t>stack</a:t>
            </a:r>
            <a:r>
              <a:rPr sz="2700" spc="-50" dirty="0">
                <a:latin typeface="Times New Roman"/>
                <a:cs typeface="Times New Roman"/>
              </a:rPr>
              <a:t> </a:t>
            </a:r>
            <a:r>
              <a:rPr sz="2700" dirty="0">
                <a:latin typeface="Times New Roman"/>
                <a:cs typeface="Times New Roman"/>
              </a:rPr>
              <a:t>trace.</a:t>
            </a:r>
            <a:endParaRPr sz="2700">
              <a:latin typeface="Times New Roman"/>
              <a:cs typeface="Times New Roman"/>
            </a:endParaRPr>
          </a:p>
          <a:p>
            <a:pPr marL="332740" marR="5080" indent="-320040" algn="just">
              <a:lnSpc>
                <a:spcPct val="100000"/>
              </a:lnSpc>
              <a:spcBef>
                <a:spcPts val="700"/>
              </a:spcBef>
              <a:buClr>
                <a:srgbClr val="DD8046"/>
              </a:buClr>
              <a:buSzPct val="59259"/>
              <a:buFont typeface="DejaVu Sans"/>
              <a:buChar char="◻"/>
              <a:tabLst>
                <a:tab pos="332740" algn="l"/>
              </a:tabLst>
            </a:pPr>
            <a:r>
              <a:rPr sz="2700" dirty="0">
                <a:latin typeface="Times New Roman"/>
                <a:cs typeface="Times New Roman"/>
              </a:rPr>
              <a:t>Also, notice that </a:t>
            </a:r>
            <a:r>
              <a:rPr sz="2700" spc="-10" dirty="0">
                <a:latin typeface="Times New Roman"/>
                <a:cs typeface="Times New Roman"/>
              </a:rPr>
              <a:t>the </a:t>
            </a:r>
            <a:r>
              <a:rPr sz="2700" dirty="0">
                <a:latin typeface="Times New Roman"/>
                <a:cs typeface="Times New Roman"/>
              </a:rPr>
              <a:t>type of </a:t>
            </a:r>
            <a:r>
              <a:rPr sz="2700" spc="-5" dirty="0">
                <a:latin typeface="Times New Roman"/>
                <a:cs typeface="Times New Roman"/>
              </a:rPr>
              <a:t>exception </a:t>
            </a:r>
            <a:r>
              <a:rPr sz="2700" dirty="0">
                <a:latin typeface="Times New Roman"/>
                <a:cs typeface="Times New Roman"/>
              </a:rPr>
              <a:t>thrown </a:t>
            </a:r>
            <a:r>
              <a:rPr sz="2700" spc="-5" dirty="0">
                <a:latin typeface="Times New Roman"/>
                <a:cs typeface="Times New Roman"/>
              </a:rPr>
              <a:t>is </a:t>
            </a:r>
            <a:r>
              <a:rPr sz="2700" dirty="0">
                <a:latin typeface="Times New Roman"/>
                <a:cs typeface="Times New Roman"/>
              </a:rPr>
              <a:t>a  </a:t>
            </a:r>
            <a:r>
              <a:rPr sz="2700" spc="-5" dirty="0">
                <a:latin typeface="Times New Roman"/>
                <a:cs typeface="Times New Roman"/>
              </a:rPr>
              <a:t>subclass </a:t>
            </a:r>
            <a:r>
              <a:rPr sz="2700" dirty="0">
                <a:latin typeface="Times New Roman"/>
                <a:cs typeface="Times New Roman"/>
              </a:rPr>
              <a:t>of Exception </a:t>
            </a:r>
            <a:r>
              <a:rPr sz="2700" spc="-5" dirty="0">
                <a:latin typeface="Times New Roman"/>
                <a:cs typeface="Times New Roman"/>
              </a:rPr>
              <a:t>called ArithmeticException, </a:t>
            </a:r>
            <a:r>
              <a:rPr sz="2700" dirty="0">
                <a:latin typeface="Times New Roman"/>
                <a:cs typeface="Times New Roman"/>
              </a:rPr>
              <a:t>which  </a:t>
            </a:r>
            <a:r>
              <a:rPr sz="2700" spc="-5" dirty="0">
                <a:latin typeface="Times New Roman"/>
                <a:cs typeface="Times New Roman"/>
              </a:rPr>
              <a:t>more </a:t>
            </a:r>
            <a:r>
              <a:rPr sz="2700" dirty="0">
                <a:latin typeface="Times New Roman"/>
                <a:cs typeface="Times New Roman"/>
              </a:rPr>
              <a:t>specifically describes what type of error</a:t>
            </a:r>
            <a:r>
              <a:rPr sz="2700" spc="-50" dirty="0">
                <a:latin typeface="Times New Roman"/>
                <a:cs typeface="Times New Roman"/>
              </a:rPr>
              <a:t> </a:t>
            </a:r>
            <a:r>
              <a:rPr sz="2700" dirty="0">
                <a:latin typeface="Times New Roman"/>
                <a:cs typeface="Times New Roman"/>
              </a:rPr>
              <a:t>happened.</a:t>
            </a:r>
            <a:endParaRPr sz="2700">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4387850"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Using try and</a:t>
            </a:r>
            <a:r>
              <a:rPr sz="4400" b="0" spc="-100" dirty="0">
                <a:latin typeface="Times New Roman"/>
                <a:cs typeface="Times New Roman"/>
              </a:rPr>
              <a:t> </a:t>
            </a:r>
            <a:r>
              <a:rPr sz="4400" b="0" dirty="0">
                <a:latin typeface="Times New Roman"/>
                <a:cs typeface="Times New Roman"/>
              </a:rPr>
              <a:t>catch</a:t>
            </a:r>
            <a:endParaRPr sz="4400">
              <a:latin typeface="Times New Roman"/>
              <a:cs typeface="Times New Roman"/>
            </a:endParaRPr>
          </a:p>
        </p:txBody>
      </p:sp>
      <p:sp>
        <p:nvSpPr>
          <p:cNvPr id="3" name="object 3"/>
          <p:cNvSpPr txBox="1"/>
          <p:nvPr/>
        </p:nvSpPr>
        <p:spPr>
          <a:xfrm>
            <a:off x="691387" y="1530660"/>
            <a:ext cx="8300084" cy="4910455"/>
          </a:xfrm>
          <a:prstGeom prst="rect">
            <a:avLst/>
          </a:prstGeom>
        </p:spPr>
        <p:txBody>
          <a:bodyPr vert="horz" wrap="square" lIns="0" tIns="102870" rIns="0" bIns="0" rtlCol="0">
            <a:spAutoFit/>
          </a:bodyPr>
          <a:lstStyle/>
          <a:p>
            <a:pPr marL="12700">
              <a:lnSpc>
                <a:spcPct val="100000"/>
              </a:lnSpc>
              <a:spcBef>
                <a:spcPts val="810"/>
              </a:spcBef>
            </a:pPr>
            <a:r>
              <a:rPr sz="2700" dirty="0">
                <a:latin typeface="Times New Roman"/>
                <a:cs typeface="Times New Roman"/>
              </a:rPr>
              <a:t>Benefits of using user defined Exception</a:t>
            </a:r>
            <a:r>
              <a:rPr sz="2700" spc="-95" dirty="0">
                <a:latin typeface="Times New Roman"/>
                <a:cs typeface="Times New Roman"/>
              </a:rPr>
              <a:t> </a:t>
            </a:r>
            <a:r>
              <a:rPr sz="2700" dirty="0">
                <a:latin typeface="Times New Roman"/>
                <a:cs typeface="Times New Roman"/>
              </a:rPr>
              <a:t>handler:</a:t>
            </a:r>
            <a:endParaRPr sz="2700">
              <a:latin typeface="Times New Roman"/>
              <a:cs typeface="Times New Roman"/>
            </a:endParaRPr>
          </a:p>
          <a:p>
            <a:pPr marL="527685" indent="-515620">
              <a:lnSpc>
                <a:spcPct val="100000"/>
              </a:lnSpc>
              <a:spcBef>
                <a:spcPts val="715"/>
              </a:spcBef>
              <a:buClr>
                <a:srgbClr val="DD8046"/>
              </a:buClr>
              <a:buSzPct val="59259"/>
              <a:buAutoNum type="arabicPeriod"/>
              <a:tabLst>
                <a:tab pos="527685" algn="l"/>
                <a:tab pos="528320" algn="l"/>
              </a:tabLst>
            </a:pPr>
            <a:r>
              <a:rPr sz="2700" dirty="0">
                <a:latin typeface="Times New Roman"/>
                <a:cs typeface="Times New Roman"/>
              </a:rPr>
              <a:t>It allows you to </a:t>
            </a:r>
            <a:r>
              <a:rPr sz="2700" spc="-5" dirty="0">
                <a:latin typeface="Times New Roman"/>
                <a:cs typeface="Times New Roman"/>
              </a:rPr>
              <a:t>fix </a:t>
            </a:r>
            <a:r>
              <a:rPr sz="2700" dirty="0">
                <a:latin typeface="Times New Roman"/>
                <a:cs typeface="Times New Roman"/>
              </a:rPr>
              <a:t>the</a:t>
            </a:r>
            <a:r>
              <a:rPr sz="2700" spc="-45" dirty="0">
                <a:latin typeface="Times New Roman"/>
                <a:cs typeface="Times New Roman"/>
              </a:rPr>
              <a:t> </a:t>
            </a:r>
            <a:r>
              <a:rPr sz="2700" dirty="0">
                <a:latin typeface="Times New Roman"/>
                <a:cs typeface="Times New Roman"/>
              </a:rPr>
              <a:t>error.</a:t>
            </a:r>
            <a:endParaRPr sz="2700">
              <a:latin typeface="Times New Roman"/>
              <a:cs typeface="Times New Roman"/>
            </a:endParaRPr>
          </a:p>
          <a:p>
            <a:pPr marL="527685" indent="-515620">
              <a:lnSpc>
                <a:spcPct val="100000"/>
              </a:lnSpc>
              <a:spcBef>
                <a:spcPts val="695"/>
              </a:spcBef>
              <a:buClr>
                <a:srgbClr val="DD8046"/>
              </a:buClr>
              <a:buSzPct val="59259"/>
              <a:buAutoNum type="arabicPeriod"/>
              <a:tabLst>
                <a:tab pos="527685" algn="l"/>
                <a:tab pos="528320" algn="l"/>
              </a:tabLst>
            </a:pPr>
            <a:r>
              <a:rPr sz="2700" dirty="0">
                <a:latin typeface="Times New Roman"/>
                <a:cs typeface="Times New Roman"/>
              </a:rPr>
              <a:t>It prevents the program </a:t>
            </a:r>
            <a:r>
              <a:rPr sz="2700" spc="-5" dirty="0">
                <a:latin typeface="Times New Roman"/>
                <a:cs typeface="Times New Roman"/>
              </a:rPr>
              <a:t>from </a:t>
            </a:r>
            <a:r>
              <a:rPr sz="2700" dirty="0">
                <a:latin typeface="Times New Roman"/>
                <a:cs typeface="Times New Roman"/>
              </a:rPr>
              <a:t>automatically</a:t>
            </a:r>
            <a:r>
              <a:rPr sz="2700" spc="-45" dirty="0">
                <a:latin typeface="Times New Roman"/>
                <a:cs typeface="Times New Roman"/>
              </a:rPr>
              <a:t> </a:t>
            </a:r>
            <a:r>
              <a:rPr sz="2700" dirty="0">
                <a:latin typeface="Times New Roman"/>
                <a:cs typeface="Times New Roman"/>
              </a:rPr>
              <a:t>terminating.</a:t>
            </a:r>
            <a:endParaRPr sz="2700">
              <a:latin typeface="Times New Roman"/>
              <a:cs typeface="Times New Roman"/>
            </a:endParaRPr>
          </a:p>
          <a:p>
            <a:pPr marL="332740" marR="5080" indent="-320675" algn="just">
              <a:lnSpc>
                <a:spcPct val="100000"/>
              </a:lnSpc>
              <a:spcBef>
                <a:spcPts val="695"/>
              </a:spcBef>
              <a:buClr>
                <a:srgbClr val="DD8046"/>
              </a:buClr>
              <a:buSzPct val="59259"/>
              <a:buFont typeface="DejaVu Sans"/>
              <a:buChar char="◻"/>
              <a:tabLst>
                <a:tab pos="333375" algn="l"/>
              </a:tabLst>
            </a:pPr>
            <a:r>
              <a:rPr sz="2700" spc="-5" dirty="0">
                <a:latin typeface="Times New Roman"/>
                <a:cs typeface="Times New Roman"/>
              </a:rPr>
              <a:t>To guard </a:t>
            </a:r>
            <a:r>
              <a:rPr sz="2700" dirty="0">
                <a:latin typeface="Times New Roman"/>
                <a:cs typeface="Times New Roman"/>
              </a:rPr>
              <a:t>against and handle a </a:t>
            </a:r>
            <a:r>
              <a:rPr sz="2700" spc="-5" dirty="0">
                <a:latin typeface="Times New Roman"/>
                <a:cs typeface="Times New Roman"/>
              </a:rPr>
              <a:t>run-time </a:t>
            </a:r>
            <a:r>
              <a:rPr sz="2700" dirty="0">
                <a:latin typeface="Times New Roman"/>
                <a:cs typeface="Times New Roman"/>
              </a:rPr>
              <a:t>error, </a:t>
            </a:r>
            <a:r>
              <a:rPr sz="2700" spc="-5" dirty="0">
                <a:latin typeface="Times New Roman"/>
                <a:cs typeface="Times New Roman"/>
              </a:rPr>
              <a:t>simply  </a:t>
            </a:r>
            <a:r>
              <a:rPr sz="2700" dirty="0">
                <a:latin typeface="Times New Roman"/>
                <a:cs typeface="Times New Roman"/>
              </a:rPr>
              <a:t>enclose </a:t>
            </a:r>
            <a:r>
              <a:rPr sz="2700" spc="-10" dirty="0">
                <a:latin typeface="Times New Roman"/>
                <a:cs typeface="Times New Roman"/>
              </a:rPr>
              <a:t>the </a:t>
            </a:r>
            <a:r>
              <a:rPr sz="2700" dirty="0">
                <a:latin typeface="Times New Roman"/>
                <a:cs typeface="Times New Roman"/>
              </a:rPr>
              <a:t>code </a:t>
            </a:r>
            <a:r>
              <a:rPr sz="2700" spc="-5" dirty="0">
                <a:latin typeface="Times New Roman"/>
                <a:cs typeface="Times New Roman"/>
              </a:rPr>
              <a:t>that </a:t>
            </a:r>
            <a:r>
              <a:rPr sz="2700" dirty="0">
                <a:latin typeface="Times New Roman"/>
                <a:cs typeface="Times New Roman"/>
              </a:rPr>
              <a:t>you want to </a:t>
            </a:r>
            <a:r>
              <a:rPr sz="2700" spc="-5" dirty="0">
                <a:latin typeface="Times New Roman"/>
                <a:cs typeface="Times New Roman"/>
              </a:rPr>
              <a:t>monitor </a:t>
            </a:r>
            <a:r>
              <a:rPr sz="2700" dirty="0">
                <a:latin typeface="Times New Roman"/>
                <a:cs typeface="Times New Roman"/>
              </a:rPr>
              <a:t>inside a try  block. </a:t>
            </a:r>
            <a:r>
              <a:rPr sz="2700" spc="-5" dirty="0">
                <a:latin typeface="Times New Roman"/>
                <a:cs typeface="Times New Roman"/>
              </a:rPr>
              <a:t>Immediately following </a:t>
            </a:r>
            <a:r>
              <a:rPr sz="2700" dirty="0">
                <a:latin typeface="Times New Roman"/>
                <a:cs typeface="Times New Roman"/>
              </a:rPr>
              <a:t>the try block, </a:t>
            </a:r>
            <a:r>
              <a:rPr sz="2700" spc="-5" dirty="0">
                <a:latin typeface="Times New Roman"/>
                <a:cs typeface="Times New Roman"/>
              </a:rPr>
              <a:t>include </a:t>
            </a:r>
            <a:r>
              <a:rPr sz="2700" dirty="0">
                <a:latin typeface="Times New Roman"/>
                <a:cs typeface="Times New Roman"/>
              </a:rPr>
              <a:t>a  catch </a:t>
            </a:r>
            <a:r>
              <a:rPr sz="2700" spc="-5" dirty="0">
                <a:latin typeface="Times New Roman"/>
                <a:cs typeface="Times New Roman"/>
              </a:rPr>
              <a:t>clause that specifies </a:t>
            </a:r>
            <a:r>
              <a:rPr sz="2700" dirty="0">
                <a:latin typeface="Times New Roman"/>
                <a:cs typeface="Times New Roman"/>
              </a:rPr>
              <a:t>the </a:t>
            </a:r>
            <a:r>
              <a:rPr sz="2700" spc="-5" dirty="0">
                <a:latin typeface="Times New Roman"/>
                <a:cs typeface="Times New Roman"/>
              </a:rPr>
              <a:t>exception </a:t>
            </a:r>
            <a:r>
              <a:rPr sz="2700" dirty="0">
                <a:latin typeface="Times New Roman"/>
                <a:cs typeface="Times New Roman"/>
              </a:rPr>
              <a:t>type that </a:t>
            </a:r>
            <a:r>
              <a:rPr sz="2700" spc="5" dirty="0">
                <a:latin typeface="Times New Roman"/>
                <a:cs typeface="Times New Roman"/>
              </a:rPr>
              <a:t>you  </a:t>
            </a:r>
            <a:r>
              <a:rPr sz="2700" spc="-5" dirty="0">
                <a:latin typeface="Times New Roman"/>
                <a:cs typeface="Times New Roman"/>
              </a:rPr>
              <a:t>wish to </a:t>
            </a:r>
            <a:r>
              <a:rPr sz="2700" dirty="0">
                <a:latin typeface="Times New Roman"/>
                <a:cs typeface="Times New Roman"/>
              </a:rPr>
              <a:t>catch. </a:t>
            </a:r>
            <a:r>
              <a:rPr sz="2700" spc="-5" dirty="0">
                <a:latin typeface="Times New Roman"/>
                <a:cs typeface="Times New Roman"/>
              </a:rPr>
              <a:t>To illustrate </a:t>
            </a:r>
            <a:r>
              <a:rPr sz="2700" dirty="0">
                <a:latin typeface="Times New Roman"/>
                <a:cs typeface="Times New Roman"/>
              </a:rPr>
              <a:t>how easily </a:t>
            </a:r>
            <a:r>
              <a:rPr sz="2700" spc="-5" dirty="0">
                <a:latin typeface="Times New Roman"/>
                <a:cs typeface="Times New Roman"/>
              </a:rPr>
              <a:t>this </a:t>
            </a:r>
            <a:r>
              <a:rPr sz="2700" dirty="0">
                <a:latin typeface="Times New Roman"/>
                <a:cs typeface="Times New Roman"/>
              </a:rPr>
              <a:t>can be done,  the </a:t>
            </a:r>
            <a:r>
              <a:rPr sz="2700" spc="-5" dirty="0">
                <a:latin typeface="Times New Roman"/>
                <a:cs typeface="Times New Roman"/>
              </a:rPr>
              <a:t>following </a:t>
            </a:r>
            <a:r>
              <a:rPr sz="2700" dirty="0">
                <a:latin typeface="Times New Roman"/>
                <a:cs typeface="Times New Roman"/>
              </a:rPr>
              <a:t>program includes a try block and a catch  clause </a:t>
            </a:r>
            <a:r>
              <a:rPr sz="2700" spc="-5" dirty="0">
                <a:latin typeface="Times New Roman"/>
                <a:cs typeface="Times New Roman"/>
              </a:rPr>
              <a:t>that </a:t>
            </a:r>
            <a:r>
              <a:rPr sz="2700" dirty="0">
                <a:latin typeface="Times New Roman"/>
                <a:cs typeface="Times New Roman"/>
              </a:rPr>
              <a:t>processes the ArithmeticException </a:t>
            </a:r>
            <a:r>
              <a:rPr sz="2700" spc="-5" dirty="0">
                <a:latin typeface="Times New Roman"/>
                <a:cs typeface="Times New Roman"/>
              </a:rPr>
              <a:t>generated  </a:t>
            </a:r>
            <a:r>
              <a:rPr sz="2700" dirty="0">
                <a:latin typeface="Times New Roman"/>
                <a:cs typeface="Times New Roman"/>
              </a:rPr>
              <a:t>by the division-by-zero</a:t>
            </a:r>
            <a:r>
              <a:rPr sz="2700" spc="-80" dirty="0">
                <a:latin typeface="Times New Roman"/>
                <a:cs typeface="Times New Roman"/>
              </a:rPr>
              <a:t> </a:t>
            </a:r>
            <a:r>
              <a:rPr sz="2700" dirty="0">
                <a:latin typeface="Times New Roman"/>
                <a:cs typeface="Times New Roman"/>
              </a:rPr>
              <a:t>error</a:t>
            </a:r>
            <a:endParaRPr sz="270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84835"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a:t>
            </a:r>
            <a:endParaRPr sz="4400">
              <a:latin typeface="Times New Roman"/>
              <a:cs typeface="Times New Roman"/>
            </a:endParaRPr>
          </a:p>
        </p:txBody>
      </p:sp>
      <p:sp>
        <p:nvSpPr>
          <p:cNvPr id="3" name="object 3"/>
          <p:cNvSpPr txBox="1"/>
          <p:nvPr/>
        </p:nvSpPr>
        <p:spPr>
          <a:xfrm>
            <a:off x="154939" y="1536792"/>
            <a:ext cx="5641975" cy="4960620"/>
          </a:xfrm>
          <a:prstGeom prst="rect">
            <a:avLst/>
          </a:prstGeom>
        </p:spPr>
        <p:txBody>
          <a:bodyPr vert="horz" wrap="square" lIns="0" tIns="46990" rIns="0" bIns="0" rtlCol="0">
            <a:spAutoFit/>
          </a:bodyPr>
          <a:lstStyle/>
          <a:p>
            <a:pPr marL="12700">
              <a:lnSpc>
                <a:spcPct val="100000"/>
              </a:lnSpc>
              <a:spcBef>
                <a:spcPts val="370"/>
              </a:spcBef>
            </a:pPr>
            <a:r>
              <a:rPr sz="1800" dirty="0">
                <a:latin typeface="Times New Roman"/>
                <a:cs typeface="Times New Roman"/>
              </a:rPr>
              <a:t>class Exc2</a:t>
            </a:r>
            <a:r>
              <a:rPr sz="1800" spc="-20" dirty="0">
                <a:latin typeface="Times New Roman"/>
                <a:cs typeface="Times New Roman"/>
              </a:rPr>
              <a:t> </a:t>
            </a:r>
            <a:r>
              <a:rPr sz="1800" dirty="0">
                <a:latin typeface="Times New Roman"/>
                <a:cs typeface="Times New Roman"/>
              </a:rPr>
              <a:t>{</a:t>
            </a:r>
            <a:endParaRPr sz="1800">
              <a:latin typeface="Times New Roman"/>
              <a:cs typeface="Times New Roman"/>
            </a:endParaRPr>
          </a:p>
          <a:p>
            <a:pPr marL="812800" marR="1664335" indent="-401320">
              <a:lnSpc>
                <a:spcPts val="2440"/>
              </a:lnSpc>
              <a:spcBef>
                <a:spcPts val="115"/>
              </a:spcBef>
            </a:pPr>
            <a:r>
              <a:rPr sz="1800" dirty="0">
                <a:latin typeface="Times New Roman"/>
                <a:cs typeface="Times New Roman"/>
              </a:rPr>
              <a:t>public static void </a:t>
            </a:r>
            <a:r>
              <a:rPr sz="1800" spc="-5" dirty="0">
                <a:latin typeface="Times New Roman"/>
                <a:cs typeface="Times New Roman"/>
              </a:rPr>
              <a:t>main(String args[]) </a:t>
            </a:r>
            <a:r>
              <a:rPr sz="1800" dirty="0">
                <a:latin typeface="Times New Roman"/>
                <a:cs typeface="Times New Roman"/>
              </a:rPr>
              <a:t>{  int d,</a:t>
            </a:r>
            <a:r>
              <a:rPr sz="1800" spc="-5" dirty="0">
                <a:latin typeface="Times New Roman"/>
                <a:cs typeface="Times New Roman"/>
              </a:rPr>
              <a:t> </a:t>
            </a:r>
            <a:r>
              <a:rPr sz="1800" dirty="0">
                <a:latin typeface="Times New Roman"/>
                <a:cs typeface="Times New Roman"/>
              </a:rPr>
              <a:t>a;</a:t>
            </a:r>
            <a:endParaRPr sz="1800">
              <a:latin typeface="Times New Roman"/>
              <a:cs typeface="Times New Roman"/>
            </a:endParaRPr>
          </a:p>
          <a:p>
            <a:pPr marL="983615">
              <a:lnSpc>
                <a:spcPct val="100000"/>
              </a:lnSpc>
              <a:spcBef>
                <a:spcPts val="130"/>
              </a:spcBef>
            </a:pPr>
            <a:r>
              <a:rPr sz="1800" dirty="0">
                <a:solidFill>
                  <a:srgbClr val="006FC0"/>
                </a:solidFill>
                <a:latin typeface="Times New Roman"/>
                <a:cs typeface="Times New Roman"/>
              </a:rPr>
              <a:t>try </a:t>
            </a:r>
            <a:r>
              <a:rPr sz="1800" dirty="0">
                <a:latin typeface="Times New Roman"/>
                <a:cs typeface="Times New Roman"/>
              </a:rPr>
              <a:t>{</a:t>
            </a:r>
            <a:endParaRPr sz="1800">
              <a:latin typeface="Times New Roman"/>
              <a:cs typeface="Times New Roman"/>
            </a:endParaRPr>
          </a:p>
          <a:p>
            <a:pPr marL="1326515">
              <a:lnSpc>
                <a:spcPct val="100000"/>
              </a:lnSpc>
              <a:spcBef>
                <a:spcPts val="265"/>
              </a:spcBef>
            </a:pPr>
            <a:r>
              <a:rPr sz="1800" dirty="0">
                <a:latin typeface="Times New Roman"/>
                <a:cs typeface="Times New Roman"/>
              </a:rPr>
              <a:t>d =</a:t>
            </a:r>
            <a:r>
              <a:rPr sz="1800" spc="-5" dirty="0">
                <a:latin typeface="Times New Roman"/>
                <a:cs typeface="Times New Roman"/>
              </a:rPr>
              <a:t> </a:t>
            </a:r>
            <a:r>
              <a:rPr sz="1800" dirty="0">
                <a:latin typeface="Times New Roman"/>
                <a:cs typeface="Times New Roman"/>
              </a:rPr>
              <a:t>0;</a:t>
            </a:r>
            <a:endParaRPr sz="1800">
              <a:latin typeface="Times New Roman"/>
              <a:cs typeface="Times New Roman"/>
            </a:endParaRPr>
          </a:p>
          <a:p>
            <a:pPr marL="1326515">
              <a:lnSpc>
                <a:spcPct val="100000"/>
              </a:lnSpc>
              <a:spcBef>
                <a:spcPts val="275"/>
              </a:spcBef>
            </a:pPr>
            <a:r>
              <a:rPr sz="1800" dirty="0">
                <a:latin typeface="Times New Roman"/>
                <a:cs typeface="Times New Roman"/>
              </a:rPr>
              <a:t>a = 42 /</a:t>
            </a:r>
            <a:r>
              <a:rPr sz="1800" spc="-20" dirty="0">
                <a:latin typeface="Times New Roman"/>
                <a:cs typeface="Times New Roman"/>
              </a:rPr>
              <a:t> </a:t>
            </a:r>
            <a:r>
              <a:rPr sz="1800" dirty="0">
                <a:latin typeface="Times New Roman"/>
                <a:cs typeface="Times New Roman"/>
              </a:rPr>
              <a:t>d;</a:t>
            </a:r>
            <a:endParaRPr sz="1800">
              <a:latin typeface="Times New Roman"/>
              <a:cs typeface="Times New Roman"/>
            </a:endParaRPr>
          </a:p>
          <a:p>
            <a:pPr marL="1326515">
              <a:lnSpc>
                <a:spcPct val="100000"/>
              </a:lnSpc>
              <a:spcBef>
                <a:spcPts val="265"/>
              </a:spcBef>
            </a:pPr>
            <a:r>
              <a:rPr sz="1800" dirty="0">
                <a:latin typeface="Times New Roman"/>
                <a:cs typeface="Times New Roman"/>
              </a:rPr>
              <a:t>System.out.println("This </a:t>
            </a:r>
            <a:r>
              <a:rPr sz="1800" spc="-5" dirty="0">
                <a:latin typeface="Times New Roman"/>
                <a:cs typeface="Times New Roman"/>
              </a:rPr>
              <a:t>will </a:t>
            </a:r>
            <a:r>
              <a:rPr sz="1800" dirty="0">
                <a:latin typeface="Times New Roman"/>
                <a:cs typeface="Times New Roman"/>
              </a:rPr>
              <a:t>not be</a:t>
            </a:r>
            <a:r>
              <a:rPr sz="1800" spc="-85" dirty="0">
                <a:latin typeface="Times New Roman"/>
                <a:cs typeface="Times New Roman"/>
              </a:rPr>
              <a:t> </a:t>
            </a:r>
            <a:r>
              <a:rPr sz="1800" dirty="0">
                <a:latin typeface="Times New Roman"/>
                <a:cs typeface="Times New Roman"/>
              </a:rPr>
              <a:t>printed.");</a:t>
            </a:r>
            <a:endParaRPr sz="1800">
              <a:latin typeface="Times New Roman"/>
              <a:cs typeface="Times New Roman"/>
            </a:endParaRPr>
          </a:p>
          <a:p>
            <a:pPr marL="1270000">
              <a:lnSpc>
                <a:spcPct val="100000"/>
              </a:lnSpc>
              <a:spcBef>
                <a:spcPts val="265"/>
              </a:spcBef>
            </a:pPr>
            <a:r>
              <a:rPr sz="1800" dirty="0">
                <a:latin typeface="Times New Roman"/>
                <a:cs typeface="Times New Roman"/>
              </a:rPr>
              <a:t>}</a:t>
            </a:r>
            <a:endParaRPr sz="1800">
              <a:latin typeface="Times New Roman"/>
              <a:cs typeface="Times New Roman"/>
            </a:endParaRPr>
          </a:p>
          <a:p>
            <a:pPr marL="1041400">
              <a:lnSpc>
                <a:spcPct val="100000"/>
              </a:lnSpc>
              <a:spcBef>
                <a:spcPts val="275"/>
              </a:spcBef>
            </a:pPr>
            <a:r>
              <a:rPr sz="1800" dirty="0">
                <a:solidFill>
                  <a:srgbClr val="006FC0"/>
                </a:solidFill>
                <a:latin typeface="Times New Roman"/>
                <a:cs typeface="Times New Roman"/>
              </a:rPr>
              <a:t>catch </a:t>
            </a:r>
            <a:r>
              <a:rPr sz="1800" dirty="0">
                <a:latin typeface="Times New Roman"/>
                <a:cs typeface="Times New Roman"/>
              </a:rPr>
              <a:t>(ArithmeticException e)</a:t>
            </a:r>
            <a:r>
              <a:rPr sz="1800" spc="-60" dirty="0">
                <a:latin typeface="Times New Roman"/>
                <a:cs typeface="Times New Roman"/>
              </a:rPr>
              <a:t> </a:t>
            </a:r>
            <a:r>
              <a:rPr sz="1800" dirty="0">
                <a:latin typeface="Times New Roman"/>
                <a:cs typeface="Times New Roman"/>
              </a:rPr>
              <a:t>{</a:t>
            </a:r>
            <a:endParaRPr sz="1800">
              <a:latin typeface="Times New Roman"/>
              <a:cs typeface="Times New Roman"/>
            </a:endParaRPr>
          </a:p>
          <a:p>
            <a:pPr marL="1955800">
              <a:lnSpc>
                <a:spcPct val="100000"/>
              </a:lnSpc>
              <a:spcBef>
                <a:spcPts val="265"/>
              </a:spcBef>
            </a:pPr>
            <a:r>
              <a:rPr sz="1800" dirty="0">
                <a:latin typeface="Times New Roman"/>
                <a:cs typeface="Times New Roman"/>
              </a:rPr>
              <a:t>System.out.println("Division by</a:t>
            </a:r>
            <a:r>
              <a:rPr sz="1800" spc="-114" dirty="0">
                <a:latin typeface="Times New Roman"/>
                <a:cs typeface="Times New Roman"/>
              </a:rPr>
              <a:t> </a:t>
            </a:r>
            <a:r>
              <a:rPr sz="1800" dirty="0">
                <a:latin typeface="Times New Roman"/>
                <a:cs typeface="Times New Roman"/>
              </a:rPr>
              <a:t>zero.");</a:t>
            </a:r>
            <a:endParaRPr sz="1800">
              <a:latin typeface="Times New Roman"/>
              <a:cs typeface="Times New Roman"/>
            </a:endParaRPr>
          </a:p>
          <a:p>
            <a:pPr marL="1384300">
              <a:lnSpc>
                <a:spcPct val="100000"/>
              </a:lnSpc>
              <a:spcBef>
                <a:spcPts val="265"/>
              </a:spcBef>
            </a:pPr>
            <a:r>
              <a:rPr sz="1800" dirty="0">
                <a:latin typeface="Times New Roman"/>
                <a:cs typeface="Times New Roman"/>
              </a:rPr>
              <a:t>}</a:t>
            </a:r>
            <a:endParaRPr sz="1800">
              <a:latin typeface="Times New Roman"/>
              <a:cs typeface="Times New Roman"/>
            </a:endParaRPr>
          </a:p>
          <a:p>
            <a:pPr marL="927100">
              <a:lnSpc>
                <a:spcPct val="100000"/>
              </a:lnSpc>
              <a:spcBef>
                <a:spcPts val="280"/>
              </a:spcBef>
            </a:pPr>
            <a:r>
              <a:rPr sz="1800" dirty="0">
                <a:latin typeface="Times New Roman"/>
                <a:cs typeface="Times New Roman"/>
              </a:rPr>
              <a:t>System.out.println("After catch</a:t>
            </a:r>
            <a:r>
              <a:rPr sz="1800" spc="-65" dirty="0">
                <a:latin typeface="Times New Roman"/>
                <a:cs typeface="Times New Roman"/>
              </a:rPr>
              <a:t> </a:t>
            </a:r>
            <a:r>
              <a:rPr sz="1800" dirty="0">
                <a:latin typeface="Times New Roman"/>
                <a:cs typeface="Times New Roman"/>
              </a:rPr>
              <a:t>statement.");</a:t>
            </a:r>
            <a:endParaRPr sz="1800">
              <a:latin typeface="Times New Roman"/>
              <a:cs typeface="Times New Roman"/>
            </a:endParaRPr>
          </a:p>
          <a:p>
            <a:pPr marL="411480">
              <a:lnSpc>
                <a:spcPct val="100000"/>
              </a:lnSpc>
              <a:spcBef>
                <a:spcPts val="260"/>
              </a:spcBef>
            </a:pPr>
            <a:r>
              <a:rPr sz="1800" dirty="0">
                <a:latin typeface="Times New Roman"/>
                <a:cs typeface="Times New Roman"/>
              </a:rPr>
              <a:t>}</a:t>
            </a:r>
            <a:endParaRPr sz="1800">
              <a:latin typeface="Times New Roman"/>
              <a:cs typeface="Times New Roman"/>
            </a:endParaRPr>
          </a:p>
          <a:p>
            <a:pPr marL="68580">
              <a:lnSpc>
                <a:spcPct val="100000"/>
              </a:lnSpc>
              <a:spcBef>
                <a:spcPts val="265"/>
              </a:spcBef>
            </a:pPr>
            <a:r>
              <a:rPr sz="1800" dirty="0">
                <a:latin typeface="Times New Roman"/>
                <a:cs typeface="Times New Roman"/>
              </a:rPr>
              <a:t>}</a:t>
            </a:r>
            <a:endParaRPr sz="1800">
              <a:latin typeface="Times New Roman"/>
              <a:cs typeface="Times New Roman"/>
            </a:endParaRPr>
          </a:p>
          <a:p>
            <a:pPr marL="12700" marR="3227070">
              <a:lnSpc>
                <a:spcPct val="112200"/>
              </a:lnSpc>
              <a:spcBef>
                <a:spcPts val="15"/>
              </a:spcBef>
            </a:pPr>
            <a:r>
              <a:rPr sz="1800" dirty="0">
                <a:latin typeface="Times New Roman"/>
                <a:cs typeface="Times New Roman"/>
              </a:rPr>
              <a:t>Output: Division by zero.  After catch</a:t>
            </a:r>
            <a:r>
              <a:rPr sz="1800" spc="-45" dirty="0">
                <a:latin typeface="Times New Roman"/>
                <a:cs typeface="Times New Roman"/>
              </a:rPr>
              <a:t> </a:t>
            </a:r>
            <a:r>
              <a:rPr sz="1800" dirty="0">
                <a:latin typeface="Times New Roman"/>
                <a:cs typeface="Times New Roman"/>
              </a:rPr>
              <a:t>statement.</a:t>
            </a:r>
            <a:endParaRPr sz="180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84835"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a:t>
            </a:r>
            <a:endParaRPr sz="4400">
              <a:latin typeface="Times New Roman"/>
              <a:cs typeface="Times New Roman"/>
            </a:endParaRPr>
          </a:p>
        </p:txBody>
      </p:sp>
      <p:sp>
        <p:nvSpPr>
          <p:cNvPr id="3" name="object 3"/>
          <p:cNvSpPr txBox="1"/>
          <p:nvPr/>
        </p:nvSpPr>
        <p:spPr>
          <a:xfrm>
            <a:off x="383540" y="1579829"/>
            <a:ext cx="8608060" cy="4779010"/>
          </a:xfrm>
          <a:prstGeom prst="rect">
            <a:avLst/>
          </a:prstGeom>
        </p:spPr>
        <p:txBody>
          <a:bodyPr vert="horz" wrap="square" lIns="0" tIns="53975" rIns="0" bIns="0" rtlCol="0">
            <a:spAutoFit/>
          </a:bodyPr>
          <a:lstStyle/>
          <a:p>
            <a:pPr marL="332740" marR="5715" indent="-320040" algn="just">
              <a:lnSpc>
                <a:spcPct val="90000"/>
              </a:lnSpc>
              <a:spcBef>
                <a:spcPts val="425"/>
              </a:spcBef>
              <a:buClr>
                <a:srgbClr val="DD8046"/>
              </a:buClr>
              <a:buSzPct val="59259"/>
              <a:buFont typeface="DejaVu Sans"/>
              <a:buChar char="◻"/>
              <a:tabLst>
                <a:tab pos="332740" algn="l"/>
              </a:tabLst>
            </a:pPr>
            <a:r>
              <a:rPr sz="2700" dirty="0">
                <a:latin typeface="Times New Roman"/>
                <a:cs typeface="Times New Roman"/>
              </a:rPr>
              <a:t>Notice </a:t>
            </a:r>
            <a:r>
              <a:rPr sz="2700" spc="-5" dirty="0">
                <a:latin typeface="Times New Roman"/>
                <a:cs typeface="Times New Roman"/>
              </a:rPr>
              <a:t>that </a:t>
            </a:r>
            <a:r>
              <a:rPr sz="2700" dirty="0">
                <a:latin typeface="Times New Roman"/>
                <a:cs typeface="Times New Roman"/>
              </a:rPr>
              <a:t>the call to println( ) </a:t>
            </a:r>
            <a:r>
              <a:rPr sz="2700" spc="-5" dirty="0">
                <a:latin typeface="Times New Roman"/>
                <a:cs typeface="Times New Roman"/>
              </a:rPr>
              <a:t>inside </a:t>
            </a:r>
            <a:r>
              <a:rPr sz="2700" dirty="0">
                <a:latin typeface="Times New Roman"/>
                <a:cs typeface="Times New Roman"/>
              </a:rPr>
              <a:t>the try block is never  executed. Once an exception </a:t>
            </a:r>
            <a:r>
              <a:rPr sz="2700" spc="-10" dirty="0">
                <a:latin typeface="Times New Roman"/>
                <a:cs typeface="Times New Roman"/>
              </a:rPr>
              <a:t>is </a:t>
            </a:r>
            <a:r>
              <a:rPr sz="2700" spc="-5" dirty="0">
                <a:latin typeface="Times New Roman"/>
                <a:cs typeface="Times New Roman"/>
              </a:rPr>
              <a:t>thrown, </a:t>
            </a:r>
            <a:r>
              <a:rPr sz="2700" dirty="0">
                <a:latin typeface="Times New Roman"/>
                <a:cs typeface="Times New Roman"/>
              </a:rPr>
              <a:t>program control  transfers out of the try block into the catch</a:t>
            </a:r>
            <a:r>
              <a:rPr sz="2700" spc="-95" dirty="0">
                <a:latin typeface="Times New Roman"/>
                <a:cs typeface="Times New Roman"/>
              </a:rPr>
              <a:t> </a:t>
            </a:r>
            <a:r>
              <a:rPr sz="2700" dirty="0">
                <a:latin typeface="Times New Roman"/>
                <a:cs typeface="Times New Roman"/>
              </a:rPr>
              <a:t>block.</a:t>
            </a:r>
            <a:endParaRPr sz="2700">
              <a:latin typeface="Times New Roman"/>
              <a:cs typeface="Times New Roman"/>
            </a:endParaRPr>
          </a:p>
          <a:p>
            <a:pPr marL="332740" marR="5715" indent="-320040" algn="just">
              <a:lnSpc>
                <a:spcPts val="2920"/>
              </a:lnSpc>
              <a:spcBef>
                <a:spcPts val="750"/>
              </a:spcBef>
              <a:buClr>
                <a:srgbClr val="DD8046"/>
              </a:buClr>
              <a:buSzPct val="59259"/>
              <a:buFont typeface="DejaVu Sans"/>
              <a:buChar char="◻"/>
              <a:tabLst>
                <a:tab pos="332740" algn="l"/>
              </a:tabLst>
            </a:pPr>
            <a:r>
              <a:rPr sz="2700" dirty="0">
                <a:latin typeface="Times New Roman"/>
                <a:cs typeface="Times New Roman"/>
              </a:rPr>
              <a:t>Put </a:t>
            </a:r>
            <a:r>
              <a:rPr sz="2700" spc="-5" dirty="0">
                <a:latin typeface="Times New Roman"/>
                <a:cs typeface="Times New Roman"/>
              </a:rPr>
              <a:t>differently, </a:t>
            </a:r>
            <a:r>
              <a:rPr sz="2700" dirty="0">
                <a:latin typeface="Times New Roman"/>
                <a:cs typeface="Times New Roman"/>
              </a:rPr>
              <a:t>catch is not </a:t>
            </a:r>
            <a:r>
              <a:rPr sz="2700" spc="-5" dirty="0">
                <a:latin typeface="Times New Roman"/>
                <a:cs typeface="Times New Roman"/>
              </a:rPr>
              <a:t>“called,” </a:t>
            </a:r>
            <a:r>
              <a:rPr sz="2700" dirty="0">
                <a:latin typeface="Times New Roman"/>
                <a:cs typeface="Times New Roman"/>
              </a:rPr>
              <a:t>so execution never  “returns” to the try block </a:t>
            </a:r>
            <a:r>
              <a:rPr sz="2700" spc="-5" dirty="0">
                <a:latin typeface="Times New Roman"/>
                <a:cs typeface="Times New Roman"/>
              </a:rPr>
              <a:t>from </a:t>
            </a:r>
            <a:r>
              <a:rPr sz="2700" dirty="0">
                <a:latin typeface="Times New Roman"/>
                <a:cs typeface="Times New Roman"/>
              </a:rPr>
              <a:t>a</a:t>
            </a:r>
            <a:r>
              <a:rPr sz="2700" spc="-35" dirty="0">
                <a:latin typeface="Times New Roman"/>
                <a:cs typeface="Times New Roman"/>
              </a:rPr>
              <a:t> </a:t>
            </a:r>
            <a:r>
              <a:rPr sz="2700" dirty="0">
                <a:latin typeface="Times New Roman"/>
                <a:cs typeface="Times New Roman"/>
              </a:rPr>
              <a:t>catch.</a:t>
            </a:r>
            <a:endParaRPr sz="2700">
              <a:latin typeface="Times New Roman"/>
              <a:cs typeface="Times New Roman"/>
            </a:endParaRPr>
          </a:p>
          <a:p>
            <a:pPr marL="332740" marR="5080" indent="-320040" algn="just">
              <a:lnSpc>
                <a:spcPct val="90000"/>
              </a:lnSpc>
              <a:spcBef>
                <a:spcPts val="650"/>
              </a:spcBef>
              <a:buClr>
                <a:srgbClr val="DD8046"/>
              </a:buClr>
              <a:buSzPct val="59259"/>
              <a:buFont typeface="DejaVu Sans"/>
              <a:buChar char="◻"/>
              <a:tabLst>
                <a:tab pos="332740" algn="l"/>
              </a:tabLst>
            </a:pPr>
            <a:r>
              <a:rPr sz="2700" dirty="0">
                <a:latin typeface="Times New Roman"/>
                <a:cs typeface="Times New Roman"/>
              </a:rPr>
              <a:t>Thus, the line “This </a:t>
            </a:r>
            <a:r>
              <a:rPr sz="2700" spc="-5" dirty="0">
                <a:latin typeface="Times New Roman"/>
                <a:cs typeface="Times New Roman"/>
              </a:rPr>
              <a:t>will </a:t>
            </a:r>
            <a:r>
              <a:rPr sz="2700" dirty="0">
                <a:latin typeface="Times New Roman"/>
                <a:cs typeface="Times New Roman"/>
              </a:rPr>
              <a:t>not be printed.” </a:t>
            </a:r>
            <a:r>
              <a:rPr sz="2700" spc="-10" dirty="0">
                <a:latin typeface="Times New Roman"/>
                <a:cs typeface="Times New Roman"/>
              </a:rPr>
              <a:t>is </a:t>
            </a:r>
            <a:r>
              <a:rPr sz="2700" dirty="0">
                <a:latin typeface="Times New Roman"/>
                <a:cs typeface="Times New Roman"/>
              </a:rPr>
              <a:t>not displayed.  Once the catch </a:t>
            </a:r>
            <a:r>
              <a:rPr sz="2700" spc="-5" dirty="0">
                <a:latin typeface="Times New Roman"/>
                <a:cs typeface="Times New Roman"/>
              </a:rPr>
              <a:t>statement has </a:t>
            </a:r>
            <a:r>
              <a:rPr sz="2700" dirty="0">
                <a:latin typeface="Times New Roman"/>
                <a:cs typeface="Times New Roman"/>
              </a:rPr>
              <a:t>executed, program control  continues with the next line in the </a:t>
            </a:r>
            <a:r>
              <a:rPr sz="2700" spc="-5" dirty="0">
                <a:latin typeface="Times New Roman"/>
                <a:cs typeface="Times New Roman"/>
              </a:rPr>
              <a:t>program following </a:t>
            </a:r>
            <a:r>
              <a:rPr sz="2700" dirty="0">
                <a:latin typeface="Times New Roman"/>
                <a:cs typeface="Times New Roman"/>
              </a:rPr>
              <a:t>the  entire try/catch</a:t>
            </a:r>
            <a:r>
              <a:rPr sz="2700" spc="-25" dirty="0">
                <a:latin typeface="Times New Roman"/>
                <a:cs typeface="Times New Roman"/>
              </a:rPr>
              <a:t> </a:t>
            </a:r>
            <a:r>
              <a:rPr sz="2700" spc="-5" dirty="0">
                <a:latin typeface="Times New Roman"/>
                <a:cs typeface="Times New Roman"/>
              </a:rPr>
              <a:t>mechanism.</a:t>
            </a:r>
            <a:endParaRPr sz="2700">
              <a:latin typeface="Times New Roman"/>
              <a:cs typeface="Times New Roman"/>
            </a:endParaRPr>
          </a:p>
          <a:p>
            <a:pPr marL="332740" marR="5080" indent="-320040" algn="just">
              <a:lnSpc>
                <a:spcPct val="90000"/>
              </a:lnSpc>
              <a:spcBef>
                <a:spcPts val="695"/>
              </a:spcBef>
              <a:buClr>
                <a:srgbClr val="DD8046"/>
              </a:buClr>
              <a:buSzPct val="59259"/>
              <a:buFont typeface="DejaVu Sans"/>
              <a:buChar char="◻"/>
              <a:tabLst>
                <a:tab pos="332740" algn="l"/>
              </a:tabLst>
            </a:pPr>
            <a:r>
              <a:rPr sz="2700" spc="-5" dirty="0">
                <a:latin typeface="Times New Roman"/>
                <a:cs typeface="Times New Roman"/>
              </a:rPr>
              <a:t>A </a:t>
            </a:r>
            <a:r>
              <a:rPr sz="2700" dirty="0">
                <a:latin typeface="Times New Roman"/>
                <a:cs typeface="Times New Roman"/>
              </a:rPr>
              <a:t>try and </a:t>
            </a:r>
            <a:r>
              <a:rPr sz="2700" spc="-5" dirty="0">
                <a:latin typeface="Times New Roman"/>
                <a:cs typeface="Times New Roman"/>
              </a:rPr>
              <a:t>its catch statement form </a:t>
            </a:r>
            <a:r>
              <a:rPr sz="2700" dirty="0">
                <a:latin typeface="Times New Roman"/>
                <a:cs typeface="Times New Roman"/>
              </a:rPr>
              <a:t>a unit. The scope of </a:t>
            </a:r>
            <a:r>
              <a:rPr sz="2700" spc="5" dirty="0">
                <a:latin typeface="Times New Roman"/>
                <a:cs typeface="Times New Roman"/>
              </a:rPr>
              <a:t>the  </a:t>
            </a:r>
            <a:r>
              <a:rPr sz="2700" dirty="0">
                <a:latin typeface="Times New Roman"/>
                <a:cs typeface="Times New Roman"/>
              </a:rPr>
              <a:t>catch clause is </a:t>
            </a:r>
            <a:r>
              <a:rPr sz="2700" spc="-5" dirty="0">
                <a:latin typeface="Times New Roman"/>
                <a:cs typeface="Times New Roman"/>
              </a:rPr>
              <a:t>restricted </a:t>
            </a:r>
            <a:r>
              <a:rPr sz="2700" dirty="0">
                <a:latin typeface="Times New Roman"/>
                <a:cs typeface="Times New Roman"/>
              </a:rPr>
              <a:t>to </a:t>
            </a:r>
            <a:r>
              <a:rPr sz="2700" spc="-5" dirty="0">
                <a:latin typeface="Times New Roman"/>
                <a:cs typeface="Times New Roman"/>
              </a:rPr>
              <a:t>those statements </a:t>
            </a:r>
            <a:r>
              <a:rPr sz="2700" dirty="0">
                <a:latin typeface="Times New Roman"/>
                <a:cs typeface="Times New Roman"/>
              </a:rPr>
              <a:t>specified </a:t>
            </a:r>
            <a:r>
              <a:rPr sz="2700" spc="-10" dirty="0">
                <a:latin typeface="Times New Roman"/>
                <a:cs typeface="Times New Roman"/>
              </a:rPr>
              <a:t>by  </a:t>
            </a:r>
            <a:r>
              <a:rPr sz="2700" dirty="0">
                <a:latin typeface="Times New Roman"/>
                <a:cs typeface="Times New Roman"/>
              </a:rPr>
              <a:t>the immediately preceding try</a:t>
            </a:r>
            <a:r>
              <a:rPr sz="2700" spc="-30" dirty="0">
                <a:latin typeface="Times New Roman"/>
                <a:cs typeface="Times New Roman"/>
              </a:rPr>
              <a:t> </a:t>
            </a:r>
            <a:r>
              <a:rPr sz="2700" dirty="0">
                <a:latin typeface="Times New Roman"/>
                <a:cs typeface="Times New Roman"/>
              </a:rPr>
              <a:t>statement.</a:t>
            </a:r>
            <a:endParaRPr sz="270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56809" y="0"/>
            <a:ext cx="1917700" cy="635000"/>
          </a:xfrm>
          <a:prstGeom prst="rect">
            <a:avLst/>
          </a:prstGeom>
        </p:spPr>
        <p:txBody>
          <a:bodyPr vert="horz" wrap="square" lIns="0" tIns="12065" rIns="0" bIns="0" rtlCol="0">
            <a:spAutoFit/>
          </a:bodyPr>
          <a:lstStyle/>
          <a:p>
            <a:pPr marL="12700">
              <a:lnSpc>
                <a:spcPct val="100000"/>
              </a:lnSpc>
              <a:spcBef>
                <a:spcPts val="95"/>
              </a:spcBef>
            </a:pPr>
            <a:r>
              <a:rPr sz="4000" spc="-5" dirty="0" err="1" smtClean="0">
                <a:solidFill>
                  <a:srgbClr val="600A38"/>
                </a:solidFill>
                <a:latin typeface="Arial"/>
                <a:cs typeface="Arial"/>
              </a:rPr>
              <a:t>xception</a:t>
            </a:r>
            <a:endParaRPr sz="4000" dirty="0">
              <a:latin typeface="Arial"/>
              <a:cs typeface="Arial"/>
            </a:endParaRPr>
          </a:p>
        </p:txBody>
      </p:sp>
      <p:sp>
        <p:nvSpPr>
          <p:cNvPr id="3" name="object 3"/>
          <p:cNvSpPr txBox="1"/>
          <p:nvPr/>
        </p:nvSpPr>
        <p:spPr>
          <a:xfrm>
            <a:off x="154939" y="392937"/>
            <a:ext cx="8535035" cy="6358255"/>
          </a:xfrm>
          <a:prstGeom prst="rect">
            <a:avLst/>
          </a:prstGeom>
        </p:spPr>
        <p:txBody>
          <a:bodyPr vert="horz" wrap="square" lIns="0" tIns="12065" rIns="0" bIns="0" rtlCol="0">
            <a:spAutoFit/>
          </a:bodyPr>
          <a:lstStyle/>
          <a:p>
            <a:pPr marL="548640">
              <a:lnSpc>
                <a:spcPct val="100000"/>
              </a:lnSpc>
              <a:spcBef>
                <a:spcPts val="95"/>
              </a:spcBef>
            </a:pPr>
            <a:r>
              <a:rPr sz="4000" spc="-5" dirty="0" smtClean="0">
                <a:solidFill>
                  <a:srgbClr val="600A38"/>
                </a:solidFill>
                <a:latin typeface="Arial"/>
                <a:cs typeface="Arial"/>
              </a:rPr>
              <a:t>handling</a:t>
            </a:r>
            <a:endParaRPr sz="4000" dirty="0" smtClean="0">
              <a:latin typeface="Arial"/>
              <a:cs typeface="Arial"/>
            </a:endParaRPr>
          </a:p>
          <a:p>
            <a:pPr>
              <a:lnSpc>
                <a:spcPct val="100000"/>
              </a:lnSpc>
              <a:spcBef>
                <a:spcPts val="55"/>
              </a:spcBef>
            </a:pPr>
            <a:endParaRPr sz="3900" dirty="0">
              <a:latin typeface="Arial"/>
              <a:cs typeface="Arial"/>
            </a:endParaRPr>
          </a:p>
          <a:p>
            <a:pPr marL="12700">
              <a:lnSpc>
                <a:spcPct val="100000"/>
              </a:lnSpc>
            </a:pPr>
            <a:r>
              <a:rPr sz="2700" b="1" spc="-170" dirty="0">
                <a:solidFill>
                  <a:srgbClr val="006699"/>
                </a:solidFill>
                <a:latin typeface="Verdana"/>
                <a:cs typeface="Verdana"/>
              </a:rPr>
              <a:t>public </a:t>
            </a:r>
            <a:r>
              <a:rPr sz="2700" b="1" spc="-125" dirty="0">
                <a:solidFill>
                  <a:srgbClr val="006699"/>
                </a:solidFill>
                <a:latin typeface="Verdana"/>
                <a:cs typeface="Verdana"/>
              </a:rPr>
              <a:t>class </a:t>
            </a:r>
            <a:r>
              <a:rPr sz="2700" spc="50" dirty="0">
                <a:latin typeface="Arial"/>
                <a:cs typeface="Arial"/>
              </a:rPr>
              <a:t>TryCatchExample1</a:t>
            </a:r>
            <a:r>
              <a:rPr sz="2700" spc="5" dirty="0">
                <a:latin typeface="Arial"/>
                <a:cs typeface="Arial"/>
              </a:rPr>
              <a:t> </a:t>
            </a:r>
            <a:r>
              <a:rPr sz="2700" spc="75" dirty="0">
                <a:latin typeface="Arial"/>
                <a:cs typeface="Arial"/>
              </a:rPr>
              <a:t>{</a:t>
            </a:r>
            <a:endParaRPr sz="2700" dirty="0">
              <a:latin typeface="Arial"/>
              <a:cs typeface="Arial"/>
            </a:endParaRPr>
          </a:p>
          <a:p>
            <a:pPr marL="593090">
              <a:lnSpc>
                <a:spcPct val="100000"/>
              </a:lnSpc>
              <a:spcBef>
                <a:spcPts val="385"/>
              </a:spcBef>
            </a:pPr>
            <a:r>
              <a:rPr sz="2700" b="1" spc="-170" dirty="0">
                <a:solidFill>
                  <a:srgbClr val="006699"/>
                </a:solidFill>
                <a:latin typeface="Verdana"/>
                <a:cs typeface="Verdana"/>
              </a:rPr>
              <a:t>public </a:t>
            </a:r>
            <a:r>
              <a:rPr sz="2700" b="1" spc="-155" dirty="0">
                <a:solidFill>
                  <a:srgbClr val="006699"/>
                </a:solidFill>
                <a:latin typeface="Verdana"/>
                <a:cs typeface="Verdana"/>
              </a:rPr>
              <a:t>static </a:t>
            </a:r>
            <a:r>
              <a:rPr sz="2700" b="1" spc="-185" dirty="0">
                <a:solidFill>
                  <a:srgbClr val="006699"/>
                </a:solidFill>
                <a:latin typeface="Verdana"/>
                <a:cs typeface="Verdana"/>
              </a:rPr>
              <a:t>void </a:t>
            </a:r>
            <a:r>
              <a:rPr sz="2700" spc="95" dirty="0">
                <a:latin typeface="Arial"/>
                <a:cs typeface="Arial"/>
              </a:rPr>
              <a:t>main(String[] </a:t>
            </a:r>
            <a:r>
              <a:rPr sz="2700" spc="80" dirty="0">
                <a:latin typeface="Arial"/>
                <a:cs typeface="Arial"/>
              </a:rPr>
              <a:t>args)</a:t>
            </a:r>
            <a:r>
              <a:rPr sz="2700" spc="-45" dirty="0">
                <a:latin typeface="Arial"/>
                <a:cs typeface="Arial"/>
              </a:rPr>
              <a:t> </a:t>
            </a:r>
            <a:r>
              <a:rPr sz="2700" spc="75" dirty="0">
                <a:latin typeface="Arial"/>
                <a:cs typeface="Arial"/>
              </a:rPr>
              <a:t>{</a:t>
            </a:r>
            <a:endParaRPr sz="2700" dirty="0">
              <a:latin typeface="Arial"/>
              <a:cs typeface="Arial"/>
            </a:endParaRPr>
          </a:p>
          <a:p>
            <a:pPr marL="1464945" marR="481330" indent="-291465">
              <a:lnSpc>
                <a:spcPct val="111500"/>
              </a:lnSpc>
              <a:tabLst>
                <a:tab pos="4388485" algn="l"/>
              </a:tabLst>
            </a:pPr>
            <a:r>
              <a:rPr sz="2700" b="1" spc="-204" dirty="0">
                <a:solidFill>
                  <a:srgbClr val="006699"/>
                </a:solidFill>
                <a:latin typeface="Verdana"/>
                <a:cs typeface="Verdana"/>
              </a:rPr>
              <a:t>int</a:t>
            </a:r>
            <a:r>
              <a:rPr sz="2700" b="1" spc="-95" dirty="0">
                <a:solidFill>
                  <a:srgbClr val="006699"/>
                </a:solidFill>
                <a:latin typeface="Verdana"/>
                <a:cs typeface="Verdana"/>
              </a:rPr>
              <a:t> </a:t>
            </a:r>
            <a:r>
              <a:rPr sz="2700" spc="135" dirty="0">
                <a:latin typeface="Arial"/>
                <a:cs typeface="Arial"/>
              </a:rPr>
              <a:t>data=</a:t>
            </a:r>
            <a:r>
              <a:rPr sz="2700" spc="135" dirty="0">
                <a:solidFill>
                  <a:srgbClr val="C00000"/>
                </a:solidFill>
                <a:latin typeface="Arial"/>
                <a:cs typeface="Arial"/>
              </a:rPr>
              <a:t>50</a:t>
            </a:r>
            <a:r>
              <a:rPr sz="2700" spc="135" dirty="0">
                <a:latin typeface="Arial"/>
                <a:cs typeface="Arial"/>
              </a:rPr>
              <a:t>/</a:t>
            </a:r>
            <a:r>
              <a:rPr sz="2700" spc="135" dirty="0">
                <a:solidFill>
                  <a:srgbClr val="C00000"/>
                </a:solidFill>
                <a:latin typeface="Arial"/>
                <a:cs typeface="Arial"/>
              </a:rPr>
              <a:t>0</a:t>
            </a:r>
            <a:r>
              <a:rPr sz="2700" spc="135" dirty="0">
                <a:latin typeface="Arial"/>
                <a:cs typeface="Arial"/>
              </a:rPr>
              <a:t>;	</a:t>
            </a:r>
            <a:r>
              <a:rPr sz="2700" spc="135" dirty="0">
                <a:solidFill>
                  <a:srgbClr val="008200"/>
                </a:solidFill>
                <a:latin typeface="Arial"/>
                <a:cs typeface="Arial"/>
              </a:rPr>
              <a:t>//may </a:t>
            </a:r>
            <a:r>
              <a:rPr sz="2700" spc="155" dirty="0">
                <a:solidFill>
                  <a:srgbClr val="008200"/>
                </a:solidFill>
                <a:latin typeface="Arial"/>
                <a:cs typeface="Arial"/>
              </a:rPr>
              <a:t>throw</a:t>
            </a:r>
            <a:r>
              <a:rPr sz="2700" spc="-145" dirty="0">
                <a:solidFill>
                  <a:srgbClr val="008200"/>
                </a:solidFill>
                <a:latin typeface="Arial"/>
                <a:cs typeface="Arial"/>
              </a:rPr>
              <a:t> </a:t>
            </a:r>
            <a:r>
              <a:rPr sz="2700" spc="105" dirty="0">
                <a:solidFill>
                  <a:srgbClr val="008200"/>
                </a:solidFill>
                <a:latin typeface="Arial"/>
                <a:cs typeface="Arial"/>
              </a:rPr>
              <a:t>exception  </a:t>
            </a:r>
            <a:r>
              <a:rPr sz="2700" spc="95" dirty="0">
                <a:latin typeface="Arial"/>
                <a:cs typeface="Arial"/>
              </a:rPr>
              <a:t>System.out.println(</a:t>
            </a:r>
            <a:r>
              <a:rPr sz="2700" spc="95" dirty="0">
                <a:solidFill>
                  <a:srgbClr val="0000FF"/>
                </a:solidFill>
                <a:latin typeface="Arial"/>
                <a:cs typeface="Arial"/>
              </a:rPr>
              <a:t>"rest </a:t>
            </a:r>
            <a:r>
              <a:rPr sz="2700" spc="165" dirty="0">
                <a:solidFill>
                  <a:srgbClr val="0000FF"/>
                </a:solidFill>
                <a:latin typeface="Arial"/>
                <a:cs typeface="Arial"/>
              </a:rPr>
              <a:t>of </a:t>
            </a:r>
            <a:r>
              <a:rPr sz="2700" spc="130" dirty="0">
                <a:solidFill>
                  <a:srgbClr val="0000FF"/>
                </a:solidFill>
                <a:latin typeface="Arial"/>
                <a:cs typeface="Arial"/>
              </a:rPr>
              <a:t>the</a:t>
            </a:r>
            <a:r>
              <a:rPr sz="2700" spc="-260" dirty="0">
                <a:solidFill>
                  <a:srgbClr val="0000FF"/>
                </a:solidFill>
                <a:latin typeface="Arial"/>
                <a:cs typeface="Arial"/>
              </a:rPr>
              <a:t> </a:t>
            </a:r>
            <a:r>
              <a:rPr sz="2700" spc="100" dirty="0">
                <a:solidFill>
                  <a:srgbClr val="0000FF"/>
                </a:solidFill>
                <a:latin typeface="Arial"/>
                <a:cs typeface="Arial"/>
              </a:rPr>
              <a:t>code"</a:t>
            </a:r>
            <a:r>
              <a:rPr sz="2700" spc="100" dirty="0">
                <a:latin typeface="Arial"/>
                <a:cs typeface="Arial"/>
              </a:rPr>
              <a:t>);</a:t>
            </a:r>
            <a:endParaRPr sz="2700" dirty="0">
              <a:latin typeface="Arial"/>
              <a:cs typeface="Arial"/>
            </a:endParaRPr>
          </a:p>
          <a:p>
            <a:pPr marL="1078230">
              <a:lnSpc>
                <a:spcPct val="100000"/>
              </a:lnSpc>
              <a:spcBef>
                <a:spcPts val="385"/>
              </a:spcBef>
            </a:pPr>
            <a:r>
              <a:rPr sz="2700" spc="75" dirty="0">
                <a:latin typeface="Arial"/>
                <a:cs typeface="Arial"/>
              </a:rPr>
              <a:t>}</a:t>
            </a:r>
            <a:endParaRPr sz="2700" dirty="0">
              <a:latin typeface="Arial"/>
              <a:cs typeface="Arial"/>
            </a:endParaRPr>
          </a:p>
          <a:p>
            <a:pPr marL="593090">
              <a:lnSpc>
                <a:spcPct val="100000"/>
              </a:lnSpc>
              <a:spcBef>
                <a:spcPts val="375"/>
              </a:spcBef>
            </a:pPr>
            <a:r>
              <a:rPr sz="2700" spc="75" dirty="0">
                <a:latin typeface="Arial"/>
                <a:cs typeface="Arial"/>
              </a:rPr>
              <a:t>}</a:t>
            </a:r>
            <a:endParaRPr sz="2700" dirty="0">
              <a:latin typeface="Arial"/>
              <a:cs typeface="Arial"/>
            </a:endParaRPr>
          </a:p>
          <a:p>
            <a:pPr marL="12700">
              <a:lnSpc>
                <a:spcPts val="2170"/>
              </a:lnSpc>
              <a:spcBef>
                <a:spcPts val="500"/>
              </a:spcBef>
            </a:pPr>
            <a:r>
              <a:rPr sz="1900" b="1" spc="-160" dirty="0">
                <a:solidFill>
                  <a:srgbClr val="FF0000"/>
                </a:solidFill>
                <a:latin typeface="Verdana"/>
                <a:cs typeface="Verdana"/>
              </a:rPr>
              <a:t>Output: </a:t>
            </a:r>
            <a:r>
              <a:rPr sz="1900" b="1" spc="-130" dirty="0">
                <a:solidFill>
                  <a:srgbClr val="FF0000"/>
                </a:solidFill>
                <a:latin typeface="Verdana"/>
                <a:cs typeface="Verdana"/>
              </a:rPr>
              <a:t>Exception </a:t>
            </a:r>
            <a:r>
              <a:rPr sz="1900" b="1" spc="-160" dirty="0">
                <a:solidFill>
                  <a:srgbClr val="FF0000"/>
                </a:solidFill>
                <a:latin typeface="Verdana"/>
                <a:cs typeface="Verdana"/>
              </a:rPr>
              <a:t>in </a:t>
            </a:r>
            <a:r>
              <a:rPr sz="1900" b="1" spc="-155" dirty="0">
                <a:solidFill>
                  <a:srgbClr val="FF0000"/>
                </a:solidFill>
                <a:latin typeface="Verdana"/>
                <a:cs typeface="Verdana"/>
              </a:rPr>
              <a:t>thread </a:t>
            </a:r>
            <a:r>
              <a:rPr sz="1900" b="1" spc="-254" dirty="0">
                <a:solidFill>
                  <a:srgbClr val="FF0000"/>
                </a:solidFill>
                <a:latin typeface="Verdana"/>
                <a:cs typeface="Verdana"/>
              </a:rPr>
              <a:t>"main" </a:t>
            </a:r>
            <a:r>
              <a:rPr sz="1900" b="1" spc="-145" dirty="0">
                <a:solidFill>
                  <a:srgbClr val="FF0000"/>
                </a:solidFill>
                <a:latin typeface="Verdana"/>
                <a:cs typeface="Verdana"/>
              </a:rPr>
              <a:t>java.lang.ArithmeticException: </a:t>
            </a:r>
            <a:r>
              <a:rPr sz="1900" b="1" spc="-570" dirty="0">
                <a:solidFill>
                  <a:srgbClr val="FF0000"/>
                </a:solidFill>
                <a:latin typeface="Verdana"/>
                <a:cs typeface="Verdana"/>
              </a:rPr>
              <a:t>/</a:t>
            </a:r>
            <a:r>
              <a:rPr sz="1900" b="1" spc="-550" dirty="0">
                <a:solidFill>
                  <a:srgbClr val="FF0000"/>
                </a:solidFill>
                <a:latin typeface="Verdana"/>
                <a:cs typeface="Verdana"/>
              </a:rPr>
              <a:t> </a:t>
            </a:r>
            <a:r>
              <a:rPr sz="1900" b="1" spc="-135" dirty="0">
                <a:solidFill>
                  <a:srgbClr val="FF0000"/>
                </a:solidFill>
                <a:latin typeface="Verdana"/>
                <a:cs typeface="Verdana"/>
              </a:rPr>
              <a:t>by</a:t>
            </a:r>
            <a:endParaRPr sz="1900" dirty="0">
              <a:latin typeface="Verdana"/>
              <a:cs typeface="Verdana"/>
            </a:endParaRPr>
          </a:p>
          <a:p>
            <a:pPr marL="12700">
              <a:lnSpc>
                <a:spcPts val="2170"/>
              </a:lnSpc>
            </a:pPr>
            <a:r>
              <a:rPr sz="1900" b="1" spc="-125" dirty="0">
                <a:solidFill>
                  <a:srgbClr val="FF0000"/>
                </a:solidFill>
                <a:latin typeface="Verdana"/>
                <a:cs typeface="Verdana"/>
              </a:rPr>
              <a:t>zero</a:t>
            </a:r>
            <a:endParaRPr sz="1900" dirty="0">
              <a:latin typeface="Verdana"/>
              <a:cs typeface="Verdana"/>
            </a:endParaRPr>
          </a:p>
          <a:p>
            <a:pPr marL="332740" marR="7620" indent="-320040" algn="just">
              <a:lnSpc>
                <a:spcPct val="90200"/>
              </a:lnSpc>
              <a:spcBef>
                <a:spcPts val="685"/>
              </a:spcBef>
              <a:buClr>
                <a:srgbClr val="DD8046"/>
              </a:buClr>
              <a:buSzPct val="65000"/>
              <a:buFont typeface="DejaVu Sans"/>
              <a:buChar char="◻"/>
              <a:tabLst>
                <a:tab pos="332740" algn="l"/>
              </a:tabLst>
            </a:pPr>
            <a:r>
              <a:rPr sz="2000" spc="30" dirty="0">
                <a:solidFill>
                  <a:srgbClr val="333333"/>
                </a:solidFill>
                <a:latin typeface="Arial"/>
                <a:cs typeface="Arial"/>
              </a:rPr>
              <a:t>As </a:t>
            </a:r>
            <a:r>
              <a:rPr sz="2000" spc="70" dirty="0">
                <a:solidFill>
                  <a:srgbClr val="333333"/>
                </a:solidFill>
                <a:latin typeface="Arial"/>
                <a:cs typeface="Arial"/>
              </a:rPr>
              <a:t>displayed </a:t>
            </a:r>
            <a:r>
              <a:rPr sz="2000" spc="45" dirty="0">
                <a:solidFill>
                  <a:srgbClr val="333333"/>
                </a:solidFill>
                <a:latin typeface="Arial"/>
                <a:cs typeface="Arial"/>
              </a:rPr>
              <a:t>in </a:t>
            </a:r>
            <a:r>
              <a:rPr sz="2000" spc="95" dirty="0">
                <a:solidFill>
                  <a:srgbClr val="333333"/>
                </a:solidFill>
                <a:latin typeface="Arial"/>
                <a:cs typeface="Arial"/>
              </a:rPr>
              <a:t>the </a:t>
            </a:r>
            <a:r>
              <a:rPr sz="2000" spc="75" dirty="0">
                <a:solidFill>
                  <a:srgbClr val="333333"/>
                </a:solidFill>
                <a:latin typeface="Arial"/>
                <a:cs typeface="Arial"/>
              </a:rPr>
              <a:t>above </a:t>
            </a:r>
            <a:r>
              <a:rPr sz="2000" spc="45" dirty="0">
                <a:solidFill>
                  <a:srgbClr val="333333"/>
                </a:solidFill>
                <a:latin typeface="Arial"/>
                <a:cs typeface="Arial"/>
              </a:rPr>
              <a:t>example, </a:t>
            </a:r>
            <a:r>
              <a:rPr sz="2000" spc="95" dirty="0">
                <a:solidFill>
                  <a:srgbClr val="333333"/>
                </a:solidFill>
                <a:latin typeface="Arial"/>
                <a:cs typeface="Arial"/>
              </a:rPr>
              <a:t>the </a:t>
            </a:r>
            <a:r>
              <a:rPr sz="2000" b="1" spc="-130" dirty="0">
                <a:solidFill>
                  <a:srgbClr val="333333"/>
                </a:solidFill>
                <a:latin typeface="Verdana"/>
                <a:cs typeface="Verdana"/>
              </a:rPr>
              <a:t>rest </a:t>
            </a:r>
            <a:r>
              <a:rPr sz="2000" b="1" spc="-114" dirty="0">
                <a:solidFill>
                  <a:srgbClr val="333333"/>
                </a:solidFill>
                <a:latin typeface="Verdana"/>
                <a:cs typeface="Verdana"/>
              </a:rPr>
              <a:t>of </a:t>
            </a:r>
            <a:r>
              <a:rPr sz="2000" b="1" spc="-150" dirty="0">
                <a:solidFill>
                  <a:srgbClr val="333333"/>
                </a:solidFill>
                <a:latin typeface="Verdana"/>
                <a:cs typeface="Verdana"/>
              </a:rPr>
              <a:t>the </a:t>
            </a:r>
            <a:r>
              <a:rPr sz="2000" b="1" spc="-105" dirty="0">
                <a:solidFill>
                  <a:srgbClr val="333333"/>
                </a:solidFill>
                <a:latin typeface="Verdana"/>
                <a:cs typeface="Verdana"/>
              </a:rPr>
              <a:t>code </a:t>
            </a:r>
            <a:r>
              <a:rPr sz="2000" spc="35" dirty="0">
                <a:solidFill>
                  <a:srgbClr val="333333"/>
                </a:solidFill>
                <a:latin typeface="Arial"/>
                <a:cs typeface="Arial"/>
              </a:rPr>
              <a:t>is </a:t>
            </a:r>
            <a:r>
              <a:rPr sz="2000" spc="95" dirty="0">
                <a:solidFill>
                  <a:srgbClr val="333333"/>
                </a:solidFill>
                <a:latin typeface="Arial"/>
                <a:cs typeface="Arial"/>
              </a:rPr>
              <a:t>not  </a:t>
            </a:r>
            <a:r>
              <a:rPr sz="2000" spc="80" dirty="0">
                <a:solidFill>
                  <a:srgbClr val="333333"/>
                </a:solidFill>
                <a:latin typeface="Arial"/>
                <a:cs typeface="Arial"/>
              </a:rPr>
              <a:t>executed </a:t>
            </a:r>
            <a:r>
              <a:rPr sz="2000" spc="40" dirty="0">
                <a:solidFill>
                  <a:srgbClr val="333333"/>
                </a:solidFill>
                <a:latin typeface="Arial"/>
                <a:cs typeface="Arial"/>
              </a:rPr>
              <a:t>(in </a:t>
            </a:r>
            <a:r>
              <a:rPr sz="2000" spc="70" dirty="0">
                <a:solidFill>
                  <a:srgbClr val="333333"/>
                </a:solidFill>
                <a:latin typeface="Arial"/>
                <a:cs typeface="Arial"/>
              </a:rPr>
              <a:t>such </a:t>
            </a:r>
            <a:r>
              <a:rPr sz="2000" spc="40" dirty="0">
                <a:solidFill>
                  <a:srgbClr val="333333"/>
                </a:solidFill>
                <a:latin typeface="Arial"/>
                <a:cs typeface="Arial"/>
              </a:rPr>
              <a:t>case, </a:t>
            </a:r>
            <a:r>
              <a:rPr sz="2000" spc="95" dirty="0">
                <a:solidFill>
                  <a:srgbClr val="333333"/>
                </a:solidFill>
                <a:latin typeface="Arial"/>
                <a:cs typeface="Arial"/>
              </a:rPr>
              <a:t>the </a:t>
            </a:r>
            <a:r>
              <a:rPr sz="2000" b="1" spc="-130" dirty="0">
                <a:solidFill>
                  <a:srgbClr val="333333"/>
                </a:solidFill>
                <a:latin typeface="Verdana"/>
                <a:cs typeface="Verdana"/>
              </a:rPr>
              <a:t>rest </a:t>
            </a:r>
            <a:r>
              <a:rPr sz="2000" b="1" spc="-114" dirty="0">
                <a:solidFill>
                  <a:srgbClr val="333333"/>
                </a:solidFill>
                <a:latin typeface="Verdana"/>
                <a:cs typeface="Verdana"/>
              </a:rPr>
              <a:t>of </a:t>
            </a:r>
            <a:r>
              <a:rPr sz="2000" b="1" spc="-150" dirty="0">
                <a:solidFill>
                  <a:srgbClr val="333333"/>
                </a:solidFill>
                <a:latin typeface="Verdana"/>
                <a:cs typeface="Verdana"/>
              </a:rPr>
              <a:t>the </a:t>
            </a:r>
            <a:r>
              <a:rPr sz="2000" b="1" spc="-105" dirty="0">
                <a:solidFill>
                  <a:srgbClr val="333333"/>
                </a:solidFill>
                <a:latin typeface="Verdana"/>
                <a:cs typeface="Verdana"/>
              </a:rPr>
              <a:t>code </a:t>
            </a:r>
            <a:r>
              <a:rPr sz="2000" spc="90" dirty="0">
                <a:solidFill>
                  <a:srgbClr val="333333"/>
                </a:solidFill>
                <a:latin typeface="Arial"/>
                <a:cs typeface="Arial"/>
              </a:rPr>
              <a:t>statement </a:t>
            </a:r>
            <a:r>
              <a:rPr sz="2000" spc="35" dirty="0">
                <a:solidFill>
                  <a:srgbClr val="333333"/>
                </a:solidFill>
                <a:latin typeface="Arial"/>
                <a:cs typeface="Arial"/>
              </a:rPr>
              <a:t>is </a:t>
            </a:r>
            <a:r>
              <a:rPr sz="2000" spc="95" dirty="0">
                <a:solidFill>
                  <a:srgbClr val="333333"/>
                </a:solidFill>
                <a:latin typeface="Arial"/>
                <a:cs typeface="Arial"/>
              </a:rPr>
              <a:t>not  </a:t>
            </a:r>
            <a:r>
              <a:rPr sz="2000" spc="75" dirty="0">
                <a:solidFill>
                  <a:srgbClr val="333333"/>
                </a:solidFill>
                <a:latin typeface="Arial"/>
                <a:cs typeface="Arial"/>
              </a:rPr>
              <a:t>printed).</a:t>
            </a:r>
            <a:endParaRPr sz="2000" dirty="0">
              <a:latin typeface="Arial"/>
              <a:cs typeface="Arial"/>
            </a:endParaRPr>
          </a:p>
          <a:p>
            <a:pPr marL="332740" marR="5080" indent="-320040" algn="just">
              <a:lnSpc>
                <a:spcPts val="2160"/>
              </a:lnSpc>
              <a:spcBef>
                <a:spcPts val="730"/>
              </a:spcBef>
              <a:buClr>
                <a:srgbClr val="DD8046"/>
              </a:buClr>
              <a:buSzPct val="65000"/>
              <a:buFont typeface="DejaVu Sans"/>
              <a:buChar char="◻"/>
              <a:tabLst>
                <a:tab pos="332740" algn="l"/>
              </a:tabLst>
            </a:pPr>
            <a:r>
              <a:rPr sz="2000" spc="60" dirty="0">
                <a:solidFill>
                  <a:srgbClr val="333333"/>
                </a:solidFill>
                <a:latin typeface="Arial"/>
                <a:cs typeface="Arial"/>
              </a:rPr>
              <a:t>There </a:t>
            </a:r>
            <a:r>
              <a:rPr sz="2000" spc="90" dirty="0">
                <a:solidFill>
                  <a:srgbClr val="333333"/>
                </a:solidFill>
                <a:latin typeface="Arial"/>
                <a:cs typeface="Arial"/>
              </a:rPr>
              <a:t>might be </a:t>
            </a:r>
            <a:r>
              <a:rPr sz="2000" spc="30" dirty="0">
                <a:solidFill>
                  <a:srgbClr val="333333"/>
                </a:solidFill>
                <a:latin typeface="Arial"/>
                <a:cs typeface="Arial"/>
              </a:rPr>
              <a:t>100 </a:t>
            </a:r>
            <a:r>
              <a:rPr sz="2000" spc="40" dirty="0">
                <a:solidFill>
                  <a:srgbClr val="333333"/>
                </a:solidFill>
                <a:latin typeface="Arial"/>
                <a:cs typeface="Arial"/>
              </a:rPr>
              <a:t>lines </a:t>
            </a:r>
            <a:r>
              <a:rPr sz="2000" spc="125" dirty="0">
                <a:solidFill>
                  <a:srgbClr val="333333"/>
                </a:solidFill>
                <a:latin typeface="Arial"/>
                <a:cs typeface="Arial"/>
              </a:rPr>
              <a:t>of </a:t>
            </a:r>
            <a:r>
              <a:rPr sz="2000" spc="90" dirty="0">
                <a:solidFill>
                  <a:srgbClr val="333333"/>
                </a:solidFill>
                <a:latin typeface="Arial"/>
                <a:cs typeface="Arial"/>
              </a:rPr>
              <a:t>code </a:t>
            </a:r>
            <a:r>
              <a:rPr sz="2000" spc="95" dirty="0">
                <a:solidFill>
                  <a:srgbClr val="333333"/>
                </a:solidFill>
                <a:latin typeface="Arial"/>
                <a:cs typeface="Arial"/>
              </a:rPr>
              <a:t>after the </a:t>
            </a:r>
            <a:r>
              <a:rPr sz="2000" spc="70" dirty="0">
                <a:solidFill>
                  <a:srgbClr val="333333"/>
                </a:solidFill>
                <a:latin typeface="Arial"/>
                <a:cs typeface="Arial"/>
              </a:rPr>
              <a:t>exception. </a:t>
            </a:r>
            <a:r>
              <a:rPr sz="2000" spc="60" dirty="0">
                <a:solidFill>
                  <a:srgbClr val="333333"/>
                </a:solidFill>
                <a:latin typeface="Arial"/>
                <a:cs typeface="Arial"/>
              </a:rPr>
              <a:t>If </a:t>
            </a:r>
            <a:r>
              <a:rPr sz="2000" spc="95" dirty="0">
                <a:solidFill>
                  <a:srgbClr val="333333"/>
                </a:solidFill>
                <a:latin typeface="Arial"/>
                <a:cs typeface="Arial"/>
              </a:rPr>
              <a:t>the  </a:t>
            </a:r>
            <a:r>
              <a:rPr sz="2000" spc="75" dirty="0">
                <a:solidFill>
                  <a:srgbClr val="333333"/>
                </a:solidFill>
                <a:latin typeface="Arial"/>
                <a:cs typeface="Arial"/>
              </a:rPr>
              <a:t>exception </a:t>
            </a:r>
            <a:r>
              <a:rPr sz="2000" spc="35" dirty="0">
                <a:solidFill>
                  <a:srgbClr val="333333"/>
                </a:solidFill>
                <a:latin typeface="Arial"/>
                <a:cs typeface="Arial"/>
              </a:rPr>
              <a:t>is </a:t>
            </a:r>
            <a:r>
              <a:rPr sz="2000" spc="100" dirty="0">
                <a:solidFill>
                  <a:srgbClr val="333333"/>
                </a:solidFill>
                <a:latin typeface="Arial"/>
                <a:cs typeface="Arial"/>
              </a:rPr>
              <a:t>not </a:t>
            </a:r>
            <a:r>
              <a:rPr sz="2000" spc="60" dirty="0">
                <a:solidFill>
                  <a:srgbClr val="333333"/>
                </a:solidFill>
                <a:latin typeface="Arial"/>
                <a:cs typeface="Arial"/>
              </a:rPr>
              <a:t>handled, </a:t>
            </a:r>
            <a:r>
              <a:rPr sz="2000" spc="20" dirty="0">
                <a:solidFill>
                  <a:srgbClr val="333333"/>
                </a:solidFill>
                <a:latin typeface="Arial"/>
                <a:cs typeface="Arial"/>
              </a:rPr>
              <a:t>all </a:t>
            </a:r>
            <a:r>
              <a:rPr sz="2000" spc="95" dirty="0">
                <a:solidFill>
                  <a:srgbClr val="333333"/>
                </a:solidFill>
                <a:latin typeface="Arial"/>
                <a:cs typeface="Arial"/>
              </a:rPr>
              <a:t>the </a:t>
            </a:r>
            <a:r>
              <a:rPr sz="2000" spc="90" dirty="0">
                <a:solidFill>
                  <a:srgbClr val="333333"/>
                </a:solidFill>
                <a:latin typeface="Arial"/>
                <a:cs typeface="Arial"/>
              </a:rPr>
              <a:t>code </a:t>
            </a:r>
            <a:r>
              <a:rPr sz="2000" spc="85" dirty="0">
                <a:solidFill>
                  <a:srgbClr val="333333"/>
                </a:solidFill>
                <a:latin typeface="Arial"/>
                <a:cs typeface="Arial"/>
              </a:rPr>
              <a:t>below </a:t>
            </a:r>
            <a:r>
              <a:rPr sz="2000" spc="95" dirty="0">
                <a:solidFill>
                  <a:srgbClr val="333333"/>
                </a:solidFill>
                <a:latin typeface="Arial"/>
                <a:cs typeface="Arial"/>
              </a:rPr>
              <a:t>the </a:t>
            </a:r>
            <a:r>
              <a:rPr sz="2000" spc="75" dirty="0">
                <a:solidFill>
                  <a:srgbClr val="333333"/>
                </a:solidFill>
                <a:latin typeface="Arial"/>
                <a:cs typeface="Arial"/>
              </a:rPr>
              <a:t>exception </a:t>
            </a:r>
            <a:r>
              <a:rPr sz="2000" spc="105" dirty="0">
                <a:solidFill>
                  <a:srgbClr val="333333"/>
                </a:solidFill>
                <a:latin typeface="Arial"/>
                <a:cs typeface="Arial"/>
              </a:rPr>
              <a:t>won't </a:t>
            </a:r>
            <a:r>
              <a:rPr sz="2000" spc="90" dirty="0">
                <a:solidFill>
                  <a:srgbClr val="333333"/>
                </a:solidFill>
                <a:latin typeface="Arial"/>
                <a:cs typeface="Arial"/>
              </a:rPr>
              <a:t>be  </a:t>
            </a:r>
            <a:r>
              <a:rPr sz="2000" spc="75" dirty="0">
                <a:solidFill>
                  <a:srgbClr val="333333"/>
                </a:solidFill>
                <a:latin typeface="Arial"/>
                <a:cs typeface="Arial"/>
              </a:rPr>
              <a:t>executed.</a:t>
            </a:r>
            <a:endParaRPr sz="2000" dirty="0">
              <a:latin typeface="Arial"/>
              <a:cs typeface="Arial"/>
            </a:endParaRPr>
          </a:p>
        </p:txBody>
      </p:sp>
      <p:sp>
        <p:nvSpPr>
          <p:cNvPr id="4" name="object 4"/>
          <p:cNvSpPr txBox="1">
            <a:spLocks noGrp="1"/>
          </p:cNvSpPr>
          <p:nvPr>
            <p:ph type="title"/>
          </p:nvPr>
        </p:nvSpPr>
        <p:spPr>
          <a:xfrm>
            <a:off x="78739" y="0"/>
            <a:ext cx="6779261" cy="635000"/>
          </a:xfrm>
          <a:prstGeom prst="rect">
            <a:avLst/>
          </a:prstGeom>
        </p:spPr>
        <p:txBody>
          <a:bodyPr vert="horz" wrap="square" lIns="0" tIns="12065" rIns="0" bIns="0" rtlCol="0">
            <a:spAutoFit/>
          </a:bodyPr>
          <a:lstStyle/>
          <a:p>
            <a:pPr marL="12700">
              <a:lnSpc>
                <a:spcPct val="100000"/>
              </a:lnSpc>
              <a:spcBef>
                <a:spcPts val="95"/>
              </a:spcBef>
            </a:pPr>
            <a:r>
              <a:rPr sz="1200" b="0" dirty="0" err="1" smtClean="0">
                <a:solidFill>
                  <a:srgbClr val="F8F8F8"/>
                </a:solidFill>
                <a:latin typeface="Arial"/>
                <a:cs typeface="Arial"/>
              </a:rPr>
              <a:t>Exceptio</a:t>
            </a:r>
            <a:r>
              <a:rPr sz="1200" b="0" spc="-459" dirty="0" err="1" smtClean="0">
                <a:solidFill>
                  <a:srgbClr val="F8F8F8"/>
                </a:solidFill>
                <a:latin typeface="Arial"/>
                <a:cs typeface="Arial"/>
              </a:rPr>
              <a:t>n</a:t>
            </a:r>
            <a:r>
              <a:rPr sz="6000" b="0" spc="-2820" baseline="-2083" dirty="0" err="1" smtClean="0">
                <a:solidFill>
                  <a:srgbClr val="600A38"/>
                </a:solidFill>
                <a:latin typeface="Arial"/>
                <a:cs typeface="Arial"/>
              </a:rPr>
              <a:t>P</a:t>
            </a:r>
            <a:r>
              <a:rPr sz="1200" b="0" dirty="0" err="1" smtClean="0">
                <a:solidFill>
                  <a:srgbClr val="F8F8F8"/>
                </a:solidFill>
                <a:latin typeface="Arial"/>
                <a:cs typeface="Arial"/>
              </a:rPr>
              <a:t>in</a:t>
            </a:r>
            <a:r>
              <a:rPr sz="1200" b="0" spc="-35" dirty="0" smtClean="0">
                <a:solidFill>
                  <a:srgbClr val="F8F8F8"/>
                </a:solidFill>
                <a:latin typeface="Arial"/>
                <a:cs typeface="Arial"/>
              </a:rPr>
              <a:t> </a:t>
            </a:r>
            <a:r>
              <a:rPr sz="1200" b="0" dirty="0" err="1" smtClean="0">
                <a:solidFill>
                  <a:srgbClr val="F8F8F8"/>
                </a:solidFill>
                <a:latin typeface="Arial"/>
                <a:cs typeface="Arial"/>
              </a:rPr>
              <a:t>t</a:t>
            </a:r>
            <a:r>
              <a:rPr sz="1200" b="0" spc="-365" dirty="0" err="1" smtClean="0">
                <a:solidFill>
                  <a:srgbClr val="F8F8F8"/>
                </a:solidFill>
                <a:latin typeface="Arial"/>
                <a:cs typeface="Arial"/>
              </a:rPr>
              <a:t>h</a:t>
            </a:r>
            <a:r>
              <a:rPr sz="6000" b="0" spc="-1455" baseline="-2083" dirty="0" err="1" smtClean="0">
                <a:solidFill>
                  <a:srgbClr val="600A38"/>
                </a:solidFill>
                <a:latin typeface="Arial"/>
                <a:cs typeface="Arial"/>
              </a:rPr>
              <a:t>r</a:t>
            </a:r>
            <a:r>
              <a:rPr sz="1200" b="0" dirty="0" err="1" smtClean="0">
                <a:solidFill>
                  <a:srgbClr val="F8F8F8"/>
                </a:solidFill>
                <a:latin typeface="Arial"/>
                <a:cs typeface="Arial"/>
              </a:rPr>
              <a:t>r</a:t>
            </a:r>
            <a:r>
              <a:rPr sz="1200" b="0" spc="-110" dirty="0" err="1" smtClean="0">
                <a:solidFill>
                  <a:srgbClr val="F8F8F8"/>
                </a:solidFill>
                <a:latin typeface="Arial"/>
                <a:cs typeface="Arial"/>
              </a:rPr>
              <a:t>e</a:t>
            </a:r>
            <a:r>
              <a:rPr sz="6000" b="0" spc="-3187" baseline="-2083" dirty="0" err="1" smtClean="0">
                <a:solidFill>
                  <a:srgbClr val="600A38"/>
                </a:solidFill>
                <a:latin typeface="Arial"/>
                <a:cs typeface="Arial"/>
              </a:rPr>
              <a:t>o</a:t>
            </a:r>
            <a:r>
              <a:rPr sz="1200" b="0" spc="5" dirty="0" err="1" smtClean="0">
                <a:solidFill>
                  <a:srgbClr val="F8F8F8"/>
                </a:solidFill>
                <a:latin typeface="Arial"/>
                <a:cs typeface="Arial"/>
              </a:rPr>
              <a:t>a</a:t>
            </a:r>
            <a:r>
              <a:rPr sz="1200" b="0" dirty="0" err="1" smtClean="0">
                <a:solidFill>
                  <a:srgbClr val="F8F8F8"/>
                </a:solidFill>
                <a:latin typeface="Arial"/>
                <a:cs typeface="Arial"/>
              </a:rPr>
              <a:t>d</a:t>
            </a:r>
            <a:r>
              <a:rPr sz="1200" b="0" spc="-35" dirty="0" smtClean="0">
                <a:solidFill>
                  <a:srgbClr val="F8F8F8"/>
                </a:solidFill>
                <a:latin typeface="Arial"/>
                <a:cs typeface="Arial"/>
              </a:rPr>
              <a:t> </a:t>
            </a:r>
            <a:r>
              <a:rPr sz="1200" b="0" spc="-10" dirty="0" smtClean="0">
                <a:solidFill>
                  <a:srgbClr val="F8F8F8"/>
                </a:solidFill>
                <a:latin typeface="Arial"/>
                <a:cs typeface="Arial"/>
              </a:rPr>
              <a:t>"</a:t>
            </a:r>
            <a:r>
              <a:rPr sz="1200" b="0" spc="-950" dirty="0" err="1" smtClean="0">
                <a:solidFill>
                  <a:srgbClr val="F8F8F8"/>
                </a:solidFill>
                <a:latin typeface="Arial"/>
                <a:cs typeface="Arial"/>
              </a:rPr>
              <a:t>m</a:t>
            </a:r>
            <a:r>
              <a:rPr sz="6000" b="0" spc="-1927" baseline="-2083" dirty="0" err="1" smtClean="0">
                <a:solidFill>
                  <a:srgbClr val="600A38"/>
                </a:solidFill>
                <a:latin typeface="Arial"/>
                <a:cs typeface="Arial"/>
              </a:rPr>
              <a:t>b</a:t>
            </a:r>
            <a:r>
              <a:rPr sz="1200" b="0" dirty="0" err="1" smtClean="0">
                <a:solidFill>
                  <a:srgbClr val="F8F8F8"/>
                </a:solidFill>
                <a:latin typeface="Arial"/>
                <a:cs typeface="Arial"/>
              </a:rPr>
              <a:t>a</a:t>
            </a:r>
            <a:r>
              <a:rPr sz="1200" b="0" spc="-5" dirty="0" err="1" smtClean="0">
                <a:solidFill>
                  <a:srgbClr val="F8F8F8"/>
                </a:solidFill>
                <a:latin typeface="Arial"/>
                <a:cs typeface="Arial"/>
              </a:rPr>
              <a:t>i</a:t>
            </a:r>
            <a:r>
              <a:rPr sz="1200" b="0" spc="-330" dirty="0" err="1" smtClean="0">
                <a:solidFill>
                  <a:srgbClr val="F8F8F8"/>
                </a:solidFill>
                <a:latin typeface="Arial"/>
                <a:cs typeface="Arial"/>
              </a:rPr>
              <a:t>n</a:t>
            </a:r>
            <a:r>
              <a:rPr sz="6000" b="0" spc="-855" baseline="-2083" dirty="0" err="1" smtClean="0">
                <a:solidFill>
                  <a:srgbClr val="600A38"/>
                </a:solidFill>
                <a:latin typeface="Arial"/>
                <a:cs typeface="Arial"/>
              </a:rPr>
              <a:t>l</a:t>
            </a:r>
            <a:r>
              <a:rPr sz="1200" b="0" dirty="0" smtClean="0">
                <a:solidFill>
                  <a:srgbClr val="F8F8F8"/>
                </a:solidFill>
                <a:latin typeface="Arial"/>
                <a:cs typeface="Arial"/>
              </a:rPr>
              <a:t>"</a:t>
            </a:r>
            <a:r>
              <a:rPr sz="1200" b="0" spc="-200" dirty="0" smtClean="0">
                <a:solidFill>
                  <a:srgbClr val="F8F8F8"/>
                </a:solidFill>
                <a:latin typeface="Arial"/>
                <a:cs typeface="Arial"/>
              </a:rPr>
              <a:t> </a:t>
            </a:r>
            <a:r>
              <a:rPr sz="6000" b="0" spc="-3052" baseline="-2083" dirty="0" err="1" smtClean="0">
                <a:solidFill>
                  <a:srgbClr val="600A38"/>
                </a:solidFill>
                <a:latin typeface="Arial"/>
                <a:cs typeface="Arial"/>
              </a:rPr>
              <a:t>e</a:t>
            </a:r>
            <a:r>
              <a:rPr sz="1200" b="0" spc="-5" dirty="0" err="1" smtClean="0">
                <a:solidFill>
                  <a:srgbClr val="F8F8F8"/>
                </a:solidFill>
                <a:latin typeface="Arial"/>
                <a:cs typeface="Arial"/>
              </a:rPr>
              <a:t>jav</a:t>
            </a:r>
            <a:r>
              <a:rPr sz="1200" b="0" spc="-180" dirty="0" err="1" smtClean="0">
                <a:solidFill>
                  <a:srgbClr val="F8F8F8"/>
                </a:solidFill>
                <a:latin typeface="Arial"/>
                <a:cs typeface="Arial"/>
              </a:rPr>
              <a:t>a</a:t>
            </a:r>
            <a:r>
              <a:rPr sz="6000" b="0" spc="-4732" baseline="-2083" dirty="0" err="1" smtClean="0">
                <a:solidFill>
                  <a:srgbClr val="600A38"/>
                </a:solidFill>
                <a:latin typeface="Arial"/>
                <a:cs typeface="Arial"/>
              </a:rPr>
              <a:t>m</a:t>
            </a:r>
            <a:r>
              <a:rPr sz="1200" b="0" dirty="0" err="1" smtClean="0">
                <a:solidFill>
                  <a:srgbClr val="F8F8F8"/>
                </a:solidFill>
                <a:latin typeface="Arial"/>
                <a:cs typeface="Arial"/>
              </a:rPr>
              <a:t>.</a:t>
            </a:r>
            <a:r>
              <a:rPr sz="1200" b="0" spc="-5" dirty="0" err="1" smtClean="0">
                <a:solidFill>
                  <a:srgbClr val="F8F8F8"/>
                </a:solidFill>
                <a:latin typeface="Arial"/>
                <a:cs typeface="Arial"/>
              </a:rPr>
              <a:t>la</a:t>
            </a:r>
            <a:r>
              <a:rPr sz="1200" b="0" spc="5" dirty="0" err="1" smtClean="0">
                <a:solidFill>
                  <a:srgbClr val="F8F8F8"/>
                </a:solidFill>
                <a:latin typeface="Arial"/>
                <a:cs typeface="Arial"/>
              </a:rPr>
              <a:t>n</a:t>
            </a:r>
            <a:r>
              <a:rPr sz="1200" b="0" spc="-10" dirty="0" err="1" smtClean="0">
                <a:solidFill>
                  <a:srgbClr val="F8F8F8"/>
                </a:solidFill>
                <a:latin typeface="Arial"/>
                <a:cs typeface="Arial"/>
              </a:rPr>
              <a:t>g</a:t>
            </a:r>
            <a:r>
              <a:rPr sz="1200" b="0" dirty="0" err="1" smtClean="0">
                <a:solidFill>
                  <a:srgbClr val="F8F8F8"/>
                </a:solidFill>
                <a:latin typeface="Arial"/>
                <a:cs typeface="Arial"/>
              </a:rPr>
              <a:t>.Ar</a:t>
            </a:r>
            <a:r>
              <a:rPr sz="1200" b="0" spc="-140" dirty="0" err="1" smtClean="0">
                <a:solidFill>
                  <a:srgbClr val="F8F8F8"/>
                </a:solidFill>
                <a:latin typeface="Arial"/>
                <a:cs typeface="Arial"/>
              </a:rPr>
              <a:t>i</a:t>
            </a:r>
            <a:r>
              <a:rPr sz="6000" b="0" spc="-4147" baseline="-2083" dirty="0" err="1" smtClean="0">
                <a:solidFill>
                  <a:srgbClr val="600A38"/>
                </a:solidFill>
                <a:latin typeface="Arial"/>
                <a:cs typeface="Arial"/>
              </a:rPr>
              <a:t>w</a:t>
            </a:r>
            <a:r>
              <a:rPr sz="1200" b="0" dirty="0" err="1" smtClean="0">
                <a:solidFill>
                  <a:srgbClr val="F8F8F8"/>
                </a:solidFill>
                <a:latin typeface="Arial"/>
                <a:cs typeface="Arial"/>
              </a:rPr>
              <a:t>t</a:t>
            </a:r>
            <a:r>
              <a:rPr sz="1200" b="0" spc="-5" dirty="0" err="1" smtClean="0">
                <a:solidFill>
                  <a:srgbClr val="F8F8F8"/>
                </a:solidFill>
                <a:latin typeface="Arial"/>
                <a:cs typeface="Arial"/>
              </a:rPr>
              <a:t>hm</a:t>
            </a:r>
            <a:r>
              <a:rPr sz="1200" b="0" dirty="0" err="1" smtClean="0">
                <a:solidFill>
                  <a:srgbClr val="F8F8F8"/>
                </a:solidFill>
                <a:latin typeface="Arial"/>
                <a:cs typeface="Arial"/>
              </a:rPr>
              <a:t>e</a:t>
            </a:r>
            <a:r>
              <a:rPr sz="1200" b="0" spc="-245" dirty="0" err="1" smtClean="0">
                <a:solidFill>
                  <a:srgbClr val="F8F8F8"/>
                </a:solidFill>
                <a:latin typeface="Arial"/>
                <a:cs typeface="Arial"/>
              </a:rPr>
              <a:t>t</a:t>
            </a:r>
            <a:r>
              <a:rPr sz="6000" b="0" spc="-982" baseline="-2083" dirty="0" err="1" smtClean="0">
                <a:solidFill>
                  <a:srgbClr val="600A38"/>
                </a:solidFill>
                <a:latin typeface="Arial"/>
                <a:cs typeface="Arial"/>
              </a:rPr>
              <a:t>i</a:t>
            </a:r>
            <a:r>
              <a:rPr sz="1200" b="0" dirty="0" err="1" smtClean="0">
                <a:solidFill>
                  <a:srgbClr val="F8F8F8"/>
                </a:solidFill>
                <a:latin typeface="Arial"/>
                <a:cs typeface="Arial"/>
              </a:rPr>
              <a:t>i</a:t>
            </a:r>
            <a:r>
              <a:rPr sz="1200" b="0" spc="-225" dirty="0" err="1" smtClean="0">
                <a:solidFill>
                  <a:srgbClr val="F8F8F8"/>
                </a:solidFill>
                <a:latin typeface="Arial"/>
                <a:cs typeface="Arial"/>
              </a:rPr>
              <a:t>c</a:t>
            </a:r>
            <a:r>
              <a:rPr sz="6000" b="0" spc="-1342" baseline="-2083" dirty="0" err="1" smtClean="0">
                <a:solidFill>
                  <a:srgbClr val="600A38"/>
                </a:solidFill>
                <a:latin typeface="Arial"/>
                <a:cs typeface="Arial"/>
              </a:rPr>
              <a:t>t</a:t>
            </a:r>
            <a:r>
              <a:rPr sz="1200" b="0" spc="-10" dirty="0" err="1" smtClean="0">
                <a:solidFill>
                  <a:srgbClr val="F8F8F8"/>
                </a:solidFill>
                <a:latin typeface="Arial"/>
                <a:cs typeface="Arial"/>
              </a:rPr>
              <a:t>E</a:t>
            </a:r>
            <a:r>
              <a:rPr sz="1200" b="0" spc="-505" dirty="0" err="1" smtClean="0">
                <a:solidFill>
                  <a:srgbClr val="F8F8F8"/>
                </a:solidFill>
                <a:latin typeface="Arial"/>
                <a:cs typeface="Arial"/>
              </a:rPr>
              <a:t>x</a:t>
            </a:r>
            <a:r>
              <a:rPr sz="6000" b="0" spc="-2595" baseline="-2083" dirty="0" err="1" smtClean="0">
                <a:solidFill>
                  <a:srgbClr val="600A38"/>
                </a:solidFill>
                <a:latin typeface="Arial"/>
                <a:cs typeface="Arial"/>
              </a:rPr>
              <a:t>h</a:t>
            </a:r>
            <a:r>
              <a:rPr sz="1200" b="0" dirty="0" err="1" smtClean="0">
                <a:solidFill>
                  <a:srgbClr val="F8F8F8"/>
                </a:solidFill>
                <a:latin typeface="Arial"/>
                <a:cs typeface="Arial"/>
              </a:rPr>
              <a:t>ce</a:t>
            </a:r>
            <a:r>
              <a:rPr sz="1200" b="0" spc="-220" dirty="0" err="1" smtClean="0">
                <a:solidFill>
                  <a:srgbClr val="F8F8F8"/>
                </a:solidFill>
                <a:latin typeface="Arial"/>
                <a:cs typeface="Arial"/>
              </a:rPr>
              <a:t>p</a:t>
            </a:r>
            <a:r>
              <a:rPr sz="6000" b="0" spc="-3029" baseline="-2083" dirty="0" err="1" smtClean="0">
                <a:solidFill>
                  <a:srgbClr val="600A38"/>
                </a:solidFill>
                <a:latin typeface="Arial"/>
                <a:cs typeface="Arial"/>
              </a:rPr>
              <a:t>o</a:t>
            </a:r>
            <a:r>
              <a:rPr sz="1200" b="0" dirty="0" err="1" smtClean="0">
                <a:solidFill>
                  <a:srgbClr val="F8F8F8"/>
                </a:solidFill>
                <a:latin typeface="Arial"/>
                <a:cs typeface="Arial"/>
              </a:rPr>
              <a:t>ti</a:t>
            </a:r>
            <a:r>
              <a:rPr sz="1200" b="0" spc="-10" dirty="0" err="1" smtClean="0">
                <a:solidFill>
                  <a:srgbClr val="F8F8F8"/>
                </a:solidFill>
                <a:latin typeface="Arial"/>
                <a:cs typeface="Arial"/>
              </a:rPr>
              <a:t>o</a:t>
            </a:r>
            <a:r>
              <a:rPr sz="1200" b="0" spc="-5" dirty="0" err="1" smtClean="0">
                <a:solidFill>
                  <a:srgbClr val="F8F8F8"/>
                </a:solidFill>
                <a:latin typeface="Arial"/>
                <a:cs typeface="Arial"/>
              </a:rPr>
              <a:t>n</a:t>
            </a:r>
            <a:r>
              <a:rPr sz="1200" b="0" spc="-245" dirty="0" err="1" smtClean="0">
                <a:solidFill>
                  <a:srgbClr val="F8F8F8"/>
                </a:solidFill>
                <a:latin typeface="Arial"/>
                <a:cs typeface="Arial"/>
              </a:rPr>
              <a:t>:</a:t>
            </a:r>
            <a:r>
              <a:rPr sz="6000" b="0" spc="-2527" baseline="-2083" dirty="0" err="1" smtClean="0">
                <a:solidFill>
                  <a:srgbClr val="600A38"/>
                </a:solidFill>
                <a:latin typeface="Arial"/>
                <a:cs typeface="Arial"/>
              </a:rPr>
              <a:t>u</a:t>
            </a:r>
            <a:r>
              <a:rPr sz="1200" b="0" dirty="0" smtClean="0">
                <a:solidFill>
                  <a:srgbClr val="F8F8F8"/>
                </a:solidFill>
                <a:latin typeface="Arial"/>
                <a:cs typeface="Arial"/>
              </a:rPr>
              <a:t>/</a:t>
            </a:r>
            <a:r>
              <a:rPr sz="1200" b="0" spc="15" dirty="0" smtClean="0">
                <a:solidFill>
                  <a:srgbClr val="F8F8F8"/>
                </a:solidFill>
                <a:latin typeface="Arial"/>
                <a:cs typeface="Arial"/>
              </a:rPr>
              <a:t> </a:t>
            </a:r>
            <a:r>
              <a:rPr sz="1200" b="0" dirty="0" err="1" smtClean="0">
                <a:solidFill>
                  <a:srgbClr val="F8F8F8"/>
                </a:solidFill>
                <a:latin typeface="Arial"/>
                <a:cs typeface="Arial"/>
              </a:rPr>
              <a:t>b</a:t>
            </a:r>
            <a:r>
              <a:rPr sz="1200" b="0" spc="-280" dirty="0" err="1" smtClean="0">
                <a:solidFill>
                  <a:srgbClr val="F8F8F8"/>
                </a:solidFill>
                <a:latin typeface="Arial"/>
                <a:cs typeface="Arial"/>
              </a:rPr>
              <a:t>y</a:t>
            </a:r>
            <a:r>
              <a:rPr sz="6000" b="0" spc="-765" baseline="-2083" dirty="0" err="1" smtClean="0">
                <a:solidFill>
                  <a:srgbClr val="600A38"/>
                </a:solidFill>
                <a:latin typeface="Arial"/>
                <a:cs typeface="Arial"/>
              </a:rPr>
              <a:t>t</a:t>
            </a:r>
            <a:r>
              <a:rPr sz="1200" b="0" dirty="0" err="1" smtClean="0">
                <a:solidFill>
                  <a:srgbClr val="F8F8F8"/>
                </a:solidFill>
                <a:latin typeface="Arial"/>
                <a:cs typeface="Arial"/>
              </a:rPr>
              <a:t>ze</a:t>
            </a:r>
            <a:r>
              <a:rPr sz="1200" b="0" spc="-55" dirty="0" err="1" smtClean="0">
                <a:solidFill>
                  <a:srgbClr val="F8F8F8"/>
                </a:solidFill>
                <a:latin typeface="Arial"/>
                <a:cs typeface="Arial"/>
              </a:rPr>
              <a:t>r</a:t>
            </a:r>
            <a:r>
              <a:rPr sz="6000" b="0" spc="-3270" baseline="-2083" dirty="0" err="1" smtClean="0">
                <a:solidFill>
                  <a:srgbClr val="600A38"/>
                </a:solidFill>
                <a:latin typeface="Arial"/>
                <a:cs typeface="Arial"/>
              </a:rPr>
              <a:t>e</a:t>
            </a:r>
            <a:r>
              <a:rPr sz="1200" b="0" dirty="0" err="1" smtClean="0">
                <a:solidFill>
                  <a:srgbClr val="F8F8F8"/>
                </a:solidFill>
                <a:latin typeface="Arial"/>
                <a:cs typeface="Arial"/>
              </a:rPr>
              <a:t>o</a:t>
            </a:r>
            <a:endParaRPr sz="1200" dirty="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87579"/>
            <a:ext cx="6914515" cy="635000"/>
          </a:xfrm>
          <a:prstGeom prst="rect">
            <a:avLst/>
          </a:prstGeom>
        </p:spPr>
        <p:txBody>
          <a:bodyPr vert="horz" wrap="square" lIns="0" tIns="12065" rIns="0" bIns="0" rtlCol="0">
            <a:spAutoFit/>
          </a:bodyPr>
          <a:lstStyle/>
          <a:p>
            <a:pPr marL="12700">
              <a:lnSpc>
                <a:spcPct val="100000"/>
              </a:lnSpc>
              <a:spcBef>
                <a:spcPts val="95"/>
              </a:spcBef>
            </a:pPr>
            <a:r>
              <a:rPr sz="4000" b="0" spc="-5" dirty="0">
                <a:solidFill>
                  <a:srgbClr val="600A38"/>
                </a:solidFill>
                <a:latin typeface="Arial"/>
                <a:cs typeface="Arial"/>
              </a:rPr>
              <a:t>Solution by exception</a:t>
            </a:r>
            <a:r>
              <a:rPr sz="4000" b="0" spc="20" dirty="0">
                <a:solidFill>
                  <a:srgbClr val="600A38"/>
                </a:solidFill>
                <a:latin typeface="Arial"/>
                <a:cs typeface="Arial"/>
              </a:rPr>
              <a:t> </a:t>
            </a:r>
            <a:r>
              <a:rPr sz="4000" b="0" spc="-5" dirty="0">
                <a:solidFill>
                  <a:srgbClr val="600A38"/>
                </a:solidFill>
                <a:latin typeface="Arial"/>
                <a:cs typeface="Arial"/>
              </a:rPr>
              <a:t>handling</a:t>
            </a:r>
            <a:endParaRPr sz="4000">
              <a:latin typeface="Arial"/>
              <a:cs typeface="Arial"/>
            </a:endParaRPr>
          </a:p>
        </p:txBody>
      </p:sp>
      <p:sp>
        <p:nvSpPr>
          <p:cNvPr id="3" name="object 3"/>
          <p:cNvSpPr txBox="1"/>
          <p:nvPr/>
        </p:nvSpPr>
        <p:spPr>
          <a:xfrm>
            <a:off x="307340" y="1459495"/>
            <a:ext cx="4304030" cy="4004310"/>
          </a:xfrm>
          <a:prstGeom prst="rect">
            <a:avLst/>
          </a:prstGeom>
        </p:spPr>
        <p:txBody>
          <a:bodyPr vert="horz" wrap="square" lIns="0" tIns="53340" rIns="0" bIns="0" rtlCol="0">
            <a:spAutoFit/>
          </a:bodyPr>
          <a:lstStyle/>
          <a:p>
            <a:pPr marL="12700">
              <a:lnSpc>
                <a:spcPct val="100000"/>
              </a:lnSpc>
              <a:spcBef>
                <a:spcPts val="420"/>
              </a:spcBef>
            </a:pPr>
            <a:r>
              <a:rPr sz="1600" b="1" spc="-100" dirty="0">
                <a:solidFill>
                  <a:srgbClr val="006699"/>
                </a:solidFill>
                <a:latin typeface="Verdana"/>
                <a:cs typeface="Verdana"/>
              </a:rPr>
              <a:t>public </a:t>
            </a:r>
            <a:r>
              <a:rPr sz="1600" b="1" spc="-80" dirty="0">
                <a:solidFill>
                  <a:srgbClr val="006699"/>
                </a:solidFill>
                <a:latin typeface="Verdana"/>
                <a:cs typeface="Verdana"/>
              </a:rPr>
              <a:t>class </a:t>
            </a:r>
            <a:r>
              <a:rPr sz="1600" spc="40" dirty="0">
                <a:latin typeface="Arial"/>
                <a:cs typeface="Arial"/>
              </a:rPr>
              <a:t>TryCatchExample2</a:t>
            </a:r>
            <a:r>
              <a:rPr sz="1600" spc="20" dirty="0">
                <a:latin typeface="Arial"/>
                <a:cs typeface="Arial"/>
              </a:rPr>
              <a:t> </a:t>
            </a:r>
            <a:r>
              <a:rPr sz="1600" spc="40" dirty="0">
                <a:latin typeface="Arial"/>
                <a:cs typeface="Arial"/>
              </a:rPr>
              <a:t>{</a:t>
            </a:r>
            <a:endParaRPr sz="1600">
              <a:latin typeface="Arial"/>
              <a:cs typeface="Arial"/>
            </a:endParaRPr>
          </a:p>
          <a:p>
            <a:pPr marL="355600">
              <a:lnSpc>
                <a:spcPct val="100000"/>
              </a:lnSpc>
              <a:spcBef>
                <a:spcPts val="325"/>
              </a:spcBef>
            </a:pPr>
            <a:r>
              <a:rPr sz="1600" b="1" spc="-105" dirty="0">
                <a:solidFill>
                  <a:srgbClr val="006699"/>
                </a:solidFill>
                <a:latin typeface="Verdana"/>
                <a:cs typeface="Verdana"/>
              </a:rPr>
              <a:t>public </a:t>
            </a:r>
            <a:r>
              <a:rPr sz="1600" b="1" spc="-90" dirty="0">
                <a:solidFill>
                  <a:srgbClr val="006699"/>
                </a:solidFill>
                <a:latin typeface="Verdana"/>
                <a:cs typeface="Verdana"/>
              </a:rPr>
              <a:t>static </a:t>
            </a:r>
            <a:r>
              <a:rPr sz="1600" b="1" spc="-110" dirty="0">
                <a:solidFill>
                  <a:srgbClr val="006699"/>
                </a:solidFill>
                <a:latin typeface="Verdana"/>
                <a:cs typeface="Verdana"/>
              </a:rPr>
              <a:t>void </a:t>
            </a:r>
            <a:r>
              <a:rPr sz="1600" spc="50" dirty="0">
                <a:latin typeface="Arial"/>
                <a:cs typeface="Arial"/>
              </a:rPr>
              <a:t>main(String[] </a:t>
            </a:r>
            <a:r>
              <a:rPr sz="1600" spc="45" dirty="0">
                <a:latin typeface="Arial"/>
                <a:cs typeface="Arial"/>
              </a:rPr>
              <a:t>args)</a:t>
            </a:r>
            <a:r>
              <a:rPr sz="1600" spc="-5" dirty="0">
                <a:latin typeface="Arial"/>
                <a:cs typeface="Arial"/>
              </a:rPr>
              <a:t> </a:t>
            </a:r>
            <a:r>
              <a:rPr sz="1600" spc="40" dirty="0">
                <a:latin typeface="Arial"/>
                <a:cs typeface="Arial"/>
              </a:rPr>
              <a:t>{</a:t>
            </a:r>
            <a:endParaRPr sz="1600">
              <a:latin typeface="Arial"/>
              <a:cs typeface="Arial"/>
            </a:endParaRPr>
          </a:p>
          <a:p>
            <a:pPr marL="469900">
              <a:lnSpc>
                <a:spcPct val="100000"/>
              </a:lnSpc>
              <a:spcBef>
                <a:spcPts val="315"/>
              </a:spcBef>
            </a:pPr>
            <a:r>
              <a:rPr sz="1600" b="1" spc="-120" dirty="0">
                <a:solidFill>
                  <a:srgbClr val="006699"/>
                </a:solidFill>
                <a:latin typeface="Verdana"/>
                <a:cs typeface="Verdana"/>
              </a:rPr>
              <a:t>try</a:t>
            </a:r>
            <a:endParaRPr sz="1600">
              <a:latin typeface="Verdana"/>
              <a:cs typeface="Verdana"/>
            </a:endParaRPr>
          </a:p>
          <a:p>
            <a:pPr marL="469900">
              <a:lnSpc>
                <a:spcPct val="100000"/>
              </a:lnSpc>
              <a:spcBef>
                <a:spcPts val="310"/>
              </a:spcBef>
            </a:pPr>
            <a:r>
              <a:rPr sz="1600" spc="40" dirty="0">
                <a:latin typeface="Arial"/>
                <a:cs typeface="Arial"/>
              </a:rPr>
              <a:t>{</a:t>
            </a:r>
            <a:endParaRPr sz="1600">
              <a:latin typeface="Arial"/>
              <a:cs typeface="Arial"/>
            </a:endParaRPr>
          </a:p>
          <a:p>
            <a:pPr marL="469900">
              <a:lnSpc>
                <a:spcPct val="100000"/>
              </a:lnSpc>
              <a:spcBef>
                <a:spcPts val="325"/>
              </a:spcBef>
            </a:pPr>
            <a:r>
              <a:rPr sz="1600" b="1" spc="-125" dirty="0">
                <a:solidFill>
                  <a:srgbClr val="006699"/>
                </a:solidFill>
                <a:latin typeface="Verdana"/>
                <a:cs typeface="Verdana"/>
              </a:rPr>
              <a:t>int </a:t>
            </a:r>
            <a:r>
              <a:rPr sz="1600" spc="75" dirty="0">
                <a:latin typeface="Arial"/>
                <a:cs typeface="Arial"/>
              </a:rPr>
              <a:t>data=</a:t>
            </a:r>
            <a:r>
              <a:rPr sz="1600" spc="75" dirty="0">
                <a:solidFill>
                  <a:srgbClr val="C00000"/>
                </a:solidFill>
                <a:latin typeface="Arial"/>
                <a:cs typeface="Arial"/>
              </a:rPr>
              <a:t>50</a:t>
            </a:r>
            <a:r>
              <a:rPr sz="1600" spc="75" dirty="0">
                <a:latin typeface="Arial"/>
                <a:cs typeface="Arial"/>
              </a:rPr>
              <a:t>/</a:t>
            </a:r>
            <a:r>
              <a:rPr sz="1600" spc="75" dirty="0">
                <a:solidFill>
                  <a:srgbClr val="C00000"/>
                </a:solidFill>
                <a:latin typeface="Arial"/>
                <a:cs typeface="Arial"/>
              </a:rPr>
              <a:t>0</a:t>
            </a:r>
            <a:r>
              <a:rPr sz="1600" spc="75" dirty="0">
                <a:latin typeface="Arial"/>
                <a:cs typeface="Arial"/>
              </a:rPr>
              <a:t>; </a:t>
            </a:r>
            <a:r>
              <a:rPr sz="1600" spc="75" dirty="0">
                <a:solidFill>
                  <a:srgbClr val="008200"/>
                </a:solidFill>
                <a:latin typeface="Arial"/>
                <a:cs typeface="Arial"/>
              </a:rPr>
              <a:t>//may </a:t>
            </a:r>
            <a:r>
              <a:rPr sz="1600" spc="90" dirty="0">
                <a:solidFill>
                  <a:srgbClr val="008200"/>
                </a:solidFill>
                <a:latin typeface="Arial"/>
                <a:cs typeface="Arial"/>
              </a:rPr>
              <a:t>throw</a:t>
            </a:r>
            <a:r>
              <a:rPr sz="1600" spc="-65" dirty="0">
                <a:solidFill>
                  <a:srgbClr val="008200"/>
                </a:solidFill>
                <a:latin typeface="Arial"/>
                <a:cs typeface="Arial"/>
              </a:rPr>
              <a:t> </a:t>
            </a:r>
            <a:r>
              <a:rPr sz="1600" spc="60" dirty="0">
                <a:solidFill>
                  <a:srgbClr val="008200"/>
                </a:solidFill>
                <a:latin typeface="Arial"/>
                <a:cs typeface="Arial"/>
              </a:rPr>
              <a:t>exception</a:t>
            </a:r>
            <a:endParaRPr sz="1600">
              <a:latin typeface="Arial"/>
              <a:cs typeface="Arial"/>
            </a:endParaRPr>
          </a:p>
          <a:p>
            <a:pPr marL="469900">
              <a:lnSpc>
                <a:spcPct val="100000"/>
              </a:lnSpc>
              <a:spcBef>
                <a:spcPts val="310"/>
              </a:spcBef>
            </a:pPr>
            <a:r>
              <a:rPr sz="1600" spc="40" dirty="0">
                <a:latin typeface="Arial"/>
                <a:cs typeface="Arial"/>
              </a:rPr>
              <a:t>}</a:t>
            </a:r>
            <a:endParaRPr sz="1600">
              <a:latin typeface="Arial"/>
              <a:cs typeface="Arial"/>
            </a:endParaRPr>
          </a:p>
          <a:p>
            <a:pPr marL="1955800">
              <a:lnSpc>
                <a:spcPct val="100000"/>
              </a:lnSpc>
              <a:spcBef>
                <a:spcPts val="315"/>
              </a:spcBef>
            </a:pPr>
            <a:r>
              <a:rPr sz="1600" spc="60" dirty="0">
                <a:solidFill>
                  <a:srgbClr val="008200"/>
                </a:solidFill>
                <a:latin typeface="Arial"/>
                <a:cs typeface="Arial"/>
              </a:rPr>
              <a:t>//handling </a:t>
            </a:r>
            <a:r>
              <a:rPr sz="1600" spc="70" dirty="0">
                <a:solidFill>
                  <a:srgbClr val="008200"/>
                </a:solidFill>
                <a:latin typeface="Arial"/>
                <a:cs typeface="Arial"/>
              </a:rPr>
              <a:t>the</a:t>
            </a:r>
            <a:r>
              <a:rPr sz="1600" spc="-75" dirty="0">
                <a:solidFill>
                  <a:srgbClr val="008200"/>
                </a:solidFill>
                <a:latin typeface="Arial"/>
                <a:cs typeface="Arial"/>
              </a:rPr>
              <a:t> </a:t>
            </a:r>
            <a:r>
              <a:rPr sz="1600" spc="60" dirty="0">
                <a:solidFill>
                  <a:srgbClr val="008200"/>
                </a:solidFill>
                <a:latin typeface="Arial"/>
                <a:cs typeface="Arial"/>
              </a:rPr>
              <a:t>exception</a:t>
            </a:r>
            <a:endParaRPr sz="1600">
              <a:latin typeface="Arial"/>
              <a:cs typeface="Arial"/>
            </a:endParaRPr>
          </a:p>
          <a:p>
            <a:pPr marL="469900">
              <a:lnSpc>
                <a:spcPct val="100000"/>
              </a:lnSpc>
              <a:spcBef>
                <a:spcPts val="325"/>
              </a:spcBef>
            </a:pPr>
            <a:r>
              <a:rPr sz="1600" b="1" spc="20" dirty="0">
                <a:solidFill>
                  <a:srgbClr val="006699"/>
                </a:solidFill>
                <a:latin typeface="Verdana"/>
                <a:cs typeface="Verdana"/>
              </a:rPr>
              <a:t>catch</a:t>
            </a:r>
            <a:r>
              <a:rPr sz="1600" spc="20" dirty="0">
                <a:latin typeface="Arial"/>
                <a:cs typeface="Arial"/>
              </a:rPr>
              <a:t>(ArithmeticException</a:t>
            </a:r>
            <a:r>
              <a:rPr sz="1600" spc="70" dirty="0">
                <a:latin typeface="Arial"/>
                <a:cs typeface="Arial"/>
              </a:rPr>
              <a:t> </a:t>
            </a:r>
            <a:r>
              <a:rPr sz="1600" spc="30" dirty="0">
                <a:latin typeface="Arial"/>
                <a:cs typeface="Arial"/>
              </a:rPr>
              <a:t>e)</a:t>
            </a:r>
            <a:endParaRPr sz="1600">
              <a:latin typeface="Arial"/>
              <a:cs typeface="Arial"/>
            </a:endParaRPr>
          </a:p>
          <a:p>
            <a:pPr marL="469900">
              <a:lnSpc>
                <a:spcPct val="100000"/>
              </a:lnSpc>
              <a:spcBef>
                <a:spcPts val="310"/>
              </a:spcBef>
            </a:pPr>
            <a:r>
              <a:rPr sz="1600" spc="40" dirty="0">
                <a:latin typeface="Arial"/>
                <a:cs typeface="Arial"/>
              </a:rPr>
              <a:t>{</a:t>
            </a:r>
            <a:endParaRPr sz="1600">
              <a:latin typeface="Arial"/>
              <a:cs typeface="Arial"/>
            </a:endParaRPr>
          </a:p>
          <a:p>
            <a:pPr marL="698500">
              <a:lnSpc>
                <a:spcPct val="100000"/>
              </a:lnSpc>
              <a:spcBef>
                <a:spcPts val="315"/>
              </a:spcBef>
            </a:pPr>
            <a:r>
              <a:rPr sz="1600" spc="45" dirty="0">
                <a:latin typeface="Arial"/>
                <a:cs typeface="Arial"/>
              </a:rPr>
              <a:t>System.out.println(e);</a:t>
            </a:r>
            <a:endParaRPr sz="1600">
              <a:latin typeface="Arial"/>
              <a:cs typeface="Arial"/>
            </a:endParaRPr>
          </a:p>
          <a:p>
            <a:pPr marL="469900">
              <a:lnSpc>
                <a:spcPct val="100000"/>
              </a:lnSpc>
              <a:spcBef>
                <a:spcPts val="325"/>
              </a:spcBef>
            </a:pPr>
            <a:r>
              <a:rPr sz="1600" spc="40" dirty="0">
                <a:latin typeface="Arial"/>
                <a:cs typeface="Arial"/>
              </a:rPr>
              <a:t>}</a:t>
            </a:r>
            <a:endParaRPr sz="1600">
              <a:latin typeface="Arial"/>
              <a:cs typeface="Arial"/>
            </a:endParaRPr>
          </a:p>
          <a:p>
            <a:pPr marL="469900">
              <a:lnSpc>
                <a:spcPct val="100000"/>
              </a:lnSpc>
              <a:spcBef>
                <a:spcPts val="315"/>
              </a:spcBef>
            </a:pPr>
            <a:r>
              <a:rPr sz="1600" spc="50" dirty="0">
                <a:latin typeface="Arial"/>
                <a:cs typeface="Arial"/>
              </a:rPr>
              <a:t>System.out.println(</a:t>
            </a:r>
            <a:r>
              <a:rPr sz="1600" spc="50" dirty="0">
                <a:solidFill>
                  <a:srgbClr val="0000FF"/>
                </a:solidFill>
                <a:latin typeface="Arial"/>
                <a:cs typeface="Arial"/>
              </a:rPr>
              <a:t>"rest </a:t>
            </a:r>
            <a:r>
              <a:rPr sz="1600" spc="90" dirty="0">
                <a:solidFill>
                  <a:srgbClr val="0000FF"/>
                </a:solidFill>
                <a:latin typeface="Arial"/>
                <a:cs typeface="Arial"/>
              </a:rPr>
              <a:t>of </a:t>
            </a:r>
            <a:r>
              <a:rPr sz="1600" spc="70" dirty="0">
                <a:solidFill>
                  <a:srgbClr val="0000FF"/>
                </a:solidFill>
                <a:latin typeface="Arial"/>
                <a:cs typeface="Arial"/>
              </a:rPr>
              <a:t>the</a:t>
            </a:r>
            <a:r>
              <a:rPr sz="1600" spc="-45" dirty="0">
                <a:solidFill>
                  <a:srgbClr val="0000FF"/>
                </a:solidFill>
                <a:latin typeface="Arial"/>
                <a:cs typeface="Arial"/>
              </a:rPr>
              <a:t> </a:t>
            </a:r>
            <a:r>
              <a:rPr sz="1600" spc="55" dirty="0">
                <a:solidFill>
                  <a:srgbClr val="0000FF"/>
                </a:solidFill>
                <a:latin typeface="Arial"/>
                <a:cs typeface="Arial"/>
              </a:rPr>
              <a:t>code"</a:t>
            </a:r>
            <a:r>
              <a:rPr sz="1600" spc="55" dirty="0">
                <a:latin typeface="Arial"/>
                <a:cs typeface="Arial"/>
              </a:rPr>
              <a:t>);</a:t>
            </a:r>
            <a:endParaRPr sz="1600">
              <a:latin typeface="Arial"/>
              <a:cs typeface="Arial"/>
            </a:endParaRPr>
          </a:p>
          <a:p>
            <a:pPr marL="241300">
              <a:lnSpc>
                <a:spcPct val="100000"/>
              </a:lnSpc>
              <a:spcBef>
                <a:spcPts val="310"/>
              </a:spcBef>
            </a:pPr>
            <a:r>
              <a:rPr sz="1600" spc="40" dirty="0">
                <a:latin typeface="Arial"/>
                <a:cs typeface="Arial"/>
              </a:rPr>
              <a:t>}</a:t>
            </a:r>
            <a:endParaRPr sz="1600">
              <a:latin typeface="Arial"/>
              <a:cs typeface="Arial"/>
            </a:endParaRPr>
          </a:p>
          <a:p>
            <a:pPr marL="127000">
              <a:lnSpc>
                <a:spcPct val="100000"/>
              </a:lnSpc>
              <a:spcBef>
                <a:spcPts val="325"/>
              </a:spcBef>
            </a:pPr>
            <a:r>
              <a:rPr sz="1600" spc="40" dirty="0">
                <a:latin typeface="Arial"/>
                <a:cs typeface="Arial"/>
              </a:rPr>
              <a:t>}</a:t>
            </a:r>
            <a:endParaRPr sz="1600">
              <a:latin typeface="Arial"/>
              <a:cs typeface="Arial"/>
            </a:endParaRPr>
          </a:p>
        </p:txBody>
      </p:sp>
      <p:sp>
        <p:nvSpPr>
          <p:cNvPr id="4" name="object 4"/>
          <p:cNvSpPr txBox="1"/>
          <p:nvPr/>
        </p:nvSpPr>
        <p:spPr>
          <a:xfrm>
            <a:off x="307340" y="5477967"/>
            <a:ext cx="784225" cy="269240"/>
          </a:xfrm>
          <a:prstGeom prst="rect">
            <a:avLst/>
          </a:prstGeom>
        </p:spPr>
        <p:txBody>
          <a:bodyPr vert="horz" wrap="square" lIns="0" tIns="12065" rIns="0" bIns="0" rtlCol="0">
            <a:spAutoFit/>
          </a:bodyPr>
          <a:lstStyle/>
          <a:p>
            <a:pPr marL="12700">
              <a:lnSpc>
                <a:spcPct val="100000"/>
              </a:lnSpc>
              <a:spcBef>
                <a:spcPts val="95"/>
              </a:spcBef>
            </a:pPr>
            <a:r>
              <a:rPr sz="1600" b="1" spc="-125" dirty="0">
                <a:solidFill>
                  <a:srgbClr val="333333"/>
                </a:solidFill>
                <a:latin typeface="Verdana"/>
                <a:cs typeface="Verdana"/>
              </a:rPr>
              <a:t>Out</a:t>
            </a:r>
            <a:r>
              <a:rPr sz="1600" b="1" spc="-145" dirty="0">
                <a:solidFill>
                  <a:srgbClr val="333333"/>
                </a:solidFill>
                <a:latin typeface="Verdana"/>
                <a:cs typeface="Verdana"/>
              </a:rPr>
              <a:t>pu</a:t>
            </a:r>
            <a:r>
              <a:rPr sz="1600" b="1" spc="-80" dirty="0">
                <a:solidFill>
                  <a:srgbClr val="333333"/>
                </a:solidFill>
                <a:latin typeface="Verdana"/>
                <a:cs typeface="Verdana"/>
              </a:rPr>
              <a:t>t</a:t>
            </a:r>
            <a:r>
              <a:rPr sz="1600" b="1" spc="-170" dirty="0">
                <a:solidFill>
                  <a:srgbClr val="333333"/>
                </a:solidFill>
                <a:latin typeface="Verdana"/>
                <a:cs typeface="Verdana"/>
              </a:rPr>
              <a:t>:</a:t>
            </a:r>
            <a:endParaRPr sz="1600">
              <a:latin typeface="Verdana"/>
              <a:cs typeface="Verdana"/>
            </a:endParaRPr>
          </a:p>
        </p:txBody>
      </p:sp>
      <p:sp>
        <p:nvSpPr>
          <p:cNvPr id="5" name="object 5"/>
          <p:cNvSpPr txBox="1"/>
          <p:nvPr/>
        </p:nvSpPr>
        <p:spPr>
          <a:xfrm>
            <a:off x="1222044" y="5438098"/>
            <a:ext cx="3830320" cy="592455"/>
          </a:xfrm>
          <a:prstGeom prst="rect">
            <a:avLst/>
          </a:prstGeom>
        </p:spPr>
        <p:txBody>
          <a:bodyPr vert="horz" wrap="square" lIns="0" tIns="52069" rIns="0" bIns="0" rtlCol="0">
            <a:spAutoFit/>
          </a:bodyPr>
          <a:lstStyle/>
          <a:p>
            <a:pPr marL="12700">
              <a:lnSpc>
                <a:spcPct val="100000"/>
              </a:lnSpc>
              <a:spcBef>
                <a:spcPts val="409"/>
              </a:spcBef>
            </a:pPr>
            <a:r>
              <a:rPr sz="1600" spc="40" dirty="0">
                <a:solidFill>
                  <a:srgbClr val="FF0000"/>
                </a:solidFill>
                <a:latin typeface="Arial"/>
                <a:cs typeface="Arial"/>
              </a:rPr>
              <a:t>java.lang.ArithmeticException: </a:t>
            </a:r>
            <a:r>
              <a:rPr sz="1600" spc="120" dirty="0">
                <a:solidFill>
                  <a:srgbClr val="FF0000"/>
                </a:solidFill>
                <a:latin typeface="Arial"/>
                <a:cs typeface="Arial"/>
              </a:rPr>
              <a:t>/ </a:t>
            </a:r>
            <a:r>
              <a:rPr sz="1600" spc="95" dirty="0">
                <a:solidFill>
                  <a:srgbClr val="FF0000"/>
                </a:solidFill>
                <a:latin typeface="Arial"/>
                <a:cs typeface="Arial"/>
              </a:rPr>
              <a:t>by</a:t>
            </a:r>
            <a:r>
              <a:rPr sz="1600" spc="-140" dirty="0">
                <a:solidFill>
                  <a:srgbClr val="FF0000"/>
                </a:solidFill>
                <a:latin typeface="Arial"/>
                <a:cs typeface="Arial"/>
              </a:rPr>
              <a:t> </a:t>
            </a:r>
            <a:r>
              <a:rPr sz="1600" spc="50" dirty="0">
                <a:solidFill>
                  <a:srgbClr val="FF0000"/>
                </a:solidFill>
                <a:latin typeface="Arial"/>
                <a:cs typeface="Arial"/>
              </a:rPr>
              <a:t>zero</a:t>
            </a:r>
            <a:endParaRPr sz="1600">
              <a:latin typeface="Arial"/>
              <a:cs typeface="Arial"/>
            </a:endParaRPr>
          </a:p>
          <a:p>
            <a:pPr marL="12700">
              <a:lnSpc>
                <a:spcPct val="100000"/>
              </a:lnSpc>
              <a:spcBef>
                <a:spcPts val="310"/>
              </a:spcBef>
            </a:pPr>
            <a:r>
              <a:rPr sz="1600" spc="65" dirty="0">
                <a:solidFill>
                  <a:srgbClr val="FF0000"/>
                </a:solidFill>
                <a:latin typeface="Arial"/>
                <a:cs typeface="Arial"/>
              </a:rPr>
              <a:t>rest </a:t>
            </a:r>
            <a:r>
              <a:rPr sz="1600" spc="90" dirty="0">
                <a:solidFill>
                  <a:srgbClr val="FF0000"/>
                </a:solidFill>
                <a:latin typeface="Arial"/>
                <a:cs typeface="Arial"/>
              </a:rPr>
              <a:t>of </a:t>
            </a:r>
            <a:r>
              <a:rPr sz="1600" spc="70" dirty="0">
                <a:solidFill>
                  <a:srgbClr val="FF0000"/>
                </a:solidFill>
                <a:latin typeface="Arial"/>
                <a:cs typeface="Arial"/>
              </a:rPr>
              <a:t>the</a:t>
            </a:r>
            <a:r>
              <a:rPr sz="1600" spc="-105" dirty="0">
                <a:solidFill>
                  <a:srgbClr val="FF0000"/>
                </a:solidFill>
                <a:latin typeface="Arial"/>
                <a:cs typeface="Arial"/>
              </a:rPr>
              <a:t> </a:t>
            </a:r>
            <a:r>
              <a:rPr sz="1600" spc="70" dirty="0">
                <a:solidFill>
                  <a:srgbClr val="FF0000"/>
                </a:solidFill>
                <a:latin typeface="Arial"/>
                <a:cs typeface="Arial"/>
              </a:rPr>
              <a:t>code</a:t>
            </a:r>
            <a:endParaRPr sz="1600">
              <a:latin typeface="Arial"/>
              <a:cs typeface="Arial"/>
            </a:endParaRPr>
          </a:p>
        </p:txBody>
      </p:sp>
      <p:sp>
        <p:nvSpPr>
          <p:cNvPr id="6" name="object 6"/>
          <p:cNvSpPr txBox="1"/>
          <p:nvPr/>
        </p:nvSpPr>
        <p:spPr>
          <a:xfrm>
            <a:off x="307340" y="6045200"/>
            <a:ext cx="8377555" cy="465455"/>
          </a:xfrm>
          <a:prstGeom prst="rect">
            <a:avLst/>
          </a:prstGeom>
        </p:spPr>
        <p:txBody>
          <a:bodyPr vert="horz" wrap="square" lIns="0" tIns="57785" rIns="0" bIns="0" rtlCol="0">
            <a:spAutoFit/>
          </a:bodyPr>
          <a:lstStyle/>
          <a:p>
            <a:pPr marL="332740" marR="5080" indent="-320040">
              <a:lnSpc>
                <a:spcPts val="1550"/>
              </a:lnSpc>
              <a:spcBef>
                <a:spcPts val="455"/>
              </a:spcBef>
              <a:buClr>
                <a:srgbClr val="DD8046"/>
              </a:buClr>
              <a:buSzPct val="59375"/>
              <a:buFont typeface="DejaVu Sans"/>
              <a:buChar char="◻"/>
              <a:tabLst>
                <a:tab pos="332105" algn="l"/>
                <a:tab pos="332740" algn="l"/>
              </a:tabLst>
            </a:pPr>
            <a:r>
              <a:rPr sz="1600" spc="20" dirty="0">
                <a:solidFill>
                  <a:srgbClr val="333333"/>
                </a:solidFill>
                <a:latin typeface="Arial"/>
                <a:cs typeface="Arial"/>
              </a:rPr>
              <a:t>As </a:t>
            </a:r>
            <a:r>
              <a:rPr sz="1600" spc="55" dirty="0">
                <a:solidFill>
                  <a:srgbClr val="333333"/>
                </a:solidFill>
                <a:latin typeface="Arial"/>
                <a:cs typeface="Arial"/>
              </a:rPr>
              <a:t>displayed </a:t>
            </a:r>
            <a:r>
              <a:rPr sz="1600" spc="35" dirty="0">
                <a:solidFill>
                  <a:srgbClr val="333333"/>
                </a:solidFill>
                <a:latin typeface="Arial"/>
                <a:cs typeface="Arial"/>
              </a:rPr>
              <a:t>in </a:t>
            </a:r>
            <a:r>
              <a:rPr sz="1600" spc="75" dirty="0">
                <a:solidFill>
                  <a:srgbClr val="333333"/>
                </a:solidFill>
                <a:latin typeface="Arial"/>
                <a:cs typeface="Arial"/>
              </a:rPr>
              <a:t>the </a:t>
            </a:r>
            <a:r>
              <a:rPr sz="1600" spc="60" dirty="0">
                <a:solidFill>
                  <a:srgbClr val="333333"/>
                </a:solidFill>
                <a:latin typeface="Arial"/>
                <a:cs typeface="Arial"/>
              </a:rPr>
              <a:t>above </a:t>
            </a:r>
            <a:r>
              <a:rPr sz="1600" spc="35" dirty="0">
                <a:solidFill>
                  <a:srgbClr val="333333"/>
                </a:solidFill>
                <a:latin typeface="Arial"/>
                <a:cs typeface="Arial"/>
              </a:rPr>
              <a:t>example, </a:t>
            </a:r>
            <a:r>
              <a:rPr sz="1600" spc="75" dirty="0">
                <a:solidFill>
                  <a:srgbClr val="333333"/>
                </a:solidFill>
                <a:latin typeface="Arial"/>
                <a:cs typeface="Arial"/>
              </a:rPr>
              <a:t>the </a:t>
            </a:r>
            <a:r>
              <a:rPr sz="1600" b="1" spc="-105" dirty="0">
                <a:solidFill>
                  <a:srgbClr val="333333"/>
                </a:solidFill>
                <a:latin typeface="Verdana"/>
                <a:cs typeface="Verdana"/>
              </a:rPr>
              <a:t>rest </a:t>
            </a:r>
            <a:r>
              <a:rPr sz="1600" b="1" spc="-90" dirty="0">
                <a:solidFill>
                  <a:srgbClr val="333333"/>
                </a:solidFill>
                <a:latin typeface="Verdana"/>
                <a:cs typeface="Verdana"/>
              </a:rPr>
              <a:t>of </a:t>
            </a:r>
            <a:r>
              <a:rPr sz="1600" b="1" spc="-120" dirty="0">
                <a:solidFill>
                  <a:srgbClr val="333333"/>
                </a:solidFill>
                <a:latin typeface="Verdana"/>
                <a:cs typeface="Verdana"/>
              </a:rPr>
              <a:t>the </a:t>
            </a:r>
            <a:r>
              <a:rPr sz="1600" b="1" spc="-85" dirty="0">
                <a:solidFill>
                  <a:srgbClr val="333333"/>
                </a:solidFill>
                <a:latin typeface="Verdana"/>
                <a:cs typeface="Verdana"/>
              </a:rPr>
              <a:t>code </a:t>
            </a:r>
            <a:r>
              <a:rPr sz="1600" spc="30" dirty="0">
                <a:solidFill>
                  <a:srgbClr val="333333"/>
                </a:solidFill>
                <a:latin typeface="Arial"/>
                <a:cs typeface="Arial"/>
              </a:rPr>
              <a:t>is </a:t>
            </a:r>
            <a:r>
              <a:rPr sz="1600" spc="55" dirty="0">
                <a:solidFill>
                  <a:srgbClr val="333333"/>
                </a:solidFill>
                <a:latin typeface="Arial"/>
                <a:cs typeface="Arial"/>
              </a:rPr>
              <a:t>executed, </a:t>
            </a:r>
            <a:r>
              <a:rPr sz="1600" spc="10" dirty="0">
                <a:solidFill>
                  <a:srgbClr val="333333"/>
                </a:solidFill>
                <a:latin typeface="Arial"/>
                <a:cs typeface="Arial"/>
              </a:rPr>
              <a:t>i.e., </a:t>
            </a:r>
            <a:r>
              <a:rPr sz="1600" spc="75" dirty="0">
                <a:solidFill>
                  <a:srgbClr val="333333"/>
                </a:solidFill>
                <a:latin typeface="Arial"/>
                <a:cs typeface="Arial"/>
              </a:rPr>
              <a:t>the </a:t>
            </a:r>
            <a:r>
              <a:rPr sz="1600" b="1" spc="-105" dirty="0">
                <a:solidFill>
                  <a:srgbClr val="333333"/>
                </a:solidFill>
                <a:latin typeface="Verdana"/>
                <a:cs typeface="Verdana"/>
              </a:rPr>
              <a:t>rest  </a:t>
            </a:r>
            <a:r>
              <a:rPr sz="1600" b="1" spc="-90" dirty="0">
                <a:solidFill>
                  <a:srgbClr val="333333"/>
                </a:solidFill>
                <a:latin typeface="Verdana"/>
                <a:cs typeface="Verdana"/>
              </a:rPr>
              <a:t>of </a:t>
            </a:r>
            <a:r>
              <a:rPr sz="1600" b="1" spc="-125" dirty="0">
                <a:solidFill>
                  <a:srgbClr val="333333"/>
                </a:solidFill>
                <a:latin typeface="Verdana"/>
                <a:cs typeface="Verdana"/>
              </a:rPr>
              <a:t>the </a:t>
            </a:r>
            <a:r>
              <a:rPr sz="1600" b="1" spc="-90" dirty="0">
                <a:solidFill>
                  <a:srgbClr val="333333"/>
                </a:solidFill>
                <a:latin typeface="Verdana"/>
                <a:cs typeface="Verdana"/>
              </a:rPr>
              <a:t>code </a:t>
            </a:r>
            <a:r>
              <a:rPr sz="1600" spc="65" dirty="0">
                <a:solidFill>
                  <a:srgbClr val="333333"/>
                </a:solidFill>
                <a:latin typeface="Arial"/>
                <a:cs typeface="Arial"/>
              </a:rPr>
              <a:t>statement </a:t>
            </a:r>
            <a:r>
              <a:rPr sz="1600" spc="30" dirty="0">
                <a:solidFill>
                  <a:srgbClr val="333333"/>
                </a:solidFill>
                <a:latin typeface="Arial"/>
                <a:cs typeface="Arial"/>
              </a:rPr>
              <a:t>is</a:t>
            </a:r>
            <a:r>
              <a:rPr sz="1600" spc="-125" dirty="0">
                <a:solidFill>
                  <a:srgbClr val="333333"/>
                </a:solidFill>
                <a:latin typeface="Arial"/>
                <a:cs typeface="Arial"/>
              </a:rPr>
              <a:t> </a:t>
            </a:r>
            <a:r>
              <a:rPr sz="1600" spc="55" dirty="0">
                <a:solidFill>
                  <a:srgbClr val="333333"/>
                </a:solidFill>
                <a:latin typeface="Arial"/>
                <a:cs typeface="Arial"/>
              </a:rPr>
              <a:t>printed.</a:t>
            </a:r>
            <a:endParaRPr sz="160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433955"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Example</a:t>
            </a:r>
            <a:r>
              <a:rPr sz="4400" b="0" spc="-80" dirty="0">
                <a:latin typeface="Times New Roman"/>
                <a:cs typeface="Times New Roman"/>
              </a:rPr>
              <a:t> </a:t>
            </a:r>
            <a:r>
              <a:rPr sz="4400" b="0" dirty="0">
                <a:latin typeface="Times New Roman"/>
                <a:cs typeface="Times New Roman"/>
              </a:rPr>
              <a:t>3</a:t>
            </a:r>
            <a:endParaRPr sz="4400">
              <a:latin typeface="Times New Roman"/>
              <a:cs typeface="Times New Roman"/>
            </a:endParaRPr>
          </a:p>
        </p:txBody>
      </p:sp>
      <p:sp>
        <p:nvSpPr>
          <p:cNvPr id="3" name="object 3"/>
          <p:cNvSpPr txBox="1"/>
          <p:nvPr/>
        </p:nvSpPr>
        <p:spPr>
          <a:xfrm>
            <a:off x="78739" y="1534947"/>
            <a:ext cx="8497570" cy="5052060"/>
          </a:xfrm>
          <a:prstGeom prst="rect">
            <a:avLst/>
          </a:prstGeom>
        </p:spPr>
        <p:txBody>
          <a:bodyPr vert="horz" wrap="square" lIns="0" tIns="53975" rIns="0" bIns="0" rtlCol="0">
            <a:spAutoFit/>
          </a:bodyPr>
          <a:lstStyle/>
          <a:p>
            <a:pPr marL="12700">
              <a:lnSpc>
                <a:spcPct val="100000"/>
              </a:lnSpc>
              <a:spcBef>
                <a:spcPts val="425"/>
              </a:spcBef>
            </a:pPr>
            <a:r>
              <a:rPr sz="1600" b="1" spc="-100" dirty="0">
                <a:solidFill>
                  <a:srgbClr val="006699"/>
                </a:solidFill>
                <a:latin typeface="Verdana"/>
                <a:cs typeface="Verdana"/>
              </a:rPr>
              <a:t>public </a:t>
            </a:r>
            <a:r>
              <a:rPr sz="1600" b="1" spc="-80" dirty="0">
                <a:solidFill>
                  <a:srgbClr val="006699"/>
                </a:solidFill>
                <a:latin typeface="Verdana"/>
                <a:cs typeface="Verdana"/>
              </a:rPr>
              <a:t>class </a:t>
            </a:r>
            <a:r>
              <a:rPr sz="1600" spc="45" dirty="0">
                <a:latin typeface="Arial"/>
                <a:cs typeface="Arial"/>
              </a:rPr>
              <a:t>TryCatchExample3</a:t>
            </a:r>
            <a:r>
              <a:rPr sz="1600" spc="15" dirty="0">
                <a:latin typeface="Arial"/>
                <a:cs typeface="Arial"/>
              </a:rPr>
              <a:t> </a:t>
            </a:r>
            <a:r>
              <a:rPr sz="1600" spc="40" dirty="0">
                <a:latin typeface="Arial"/>
                <a:cs typeface="Arial"/>
              </a:rPr>
              <a:t>{</a:t>
            </a:r>
            <a:endParaRPr sz="1600">
              <a:latin typeface="Arial"/>
              <a:cs typeface="Arial"/>
            </a:endParaRPr>
          </a:p>
          <a:p>
            <a:pPr marL="355600">
              <a:lnSpc>
                <a:spcPct val="100000"/>
              </a:lnSpc>
              <a:spcBef>
                <a:spcPts val="330"/>
              </a:spcBef>
            </a:pPr>
            <a:r>
              <a:rPr sz="1600" b="1" spc="-100" dirty="0">
                <a:solidFill>
                  <a:srgbClr val="006699"/>
                </a:solidFill>
                <a:latin typeface="Verdana"/>
                <a:cs typeface="Verdana"/>
              </a:rPr>
              <a:t>public </a:t>
            </a:r>
            <a:r>
              <a:rPr sz="1600" b="1" spc="-90" dirty="0">
                <a:solidFill>
                  <a:srgbClr val="006699"/>
                </a:solidFill>
                <a:latin typeface="Verdana"/>
                <a:cs typeface="Verdana"/>
              </a:rPr>
              <a:t>static </a:t>
            </a:r>
            <a:r>
              <a:rPr sz="1600" b="1" spc="-114" dirty="0">
                <a:solidFill>
                  <a:srgbClr val="006699"/>
                </a:solidFill>
                <a:latin typeface="Verdana"/>
                <a:cs typeface="Verdana"/>
              </a:rPr>
              <a:t>void </a:t>
            </a:r>
            <a:r>
              <a:rPr sz="1600" spc="50" dirty="0">
                <a:latin typeface="Arial"/>
                <a:cs typeface="Arial"/>
              </a:rPr>
              <a:t>main(String[] </a:t>
            </a:r>
            <a:r>
              <a:rPr sz="1600" spc="45" dirty="0">
                <a:latin typeface="Arial"/>
                <a:cs typeface="Arial"/>
              </a:rPr>
              <a:t>args)</a:t>
            </a:r>
            <a:r>
              <a:rPr sz="1600" dirty="0">
                <a:latin typeface="Arial"/>
                <a:cs typeface="Arial"/>
              </a:rPr>
              <a:t> </a:t>
            </a:r>
            <a:r>
              <a:rPr sz="1600" spc="40" dirty="0">
                <a:latin typeface="Arial"/>
                <a:cs typeface="Arial"/>
              </a:rPr>
              <a:t>{</a:t>
            </a:r>
            <a:endParaRPr sz="1600">
              <a:latin typeface="Arial"/>
              <a:cs typeface="Arial"/>
            </a:endParaRPr>
          </a:p>
          <a:p>
            <a:pPr marL="469900">
              <a:lnSpc>
                <a:spcPct val="100000"/>
              </a:lnSpc>
              <a:spcBef>
                <a:spcPts val="310"/>
              </a:spcBef>
            </a:pPr>
            <a:r>
              <a:rPr sz="1600" b="1" spc="-120" dirty="0">
                <a:solidFill>
                  <a:srgbClr val="006699"/>
                </a:solidFill>
                <a:latin typeface="Verdana"/>
                <a:cs typeface="Verdana"/>
              </a:rPr>
              <a:t>try</a:t>
            </a:r>
            <a:endParaRPr sz="1600">
              <a:latin typeface="Verdana"/>
              <a:cs typeface="Verdana"/>
            </a:endParaRPr>
          </a:p>
          <a:p>
            <a:pPr marL="469900">
              <a:lnSpc>
                <a:spcPct val="100000"/>
              </a:lnSpc>
              <a:spcBef>
                <a:spcPts val="310"/>
              </a:spcBef>
            </a:pPr>
            <a:r>
              <a:rPr sz="1600" spc="40" dirty="0">
                <a:latin typeface="Arial"/>
                <a:cs typeface="Arial"/>
              </a:rPr>
              <a:t>{</a:t>
            </a:r>
            <a:endParaRPr sz="1600">
              <a:latin typeface="Arial"/>
              <a:cs typeface="Arial"/>
            </a:endParaRPr>
          </a:p>
          <a:p>
            <a:pPr marL="469900">
              <a:lnSpc>
                <a:spcPct val="100000"/>
              </a:lnSpc>
              <a:spcBef>
                <a:spcPts val="325"/>
              </a:spcBef>
            </a:pPr>
            <a:r>
              <a:rPr sz="1600" b="1" spc="-125" dirty="0">
                <a:solidFill>
                  <a:srgbClr val="006699"/>
                </a:solidFill>
                <a:latin typeface="Verdana"/>
                <a:cs typeface="Verdana"/>
              </a:rPr>
              <a:t>int </a:t>
            </a:r>
            <a:r>
              <a:rPr sz="1600" spc="75" dirty="0">
                <a:latin typeface="Arial"/>
                <a:cs typeface="Arial"/>
              </a:rPr>
              <a:t>data=</a:t>
            </a:r>
            <a:r>
              <a:rPr sz="1600" spc="75" dirty="0">
                <a:solidFill>
                  <a:srgbClr val="C00000"/>
                </a:solidFill>
                <a:latin typeface="Arial"/>
                <a:cs typeface="Arial"/>
              </a:rPr>
              <a:t>50</a:t>
            </a:r>
            <a:r>
              <a:rPr sz="1600" spc="75" dirty="0">
                <a:latin typeface="Arial"/>
                <a:cs typeface="Arial"/>
              </a:rPr>
              <a:t>/</a:t>
            </a:r>
            <a:r>
              <a:rPr sz="1600" spc="75" dirty="0">
                <a:solidFill>
                  <a:srgbClr val="C00000"/>
                </a:solidFill>
                <a:latin typeface="Arial"/>
                <a:cs typeface="Arial"/>
              </a:rPr>
              <a:t>0</a:t>
            </a:r>
            <a:r>
              <a:rPr sz="1600" spc="75" dirty="0">
                <a:latin typeface="Arial"/>
                <a:cs typeface="Arial"/>
              </a:rPr>
              <a:t>; </a:t>
            </a:r>
            <a:r>
              <a:rPr sz="1600" spc="75" dirty="0">
                <a:solidFill>
                  <a:srgbClr val="008200"/>
                </a:solidFill>
                <a:latin typeface="Arial"/>
                <a:cs typeface="Arial"/>
              </a:rPr>
              <a:t>//may </a:t>
            </a:r>
            <a:r>
              <a:rPr sz="1600" spc="85" dirty="0">
                <a:solidFill>
                  <a:srgbClr val="008200"/>
                </a:solidFill>
                <a:latin typeface="Arial"/>
                <a:cs typeface="Arial"/>
              </a:rPr>
              <a:t>throw</a:t>
            </a:r>
            <a:r>
              <a:rPr sz="1600" spc="-40" dirty="0">
                <a:solidFill>
                  <a:srgbClr val="008200"/>
                </a:solidFill>
                <a:latin typeface="Arial"/>
                <a:cs typeface="Arial"/>
              </a:rPr>
              <a:t> </a:t>
            </a:r>
            <a:r>
              <a:rPr sz="1600" spc="60" dirty="0">
                <a:solidFill>
                  <a:srgbClr val="008200"/>
                </a:solidFill>
                <a:latin typeface="Arial"/>
                <a:cs typeface="Arial"/>
              </a:rPr>
              <a:t>exception</a:t>
            </a:r>
            <a:endParaRPr sz="1600">
              <a:latin typeface="Arial"/>
              <a:cs typeface="Arial"/>
            </a:endParaRPr>
          </a:p>
          <a:p>
            <a:pPr marL="469900" marR="993140" indent="970915">
              <a:lnSpc>
                <a:spcPts val="2230"/>
              </a:lnSpc>
              <a:spcBef>
                <a:spcPts val="130"/>
              </a:spcBef>
            </a:pPr>
            <a:r>
              <a:rPr sz="1600" spc="120" dirty="0">
                <a:solidFill>
                  <a:srgbClr val="008200"/>
                </a:solidFill>
                <a:latin typeface="Arial"/>
                <a:cs typeface="Arial"/>
              </a:rPr>
              <a:t>//</a:t>
            </a:r>
            <a:r>
              <a:rPr sz="1600" spc="-300" dirty="0">
                <a:solidFill>
                  <a:srgbClr val="008200"/>
                </a:solidFill>
                <a:latin typeface="Arial"/>
                <a:cs typeface="Arial"/>
              </a:rPr>
              <a:t> </a:t>
            </a:r>
            <a:r>
              <a:rPr sz="1600" spc="75" dirty="0">
                <a:solidFill>
                  <a:srgbClr val="008200"/>
                </a:solidFill>
                <a:latin typeface="Arial"/>
                <a:cs typeface="Arial"/>
              </a:rPr>
              <a:t>if </a:t>
            </a:r>
            <a:r>
              <a:rPr sz="1600" spc="60" dirty="0">
                <a:solidFill>
                  <a:srgbClr val="008200"/>
                </a:solidFill>
                <a:latin typeface="Arial"/>
                <a:cs typeface="Arial"/>
              </a:rPr>
              <a:t>exception </a:t>
            </a:r>
            <a:r>
              <a:rPr sz="1600" spc="50" dirty="0">
                <a:solidFill>
                  <a:srgbClr val="008200"/>
                </a:solidFill>
                <a:latin typeface="Arial"/>
                <a:cs typeface="Arial"/>
              </a:rPr>
              <a:t>occurs, </a:t>
            </a:r>
            <a:r>
              <a:rPr sz="1600" spc="70" dirty="0">
                <a:solidFill>
                  <a:srgbClr val="008200"/>
                </a:solidFill>
                <a:latin typeface="Arial"/>
                <a:cs typeface="Arial"/>
              </a:rPr>
              <a:t>the </a:t>
            </a:r>
            <a:r>
              <a:rPr sz="1600" spc="40" dirty="0">
                <a:solidFill>
                  <a:srgbClr val="008200"/>
                </a:solidFill>
                <a:latin typeface="Arial"/>
                <a:cs typeface="Arial"/>
              </a:rPr>
              <a:t>remaining </a:t>
            </a:r>
            <a:r>
              <a:rPr sz="1600" spc="65" dirty="0">
                <a:solidFill>
                  <a:srgbClr val="008200"/>
                </a:solidFill>
                <a:latin typeface="Arial"/>
                <a:cs typeface="Arial"/>
              </a:rPr>
              <a:t>statement </a:t>
            </a:r>
            <a:r>
              <a:rPr sz="1600" spc="50" dirty="0">
                <a:solidFill>
                  <a:srgbClr val="008200"/>
                </a:solidFill>
                <a:latin typeface="Arial"/>
                <a:cs typeface="Arial"/>
              </a:rPr>
              <a:t>will </a:t>
            </a:r>
            <a:r>
              <a:rPr sz="1600" spc="75" dirty="0">
                <a:solidFill>
                  <a:srgbClr val="008200"/>
                </a:solidFill>
                <a:latin typeface="Arial"/>
                <a:cs typeface="Arial"/>
              </a:rPr>
              <a:t>not </a:t>
            </a:r>
            <a:r>
              <a:rPr sz="1600" spc="55" dirty="0">
                <a:solidFill>
                  <a:srgbClr val="008200"/>
                </a:solidFill>
                <a:latin typeface="Arial"/>
                <a:cs typeface="Arial"/>
              </a:rPr>
              <a:t>exceute  </a:t>
            </a:r>
            <a:r>
              <a:rPr sz="1600" spc="50" dirty="0">
                <a:latin typeface="Arial"/>
                <a:cs typeface="Arial"/>
              </a:rPr>
              <a:t>System.out.println(</a:t>
            </a:r>
            <a:r>
              <a:rPr sz="1600" spc="50" dirty="0">
                <a:solidFill>
                  <a:srgbClr val="0000FF"/>
                </a:solidFill>
                <a:latin typeface="Arial"/>
                <a:cs typeface="Arial"/>
              </a:rPr>
              <a:t>"rest </a:t>
            </a:r>
            <a:r>
              <a:rPr sz="1600" spc="90" dirty="0">
                <a:solidFill>
                  <a:srgbClr val="0000FF"/>
                </a:solidFill>
                <a:latin typeface="Arial"/>
                <a:cs typeface="Arial"/>
              </a:rPr>
              <a:t>of </a:t>
            </a:r>
            <a:r>
              <a:rPr sz="1600" spc="70" dirty="0">
                <a:solidFill>
                  <a:srgbClr val="0000FF"/>
                </a:solidFill>
                <a:latin typeface="Arial"/>
                <a:cs typeface="Arial"/>
              </a:rPr>
              <a:t>the</a:t>
            </a:r>
            <a:r>
              <a:rPr sz="1600" spc="-50" dirty="0">
                <a:solidFill>
                  <a:srgbClr val="0000FF"/>
                </a:solidFill>
                <a:latin typeface="Arial"/>
                <a:cs typeface="Arial"/>
              </a:rPr>
              <a:t> </a:t>
            </a:r>
            <a:r>
              <a:rPr sz="1600" spc="55" dirty="0">
                <a:solidFill>
                  <a:srgbClr val="0000FF"/>
                </a:solidFill>
                <a:latin typeface="Arial"/>
                <a:cs typeface="Arial"/>
              </a:rPr>
              <a:t>code"</a:t>
            </a:r>
            <a:r>
              <a:rPr sz="1600" spc="55" dirty="0">
                <a:latin typeface="Arial"/>
                <a:cs typeface="Arial"/>
              </a:rPr>
              <a:t>);</a:t>
            </a:r>
            <a:endParaRPr sz="1600">
              <a:latin typeface="Arial"/>
              <a:cs typeface="Arial"/>
            </a:endParaRPr>
          </a:p>
          <a:p>
            <a:pPr marL="469900">
              <a:lnSpc>
                <a:spcPct val="100000"/>
              </a:lnSpc>
              <a:spcBef>
                <a:spcPts val="200"/>
              </a:spcBef>
            </a:pPr>
            <a:r>
              <a:rPr sz="1600" spc="40" dirty="0">
                <a:latin typeface="Arial"/>
                <a:cs typeface="Arial"/>
              </a:rPr>
              <a:t>}</a:t>
            </a:r>
            <a:endParaRPr sz="1600">
              <a:latin typeface="Arial"/>
              <a:cs typeface="Arial"/>
            </a:endParaRPr>
          </a:p>
          <a:p>
            <a:pPr marL="754380">
              <a:lnSpc>
                <a:spcPct val="100000"/>
              </a:lnSpc>
              <a:spcBef>
                <a:spcPts val="315"/>
              </a:spcBef>
            </a:pPr>
            <a:r>
              <a:rPr sz="1600" spc="120" dirty="0">
                <a:solidFill>
                  <a:srgbClr val="008200"/>
                </a:solidFill>
                <a:latin typeface="Arial"/>
                <a:cs typeface="Arial"/>
              </a:rPr>
              <a:t>// </a:t>
            </a:r>
            <a:r>
              <a:rPr sz="1600" spc="45" dirty="0">
                <a:solidFill>
                  <a:srgbClr val="008200"/>
                </a:solidFill>
                <a:latin typeface="Arial"/>
                <a:cs typeface="Arial"/>
              </a:rPr>
              <a:t>handling </a:t>
            </a:r>
            <a:r>
              <a:rPr sz="1600" spc="70" dirty="0">
                <a:solidFill>
                  <a:srgbClr val="008200"/>
                </a:solidFill>
                <a:latin typeface="Arial"/>
                <a:cs typeface="Arial"/>
              </a:rPr>
              <a:t>the</a:t>
            </a:r>
            <a:r>
              <a:rPr sz="1600" spc="-120" dirty="0">
                <a:solidFill>
                  <a:srgbClr val="008200"/>
                </a:solidFill>
                <a:latin typeface="Arial"/>
                <a:cs typeface="Arial"/>
              </a:rPr>
              <a:t> </a:t>
            </a:r>
            <a:r>
              <a:rPr sz="1600" spc="60" dirty="0">
                <a:solidFill>
                  <a:srgbClr val="008200"/>
                </a:solidFill>
                <a:latin typeface="Arial"/>
                <a:cs typeface="Arial"/>
              </a:rPr>
              <a:t>exception</a:t>
            </a:r>
            <a:endParaRPr sz="1600">
              <a:latin typeface="Arial"/>
              <a:cs typeface="Arial"/>
            </a:endParaRPr>
          </a:p>
          <a:p>
            <a:pPr marL="469900">
              <a:lnSpc>
                <a:spcPct val="100000"/>
              </a:lnSpc>
              <a:spcBef>
                <a:spcPts val="310"/>
              </a:spcBef>
            </a:pPr>
            <a:r>
              <a:rPr sz="1600" b="1" spc="20" dirty="0">
                <a:solidFill>
                  <a:srgbClr val="006699"/>
                </a:solidFill>
                <a:latin typeface="Verdana"/>
                <a:cs typeface="Verdana"/>
              </a:rPr>
              <a:t>catch</a:t>
            </a:r>
            <a:r>
              <a:rPr sz="1600" spc="20" dirty="0">
                <a:latin typeface="Arial"/>
                <a:cs typeface="Arial"/>
              </a:rPr>
              <a:t>(ArithmeticException</a:t>
            </a:r>
            <a:r>
              <a:rPr sz="1600" spc="70" dirty="0">
                <a:latin typeface="Arial"/>
                <a:cs typeface="Arial"/>
              </a:rPr>
              <a:t> </a:t>
            </a:r>
            <a:r>
              <a:rPr sz="1600" spc="30" dirty="0">
                <a:latin typeface="Arial"/>
                <a:cs typeface="Arial"/>
              </a:rPr>
              <a:t>e)</a:t>
            </a:r>
            <a:endParaRPr sz="1600">
              <a:latin typeface="Arial"/>
              <a:cs typeface="Arial"/>
            </a:endParaRPr>
          </a:p>
          <a:p>
            <a:pPr marL="469900">
              <a:lnSpc>
                <a:spcPct val="100000"/>
              </a:lnSpc>
              <a:spcBef>
                <a:spcPts val="325"/>
              </a:spcBef>
            </a:pPr>
            <a:r>
              <a:rPr sz="1600" spc="40" dirty="0">
                <a:latin typeface="Arial"/>
                <a:cs typeface="Arial"/>
              </a:rPr>
              <a:t>{</a:t>
            </a:r>
            <a:endParaRPr sz="1600">
              <a:latin typeface="Arial"/>
              <a:cs typeface="Arial"/>
            </a:endParaRPr>
          </a:p>
          <a:p>
            <a:pPr marL="698500">
              <a:lnSpc>
                <a:spcPct val="100000"/>
              </a:lnSpc>
              <a:spcBef>
                <a:spcPts val="315"/>
              </a:spcBef>
            </a:pPr>
            <a:r>
              <a:rPr sz="1600" spc="45" dirty="0">
                <a:latin typeface="Arial"/>
                <a:cs typeface="Arial"/>
              </a:rPr>
              <a:t>System.out.println(e);</a:t>
            </a:r>
            <a:endParaRPr sz="1600">
              <a:latin typeface="Arial"/>
              <a:cs typeface="Arial"/>
            </a:endParaRPr>
          </a:p>
          <a:p>
            <a:pPr marL="469900">
              <a:lnSpc>
                <a:spcPct val="100000"/>
              </a:lnSpc>
              <a:spcBef>
                <a:spcPts val="310"/>
              </a:spcBef>
            </a:pPr>
            <a:r>
              <a:rPr sz="1600" spc="40" dirty="0">
                <a:latin typeface="Arial"/>
                <a:cs typeface="Arial"/>
              </a:rPr>
              <a:t>}</a:t>
            </a:r>
            <a:endParaRPr sz="1600">
              <a:latin typeface="Arial"/>
              <a:cs typeface="Arial"/>
            </a:endParaRPr>
          </a:p>
          <a:p>
            <a:pPr marL="469900">
              <a:lnSpc>
                <a:spcPct val="100000"/>
              </a:lnSpc>
              <a:spcBef>
                <a:spcPts val="325"/>
              </a:spcBef>
            </a:pPr>
            <a:r>
              <a:rPr sz="1600" spc="40" dirty="0">
                <a:latin typeface="Arial"/>
                <a:cs typeface="Arial"/>
              </a:rPr>
              <a:t>}</a:t>
            </a:r>
            <a:endParaRPr sz="1600">
              <a:latin typeface="Arial"/>
              <a:cs typeface="Arial"/>
            </a:endParaRPr>
          </a:p>
          <a:p>
            <a:pPr marL="68580">
              <a:lnSpc>
                <a:spcPct val="100000"/>
              </a:lnSpc>
              <a:spcBef>
                <a:spcPts val="310"/>
              </a:spcBef>
            </a:pPr>
            <a:r>
              <a:rPr sz="1600" spc="40" dirty="0">
                <a:latin typeface="Arial"/>
                <a:cs typeface="Arial"/>
              </a:rPr>
              <a:t>}</a:t>
            </a:r>
            <a:endParaRPr sz="1600">
              <a:latin typeface="Arial"/>
              <a:cs typeface="Arial"/>
            </a:endParaRPr>
          </a:p>
          <a:p>
            <a:pPr marL="332740" indent="-320040">
              <a:lnSpc>
                <a:spcPct val="100000"/>
              </a:lnSpc>
              <a:spcBef>
                <a:spcPts val="325"/>
              </a:spcBef>
              <a:buClr>
                <a:srgbClr val="DD8046"/>
              </a:buClr>
              <a:buSzPct val="59375"/>
              <a:buFont typeface="DejaVu Sans"/>
              <a:buChar char="◻"/>
              <a:tabLst>
                <a:tab pos="332105" algn="l"/>
                <a:tab pos="332740" algn="l"/>
                <a:tab pos="1106170" algn="l"/>
              </a:tabLst>
            </a:pPr>
            <a:r>
              <a:rPr sz="1600" dirty="0">
                <a:solidFill>
                  <a:srgbClr val="FF0000"/>
                </a:solidFill>
                <a:latin typeface="Times New Roman"/>
                <a:cs typeface="Times New Roman"/>
              </a:rPr>
              <a:t>Output:	</a:t>
            </a:r>
            <a:r>
              <a:rPr sz="1600" spc="-5" dirty="0">
                <a:solidFill>
                  <a:srgbClr val="FF0000"/>
                </a:solidFill>
                <a:latin typeface="Times New Roman"/>
                <a:cs typeface="Times New Roman"/>
              </a:rPr>
              <a:t>java.lang.ArithmeticException: / by</a:t>
            </a:r>
            <a:r>
              <a:rPr sz="1600" spc="55" dirty="0">
                <a:solidFill>
                  <a:srgbClr val="FF0000"/>
                </a:solidFill>
                <a:latin typeface="Times New Roman"/>
                <a:cs typeface="Times New Roman"/>
              </a:rPr>
              <a:t> </a:t>
            </a:r>
            <a:r>
              <a:rPr sz="1600" spc="-5" dirty="0">
                <a:solidFill>
                  <a:srgbClr val="FF0000"/>
                </a:solidFill>
                <a:latin typeface="Times New Roman"/>
                <a:cs typeface="Times New Roman"/>
              </a:rPr>
              <a:t>zero</a:t>
            </a:r>
            <a:endParaRPr sz="1600">
              <a:latin typeface="Times New Roman"/>
              <a:cs typeface="Times New Roman"/>
            </a:endParaRPr>
          </a:p>
          <a:p>
            <a:pPr marL="332740" marR="5080" indent="-320040">
              <a:lnSpc>
                <a:spcPts val="1550"/>
              </a:lnSpc>
              <a:spcBef>
                <a:spcPts val="665"/>
              </a:spcBef>
              <a:buClr>
                <a:srgbClr val="DD8046"/>
              </a:buClr>
              <a:buSzPct val="59375"/>
              <a:buFont typeface="DejaVu Sans"/>
              <a:buChar char="◻"/>
              <a:tabLst>
                <a:tab pos="332105" algn="l"/>
                <a:tab pos="332740" algn="l"/>
              </a:tabLst>
            </a:pPr>
            <a:r>
              <a:rPr sz="1600" spc="25" dirty="0">
                <a:solidFill>
                  <a:srgbClr val="333333"/>
                </a:solidFill>
                <a:latin typeface="Arial"/>
                <a:cs typeface="Arial"/>
              </a:rPr>
              <a:t>Here,</a:t>
            </a:r>
            <a:r>
              <a:rPr sz="1600" spc="40" dirty="0">
                <a:solidFill>
                  <a:srgbClr val="333333"/>
                </a:solidFill>
                <a:latin typeface="Arial"/>
                <a:cs typeface="Arial"/>
              </a:rPr>
              <a:t> </a:t>
            </a:r>
            <a:r>
              <a:rPr sz="1600" spc="90" dirty="0">
                <a:solidFill>
                  <a:srgbClr val="333333"/>
                </a:solidFill>
                <a:latin typeface="Arial"/>
                <a:cs typeface="Arial"/>
              </a:rPr>
              <a:t>we</a:t>
            </a:r>
            <a:r>
              <a:rPr sz="1600" spc="20" dirty="0">
                <a:solidFill>
                  <a:srgbClr val="333333"/>
                </a:solidFill>
                <a:latin typeface="Arial"/>
                <a:cs typeface="Arial"/>
              </a:rPr>
              <a:t> </a:t>
            </a:r>
            <a:r>
              <a:rPr sz="1600" spc="45" dirty="0">
                <a:solidFill>
                  <a:srgbClr val="333333"/>
                </a:solidFill>
                <a:latin typeface="Arial"/>
                <a:cs typeface="Arial"/>
              </a:rPr>
              <a:t>can</a:t>
            </a:r>
            <a:r>
              <a:rPr sz="1600" spc="10" dirty="0">
                <a:solidFill>
                  <a:srgbClr val="333333"/>
                </a:solidFill>
                <a:latin typeface="Arial"/>
                <a:cs typeface="Arial"/>
              </a:rPr>
              <a:t> </a:t>
            </a:r>
            <a:r>
              <a:rPr sz="1600" spc="30" dirty="0">
                <a:solidFill>
                  <a:srgbClr val="333333"/>
                </a:solidFill>
                <a:latin typeface="Arial"/>
                <a:cs typeface="Arial"/>
              </a:rPr>
              <a:t>see</a:t>
            </a:r>
            <a:r>
              <a:rPr sz="1600" spc="20" dirty="0">
                <a:solidFill>
                  <a:srgbClr val="333333"/>
                </a:solidFill>
                <a:latin typeface="Arial"/>
                <a:cs typeface="Arial"/>
              </a:rPr>
              <a:t> </a:t>
            </a:r>
            <a:r>
              <a:rPr sz="1600" spc="80" dirty="0">
                <a:solidFill>
                  <a:srgbClr val="333333"/>
                </a:solidFill>
                <a:latin typeface="Arial"/>
                <a:cs typeface="Arial"/>
              </a:rPr>
              <a:t>that</a:t>
            </a:r>
            <a:r>
              <a:rPr sz="1600" spc="30" dirty="0">
                <a:solidFill>
                  <a:srgbClr val="333333"/>
                </a:solidFill>
                <a:latin typeface="Arial"/>
                <a:cs typeface="Arial"/>
              </a:rPr>
              <a:t> </a:t>
            </a:r>
            <a:r>
              <a:rPr sz="1600" spc="75" dirty="0">
                <a:solidFill>
                  <a:srgbClr val="333333"/>
                </a:solidFill>
                <a:latin typeface="Arial"/>
                <a:cs typeface="Arial"/>
              </a:rPr>
              <a:t>if</a:t>
            </a:r>
            <a:r>
              <a:rPr sz="1600" spc="5" dirty="0">
                <a:solidFill>
                  <a:srgbClr val="333333"/>
                </a:solidFill>
                <a:latin typeface="Arial"/>
                <a:cs typeface="Arial"/>
              </a:rPr>
              <a:t> </a:t>
            </a:r>
            <a:r>
              <a:rPr sz="1600" spc="25" dirty="0">
                <a:solidFill>
                  <a:srgbClr val="333333"/>
                </a:solidFill>
                <a:latin typeface="Arial"/>
                <a:cs typeface="Arial"/>
              </a:rPr>
              <a:t>an</a:t>
            </a:r>
            <a:r>
              <a:rPr sz="1600" dirty="0">
                <a:solidFill>
                  <a:srgbClr val="333333"/>
                </a:solidFill>
                <a:latin typeface="Arial"/>
                <a:cs typeface="Arial"/>
              </a:rPr>
              <a:t> </a:t>
            </a:r>
            <a:r>
              <a:rPr sz="1600" spc="60" dirty="0">
                <a:solidFill>
                  <a:srgbClr val="333333"/>
                </a:solidFill>
                <a:latin typeface="Arial"/>
                <a:cs typeface="Arial"/>
              </a:rPr>
              <a:t>exception</a:t>
            </a:r>
            <a:r>
              <a:rPr sz="1600" spc="50" dirty="0">
                <a:solidFill>
                  <a:srgbClr val="333333"/>
                </a:solidFill>
                <a:latin typeface="Arial"/>
                <a:cs typeface="Arial"/>
              </a:rPr>
              <a:t> </a:t>
            </a:r>
            <a:r>
              <a:rPr sz="1600" spc="55" dirty="0">
                <a:solidFill>
                  <a:srgbClr val="333333"/>
                </a:solidFill>
                <a:latin typeface="Arial"/>
                <a:cs typeface="Arial"/>
              </a:rPr>
              <a:t>occurs</a:t>
            </a:r>
            <a:r>
              <a:rPr sz="1600" spc="10" dirty="0">
                <a:solidFill>
                  <a:srgbClr val="333333"/>
                </a:solidFill>
                <a:latin typeface="Arial"/>
                <a:cs typeface="Arial"/>
              </a:rPr>
              <a:t> </a:t>
            </a:r>
            <a:r>
              <a:rPr sz="1600" spc="30" dirty="0">
                <a:solidFill>
                  <a:srgbClr val="333333"/>
                </a:solidFill>
                <a:latin typeface="Arial"/>
                <a:cs typeface="Arial"/>
              </a:rPr>
              <a:t>in</a:t>
            </a:r>
            <a:r>
              <a:rPr sz="1600" spc="5" dirty="0">
                <a:solidFill>
                  <a:srgbClr val="333333"/>
                </a:solidFill>
                <a:latin typeface="Arial"/>
                <a:cs typeface="Arial"/>
              </a:rPr>
              <a:t> </a:t>
            </a:r>
            <a:r>
              <a:rPr sz="1600" spc="70" dirty="0">
                <a:solidFill>
                  <a:srgbClr val="333333"/>
                </a:solidFill>
                <a:latin typeface="Arial"/>
                <a:cs typeface="Arial"/>
              </a:rPr>
              <a:t>the</a:t>
            </a:r>
            <a:r>
              <a:rPr sz="1600" spc="35" dirty="0">
                <a:solidFill>
                  <a:srgbClr val="333333"/>
                </a:solidFill>
                <a:latin typeface="Arial"/>
                <a:cs typeface="Arial"/>
              </a:rPr>
              <a:t> </a:t>
            </a:r>
            <a:r>
              <a:rPr sz="1600" spc="90" dirty="0">
                <a:solidFill>
                  <a:srgbClr val="333333"/>
                </a:solidFill>
                <a:latin typeface="Arial"/>
                <a:cs typeface="Arial"/>
              </a:rPr>
              <a:t>try</a:t>
            </a:r>
            <a:r>
              <a:rPr sz="1600" spc="10" dirty="0">
                <a:solidFill>
                  <a:srgbClr val="333333"/>
                </a:solidFill>
                <a:latin typeface="Arial"/>
                <a:cs typeface="Arial"/>
              </a:rPr>
              <a:t> </a:t>
            </a:r>
            <a:r>
              <a:rPr sz="1600" spc="50" dirty="0">
                <a:solidFill>
                  <a:srgbClr val="333333"/>
                </a:solidFill>
                <a:latin typeface="Arial"/>
                <a:cs typeface="Arial"/>
              </a:rPr>
              <a:t>block,</a:t>
            </a:r>
            <a:r>
              <a:rPr sz="1600" spc="5" dirty="0">
                <a:solidFill>
                  <a:srgbClr val="333333"/>
                </a:solidFill>
                <a:latin typeface="Arial"/>
                <a:cs typeface="Arial"/>
              </a:rPr>
              <a:t> </a:t>
            </a:r>
            <a:r>
              <a:rPr sz="1600" spc="75" dirty="0">
                <a:solidFill>
                  <a:srgbClr val="333333"/>
                </a:solidFill>
                <a:latin typeface="Arial"/>
                <a:cs typeface="Arial"/>
              </a:rPr>
              <a:t>the</a:t>
            </a:r>
            <a:r>
              <a:rPr sz="1600" spc="20" dirty="0">
                <a:solidFill>
                  <a:srgbClr val="333333"/>
                </a:solidFill>
                <a:latin typeface="Arial"/>
                <a:cs typeface="Arial"/>
              </a:rPr>
              <a:t> </a:t>
            </a:r>
            <a:r>
              <a:rPr sz="1600" spc="65" dirty="0">
                <a:solidFill>
                  <a:srgbClr val="333333"/>
                </a:solidFill>
                <a:latin typeface="Arial"/>
                <a:cs typeface="Arial"/>
              </a:rPr>
              <a:t>rest</a:t>
            </a:r>
            <a:r>
              <a:rPr sz="1600" spc="35" dirty="0">
                <a:solidFill>
                  <a:srgbClr val="333333"/>
                </a:solidFill>
                <a:latin typeface="Arial"/>
                <a:cs typeface="Arial"/>
              </a:rPr>
              <a:t> </a:t>
            </a:r>
            <a:r>
              <a:rPr sz="1600" spc="90" dirty="0">
                <a:solidFill>
                  <a:srgbClr val="333333"/>
                </a:solidFill>
                <a:latin typeface="Arial"/>
                <a:cs typeface="Arial"/>
              </a:rPr>
              <a:t>of</a:t>
            </a:r>
            <a:r>
              <a:rPr sz="1600" spc="5" dirty="0">
                <a:solidFill>
                  <a:srgbClr val="333333"/>
                </a:solidFill>
                <a:latin typeface="Arial"/>
                <a:cs typeface="Arial"/>
              </a:rPr>
              <a:t> </a:t>
            </a:r>
            <a:r>
              <a:rPr sz="1600" spc="70" dirty="0">
                <a:solidFill>
                  <a:srgbClr val="333333"/>
                </a:solidFill>
                <a:latin typeface="Arial"/>
                <a:cs typeface="Arial"/>
              </a:rPr>
              <a:t>the</a:t>
            </a:r>
            <a:r>
              <a:rPr sz="1600" spc="35" dirty="0">
                <a:solidFill>
                  <a:srgbClr val="333333"/>
                </a:solidFill>
                <a:latin typeface="Arial"/>
                <a:cs typeface="Arial"/>
              </a:rPr>
              <a:t> </a:t>
            </a:r>
            <a:r>
              <a:rPr sz="1600" spc="90" dirty="0">
                <a:solidFill>
                  <a:srgbClr val="333333"/>
                </a:solidFill>
                <a:latin typeface="Arial"/>
                <a:cs typeface="Arial"/>
              </a:rPr>
              <a:t>try</a:t>
            </a:r>
            <a:r>
              <a:rPr sz="1600" spc="5" dirty="0">
                <a:solidFill>
                  <a:srgbClr val="333333"/>
                </a:solidFill>
                <a:latin typeface="Arial"/>
                <a:cs typeface="Arial"/>
              </a:rPr>
              <a:t> </a:t>
            </a:r>
            <a:r>
              <a:rPr sz="1600" spc="65" dirty="0">
                <a:solidFill>
                  <a:srgbClr val="333333"/>
                </a:solidFill>
                <a:latin typeface="Arial"/>
                <a:cs typeface="Arial"/>
              </a:rPr>
              <a:t>block  code </a:t>
            </a:r>
            <a:r>
              <a:rPr sz="1600" spc="50" dirty="0">
                <a:solidFill>
                  <a:srgbClr val="333333"/>
                </a:solidFill>
                <a:latin typeface="Arial"/>
                <a:cs typeface="Arial"/>
              </a:rPr>
              <a:t>will </a:t>
            </a:r>
            <a:r>
              <a:rPr sz="1600" spc="75" dirty="0">
                <a:solidFill>
                  <a:srgbClr val="333333"/>
                </a:solidFill>
                <a:latin typeface="Arial"/>
                <a:cs typeface="Arial"/>
              </a:rPr>
              <a:t>not</a:t>
            </a:r>
            <a:r>
              <a:rPr sz="1600" spc="-130" dirty="0">
                <a:solidFill>
                  <a:srgbClr val="333333"/>
                </a:solidFill>
                <a:latin typeface="Arial"/>
                <a:cs typeface="Arial"/>
              </a:rPr>
              <a:t> </a:t>
            </a:r>
            <a:r>
              <a:rPr sz="1600" spc="50" dirty="0">
                <a:solidFill>
                  <a:srgbClr val="333333"/>
                </a:solidFill>
                <a:latin typeface="Arial"/>
                <a:cs typeface="Arial"/>
              </a:rPr>
              <a:t>execute.</a:t>
            </a:r>
            <a:endParaRPr sz="160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143967"/>
            <a:ext cx="6748145" cy="1123315"/>
          </a:xfrm>
          <a:prstGeom prst="rect">
            <a:avLst/>
          </a:prstGeom>
        </p:spPr>
        <p:txBody>
          <a:bodyPr vert="horz" wrap="square" lIns="0" tIns="12700" rIns="0" bIns="0" rtlCol="0">
            <a:spAutoFit/>
          </a:bodyPr>
          <a:lstStyle/>
          <a:p>
            <a:pPr marL="12700" marR="5080">
              <a:lnSpc>
                <a:spcPct val="100000"/>
              </a:lnSpc>
              <a:spcBef>
                <a:spcPts val="100"/>
              </a:spcBef>
            </a:pPr>
            <a:r>
              <a:rPr sz="3600" b="0" spc="-5" dirty="0">
                <a:latin typeface="Times New Roman"/>
                <a:cs typeface="Times New Roman"/>
              </a:rPr>
              <a:t>Example </a:t>
            </a:r>
            <a:r>
              <a:rPr sz="3600" b="0" dirty="0">
                <a:latin typeface="Times New Roman"/>
                <a:cs typeface="Times New Roman"/>
              </a:rPr>
              <a:t>4 - </a:t>
            </a:r>
            <a:r>
              <a:rPr sz="3600" b="0" spc="100" dirty="0">
                <a:solidFill>
                  <a:srgbClr val="333333"/>
                </a:solidFill>
                <a:latin typeface="Arial"/>
                <a:cs typeface="Arial"/>
              </a:rPr>
              <a:t>example </a:t>
            </a:r>
            <a:r>
              <a:rPr sz="3600" b="0" spc="225" dirty="0">
                <a:solidFill>
                  <a:srgbClr val="333333"/>
                </a:solidFill>
                <a:latin typeface="Arial"/>
                <a:cs typeface="Arial"/>
              </a:rPr>
              <a:t>to </a:t>
            </a:r>
            <a:r>
              <a:rPr sz="3600" b="0" spc="155" dirty="0">
                <a:solidFill>
                  <a:srgbClr val="333333"/>
                </a:solidFill>
                <a:latin typeface="Arial"/>
                <a:cs typeface="Arial"/>
              </a:rPr>
              <a:t>print </a:t>
            </a:r>
            <a:r>
              <a:rPr sz="3600" b="0" spc="25" dirty="0">
                <a:solidFill>
                  <a:srgbClr val="333333"/>
                </a:solidFill>
                <a:latin typeface="Arial"/>
                <a:cs typeface="Arial"/>
              </a:rPr>
              <a:t>a  </a:t>
            </a:r>
            <a:r>
              <a:rPr sz="3600" b="0" spc="155" dirty="0">
                <a:solidFill>
                  <a:srgbClr val="333333"/>
                </a:solidFill>
                <a:latin typeface="Arial"/>
                <a:cs typeface="Arial"/>
              </a:rPr>
              <a:t>custom </a:t>
            </a:r>
            <a:r>
              <a:rPr sz="3600" b="0" spc="100" dirty="0">
                <a:solidFill>
                  <a:srgbClr val="333333"/>
                </a:solidFill>
                <a:latin typeface="Arial"/>
                <a:cs typeface="Arial"/>
              </a:rPr>
              <a:t>message </a:t>
            </a:r>
            <a:r>
              <a:rPr sz="3600" b="0" spc="125" dirty="0">
                <a:solidFill>
                  <a:srgbClr val="333333"/>
                </a:solidFill>
                <a:latin typeface="Arial"/>
                <a:cs typeface="Arial"/>
              </a:rPr>
              <a:t>on</a:t>
            </a:r>
            <a:r>
              <a:rPr sz="3600" b="0" spc="-265" dirty="0">
                <a:solidFill>
                  <a:srgbClr val="333333"/>
                </a:solidFill>
                <a:latin typeface="Arial"/>
                <a:cs typeface="Arial"/>
              </a:rPr>
              <a:t> </a:t>
            </a:r>
            <a:r>
              <a:rPr sz="3600" b="0" spc="125" dirty="0">
                <a:solidFill>
                  <a:srgbClr val="333333"/>
                </a:solidFill>
                <a:latin typeface="Arial"/>
                <a:cs typeface="Arial"/>
              </a:rPr>
              <a:t>exception.</a:t>
            </a:r>
            <a:endParaRPr sz="3600">
              <a:latin typeface="Arial"/>
              <a:cs typeface="Arial"/>
            </a:endParaRPr>
          </a:p>
        </p:txBody>
      </p:sp>
      <p:sp>
        <p:nvSpPr>
          <p:cNvPr id="3" name="object 3"/>
          <p:cNvSpPr txBox="1"/>
          <p:nvPr/>
        </p:nvSpPr>
        <p:spPr>
          <a:xfrm>
            <a:off x="231140" y="1532840"/>
            <a:ext cx="6082665" cy="5020310"/>
          </a:xfrm>
          <a:prstGeom prst="rect">
            <a:avLst/>
          </a:prstGeom>
        </p:spPr>
        <p:txBody>
          <a:bodyPr vert="horz" wrap="square" lIns="0" tIns="41910" rIns="0" bIns="0" rtlCol="0">
            <a:spAutoFit/>
          </a:bodyPr>
          <a:lstStyle/>
          <a:p>
            <a:pPr marL="12700">
              <a:lnSpc>
                <a:spcPct val="100000"/>
              </a:lnSpc>
              <a:spcBef>
                <a:spcPts val="330"/>
              </a:spcBef>
            </a:pPr>
            <a:r>
              <a:rPr sz="2000" b="1" spc="-125" dirty="0">
                <a:solidFill>
                  <a:srgbClr val="006699"/>
                </a:solidFill>
                <a:latin typeface="Verdana"/>
                <a:cs typeface="Verdana"/>
              </a:rPr>
              <a:t>public </a:t>
            </a:r>
            <a:r>
              <a:rPr sz="2000" b="1" spc="-95" dirty="0">
                <a:solidFill>
                  <a:srgbClr val="006699"/>
                </a:solidFill>
                <a:latin typeface="Verdana"/>
                <a:cs typeface="Verdana"/>
              </a:rPr>
              <a:t>class </a:t>
            </a:r>
            <a:r>
              <a:rPr sz="2000" spc="60" dirty="0">
                <a:latin typeface="Arial"/>
                <a:cs typeface="Arial"/>
              </a:rPr>
              <a:t>TryCatchExample5</a:t>
            </a:r>
            <a:r>
              <a:rPr sz="2000" spc="-55" dirty="0">
                <a:latin typeface="Arial"/>
                <a:cs typeface="Arial"/>
              </a:rPr>
              <a:t> </a:t>
            </a:r>
            <a:r>
              <a:rPr sz="2000" spc="55" dirty="0">
                <a:latin typeface="Arial"/>
                <a:cs typeface="Arial"/>
              </a:rPr>
              <a:t>{</a:t>
            </a:r>
            <a:endParaRPr sz="2000">
              <a:latin typeface="Arial"/>
              <a:cs typeface="Arial"/>
            </a:endParaRPr>
          </a:p>
          <a:p>
            <a:pPr marL="440690">
              <a:lnSpc>
                <a:spcPct val="100000"/>
              </a:lnSpc>
              <a:spcBef>
                <a:spcPts val="229"/>
              </a:spcBef>
            </a:pPr>
            <a:r>
              <a:rPr sz="2000" b="1" spc="-125" dirty="0">
                <a:solidFill>
                  <a:srgbClr val="006699"/>
                </a:solidFill>
                <a:latin typeface="Verdana"/>
                <a:cs typeface="Verdana"/>
              </a:rPr>
              <a:t>public </a:t>
            </a:r>
            <a:r>
              <a:rPr sz="2000" b="1" spc="-110" dirty="0">
                <a:solidFill>
                  <a:srgbClr val="006699"/>
                </a:solidFill>
                <a:latin typeface="Verdana"/>
                <a:cs typeface="Verdana"/>
              </a:rPr>
              <a:t>static </a:t>
            </a:r>
            <a:r>
              <a:rPr sz="2000" b="1" spc="-140" dirty="0">
                <a:solidFill>
                  <a:srgbClr val="006699"/>
                </a:solidFill>
                <a:latin typeface="Verdana"/>
                <a:cs typeface="Verdana"/>
              </a:rPr>
              <a:t>void </a:t>
            </a:r>
            <a:r>
              <a:rPr sz="2000" spc="70" dirty="0">
                <a:latin typeface="Arial"/>
                <a:cs typeface="Arial"/>
              </a:rPr>
              <a:t>main(String[] </a:t>
            </a:r>
            <a:r>
              <a:rPr sz="2000" spc="60" dirty="0">
                <a:latin typeface="Arial"/>
                <a:cs typeface="Arial"/>
              </a:rPr>
              <a:t>args)</a:t>
            </a:r>
            <a:r>
              <a:rPr sz="2000" spc="-45" dirty="0">
                <a:latin typeface="Arial"/>
                <a:cs typeface="Arial"/>
              </a:rPr>
              <a:t> </a:t>
            </a:r>
            <a:r>
              <a:rPr sz="2000" spc="55" dirty="0">
                <a:latin typeface="Arial"/>
                <a:cs typeface="Arial"/>
              </a:rPr>
              <a:t>{</a:t>
            </a:r>
            <a:endParaRPr sz="2000">
              <a:latin typeface="Arial"/>
              <a:cs typeface="Arial"/>
            </a:endParaRPr>
          </a:p>
          <a:p>
            <a:pPr marL="584200">
              <a:lnSpc>
                <a:spcPct val="100000"/>
              </a:lnSpc>
              <a:spcBef>
                <a:spcPts val="219"/>
              </a:spcBef>
            </a:pPr>
            <a:r>
              <a:rPr sz="2000" b="1" spc="-150" dirty="0">
                <a:solidFill>
                  <a:srgbClr val="006699"/>
                </a:solidFill>
                <a:latin typeface="Verdana"/>
                <a:cs typeface="Verdana"/>
              </a:rPr>
              <a:t>try</a:t>
            </a:r>
            <a:endParaRPr sz="2000">
              <a:latin typeface="Verdana"/>
              <a:cs typeface="Verdana"/>
            </a:endParaRPr>
          </a:p>
          <a:p>
            <a:pPr marL="584200">
              <a:lnSpc>
                <a:spcPct val="100000"/>
              </a:lnSpc>
              <a:spcBef>
                <a:spcPts val="215"/>
              </a:spcBef>
            </a:pPr>
            <a:r>
              <a:rPr sz="2000" spc="55" dirty="0">
                <a:latin typeface="Arial"/>
                <a:cs typeface="Arial"/>
              </a:rPr>
              <a:t>{</a:t>
            </a:r>
            <a:endParaRPr sz="2000">
              <a:latin typeface="Arial"/>
              <a:cs typeface="Arial"/>
            </a:endParaRPr>
          </a:p>
          <a:p>
            <a:pPr marL="584200">
              <a:lnSpc>
                <a:spcPct val="100000"/>
              </a:lnSpc>
              <a:spcBef>
                <a:spcPts val="225"/>
              </a:spcBef>
            </a:pPr>
            <a:r>
              <a:rPr sz="2000" b="1" spc="-150" dirty="0">
                <a:solidFill>
                  <a:srgbClr val="006699"/>
                </a:solidFill>
                <a:latin typeface="Verdana"/>
                <a:cs typeface="Verdana"/>
              </a:rPr>
              <a:t>int </a:t>
            </a:r>
            <a:r>
              <a:rPr sz="2000" spc="100" dirty="0">
                <a:latin typeface="Arial"/>
                <a:cs typeface="Arial"/>
              </a:rPr>
              <a:t>data=</a:t>
            </a:r>
            <a:r>
              <a:rPr sz="2000" spc="100" dirty="0">
                <a:solidFill>
                  <a:srgbClr val="C00000"/>
                </a:solidFill>
                <a:latin typeface="Arial"/>
                <a:cs typeface="Arial"/>
              </a:rPr>
              <a:t>50</a:t>
            </a:r>
            <a:r>
              <a:rPr sz="2000" spc="100" dirty="0">
                <a:latin typeface="Arial"/>
                <a:cs typeface="Arial"/>
              </a:rPr>
              <a:t>/</a:t>
            </a:r>
            <a:r>
              <a:rPr sz="2000" spc="100" dirty="0">
                <a:solidFill>
                  <a:srgbClr val="C00000"/>
                </a:solidFill>
                <a:latin typeface="Arial"/>
                <a:cs typeface="Arial"/>
              </a:rPr>
              <a:t>0</a:t>
            </a:r>
            <a:r>
              <a:rPr sz="2000" spc="100" dirty="0">
                <a:latin typeface="Arial"/>
                <a:cs typeface="Arial"/>
              </a:rPr>
              <a:t>; </a:t>
            </a:r>
            <a:r>
              <a:rPr sz="2000" spc="100" dirty="0">
                <a:solidFill>
                  <a:srgbClr val="008200"/>
                </a:solidFill>
                <a:latin typeface="Arial"/>
                <a:cs typeface="Arial"/>
              </a:rPr>
              <a:t>//may </a:t>
            </a:r>
            <a:r>
              <a:rPr sz="2000" spc="114" dirty="0">
                <a:solidFill>
                  <a:srgbClr val="008200"/>
                </a:solidFill>
                <a:latin typeface="Arial"/>
                <a:cs typeface="Arial"/>
              </a:rPr>
              <a:t>throw</a:t>
            </a:r>
            <a:r>
              <a:rPr sz="2000" spc="-250" dirty="0">
                <a:solidFill>
                  <a:srgbClr val="008200"/>
                </a:solidFill>
                <a:latin typeface="Arial"/>
                <a:cs typeface="Arial"/>
              </a:rPr>
              <a:t> </a:t>
            </a:r>
            <a:r>
              <a:rPr sz="2000" spc="80" dirty="0">
                <a:solidFill>
                  <a:srgbClr val="008200"/>
                </a:solidFill>
                <a:latin typeface="Arial"/>
                <a:cs typeface="Arial"/>
              </a:rPr>
              <a:t>exception</a:t>
            </a:r>
            <a:endParaRPr sz="2000">
              <a:latin typeface="Arial"/>
              <a:cs typeface="Arial"/>
            </a:endParaRPr>
          </a:p>
          <a:p>
            <a:pPr marL="584200">
              <a:lnSpc>
                <a:spcPct val="100000"/>
              </a:lnSpc>
              <a:spcBef>
                <a:spcPts val="220"/>
              </a:spcBef>
            </a:pPr>
            <a:r>
              <a:rPr sz="2000" spc="55" dirty="0">
                <a:latin typeface="Arial"/>
                <a:cs typeface="Arial"/>
              </a:rPr>
              <a:t>}</a:t>
            </a:r>
            <a:endParaRPr sz="2000">
              <a:latin typeface="Arial"/>
              <a:cs typeface="Arial"/>
            </a:endParaRPr>
          </a:p>
          <a:p>
            <a:pPr marL="941069">
              <a:lnSpc>
                <a:spcPct val="100000"/>
              </a:lnSpc>
              <a:spcBef>
                <a:spcPts val="215"/>
              </a:spcBef>
            </a:pPr>
            <a:r>
              <a:rPr sz="2000" spc="160" dirty="0">
                <a:solidFill>
                  <a:srgbClr val="008200"/>
                </a:solidFill>
                <a:latin typeface="Arial"/>
                <a:cs typeface="Arial"/>
              </a:rPr>
              <a:t>// </a:t>
            </a:r>
            <a:r>
              <a:rPr sz="2000" spc="60" dirty="0">
                <a:solidFill>
                  <a:srgbClr val="008200"/>
                </a:solidFill>
                <a:latin typeface="Arial"/>
                <a:cs typeface="Arial"/>
              </a:rPr>
              <a:t>handling </a:t>
            </a:r>
            <a:r>
              <a:rPr sz="2000" spc="95" dirty="0">
                <a:solidFill>
                  <a:srgbClr val="008200"/>
                </a:solidFill>
                <a:latin typeface="Arial"/>
                <a:cs typeface="Arial"/>
              </a:rPr>
              <a:t>the</a:t>
            </a:r>
            <a:r>
              <a:rPr sz="2000" spc="-235" dirty="0">
                <a:solidFill>
                  <a:srgbClr val="008200"/>
                </a:solidFill>
                <a:latin typeface="Arial"/>
                <a:cs typeface="Arial"/>
              </a:rPr>
              <a:t> </a:t>
            </a:r>
            <a:r>
              <a:rPr sz="2000" spc="80" dirty="0">
                <a:solidFill>
                  <a:srgbClr val="008200"/>
                </a:solidFill>
                <a:latin typeface="Arial"/>
                <a:cs typeface="Arial"/>
              </a:rPr>
              <a:t>exception</a:t>
            </a:r>
            <a:endParaRPr sz="2000">
              <a:latin typeface="Arial"/>
              <a:cs typeface="Arial"/>
            </a:endParaRPr>
          </a:p>
          <a:p>
            <a:pPr marL="584200">
              <a:lnSpc>
                <a:spcPct val="100000"/>
              </a:lnSpc>
              <a:spcBef>
                <a:spcPts val="229"/>
              </a:spcBef>
            </a:pPr>
            <a:r>
              <a:rPr sz="2000" b="1" spc="5" dirty="0">
                <a:solidFill>
                  <a:srgbClr val="006699"/>
                </a:solidFill>
                <a:latin typeface="Verdana"/>
                <a:cs typeface="Verdana"/>
              </a:rPr>
              <a:t>catch</a:t>
            </a:r>
            <a:r>
              <a:rPr sz="2000" spc="5" dirty="0">
                <a:latin typeface="Arial"/>
                <a:cs typeface="Arial"/>
              </a:rPr>
              <a:t>(Exception</a:t>
            </a:r>
            <a:r>
              <a:rPr sz="2000" spc="-20" dirty="0">
                <a:latin typeface="Arial"/>
                <a:cs typeface="Arial"/>
              </a:rPr>
              <a:t> </a:t>
            </a:r>
            <a:r>
              <a:rPr sz="2000" spc="50" dirty="0">
                <a:latin typeface="Arial"/>
                <a:cs typeface="Arial"/>
              </a:rPr>
              <a:t>e)</a:t>
            </a:r>
            <a:endParaRPr sz="2000">
              <a:latin typeface="Arial"/>
              <a:cs typeface="Arial"/>
            </a:endParaRPr>
          </a:p>
          <a:p>
            <a:pPr marL="584200">
              <a:lnSpc>
                <a:spcPct val="100000"/>
              </a:lnSpc>
              <a:spcBef>
                <a:spcPts val="215"/>
              </a:spcBef>
            </a:pPr>
            <a:r>
              <a:rPr sz="2000" spc="55" dirty="0">
                <a:latin typeface="Arial"/>
                <a:cs typeface="Arial"/>
              </a:rPr>
              <a:t>{</a:t>
            </a:r>
            <a:endParaRPr sz="2000">
              <a:latin typeface="Arial"/>
              <a:cs typeface="Arial"/>
            </a:endParaRPr>
          </a:p>
          <a:p>
            <a:pPr marL="869315" marR="5080" indent="429259">
              <a:lnSpc>
                <a:spcPts val="2630"/>
              </a:lnSpc>
              <a:spcBef>
                <a:spcPts val="114"/>
              </a:spcBef>
            </a:pPr>
            <a:r>
              <a:rPr sz="2000" spc="160" dirty="0">
                <a:solidFill>
                  <a:srgbClr val="008200"/>
                </a:solidFill>
                <a:latin typeface="Arial"/>
                <a:cs typeface="Arial"/>
              </a:rPr>
              <a:t>// </a:t>
            </a:r>
            <a:r>
              <a:rPr sz="2000" spc="65" dirty="0">
                <a:solidFill>
                  <a:srgbClr val="008200"/>
                </a:solidFill>
                <a:latin typeface="Arial"/>
                <a:cs typeface="Arial"/>
              </a:rPr>
              <a:t>displaying </a:t>
            </a:r>
            <a:r>
              <a:rPr sz="2000" spc="95" dirty="0">
                <a:solidFill>
                  <a:srgbClr val="008200"/>
                </a:solidFill>
                <a:latin typeface="Arial"/>
                <a:cs typeface="Arial"/>
              </a:rPr>
              <a:t>the </a:t>
            </a:r>
            <a:r>
              <a:rPr sz="2000" spc="85" dirty="0">
                <a:solidFill>
                  <a:srgbClr val="008200"/>
                </a:solidFill>
                <a:latin typeface="Arial"/>
                <a:cs typeface="Arial"/>
              </a:rPr>
              <a:t>custom </a:t>
            </a:r>
            <a:r>
              <a:rPr sz="2000" spc="50" dirty="0">
                <a:solidFill>
                  <a:srgbClr val="008200"/>
                </a:solidFill>
                <a:latin typeface="Arial"/>
                <a:cs typeface="Arial"/>
              </a:rPr>
              <a:t>message  </a:t>
            </a:r>
            <a:r>
              <a:rPr sz="2000" spc="65" dirty="0">
                <a:latin typeface="Arial"/>
                <a:cs typeface="Arial"/>
              </a:rPr>
              <a:t>System.out.println</a:t>
            </a:r>
            <a:r>
              <a:rPr sz="2000" spc="65" dirty="0">
                <a:solidFill>
                  <a:srgbClr val="FF0000"/>
                </a:solidFill>
                <a:latin typeface="Arial"/>
                <a:cs typeface="Arial"/>
              </a:rPr>
              <a:t>("Can't </a:t>
            </a:r>
            <a:r>
              <a:rPr sz="2000" spc="90" dirty="0">
                <a:solidFill>
                  <a:srgbClr val="FF0000"/>
                </a:solidFill>
                <a:latin typeface="Arial"/>
                <a:cs typeface="Arial"/>
              </a:rPr>
              <a:t>divided </a:t>
            </a:r>
            <a:r>
              <a:rPr sz="2000" spc="120" dirty="0">
                <a:solidFill>
                  <a:srgbClr val="FF0000"/>
                </a:solidFill>
                <a:latin typeface="Arial"/>
                <a:cs typeface="Arial"/>
              </a:rPr>
              <a:t>by</a:t>
            </a:r>
            <a:r>
              <a:rPr sz="2000" spc="-265" dirty="0">
                <a:solidFill>
                  <a:srgbClr val="FF0000"/>
                </a:solidFill>
                <a:latin typeface="Arial"/>
                <a:cs typeface="Arial"/>
              </a:rPr>
              <a:t> </a:t>
            </a:r>
            <a:r>
              <a:rPr sz="2000" spc="60" dirty="0">
                <a:solidFill>
                  <a:srgbClr val="FF0000"/>
                </a:solidFill>
                <a:latin typeface="Arial"/>
                <a:cs typeface="Arial"/>
              </a:rPr>
              <a:t>zero");</a:t>
            </a:r>
            <a:endParaRPr sz="2000">
              <a:latin typeface="Arial"/>
              <a:cs typeface="Arial"/>
            </a:endParaRPr>
          </a:p>
          <a:p>
            <a:pPr marL="584200">
              <a:lnSpc>
                <a:spcPct val="100000"/>
              </a:lnSpc>
              <a:spcBef>
                <a:spcPts val="90"/>
              </a:spcBef>
            </a:pPr>
            <a:r>
              <a:rPr sz="2000" spc="55" dirty="0">
                <a:latin typeface="Arial"/>
                <a:cs typeface="Arial"/>
              </a:rPr>
              <a:t>}</a:t>
            </a:r>
            <a:endParaRPr sz="2000">
              <a:latin typeface="Arial"/>
              <a:cs typeface="Arial"/>
            </a:endParaRPr>
          </a:p>
          <a:p>
            <a:pPr marL="297180">
              <a:lnSpc>
                <a:spcPct val="100000"/>
              </a:lnSpc>
              <a:spcBef>
                <a:spcPts val="215"/>
              </a:spcBef>
            </a:pPr>
            <a:r>
              <a:rPr sz="2000" spc="55" dirty="0">
                <a:latin typeface="Arial"/>
                <a:cs typeface="Arial"/>
              </a:rPr>
              <a:t>}</a:t>
            </a:r>
            <a:endParaRPr sz="2000">
              <a:latin typeface="Arial"/>
              <a:cs typeface="Arial"/>
            </a:endParaRPr>
          </a:p>
          <a:p>
            <a:pPr marL="227329">
              <a:lnSpc>
                <a:spcPct val="100000"/>
              </a:lnSpc>
              <a:spcBef>
                <a:spcPts val="229"/>
              </a:spcBef>
            </a:pPr>
            <a:r>
              <a:rPr sz="2000" spc="55" dirty="0">
                <a:latin typeface="Arial"/>
                <a:cs typeface="Arial"/>
              </a:rPr>
              <a:t>}</a:t>
            </a:r>
            <a:endParaRPr sz="2000">
              <a:latin typeface="Arial"/>
              <a:cs typeface="Arial"/>
            </a:endParaRPr>
          </a:p>
          <a:p>
            <a:pPr marL="12700">
              <a:lnSpc>
                <a:spcPct val="100000"/>
              </a:lnSpc>
              <a:spcBef>
                <a:spcPts val="215"/>
              </a:spcBef>
            </a:pPr>
            <a:r>
              <a:rPr sz="2000" spc="70" dirty="0">
                <a:latin typeface="Arial"/>
                <a:cs typeface="Arial"/>
              </a:rPr>
              <a:t>Output: </a:t>
            </a:r>
            <a:r>
              <a:rPr sz="2000" spc="60" dirty="0">
                <a:solidFill>
                  <a:srgbClr val="FF0000"/>
                </a:solidFill>
                <a:latin typeface="Arial"/>
                <a:cs typeface="Arial"/>
              </a:rPr>
              <a:t>Can't </a:t>
            </a:r>
            <a:r>
              <a:rPr sz="2000" spc="90" dirty="0">
                <a:solidFill>
                  <a:srgbClr val="FF0000"/>
                </a:solidFill>
                <a:latin typeface="Arial"/>
                <a:cs typeface="Arial"/>
              </a:rPr>
              <a:t>divided </a:t>
            </a:r>
            <a:r>
              <a:rPr sz="2000" spc="120" dirty="0">
                <a:solidFill>
                  <a:srgbClr val="FF0000"/>
                </a:solidFill>
                <a:latin typeface="Arial"/>
                <a:cs typeface="Arial"/>
              </a:rPr>
              <a:t>by</a:t>
            </a:r>
            <a:r>
              <a:rPr sz="2000" spc="-300" dirty="0">
                <a:solidFill>
                  <a:srgbClr val="FF0000"/>
                </a:solidFill>
                <a:latin typeface="Arial"/>
                <a:cs typeface="Arial"/>
              </a:rPr>
              <a:t> </a:t>
            </a:r>
            <a:r>
              <a:rPr sz="2000" spc="65" dirty="0">
                <a:solidFill>
                  <a:srgbClr val="FF0000"/>
                </a:solidFill>
                <a:latin typeface="Arial"/>
                <a:cs typeface="Arial"/>
              </a:rPr>
              <a:t>zero</a:t>
            </a:r>
            <a:endParaRPr sz="200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140" y="81483"/>
            <a:ext cx="8007350" cy="1246505"/>
          </a:xfrm>
          <a:prstGeom prst="rect">
            <a:avLst/>
          </a:prstGeom>
        </p:spPr>
        <p:txBody>
          <a:bodyPr vert="horz" wrap="square" lIns="0" tIns="10795" rIns="0" bIns="0" rtlCol="0">
            <a:spAutoFit/>
          </a:bodyPr>
          <a:lstStyle/>
          <a:p>
            <a:pPr marL="12700" marR="5080">
              <a:lnSpc>
                <a:spcPct val="100299"/>
              </a:lnSpc>
              <a:spcBef>
                <a:spcPts val="85"/>
              </a:spcBef>
            </a:pPr>
            <a:r>
              <a:rPr sz="4000" b="0" spc="55" dirty="0">
                <a:solidFill>
                  <a:srgbClr val="333333"/>
                </a:solidFill>
                <a:latin typeface="Arial"/>
                <a:cs typeface="Arial"/>
              </a:rPr>
              <a:t>Example </a:t>
            </a:r>
            <a:r>
              <a:rPr sz="4000" b="0" spc="250" dirty="0">
                <a:solidFill>
                  <a:srgbClr val="333333"/>
                </a:solidFill>
                <a:latin typeface="Arial"/>
                <a:cs typeface="Arial"/>
              </a:rPr>
              <a:t>to </a:t>
            </a:r>
            <a:r>
              <a:rPr sz="4000" b="0" spc="120" dirty="0">
                <a:solidFill>
                  <a:srgbClr val="333333"/>
                </a:solidFill>
                <a:latin typeface="Arial"/>
                <a:cs typeface="Arial"/>
              </a:rPr>
              <a:t>resolve </a:t>
            </a:r>
            <a:r>
              <a:rPr sz="4000" b="0" spc="190" dirty="0">
                <a:solidFill>
                  <a:srgbClr val="333333"/>
                </a:solidFill>
                <a:latin typeface="Arial"/>
                <a:cs typeface="Arial"/>
              </a:rPr>
              <a:t>the</a:t>
            </a:r>
            <a:r>
              <a:rPr sz="4000" b="0" spc="-425" dirty="0">
                <a:solidFill>
                  <a:srgbClr val="333333"/>
                </a:solidFill>
                <a:latin typeface="Arial"/>
                <a:cs typeface="Arial"/>
              </a:rPr>
              <a:t> </a:t>
            </a:r>
            <a:r>
              <a:rPr sz="4000" b="0" spc="160" dirty="0">
                <a:solidFill>
                  <a:srgbClr val="333333"/>
                </a:solidFill>
                <a:latin typeface="Arial"/>
                <a:cs typeface="Arial"/>
              </a:rPr>
              <a:t>exception  </a:t>
            </a:r>
            <a:r>
              <a:rPr sz="4000" b="0" spc="80" dirty="0">
                <a:solidFill>
                  <a:srgbClr val="333333"/>
                </a:solidFill>
                <a:latin typeface="Arial"/>
                <a:cs typeface="Arial"/>
              </a:rPr>
              <a:t>in </a:t>
            </a:r>
            <a:r>
              <a:rPr sz="4000" b="0" spc="25" dirty="0">
                <a:solidFill>
                  <a:srgbClr val="333333"/>
                </a:solidFill>
                <a:latin typeface="Arial"/>
                <a:cs typeface="Arial"/>
              </a:rPr>
              <a:t>a </a:t>
            </a:r>
            <a:r>
              <a:rPr sz="4000" b="0" spc="185" dirty="0">
                <a:solidFill>
                  <a:srgbClr val="333333"/>
                </a:solidFill>
                <a:latin typeface="Arial"/>
                <a:cs typeface="Arial"/>
              </a:rPr>
              <a:t>catch</a:t>
            </a:r>
            <a:r>
              <a:rPr sz="4000" b="0" spc="-75" dirty="0">
                <a:solidFill>
                  <a:srgbClr val="333333"/>
                </a:solidFill>
                <a:latin typeface="Arial"/>
                <a:cs typeface="Arial"/>
              </a:rPr>
              <a:t> </a:t>
            </a:r>
            <a:r>
              <a:rPr sz="4000" b="0" spc="140" dirty="0">
                <a:solidFill>
                  <a:srgbClr val="333333"/>
                </a:solidFill>
                <a:latin typeface="Arial"/>
                <a:cs typeface="Arial"/>
              </a:rPr>
              <a:t>block.</a:t>
            </a:r>
            <a:endParaRPr sz="4000">
              <a:latin typeface="Arial"/>
              <a:cs typeface="Arial"/>
            </a:endParaRPr>
          </a:p>
        </p:txBody>
      </p:sp>
      <p:sp>
        <p:nvSpPr>
          <p:cNvPr id="3" name="object 3"/>
          <p:cNvSpPr txBox="1"/>
          <p:nvPr/>
        </p:nvSpPr>
        <p:spPr>
          <a:xfrm>
            <a:off x="231140" y="1534947"/>
            <a:ext cx="4612640" cy="5140325"/>
          </a:xfrm>
          <a:prstGeom prst="rect">
            <a:avLst/>
          </a:prstGeom>
        </p:spPr>
        <p:txBody>
          <a:bodyPr vert="horz" wrap="square" lIns="0" tIns="53975" rIns="0" bIns="0" rtlCol="0">
            <a:spAutoFit/>
          </a:bodyPr>
          <a:lstStyle/>
          <a:p>
            <a:pPr marL="12700">
              <a:lnSpc>
                <a:spcPct val="100000"/>
              </a:lnSpc>
              <a:spcBef>
                <a:spcPts val="425"/>
              </a:spcBef>
            </a:pPr>
            <a:r>
              <a:rPr sz="1600" b="1" spc="-100" dirty="0">
                <a:solidFill>
                  <a:srgbClr val="006699"/>
                </a:solidFill>
                <a:latin typeface="Verdana"/>
                <a:cs typeface="Verdana"/>
              </a:rPr>
              <a:t>public </a:t>
            </a:r>
            <a:r>
              <a:rPr sz="1600" b="1" spc="-80" dirty="0">
                <a:solidFill>
                  <a:srgbClr val="006699"/>
                </a:solidFill>
                <a:latin typeface="Verdana"/>
                <a:cs typeface="Verdana"/>
              </a:rPr>
              <a:t>class </a:t>
            </a:r>
            <a:r>
              <a:rPr sz="1600" spc="40" dirty="0">
                <a:latin typeface="Arial"/>
                <a:cs typeface="Arial"/>
              </a:rPr>
              <a:t>TryCatchExample6</a:t>
            </a:r>
            <a:r>
              <a:rPr sz="1600" spc="20" dirty="0">
                <a:latin typeface="Arial"/>
                <a:cs typeface="Arial"/>
              </a:rPr>
              <a:t> </a:t>
            </a:r>
            <a:r>
              <a:rPr sz="1600" spc="40" dirty="0">
                <a:latin typeface="Arial"/>
                <a:cs typeface="Arial"/>
              </a:rPr>
              <a:t>{</a:t>
            </a:r>
            <a:endParaRPr sz="1600">
              <a:latin typeface="Arial"/>
              <a:cs typeface="Arial"/>
            </a:endParaRPr>
          </a:p>
          <a:p>
            <a:pPr marL="355600">
              <a:lnSpc>
                <a:spcPct val="100000"/>
              </a:lnSpc>
              <a:spcBef>
                <a:spcPts val="330"/>
              </a:spcBef>
            </a:pPr>
            <a:r>
              <a:rPr sz="1600" b="1" spc="-100" dirty="0">
                <a:solidFill>
                  <a:srgbClr val="006699"/>
                </a:solidFill>
                <a:latin typeface="Verdana"/>
                <a:cs typeface="Verdana"/>
              </a:rPr>
              <a:t>public </a:t>
            </a:r>
            <a:r>
              <a:rPr sz="1600" b="1" spc="-90" dirty="0">
                <a:solidFill>
                  <a:srgbClr val="006699"/>
                </a:solidFill>
                <a:latin typeface="Verdana"/>
                <a:cs typeface="Verdana"/>
              </a:rPr>
              <a:t>static </a:t>
            </a:r>
            <a:r>
              <a:rPr sz="1600" b="1" spc="-114" dirty="0">
                <a:solidFill>
                  <a:srgbClr val="006699"/>
                </a:solidFill>
                <a:latin typeface="Verdana"/>
                <a:cs typeface="Verdana"/>
              </a:rPr>
              <a:t>void </a:t>
            </a:r>
            <a:r>
              <a:rPr sz="1600" spc="50" dirty="0">
                <a:latin typeface="Arial"/>
                <a:cs typeface="Arial"/>
              </a:rPr>
              <a:t>main(String[] </a:t>
            </a:r>
            <a:r>
              <a:rPr sz="1600" spc="45" dirty="0">
                <a:latin typeface="Arial"/>
                <a:cs typeface="Arial"/>
              </a:rPr>
              <a:t>args)</a:t>
            </a:r>
            <a:r>
              <a:rPr sz="1600" dirty="0">
                <a:latin typeface="Arial"/>
                <a:cs typeface="Arial"/>
              </a:rPr>
              <a:t> </a:t>
            </a:r>
            <a:r>
              <a:rPr sz="1600" spc="40" dirty="0">
                <a:latin typeface="Arial"/>
                <a:cs typeface="Arial"/>
              </a:rPr>
              <a:t>{</a:t>
            </a:r>
            <a:endParaRPr sz="1600">
              <a:latin typeface="Arial"/>
              <a:cs typeface="Arial"/>
            </a:endParaRPr>
          </a:p>
          <a:p>
            <a:pPr marL="469900">
              <a:lnSpc>
                <a:spcPct val="100000"/>
              </a:lnSpc>
              <a:spcBef>
                <a:spcPts val="310"/>
              </a:spcBef>
            </a:pPr>
            <a:r>
              <a:rPr sz="1600" b="1" spc="-125" dirty="0">
                <a:solidFill>
                  <a:srgbClr val="006699"/>
                </a:solidFill>
                <a:latin typeface="Verdana"/>
                <a:cs typeface="Verdana"/>
              </a:rPr>
              <a:t>int</a:t>
            </a:r>
            <a:r>
              <a:rPr sz="1600" b="1" spc="-90" dirty="0">
                <a:solidFill>
                  <a:srgbClr val="006699"/>
                </a:solidFill>
                <a:latin typeface="Verdana"/>
                <a:cs typeface="Verdana"/>
              </a:rPr>
              <a:t> </a:t>
            </a:r>
            <a:r>
              <a:rPr sz="1600" spc="65" dirty="0">
                <a:latin typeface="Arial"/>
                <a:cs typeface="Arial"/>
              </a:rPr>
              <a:t>i=</a:t>
            </a:r>
            <a:r>
              <a:rPr sz="1600" spc="65" dirty="0">
                <a:solidFill>
                  <a:srgbClr val="C00000"/>
                </a:solidFill>
                <a:latin typeface="Arial"/>
                <a:cs typeface="Arial"/>
              </a:rPr>
              <a:t>50</a:t>
            </a:r>
            <a:r>
              <a:rPr sz="1600" spc="65" dirty="0">
                <a:latin typeface="Arial"/>
                <a:cs typeface="Arial"/>
              </a:rPr>
              <a:t>;</a:t>
            </a:r>
            <a:endParaRPr sz="1600">
              <a:latin typeface="Arial"/>
              <a:cs typeface="Arial"/>
            </a:endParaRPr>
          </a:p>
          <a:p>
            <a:pPr marL="469900">
              <a:lnSpc>
                <a:spcPct val="100000"/>
              </a:lnSpc>
              <a:spcBef>
                <a:spcPts val="310"/>
              </a:spcBef>
            </a:pPr>
            <a:r>
              <a:rPr sz="1600" b="1" spc="-125" dirty="0">
                <a:solidFill>
                  <a:srgbClr val="006699"/>
                </a:solidFill>
                <a:latin typeface="Verdana"/>
                <a:cs typeface="Verdana"/>
              </a:rPr>
              <a:t>int</a:t>
            </a:r>
            <a:r>
              <a:rPr sz="1600" b="1" spc="-90" dirty="0">
                <a:solidFill>
                  <a:srgbClr val="006699"/>
                </a:solidFill>
                <a:latin typeface="Verdana"/>
                <a:cs typeface="Verdana"/>
              </a:rPr>
              <a:t> </a:t>
            </a:r>
            <a:r>
              <a:rPr sz="1600" spc="60" dirty="0">
                <a:latin typeface="Arial"/>
                <a:cs typeface="Arial"/>
              </a:rPr>
              <a:t>j=</a:t>
            </a:r>
            <a:r>
              <a:rPr sz="1600" spc="60" dirty="0">
                <a:solidFill>
                  <a:srgbClr val="C00000"/>
                </a:solidFill>
                <a:latin typeface="Arial"/>
                <a:cs typeface="Arial"/>
              </a:rPr>
              <a:t>0</a:t>
            </a:r>
            <a:r>
              <a:rPr sz="1600" spc="60" dirty="0">
                <a:latin typeface="Arial"/>
                <a:cs typeface="Arial"/>
              </a:rPr>
              <a:t>;</a:t>
            </a:r>
            <a:endParaRPr sz="1600">
              <a:latin typeface="Arial"/>
              <a:cs typeface="Arial"/>
            </a:endParaRPr>
          </a:p>
          <a:p>
            <a:pPr marL="469900">
              <a:lnSpc>
                <a:spcPct val="100000"/>
              </a:lnSpc>
              <a:spcBef>
                <a:spcPts val="325"/>
              </a:spcBef>
            </a:pPr>
            <a:r>
              <a:rPr sz="1600" b="1" spc="-125" dirty="0">
                <a:solidFill>
                  <a:srgbClr val="006699"/>
                </a:solidFill>
                <a:latin typeface="Verdana"/>
                <a:cs typeface="Verdana"/>
              </a:rPr>
              <a:t>int</a:t>
            </a:r>
            <a:r>
              <a:rPr sz="1600" b="1" spc="-90" dirty="0">
                <a:solidFill>
                  <a:srgbClr val="006699"/>
                </a:solidFill>
                <a:latin typeface="Verdana"/>
                <a:cs typeface="Verdana"/>
              </a:rPr>
              <a:t> </a:t>
            </a:r>
            <a:r>
              <a:rPr sz="1600" spc="50" dirty="0">
                <a:latin typeface="Arial"/>
                <a:cs typeface="Arial"/>
              </a:rPr>
              <a:t>data;</a:t>
            </a:r>
            <a:endParaRPr sz="1600">
              <a:latin typeface="Arial"/>
              <a:cs typeface="Arial"/>
            </a:endParaRPr>
          </a:p>
          <a:p>
            <a:pPr marL="469900">
              <a:lnSpc>
                <a:spcPct val="100000"/>
              </a:lnSpc>
              <a:spcBef>
                <a:spcPts val="315"/>
              </a:spcBef>
            </a:pPr>
            <a:r>
              <a:rPr sz="1600" b="1" spc="-120" dirty="0">
                <a:solidFill>
                  <a:srgbClr val="006699"/>
                </a:solidFill>
                <a:latin typeface="Verdana"/>
                <a:cs typeface="Verdana"/>
              </a:rPr>
              <a:t>try</a:t>
            </a:r>
            <a:endParaRPr sz="1600">
              <a:latin typeface="Verdana"/>
              <a:cs typeface="Verdana"/>
            </a:endParaRPr>
          </a:p>
          <a:p>
            <a:pPr marL="469900">
              <a:lnSpc>
                <a:spcPct val="100000"/>
              </a:lnSpc>
              <a:spcBef>
                <a:spcPts val="310"/>
              </a:spcBef>
            </a:pPr>
            <a:r>
              <a:rPr sz="1600" spc="40" dirty="0">
                <a:latin typeface="Arial"/>
                <a:cs typeface="Arial"/>
              </a:rPr>
              <a:t>{</a:t>
            </a:r>
            <a:endParaRPr sz="1600">
              <a:latin typeface="Arial"/>
              <a:cs typeface="Arial"/>
            </a:endParaRPr>
          </a:p>
          <a:p>
            <a:pPr marL="469900">
              <a:lnSpc>
                <a:spcPct val="100000"/>
              </a:lnSpc>
              <a:spcBef>
                <a:spcPts val="325"/>
              </a:spcBef>
            </a:pPr>
            <a:r>
              <a:rPr sz="1600" spc="60" dirty="0">
                <a:latin typeface="Arial"/>
                <a:cs typeface="Arial"/>
              </a:rPr>
              <a:t>data=i/j; </a:t>
            </a:r>
            <a:r>
              <a:rPr sz="1600" spc="75" dirty="0">
                <a:solidFill>
                  <a:srgbClr val="008200"/>
                </a:solidFill>
                <a:latin typeface="Arial"/>
                <a:cs typeface="Arial"/>
              </a:rPr>
              <a:t>//may </a:t>
            </a:r>
            <a:r>
              <a:rPr sz="1600" spc="85" dirty="0">
                <a:solidFill>
                  <a:srgbClr val="008200"/>
                </a:solidFill>
                <a:latin typeface="Arial"/>
                <a:cs typeface="Arial"/>
              </a:rPr>
              <a:t>throw</a:t>
            </a:r>
            <a:r>
              <a:rPr sz="1600" spc="-105" dirty="0">
                <a:solidFill>
                  <a:srgbClr val="008200"/>
                </a:solidFill>
                <a:latin typeface="Arial"/>
                <a:cs typeface="Arial"/>
              </a:rPr>
              <a:t> </a:t>
            </a:r>
            <a:r>
              <a:rPr sz="1600" spc="60" dirty="0">
                <a:solidFill>
                  <a:srgbClr val="008200"/>
                </a:solidFill>
                <a:latin typeface="Arial"/>
                <a:cs typeface="Arial"/>
              </a:rPr>
              <a:t>exception</a:t>
            </a:r>
            <a:endParaRPr sz="1600">
              <a:latin typeface="Arial"/>
              <a:cs typeface="Arial"/>
            </a:endParaRPr>
          </a:p>
          <a:p>
            <a:pPr marL="469900">
              <a:lnSpc>
                <a:spcPct val="100000"/>
              </a:lnSpc>
              <a:spcBef>
                <a:spcPts val="315"/>
              </a:spcBef>
            </a:pPr>
            <a:r>
              <a:rPr sz="1600" spc="40" dirty="0">
                <a:latin typeface="Arial"/>
                <a:cs typeface="Arial"/>
              </a:rPr>
              <a:t>}</a:t>
            </a:r>
            <a:endParaRPr sz="1600">
              <a:latin typeface="Arial"/>
              <a:cs typeface="Arial"/>
            </a:endParaRPr>
          </a:p>
          <a:p>
            <a:pPr marL="698500">
              <a:lnSpc>
                <a:spcPct val="100000"/>
              </a:lnSpc>
              <a:spcBef>
                <a:spcPts val="310"/>
              </a:spcBef>
            </a:pPr>
            <a:r>
              <a:rPr sz="1600" spc="120" dirty="0">
                <a:solidFill>
                  <a:srgbClr val="008200"/>
                </a:solidFill>
                <a:latin typeface="Arial"/>
                <a:cs typeface="Arial"/>
              </a:rPr>
              <a:t>// </a:t>
            </a:r>
            <a:r>
              <a:rPr sz="1600" spc="45" dirty="0">
                <a:solidFill>
                  <a:srgbClr val="008200"/>
                </a:solidFill>
                <a:latin typeface="Arial"/>
                <a:cs typeface="Arial"/>
              </a:rPr>
              <a:t>handling </a:t>
            </a:r>
            <a:r>
              <a:rPr sz="1600" spc="70" dirty="0">
                <a:solidFill>
                  <a:srgbClr val="008200"/>
                </a:solidFill>
                <a:latin typeface="Arial"/>
                <a:cs typeface="Arial"/>
              </a:rPr>
              <a:t>the</a:t>
            </a:r>
            <a:r>
              <a:rPr sz="1600" spc="-140" dirty="0">
                <a:solidFill>
                  <a:srgbClr val="008200"/>
                </a:solidFill>
                <a:latin typeface="Arial"/>
                <a:cs typeface="Arial"/>
              </a:rPr>
              <a:t> </a:t>
            </a:r>
            <a:r>
              <a:rPr sz="1600" spc="60" dirty="0">
                <a:solidFill>
                  <a:srgbClr val="008200"/>
                </a:solidFill>
                <a:latin typeface="Arial"/>
                <a:cs typeface="Arial"/>
              </a:rPr>
              <a:t>exception</a:t>
            </a:r>
            <a:endParaRPr sz="1600">
              <a:latin typeface="Arial"/>
              <a:cs typeface="Arial"/>
            </a:endParaRPr>
          </a:p>
          <a:p>
            <a:pPr marL="469900">
              <a:lnSpc>
                <a:spcPct val="100000"/>
              </a:lnSpc>
              <a:spcBef>
                <a:spcPts val="325"/>
              </a:spcBef>
            </a:pPr>
            <a:r>
              <a:rPr sz="1600" b="1" dirty="0">
                <a:solidFill>
                  <a:srgbClr val="006699"/>
                </a:solidFill>
                <a:latin typeface="Verdana"/>
                <a:cs typeface="Verdana"/>
              </a:rPr>
              <a:t>catch</a:t>
            </a:r>
            <a:r>
              <a:rPr sz="1600" dirty="0">
                <a:latin typeface="Arial"/>
                <a:cs typeface="Arial"/>
              </a:rPr>
              <a:t>(Exception</a:t>
            </a:r>
            <a:r>
              <a:rPr sz="1600" spc="35" dirty="0">
                <a:latin typeface="Arial"/>
                <a:cs typeface="Arial"/>
              </a:rPr>
              <a:t> </a:t>
            </a:r>
            <a:r>
              <a:rPr sz="1600" spc="30" dirty="0">
                <a:latin typeface="Arial"/>
                <a:cs typeface="Arial"/>
              </a:rPr>
              <a:t>e)</a:t>
            </a:r>
            <a:endParaRPr sz="1600">
              <a:latin typeface="Arial"/>
              <a:cs typeface="Arial"/>
            </a:endParaRPr>
          </a:p>
          <a:p>
            <a:pPr marL="469900">
              <a:lnSpc>
                <a:spcPct val="100000"/>
              </a:lnSpc>
              <a:spcBef>
                <a:spcPts val="315"/>
              </a:spcBef>
            </a:pPr>
            <a:r>
              <a:rPr sz="1600" spc="40" dirty="0">
                <a:latin typeface="Arial"/>
                <a:cs typeface="Arial"/>
              </a:rPr>
              <a:t>{</a:t>
            </a:r>
            <a:endParaRPr sz="1600">
              <a:latin typeface="Arial"/>
              <a:cs typeface="Arial"/>
            </a:endParaRPr>
          </a:p>
          <a:p>
            <a:pPr marL="698500" marR="5080" indent="56515">
              <a:lnSpc>
                <a:spcPts val="2240"/>
              </a:lnSpc>
              <a:spcBef>
                <a:spcPts val="120"/>
              </a:spcBef>
            </a:pPr>
            <a:r>
              <a:rPr sz="1600" spc="120" dirty="0">
                <a:solidFill>
                  <a:srgbClr val="008200"/>
                </a:solidFill>
                <a:latin typeface="Arial"/>
                <a:cs typeface="Arial"/>
              </a:rPr>
              <a:t>// </a:t>
            </a:r>
            <a:r>
              <a:rPr sz="1600" spc="45" dirty="0">
                <a:solidFill>
                  <a:srgbClr val="008200"/>
                </a:solidFill>
                <a:latin typeface="Arial"/>
                <a:cs typeface="Arial"/>
              </a:rPr>
              <a:t>resolving </a:t>
            </a:r>
            <a:r>
              <a:rPr sz="1600" spc="70" dirty="0">
                <a:solidFill>
                  <a:srgbClr val="008200"/>
                </a:solidFill>
                <a:latin typeface="Arial"/>
                <a:cs typeface="Arial"/>
              </a:rPr>
              <a:t>the </a:t>
            </a:r>
            <a:r>
              <a:rPr sz="1600" spc="60" dirty="0">
                <a:solidFill>
                  <a:srgbClr val="008200"/>
                </a:solidFill>
                <a:latin typeface="Arial"/>
                <a:cs typeface="Arial"/>
              </a:rPr>
              <a:t>exception </a:t>
            </a:r>
            <a:r>
              <a:rPr sz="1600" spc="35" dirty="0">
                <a:solidFill>
                  <a:srgbClr val="008200"/>
                </a:solidFill>
                <a:latin typeface="Arial"/>
                <a:cs typeface="Arial"/>
              </a:rPr>
              <a:t>in </a:t>
            </a:r>
            <a:r>
              <a:rPr sz="1600" spc="70" dirty="0">
                <a:solidFill>
                  <a:srgbClr val="008200"/>
                </a:solidFill>
                <a:latin typeface="Arial"/>
                <a:cs typeface="Arial"/>
              </a:rPr>
              <a:t>catch</a:t>
            </a:r>
            <a:r>
              <a:rPr sz="1600" spc="-225" dirty="0">
                <a:solidFill>
                  <a:srgbClr val="008200"/>
                </a:solidFill>
                <a:latin typeface="Arial"/>
                <a:cs typeface="Arial"/>
              </a:rPr>
              <a:t> </a:t>
            </a:r>
            <a:r>
              <a:rPr sz="1600" spc="65" dirty="0">
                <a:solidFill>
                  <a:srgbClr val="008200"/>
                </a:solidFill>
                <a:latin typeface="Arial"/>
                <a:cs typeface="Arial"/>
              </a:rPr>
              <a:t>block  </a:t>
            </a:r>
            <a:r>
              <a:rPr sz="1600" spc="50" dirty="0">
                <a:latin typeface="Arial"/>
                <a:cs typeface="Arial"/>
              </a:rPr>
              <a:t>System.out.println(i/(j+</a:t>
            </a:r>
            <a:r>
              <a:rPr sz="1600" spc="50" dirty="0">
                <a:solidFill>
                  <a:srgbClr val="C00000"/>
                </a:solidFill>
                <a:latin typeface="Arial"/>
                <a:cs typeface="Arial"/>
              </a:rPr>
              <a:t>2</a:t>
            </a:r>
            <a:r>
              <a:rPr sz="1600" spc="50" dirty="0">
                <a:latin typeface="Arial"/>
                <a:cs typeface="Arial"/>
              </a:rPr>
              <a:t>));</a:t>
            </a:r>
            <a:endParaRPr sz="1600">
              <a:latin typeface="Arial"/>
              <a:cs typeface="Arial"/>
            </a:endParaRPr>
          </a:p>
          <a:p>
            <a:pPr marL="469900">
              <a:lnSpc>
                <a:spcPct val="100000"/>
              </a:lnSpc>
              <a:spcBef>
                <a:spcPts val="185"/>
              </a:spcBef>
            </a:pPr>
            <a:r>
              <a:rPr sz="1600" spc="40" dirty="0">
                <a:latin typeface="Arial"/>
                <a:cs typeface="Arial"/>
              </a:rPr>
              <a:t>}</a:t>
            </a:r>
            <a:endParaRPr sz="1600">
              <a:latin typeface="Arial"/>
              <a:cs typeface="Arial"/>
            </a:endParaRPr>
          </a:p>
          <a:p>
            <a:pPr marL="241300">
              <a:lnSpc>
                <a:spcPct val="100000"/>
              </a:lnSpc>
              <a:spcBef>
                <a:spcPts val="315"/>
              </a:spcBef>
            </a:pPr>
            <a:r>
              <a:rPr sz="1600" spc="40" dirty="0">
                <a:latin typeface="Arial"/>
                <a:cs typeface="Arial"/>
              </a:rPr>
              <a:t>}</a:t>
            </a:r>
            <a:endParaRPr sz="1600">
              <a:latin typeface="Arial"/>
              <a:cs typeface="Arial"/>
            </a:endParaRPr>
          </a:p>
          <a:p>
            <a:pPr marL="12700">
              <a:lnSpc>
                <a:spcPct val="100000"/>
              </a:lnSpc>
              <a:spcBef>
                <a:spcPts val="325"/>
              </a:spcBef>
            </a:pPr>
            <a:r>
              <a:rPr sz="1600" spc="40" dirty="0">
                <a:latin typeface="Arial"/>
                <a:cs typeface="Arial"/>
              </a:rPr>
              <a:t>}</a:t>
            </a:r>
            <a:endParaRPr sz="1600">
              <a:latin typeface="Arial"/>
              <a:cs typeface="Arial"/>
            </a:endParaRPr>
          </a:p>
          <a:p>
            <a:pPr marL="12700">
              <a:lnSpc>
                <a:spcPct val="100000"/>
              </a:lnSpc>
              <a:spcBef>
                <a:spcPts val="310"/>
              </a:spcBef>
            </a:pPr>
            <a:r>
              <a:rPr sz="1600" spc="25" dirty="0">
                <a:latin typeface="Arial"/>
                <a:cs typeface="Arial"/>
              </a:rPr>
              <a:t>Output</a:t>
            </a:r>
            <a:r>
              <a:rPr sz="1600" b="1" spc="25" dirty="0">
                <a:solidFill>
                  <a:srgbClr val="FF0000"/>
                </a:solidFill>
                <a:latin typeface="Verdana"/>
                <a:cs typeface="Verdana"/>
              </a:rPr>
              <a:t>:</a:t>
            </a:r>
            <a:r>
              <a:rPr sz="1600" b="1" spc="-150" dirty="0">
                <a:solidFill>
                  <a:srgbClr val="FF0000"/>
                </a:solidFill>
                <a:latin typeface="Verdana"/>
                <a:cs typeface="Verdana"/>
              </a:rPr>
              <a:t> </a:t>
            </a:r>
            <a:r>
              <a:rPr sz="1600" b="1" spc="-125" dirty="0">
                <a:solidFill>
                  <a:srgbClr val="FF0000"/>
                </a:solidFill>
                <a:latin typeface="Verdana"/>
                <a:cs typeface="Verdana"/>
              </a:rPr>
              <a:t>25</a:t>
            </a:r>
            <a:endParaRPr sz="1600">
              <a:latin typeface="Verdana"/>
              <a:cs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marR="5080">
              <a:lnSpc>
                <a:spcPct val="100000"/>
              </a:lnSpc>
              <a:spcBef>
                <a:spcPts val="105"/>
              </a:spcBef>
            </a:pPr>
            <a:r>
              <a:rPr b="0" dirty="0">
                <a:latin typeface="Times New Roman"/>
                <a:cs typeface="Times New Roman"/>
              </a:rPr>
              <a:t>Example - </a:t>
            </a:r>
            <a:r>
              <a:rPr b="0" spc="90" dirty="0">
                <a:solidFill>
                  <a:srgbClr val="333333"/>
                </a:solidFill>
                <a:latin typeface="Arial"/>
                <a:cs typeface="Arial"/>
              </a:rPr>
              <a:t>example </a:t>
            </a:r>
            <a:r>
              <a:rPr b="0" spc="204" dirty="0">
                <a:solidFill>
                  <a:srgbClr val="333333"/>
                </a:solidFill>
                <a:latin typeface="Arial"/>
                <a:cs typeface="Arial"/>
              </a:rPr>
              <a:t>to </a:t>
            </a:r>
            <a:r>
              <a:rPr b="0" spc="95" dirty="0">
                <a:solidFill>
                  <a:srgbClr val="333333"/>
                </a:solidFill>
                <a:latin typeface="Arial"/>
                <a:cs typeface="Arial"/>
              </a:rPr>
              <a:t>handle</a:t>
            </a:r>
            <a:r>
              <a:rPr b="0" spc="-365" dirty="0">
                <a:solidFill>
                  <a:srgbClr val="333333"/>
                </a:solidFill>
                <a:latin typeface="Arial"/>
                <a:cs typeface="Arial"/>
              </a:rPr>
              <a:t> </a:t>
            </a:r>
            <a:r>
              <a:rPr b="0" spc="130" dirty="0">
                <a:solidFill>
                  <a:srgbClr val="333333"/>
                </a:solidFill>
                <a:latin typeface="Arial"/>
                <a:cs typeface="Arial"/>
              </a:rPr>
              <a:t>unchecked  </a:t>
            </a:r>
            <a:r>
              <a:rPr b="0" spc="114" dirty="0">
                <a:solidFill>
                  <a:srgbClr val="333333"/>
                </a:solidFill>
                <a:latin typeface="Arial"/>
                <a:cs typeface="Arial"/>
              </a:rPr>
              <a:t>exception.</a:t>
            </a:r>
          </a:p>
        </p:txBody>
      </p:sp>
      <p:sp>
        <p:nvSpPr>
          <p:cNvPr id="3" name="object 3"/>
          <p:cNvSpPr txBox="1"/>
          <p:nvPr/>
        </p:nvSpPr>
        <p:spPr>
          <a:xfrm>
            <a:off x="307340" y="1534032"/>
            <a:ext cx="5959475" cy="5271135"/>
          </a:xfrm>
          <a:prstGeom prst="rect">
            <a:avLst/>
          </a:prstGeom>
        </p:spPr>
        <p:txBody>
          <a:bodyPr vert="horz" wrap="square" lIns="0" tIns="48260" rIns="0" bIns="0" rtlCol="0">
            <a:spAutoFit/>
          </a:bodyPr>
          <a:lstStyle/>
          <a:p>
            <a:pPr marL="12700">
              <a:lnSpc>
                <a:spcPct val="100000"/>
              </a:lnSpc>
              <a:spcBef>
                <a:spcPts val="380"/>
              </a:spcBef>
            </a:pPr>
            <a:r>
              <a:rPr sz="1800" b="1" spc="-114" dirty="0">
                <a:solidFill>
                  <a:srgbClr val="006699"/>
                </a:solidFill>
                <a:latin typeface="Verdana"/>
                <a:cs typeface="Verdana"/>
              </a:rPr>
              <a:t>public </a:t>
            </a:r>
            <a:r>
              <a:rPr sz="1800" b="1" spc="-85" dirty="0">
                <a:solidFill>
                  <a:srgbClr val="006699"/>
                </a:solidFill>
                <a:latin typeface="Verdana"/>
                <a:cs typeface="Verdana"/>
              </a:rPr>
              <a:t>class </a:t>
            </a:r>
            <a:r>
              <a:rPr sz="1800" spc="50" dirty="0">
                <a:latin typeface="Arial"/>
                <a:cs typeface="Arial"/>
              </a:rPr>
              <a:t>TryCatchExample9</a:t>
            </a:r>
            <a:r>
              <a:rPr sz="1800" dirty="0">
                <a:latin typeface="Arial"/>
                <a:cs typeface="Arial"/>
              </a:rPr>
              <a:t> </a:t>
            </a:r>
            <a:r>
              <a:rPr sz="1800" spc="50" dirty="0">
                <a:latin typeface="Arial"/>
                <a:cs typeface="Arial"/>
              </a:rPr>
              <a:t>{</a:t>
            </a:r>
            <a:endParaRPr sz="1800">
              <a:latin typeface="Arial"/>
              <a:cs typeface="Arial"/>
            </a:endParaRPr>
          </a:p>
          <a:p>
            <a:pPr marL="402590">
              <a:lnSpc>
                <a:spcPct val="100000"/>
              </a:lnSpc>
              <a:spcBef>
                <a:spcPts val="275"/>
              </a:spcBef>
            </a:pPr>
            <a:r>
              <a:rPr sz="1800" b="1" spc="-114" dirty="0">
                <a:solidFill>
                  <a:srgbClr val="006699"/>
                </a:solidFill>
                <a:latin typeface="Verdana"/>
                <a:cs typeface="Verdana"/>
              </a:rPr>
              <a:t>public </a:t>
            </a:r>
            <a:r>
              <a:rPr sz="1800" b="1" spc="-105" dirty="0">
                <a:solidFill>
                  <a:srgbClr val="006699"/>
                </a:solidFill>
                <a:latin typeface="Verdana"/>
                <a:cs typeface="Verdana"/>
              </a:rPr>
              <a:t>static </a:t>
            </a:r>
            <a:r>
              <a:rPr sz="1800" b="1" spc="-125" dirty="0">
                <a:solidFill>
                  <a:srgbClr val="006699"/>
                </a:solidFill>
                <a:latin typeface="Verdana"/>
                <a:cs typeface="Verdana"/>
              </a:rPr>
              <a:t>void </a:t>
            </a:r>
            <a:r>
              <a:rPr sz="1800" spc="60" dirty="0">
                <a:latin typeface="Arial"/>
                <a:cs typeface="Arial"/>
              </a:rPr>
              <a:t>main(String[] </a:t>
            </a:r>
            <a:r>
              <a:rPr sz="1800" spc="50" dirty="0">
                <a:latin typeface="Arial"/>
                <a:cs typeface="Arial"/>
              </a:rPr>
              <a:t>args)</a:t>
            </a:r>
            <a:r>
              <a:rPr sz="1800" spc="-10" dirty="0">
                <a:latin typeface="Arial"/>
                <a:cs typeface="Arial"/>
              </a:rPr>
              <a:t> </a:t>
            </a:r>
            <a:r>
              <a:rPr sz="1800" spc="50" dirty="0">
                <a:latin typeface="Arial"/>
                <a:cs typeface="Arial"/>
              </a:rPr>
              <a:t>{</a:t>
            </a:r>
            <a:endParaRPr sz="1800">
              <a:latin typeface="Arial"/>
              <a:cs typeface="Arial"/>
            </a:endParaRPr>
          </a:p>
          <a:p>
            <a:pPr marL="533400">
              <a:lnSpc>
                <a:spcPct val="100000"/>
              </a:lnSpc>
              <a:spcBef>
                <a:spcPts val="265"/>
              </a:spcBef>
            </a:pPr>
            <a:r>
              <a:rPr sz="1800" b="1" spc="-140" dirty="0">
                <a:solidFill>
                  <a:srgbClr val="006699"/>
                </a:solidFill>
                <a:latin typeface="Verdana"/>
                <a:cs typeface="Verdana"/>
              </a:rPr>
              <a:t>try</a:t>
            </a:r>
            <a:endParaRPr sz="1800">
              <a:latin typeface="Verdana"/>
              <a:cs typeface="Verdana"/>
            </a:endParaRPr>
          </a:p>
          <a:p>
            <a:pPr marL="533400">
              <a:lnSpc>
                <a:spcPct val="100000"/>
              </a:lnSpc>
              <a:spcBef>
                <a:spcPts val="265"/>
              </a:spcBef>
            </a:pPr>
            <a:r>
              <a:rPr sz="1800" spc="50" dirty="0">
                <a:latin typeface="Arial"/>
                <a:cs typeface="Arial"/>
              </a:rPr>
              <a:t>{</a:t>
            </a:r>
            <a:endParaRPr sz="1800">
              <a:latin typeface="Arial"/>
              <a:cs typeface="Arial"/>
            </a:endParaRPr>
          </a:p>
          <a:p>
            <a:pPr marL="533400">
              <a:lnSpc>
                <a:spcPct val="100000"/>
              </a:lnSpc>
              <a:spcBef>
                <a:spcPts val="275"/>
              </a:spcBef>
            </a:pPr>
            <a:r>
              <a:rPr sz="1800" b="1" spc="-140" dirty="0">
                <a:solidFill>
                  <a:srgbClr val="006699"/>
                </a:solidFill>
                <a:latin typeface="Verdana"/>
                <a:cs typeface="Verdana"/>
              </a:rPr>
              <a:t>int </a:t>
            </a:r>
            <a:r>
              <a:rPr sz="1800" spc="95" dirty="0">
                <a:latin typeface="Arial"/>
                <a:cs typeface="Arial"/>
              </a:rPr>
              <a:t>arr[]=</a:t>
            </a:r>
            <a:r>
              <a:rPr sz="1800" spc="40" dirty="0">
                <a:latin typeface="Arial"/>
                <a:cs typeface="Arial"/>
              </a:rPr>
              <a:t> </a:t>
            </a:r>
            <a:r>
              <a:rPr sz="1800" spc="15" dirty="0">
                <a:latin typeface="Arial"/>
                <a:cs typeface="Arial"/>
              </a:rPr>
              <a:t>{</a:t>
            </a:r>
            <a:r>
              <a:rPr sz="1800" spc="15" dirty="0">
                <a:solidFill>
                  <a:srgbClr val="C00000"/>
                </a:solidFill>
                <a:latin typeface="Arial"/>
                <a:cs typeface="Arial"/>
              </a:rPr>
              <a:t>1</a:t>
            </a:r>
            <a:r>
              <a:rPr sz="1800" spc="15" dirty="0">
                <a:latin typeface="Arial"/>
                <a:cs typeface="Arial"/>
              </a:rPr>
              <a:t>,</a:t>
            </a:r>
            <a:r>
              <a:rPr sz="1800" spc="15" dirty="0">
                <a:solidFill>
                  <a:srgbClr val="C00000"/>
                </a:solidFill>
                <a:latin typeface="Arial"/>
                <a:cs typeface="Arial"/>
              </a:rPr>
              <a:t>3</a:t>
            </a:r>
            <a:r>
              <a:rPr sz="1800" spc="15" dirty="0">
                <a:latin typeface="Arial"/>
                <a:cs typeface="Arial"/>
              </a:rPr>
              <a:t>,</a:t>
            </a:r>
            <a:r>
              <a:rPr sz="1800" spc="15" dirty="0">
                <a:solidFill>
                  <a:srgbClr val="C00000"/>
                </a:solidFill>
                <a:latin typeface="Arial"/>
                <a:cs typeface="Arial"/>
              </a:rPr>
              <a:t>5</a:t>
            </a:r>
            <a:r>
              <a:rPr sz="1800" spc="15" dirty="0">
                <a:latin typeface="Arial"/>
                <a:cs typeface="Arial"/>
              </a:rPr>
              <a:t>,</a:t>
            </a:r>
            <a:r>
              <a:rPr sz="1800" spc="15" dirty="0">
                <a:solidFill>
                  <a:srgbClr val="C00000"/>
                </a:solidFill>
                <a:latin typeface="Arial"/>
                <a:cs typeface="Arial"/>
              </a:rPr>
              <a:t>7</a:t>
            </a:r>
            <a:r>
              <a:rPr sz="1800" spc="15" dirty="0">
                <a:latin typeface="Arial"/>
                <a:cs typeface="Arial"/>
              </a:rPr>
              <a:t>};</a:t>
            </a:r>
            <a:endParaRPr sz="1800">
              <a:latin typeface="Arial"/>
              <a:cs typeface="Arial"/>
            </a:endParaRPr>
          </a:p>
          <a:p>
            <a:pPr marL="533400">
              <a:lnSpc>
                <a:spcPct val="100000"/>
              </a:lnSpc>
              <a:spcBef>
                <a:spcPts val="265"/>
              </a:spcBef>
            </a:pPr>
            <a:r>
              <a:rPr sz="1800" spc="55" dirty="0">
                <a:latin typeface="Arial"/>
                <a:cs typeface="Arial"/>
              </a:rPr>
              <a:t>System.out.println(arr[</a:t>
            </a:r>
            <a:r>
              <a:rPr sz="1800" spc="55" dirty="0">
                <a:solidFill>
                  <a:srgbClr val="C00000"/>
                </a:solidFill>
                <a:latin typeface="Arial"/>
                <a:cs typeface="Arial"/>
              </a:rPr>
              <a:t>10</a:t>
            </a:r>
            <a:r>
              <a:rPr sz="1800" spc="55" dirty="0">
                <a:latin typeface="Arial"/>
                <a:cs typeface="Arial"/>
              </a:rPr>
              <a:t>]); </a:t>
            </a:r>
            <a:r>
              <a:rPr sz="1800" spc="85" dirty="0">
                <a:solidFill>
                  <a:srgbClr val="008200"/>
                </a:solidFill>
                <a:latin typeface="Arial"/>
                <a:cs typeface="Arial"/>
              </a:rPr>
              <a:t>//may </a:t>
            </a:r>
            <a:r>
              <a:rPr sz="1800" spc="100" dirty="0">
                <a:solidFill>
                  <a:srgbClr val="008200"/>
                </a:solidFill>
                <a:latin typeface="Arial"/>
                <a:cs typeface="Arial"/>
              </a:rPr>
              <a:t>throw</a:t>
            </a:r>
            <a:r>
              <a:rPr sz="1800" spc="-145" dirty="0">
                <a:solidFill>
                  <a:srgbClr val="008200"/>
                </a:solidFill>
                <a:latin typeface="Arial"/>
                <a:cs typeface="Arial"/>
              </a:rPr>
              <a:t> </a:t>
            </a:r>
            <a:r>
              <a:rPr sz="1800" spc="70" dirty="0">
                <a:solidFill>
                  <a:srgbClr val="008200"/>
                </a:solidFill>
                <a:latin typeface="Arial"/>
                <a:cs typeface="Arial"/>
              </a:rPr>
              <a:t>exception</a:t>
            </a:r>
            <a:endParaRPr sz="1800">
              <a:latin typeface="Arial"/>
              <a:cs typeface="Arial"/>
            </a:endParaRPr>
          </a:p>
          <a:p>
            <a:pPr marL="533400">
              <a:lnSpc>
                <a:spcPct val="100000"/>
              </a:lnSpc>
              <a:spcBef>
                <a:spcPts val="265"/>
              </a:spcBef>
            </a:pPr>
            <a:r>
              <a:rPr sz="1800" spc="50" dirty="0">
                <a:latin typeface="Arial"/>
                <a:cs typeface="Arial"/>
              </a:rPr>
              <a:t>}</a:t>
            </a:r>
            <a:endParaRPr sz="1800">
              <a:latin typeface="Arial"/>
              <a:cs typeface="Arial"/>
            </a:endParaRPr>
          </a:p>
          <a:p>
            <a:pPr marL="793115">
              <a:lnSpc>
                <a:spcPct val="100000"/>
              </a:lnSpc>
              <a:spcBef>
                <a:spcPts val="275"/>
              </a:spcBef>
            </a:pPr>
            <a:r>
              <a:rPr sz="1800" spc="135" dirty="0">
                <a:solidFill>
                  <a:srgbClr val="008200"/>
                </a:solidFill>
                <a:latin typeface="Arial"/>
                <a:cs typeface="Arial"/>
              </a:rPr>
              <a:t>// </a:t>
            </a:r>
            <a:r>
              <a:rPr sz="1800" spc="55" dirty="0">
                <a:solidFill>
                  <a:srgbClr val="008200"/>
                </a:solidFill>
                <a:latin typeface="Arial"/>
                <a:cs typeface="Arial"/>
              </a:rPr>
              <a:t>handling </a:t>
            </a:r>
            <a:r>
              <a:rPr sz="1800" spc="90" dirty="0">
                <a:solidFill>
                  <a:srgbClr val="008200"/>
                </a:solidFill>
                <a:latin typeface="Arial"/>
                <a:cs typeface="Arial"/>
              </a:rPr>
              <a:t>the </a:t>
            </a:r>
            <a:r>
              <a:rPr sz="1800" spc="55" dirty="0">
                <a:solidFill>
                  <a:srgbClr val="008200"/>
                </a:solidFill>
                <a:latin typeface="Arial"/>
                <a:cs typeface="Arial"/>
              </a:rPr>
              <a:t>array</a:t>
            </a:r>
            <a:r>
              <a:rPr sz="1800" spc="-295" dirty="0">
                <a:solidFill>
                  <a:srgbClr val="008200"/>
                </a:solidFill>
                <a:latin typeface="Arial"/>
                <a:cs typeface="Arial"/>
              </a:rPr>
              <a:t> </a:t>
            </a:r>
            <a:r>
              <a:rPr sz="1800" spc="70" dirty="0">
                <a:solidFill>
                  <a:srgbClr val="008200"/>
                </a:solidFill>
                <a:latin typeface="Arial"/>
                <a:cs typeface="Arial"/>
              </a:rPr>
              <a:t>exception</a:t>
            </a:r>
            <a:endParaRPr sz="1800">
              <a:latin typeface="Arial"/>
              <a:cs typeface="Arial"/>
            </a:endParaRPr>
          </a:p>
          <a:p>
            <a:pPr marL="533400">
              <a:lnSpc>
                <a:spcPct val="100000"/>
              </a:lnSpc>
              <a:spcBef>
                <a:spcPts val="265"/>
              </a:spcBef>
            </a:pPr>
            <a:r>
              <a:rPr sz="1800" b="1" spc="30" dirty="0">
                <a:solidFill>
                  <a:srgbClr val="006699"/>
                </a:solidFill>
                <a:latin typeface="Verdana"/>
                <a:cs typeface="Verdana"/>
              </a:rPr>
              <a:t>catch</a:t>
            </a:r>
            <a:r>
              <a:rPr sz="1800" spc="30" dirty="0">
                <a:latin typeface="Arial"/>
                <a:cs typeface="Arial"/>
              </a:rPr>
              <a:t>(ArrayIndexOutOfBoundsException</a:t>
            </a:r>
            <a:r>
              <a:rPr sz="1800" spc="25" dirty="0">
                <a:latin typeface="Arial"/>
                <a:cs typeface="Arial"/>
              </a:rPr>
              <a:t> </a:t>
            </a:r>
            <a:r>
              <a:rPr sz="1800" spc="40" dirty="0">
                <a:latin typeface="Arial"/>
                <a:cs typeface="Arial"/>
              </a:rPr>
              <a:t>e)</a:t>
            </a:r>
            <a:endParaRPr sz="1800">
              <a:latin typeface="Arial"/>
              <a:cs typeface="Arial"/>
            </a:endParaRPr>
          </a:p>
          <a:p>
            <a:pPr marL="533400">
              <a:lnSpc>
                <a:spcPct val="100000"/>
              </a:lnSpc>
              <a:spcBef>
                <a:spcPts val="265"/>
              </a:spcBef>
            </a:pPr>
            <a:r>
              <a:rPr sz="1800" spc="50" dirty="0">
                <a:latin typeface="Arial"/>
                <a:cs typeface="Arial"/>
              </a:rPr>
              <a:t>{</a:t>
            </a:r>
            <a:endParaRPr sz="1800">
              <a:latin typeface="Arial"/>
              <a:cs typeface="Arial"/>
            </a:endParaRPr>
          </a:p>
          <a:p>
            <a:pPr marL="793115">
              <a:lnSpc>
                <a:spcPct val="100000"/>
              </a:lnSpc>
              <a:spcBef>
                <a:spcPts val="280"/>
              </a:spcBef>
            </a:pPr>
            <a:r>
              <a:rPr sz="1800" spc="50" dirty="0">
                <a:latin typeface="Arial"/>
                <a:cs typeface="Arial"/>
              </a:rPr>
              <a:t>System.out.println(e);</a:t>
            </a:r>
            <a:endParaRPr sz="1800">
              <a:latin typeface="Arial"/>
              <a:cs typeface="Arial"/>
            </a:endParaRPr>
          </a:p>
          <a:p>
            <a:pPr marL="533400">
              <a:lnSpc>
                <a:spcPct val="100000"/>
              </a:lnSpc>
              <a:spcBef>
                <a:spcPts val="265"/>
              </a:spcBef>
            </a:pPr>
            <a:r>
              <a:rPr sz="1800" spc="50" dirty="0">
                <a:latin typeface="Arial"/>
                <a:cs typeface="Arial"/>
              </a:rPr>
              <a:t>}</a:t>
            </a:r>
            <a:endParaRPr sz="1800">
              <a:latin typeface="Arial"/>
              <a:cs typeface="Arial"/>
            </a:endParaRPr>
          </a:p>
          <a:p>
            <a:pPr marL="533400">
              <a:lnSpc>
                <a:spcPct val="100000"/>
              </a:lnSpc>
              <a:spcBef>
                <a:spcPts val="260"/>
              </a:spcBef>
            </a:pPr>
            <a:r>
              <a:rPr sz="1800" spc="60" dirty="0">
                <a:latin typeface="Arial"/>
                <a:cs typeface="Arial"/>
              </a:rPr>
              <a:t>System.out.println(</a:t>
            </a:r>
            <a:r>
              <a:rPr sz="1800" spc="60" dirty="0">
                <a:solidFill>
                  <a:srgbClr val="0000FF"/>
                </a:solidFill>
                <a:latin typeface="Arial"/>
                <a:cs typeface="Arial"/>
              </a:rPr>
              <a:t>"rest </a:t>
            </a:r>
            <a:r>
              <a:rPr sz="1800" spc="105" dirty="0">
                <a:solidFill>
                  <a:srgbClr val="0000FF"/>
                </a:solidFill>
                <a:latin typeface="Arial"/>
                <a:cs typeface="Arial"/>
              </a:rPr>
              <a:t>of </a:t>
            </a:r>
            <a:r>
              <a:rPr sz="1800" spc="90" dirty="0">
                <a:solidFill>
                  <a:srgbClr val="0000FF"/>
                </a:solidFill>
                <a:latin typeface="Arial"/>
                <a:cs typeface="Arial"/>
              </a:rPr>
              <a:t>the</a:t>
            </a:r>
            <a:r>
              <a:rPr sz="1800" spc="-170" dirty="0">
                <a:solidFill>
                  <a:srgbClr val="0000FF"/>
                </a:solidFill>
                <a:latin typeface="Arial"/>
                <a:cs typeface="Arial"/>
              </a:rPr>
              <a:t> </a:t>
            </a:r>
            <a:r>
              <a:rPr sz="1800" spc="65" dirty="0">
                <a:solidFill>
                  <a:srgbClr val="0000FF"/>
                </a:solidFill>
                <a:latin typeface="Arial"/>
                <a:cs typeface="Arial"/>
              </a:rPr>
              <a:t>code"</a:t>
            </a:r>
            <a:r>
              <a:rPr sz="1800" spc="65" dirty="0">
                <a:latin typeface="Arial"/>
                <a:cs typeface="Arial"/>
              </a:rPr>
              <a:t>);</a:t>
            </a:r>
            <a:endParaRPr sz="1800">
              <a:latin typeface="Arial"/>
              <a:cs typeface="Arial"/>
            </a:endParaRPr>
          </a:p>
          <a:p>
            <a:pPr marL="273050">
              <a:lnSpc>
                <a:spcPct val="100000"/>
              </a:lnSpc>
              <a:spcBef>
                <a:spcPts val="275"/>
              </a:spcBef>
            </a:pPr>
            <a:r>
              <a:rPr sz="1800" spc="50" dirty="0">
                <a:latin typeface="Arial"/>
                <a:cs typeface="Arial"/>
              </a:rPr>
              <a:t>}</a:t>
            </a:r>
            <a:endParaRPr sz="1800">
              <a:latin typeface="Arial"/>
              <a:cs typeface="Arial"/>
            </a:endParaRPr>
          </a:p>
          <a:p>
            <a:pPr marL="12700">
              <a:lnSpc>
                <a:spcPct val="100000"/>
              </a:lnSpc>
              <a:spcBef>
                <a:spcPts val="280"/>
              </a:spcBef>
            </a:pPr>
            <a:r>
              <a:rPr sz="1800" dirty="0">
                <a:latin typeface="Times New Roman"/>
                <a:cs typeface="Times New Roman"/>
              </a:rPr>
              <a:t>}</a:t>
            </a:r>
            <a:endParaRPr sz="1800">
              <a:latin typeface="Times New Roman"/>
              <a:cs typeface="Times New Roman"/>
            </a:endParaRPr>
          </a:p>
          <a:p>
            <a:pPr marL="927100" marR="624840" indent="-915035">
              <a:lnSpc>
                <a:spcPct val="112200"/>
              </a:lnSpc>
            </a:pPr>
            <a:r>
              <a:rPr sz="1800" spc="-5" dirty="0">
                <a:solidFill>
                  <a:srgbClr val="FF0000"/>
                </a:solidFill>
                <a:latin typeface="Times New Roman"/>
                <a:cs typeface="Times New Roman"/>
              </a:rPr>
              <a:t>Output </a:t>
            </a:r>
            <a:r>
              <a:rPr sz="1800" dirty="0">
                <a:solidFill>
                  <a:srgbClr val="FF0000"/>
                </a:solidFill>
                <a:latin typeface="Times New Roman"/>
                <a:cs typeface="Times New Roman"/>
              </a:rPr>
              <a:t>: java.lang.ArrayIndexOutOfBoundsException:</a:t>
            </a:r>
            <a:r>
              <a:rPr sz="1800" spc="-90" dirty="0">
                <a:solidFill>
                  <a:srgbClr val="FF0000"/>
                </a:solidFill>
                <a:latin typeface="Times New Roman"/>
                <a:cs typeface="Times New Roman"/>
              </a:rPr>
              <a:t> </a:t>
            </a:r>
            <a:r>
              <a:rPr sz="1800" spc="-5" dirty="0">
                <a:solidFill>
                  <a:srgbClr val="FF0000"/>
                </a:solidFill>
                <a:latin typeface="Times New Roman"/>
                <a:cs typeface="Times New Roman"/>
              </a:rPr>
              <a:t>10  </a:t>
            </a:r>
            <a:r>
              <a:rPr sz="1800" dirty="0">
                <a:solidFill>
                  <a:srgbClr val="FF0000"/>
                </a:solidFill>
                <a:latin typeface="Times New Roman"/>
                <a:cs typeface="Times New Roman"/>
              </a:rPr>
              <a:t>rest of the</a:t>
            </a:r>
            <a:r>
              <a:rPr sz="1800" spc="-5" dirty="0">
                <a:solidFill>
                  <a:srgbClr val="FF0000"/>
                </a:solidFill>
                <a:latin typeface="Times New Roman"/>
                <a:cs typeface="Times New Roman"/>
              </a:rPr>
              <a:t> code</a:t>
            </a:r>
            <a:endParaRPr sz="180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149850"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Multiple catch</a:t>
            </a:r>
            <a:r>
              <a:rPr sz="4400" b="0" spc="-85" dirty="0">
                <a:latin typeface="Times New Roman"/>
                <a:cs typeface="Times New Roman"/>
              </a:rPr>
              <a:t> </a:t>
            </a:r>
            <a:r>
              <a:rPr sz="4400" b="0" dirty="0">
                <a:latin typeface="Times New Roman"/>
                <a:cs typeface="Times New Roman"/>
              </a:rPr>
              <a:t>Clauses</a:t>
            </a:r>
            <a:endParaRPr sz="4400" dirty="0">
              <a:latin typeface="Times New Roman"/>
              <a:cs typeface="Times New Roman"/>
            </a:endParaRPr>
          </a:p>
        </p:txBody>
      </p:sp>
      <p:sp>
        <p:nvSpPr>
          <p:cNvPr id="3" name="object 3"/>
          <p:cNvSpPr txBox="1"/>
          <p:nvPr/>
        </p:nvSpPr>
        <p:spPr>
          <a:xfrm>
            <a:off x="691387" y="1584401"/>
            <a:ext cx="7998459" cy="4192904"/>
          </a:xfrm>
          <a:prstGeom prst="rect">
            <a:avLst/>
          </a:prstGeom>
        </p:spPr>
        <p:txBody>
          <a:bodyPr vert="horz" wrap="square" lIns="0" tIns="55244" rIns="0" bIns="0" rtlCol="0">
            <a:spAutoFit/>
          </a:bodyPr>
          <a:lstStyle/>
          <a:p>
            <a:pPr marL="332740" marR="5715" indent="-320675" algn="just">
              <a:lnSpc>
                <a:spcPts val="2700"/>
              </a:lnSpc>
              <a:spcBef>
                <a:spcPts val="434"/>
              </a:spcBef>
              <a:buClr>
                <a:srgbClr val="DD8046"/>
              </a:buClr>
              <a:buSzPct val="60000"/>
              <a:buFont typeface="DejaVu Sans"/>
              <a:buChar char="◻"/>
              <a:tabLst>
                <a:tab pos="333375" algn="l"/>
              </a:tabLst>
            </a:pPr>
            <a:r>
              <a:rPr sz="2500" spc="-5" dirty="0">
                <a:latin typeface="Times New Roman"/>
                <a:cs typeface="Times New Roman"/>
              </a:rPr>
              <a:t>In some </a:t>
            </a:r>
            <a:r>
              <a:rPr sz="2500" dirty="0">
                <a:latin typeface="Times New Roman"/>
                <a:cs typeface="Times New Roman"/>
              </a:rPr>
              <a:t>cases, </a:t>
            </a:r>
            <a:r>
              <a:rPr sz="2500" spc="-5" dirty="0">
                <a:latin typeface="Times New Roman"/>
                <a:cs typeface="Times New Roman"/>
              </a:rPr>
              <a:t>more </a:t>
            </a:r>
            <a:r>
              <a:rPr sz="2500" dirty="0">
                <a:latin typeface="Times New Roman"/>
                <a:cs typeface="Times New Roman"/>
              </a:rPr>
              <a:t>than one exception </a:t>
            </a:r>
            <a:r>
              <a:rPr sz="2500" spc="-5" dirty="0">
                <a:latin typeface="Times New Roman"/>
                <a:cs typeface="Times New Roman"/>
              </a:rPr>
              <a:t>could be </a:t>
            </a:r>
            <a:r>
              <a:rPr sz="2500" dirty="0">
                <a:latin typeface="Times New Roman"/>
                <a:cs typeface="Times New Roman"/>
              </a:rPr>
              <a:t>raised </a:t>
            </a:r>
            <a:r>
              <a:rPr sz="2500" spc="5" dirty="0">
                <a:latin typeface="Times New Roman"/>
                <a:cs typeface="Times New Roman"/>
              </a:rPr>
              <a:t>by  </a:t>
            </a:r>
            <a:r>
              <a:rPr sz="2500" spc="-5" dirty="0">
                <a:latin typeface="Times New Roman"/>
                <a:cs typeface="Times New Roman"/>
              </a:rPr>
              <a:t>a single piece of</a:t>
            </a:r>
            <a:r>
              <a:rPr sz="2500" spc="65" dirty="0">
                <a:latin typeface="Times New Roman"/>
                <a:cs typeface="Times New Roman"/>
              </a:rPr>
              <a:t> </a:t>
            </a:r>
            <a:r>
              <a:rPr sz="2500" spc="-5" dirty="0">
                <a:latin typeface="Times New Roman"/>
                <a:cs typeface="Times New Roman"/>
              </a:rPr>
              <a:t>code.</a:t>
            </a:r>
            <a:endParaRPr sz="2500">
              <a:latin typeface="Times New Roman"/>
              <a:cs typeface="Times New Roman"/>
            </a:endParaRPr>
          </a:p>
          <a:p>
            <a:pPr marL="332740" marR="5715" indent="-320675" algn="just">
              <a:lnSpc>
                <a:spcPts val="2700"/>
              </a:lnSpc>
              <a:spcBef>
                <a:spcPts val="715"/>
              </a:spcBef>
              <a:buClr>
                <a:srgbClr val="DD8046"/>
              </a:buClr>
              <a:buSzPct val="60000"/>
              <a:buFont typeface="DejaVu Sans"/>
              <a:buChar char="◻"/>
              <a:tabLst>
                <a:tab pos="333375" algn="l"/>
              </a:tabLst>
            </a:pPr>
            <a:r>
              <a:rPr sz="2500" spc="-5" dirty="0">
                <a:latin typeface="Times New Roman"/>
                <a:cs typeface="Times New Roman"/>
              </a:rPr>
              <a:t>To </a:t>
            </a:r>
            <a:r>
              <a:rPr sz="2500" dirty="0">
                <a:latin typeface="Times New Roman"/>
                <a:cs typeface="Times New Roman"/>
              </a:rPr>
              <a:t>handle </a:t>
            </a:r>
            <a:r>
              <a:rPr sz="2500" spc="-5" dirty="0">
                <a:latin typeface="Times New Roman"/>
                <a:cs typeface="Times New Roman"/>
              </a:rPr>
              <a:t>this </a:t>
            </a:r>
            <a:r>
              <a:rPr sz="2500" dirty="0">
                <a:latin typeface="Times New Roman"/>
                <a:cs typeface="Times New Roman"/>
              </a:rPr>
              <a:t>type of situation, </a:t>
            </a:r>
            <a:r>
              <a:rPr sz="2500" spc="-5" dirty="0">
                <a:latin typeface="Times New Roman"/>
                <a:cs typeface="Times New Roman"/>
              </a:rPr>
              <a:t>you can </a:t>
            </a:r>
            <a:r>
              <a:rPr sz="2500" dirty="0">
                <a:latin typeface="Times New Roman"/>
                <a:cs typeface="Times New Roman"/>
              </a:rPr>
              <a:t>specify </a:t>
            </a:r>
            <a:r>
              <a:rPr sz="2500" spc="-5" dirty="0">
                <a:latin typeface="Times New Roman"/>
                <a:cs typeface="Times New Roman"/>
              </a:rPr>
              <a:t>two </a:t>
            </a:r>
            <a:r>
              <a:rPr sz="2500" spc="5" dirty="0">
                <a:latin typeface="Times New Roman"/>
                <a:cs typeface="Times New Roman"/>
              </a:rPr>
              <a:t>or  </a:t>
            </a:r>
            <a:r>
              <a:rPr sz="2500" spc="-5" dirty="0">
                <a:latin typeface="Times New Roman"/>
                <a:cs typeface="Times New Roman"/>
              </a:rPr>
              <a:t>more </a:t>
            </a:r>
            <a:r>
              <a:rPr sz="2500" dirty="0">
                <a:latin typeface="Times New Roman"/>
                <a:cs typeface="Times New Roman"/>
              </a:rPr>
              <a:t>catch clauses, </a:t>
            </a:r>
            <a:r>
              <a:rPr sz="2500" spc="-5" dirty="0">
                <a:latin typeface="Times New Roman"/>
                <a:cs typeface="Times New Roman"/>
              </a:rPr>
              <a:t>each </a:t>
            </a:r>
            <a:r>
              <a:rPr sz="2500" dirty="0">
                <a:latin typeface="Times New Roman"/>
                <a:cs typeface="Times New Roman"/>
              </a:rPr>
              <a:t>catching </a:t>
            </a:r>
            <a:r>
              <a:rPr sz="2500" spc="-5" dirty="0">
                <a:latin typeface="Times New Roman"/>
                <a:cs typeface="Times New Roman"/>
              </a:rPr>
              <a:t>a </a:t>
            </a:r>
            <a:r>
              <a:rPr sz="2500" dirty="0">
                <a:latin typeface="Times New Roman"/>
                <a:cs typeface="Times New Roman"/>
              </a:rPr>
              <a:t>different type </a:t>
            </a:r>
            <a:r>
              <a:rPr sz="2500" spc="-5" dirty="0">
                <a:latin typeface="Times New Roman"/>
                <a:cs typeface="Times New Roman"/>
              </a:rPr>
              <a:t>of  exception.</a:t>
            </a:r>
            <a:endParaRPr sz="2500">
              <a:latin typeface="Times New Roman"/>
              <a:cs typeface="Times New Roman"/>
            </a:endParaRPr>
          </a:p>
          <a:p>
            <a:pPr marL="332740" marR="5080" indent="-320675" algn="just">
              <a:lnSpc>
                <a:spcPts val="2700"/>
              </a:lnSpc>
              <a:spcBef>
                <a:spcPts val="695"/>
              </a:spcBef>
              <a:buClr>
                <a:srgbClr val="DD8046"/>
              </a:buClr>
              <a:buSzPct val="60000"/>
              <a:buFont typeface="DejaVu Sans"/>
              <a:buChar char="◻"/>
              <a:tabLst>
                <a:tab pos="333375" algn="l"/>
              </a:tabLst>
            </a:pPr>
            <a:r>
              <a:rPr sz="2500" spc="-5" dirty="0">
                <a:latin typeface="Times New Roman"/>
                <a:cs typeface="Times New Roman"/>
              </a:rPr>
              <a:t>When an exception </a:t>
            </a:r>
            <a:r>
              <a:rPr sz="2500" dirty="0">
                <a:latin typeface="Times New Roman"/>
                <a:cs typeface="Times New Roman"/>
              </a:rPr>
              <a:t>is </a:t>
            </a:r>
            <a:r>
              <a:rPr sz="2500" spc="-5" dirty="0">
                <a:latin typeface="Times New Roman"/>
                <a:cs typeface="Times New Roman"/>
              </a:rPr>
              <a:t>thrown, each </a:t>
            </a:r>
            <a:r>
              <a:rPr sz="2500" dirty="0">
                <a:latin typeface="Times New Roman"/>
                <a:cs typeface="Times New Roman"/>
              </a:rPr>
              <a:t>catch statement </a:t>
            </a:r>
            <a:r>
              <a:rPr sz="2500" spc="-5" dirty="0">
                <a:latin typeface="Times New Roman"/>
                <a:cs typeface="Times New Roman"/>
              </a:rPr>
              <a:t>is  </a:t>
            </a:r>
            <a:r>
              <a:rPr sz="2500" dirty="0">
                <a:latin typeface="Times New Roman"/>
                <a:cs typeface="Times New Roman"/>
              </a:rPr>
              <a:t>inspected in order, </a:t>
            </a:r>
            <a:r>
              <a:rPr sz="2500" spc="-5" dirty="0">
                <a:latin typeface="Times New Roman"/>
                <a:cs typeface="Times New Roman"/>
              </a:rPr>
              <a:t>and </a:t>
            </a:r>
            <a:r>
              <a:rPr sz="2500" dirty="0">
                <a:latin typeface="Times New Roman"/>
                <a:cs typeface="Times New Roman"/>
              </a:rPr>
              <a:t>the first </a:t>
            </a:r>
            <a:r>
              <a:rPr sz="2500" spc="-5" dirty="0">
                <a:latin typeface="Times New Roman"/>
                <a:cs typeface="Times New Roman"/>
              </a:rPr>
              <a:t>one </a:t>
            </a:r>
            <a:r>
              <a:rPr sz="2500" dirty="0">
                <a:latin typeface="Times New Roman"/>
                <a:cs typeface="Times New Roman"/>
              </a:rPr>
              <a:t>whose </a:t>
            </a:r>
            <a:r>
              <a:rPr sz="2500" spc="-5" dirty="0">
                <a:latin typeface="Times New Roman"/>
                <a:cs typeface="Times New Roman"/>
              </a:rPr>
              <a:t>type </a:t>
            </a:r>
            <a:r>
              <a:rPr sz="2500" dirty="0">
                <a:latin typeface="Times New Roman"/>
                <a:cs typeface="Times New Roman"/>
              </a:rPr>
              <a:t>matches  </a:t>
            </a:r>
            <a:r>
              <a:rPr sz="2500" spc="-5" dirty="0">
                <a:latin typeface="Times New Roman"/>
                <a:cs typeface="Times New Roman"/>
              </a:rPr>
              <a:t>that of the exception is</a:t>
            </a:r>
            <a:r>
              <a:rPr sz="2500" spc="80" dirty="0">
                <a:latin typeface="Times New Roman"/>
                <a:cs typeface="Times New Roman"/>
              </a:rPr>
              <a:t> </a:t>
            </a:r>
            <a:r>
              <a:rPr sz="2500" spc="-5" dirty="0">
                <a:latin typeface="Times New Roman"/>
                <a:cs typeface="Times New Roman"/>
              </a:rPr>
              <a:t>executed.</a:t>
            </a:r>
            <a:endParaRPr sz="2500">
              <a:latin typeface="Times New Roman"/>
              <a:cs typeface="Times New Roman"/>
            </a:endParaRPr>
          </a:p>
          <a:p>
            <a:pPr marL="332740" marR="8255" indent="-320675" algn="just">
              <a:lnSpc>
                <a:spcPts val="2700"/>
              </a:lnSpc>
              <a:spcBef>
                <a:spcPts val="700"/>
              </a:spcBef>
              <a:buClr>
                <a:srgbClr val="DD8046"/>
              </a:buClr>
              <a:buSzPct val="60000"/>
              <a:buFont typeface="DejaVu Sans"/>
              <a:buChar char="◻"/>
              <a:tabLst>
                <a:tab pos="333375" algn="l"/>
              </a:tabLst>
            </a:pPr>
            <a:r>
              <a:rPr sz="2500" dirty="0">
                <a:latin typeface="Times New Roman"/>
                <a:cs typeface="Times New Roman"/>
              </a:rPr>
              <a:t>After one catch statement executes, the others are bypassed,  </a:t>
            </a:r>
            <a:r>
              <a:rPr sz="2500" spc="-5" dirty="0">
                <a:latin typeface="Times New Roman"/>
                <a:cs typeface="Times New Roman"/>
              </a:rPr>
              <a:t>and execution continues after the try/catch</a:t>
            </a:r>
            <a:r>
              <a:rPr sz="2500" spc="200" dirty="0">
                <a:latin typeface="Times New Roman"/>
                <a:cs typeface="Times New Roman"/>
              </a:rPr>
              <a:t> </a:t>
            </a:r>
            <a:r>
              <a:rPr sz="2500" spc="-5" dirty="0">
                <a:latin typeface="Times New Roman"/>
                <a:cs typeface="Times New Roman"/>
              </a:rPr>
              <a:t>block.</a:t>
            </a:r>
            <a:endParaRPr sz="2500">
              <a:latin typeface="Times New Roman"/>
              <a:cs typeface="Times New Roman"/>
            </a:endParaRPr>
          </a:p>
          <a:p>
            <a:pPr marL="332740" indent="-320675" algn="just">
              <a:lnSpc>
                <a:spcPct val="100000"/>
              </a:lnSpc>
              <a:spcBef>
                <a:spcPts val="370"/>
              </a:spcBef>
              <a:buClr>
                <a:srgbClr val="DD8046"/>
              </a:buClr>
              <a:buSzPct val="60000"/>
              <a:buFont typeface="DejaVu Sans"/>
              <a:buChar char="◻"/>
              <a:tabLst>
                <a:tab pos="333375" algn="l"/>
              </a:tabLst>
            </a:pPr>
            <a:r>
              <a:rPr sz="2500" spc="-5" dirty="0">
                <a:latin typeface="Times New Roman"/>
                <a:cs typeface="Times New Roman"/>
              </a:rPr>
              <a:t>The following </a:t>
            </a:r>
            <a:r>
              <a:rPr sz="2500" spc="-10" dirty="0">
                <a:latin typeface="Times New Roman"/>
                <a:cs typeface="Times New Roman"/>
              </a:rPr>
              <a:t>example </a:t>
            </a:r>
            <a:r>
              <a:rPr sz="2500" spc="-5" dirty="0">
                <a:latin typeface="Times New Roman"/>
                <a:cs typeface="Times New Roman"/>
              </a:rPr>
              <a:t>traps two different exception</a:t>
            </a:r>
            <a:r>
              <a:rPr sz="2500" spc="280" dirty="0">
                <a:latin typeface="Times New Roman"/>
                <a:cs typeface="Times New Roman"/>
              </a:rPr>
              <a:t> </a:t>
            </a:r>
            <a:r>
              <a:rPr sz="2500" spc="-5" dirty="0">
                <a:latin typeface="Times New Roman"/>
                <a:cs typeface="Times New Roman"/>
              </a:rPr>
              <a:t>types:</a:t>
            </a:r>
            <a:endParaRPr sz="250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014220"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Times New Roman"/>
                <a:cs typeface="Times New Roman"/>
              </a:rPr>
              <a:t>Example</a:t>
            </a:r>
            <a:endParaRPr sz="4400">
              <a:latin typeface="Times New Roman"/>
              <a:cs typeface="Times New Roman"/>
            </a:endParaRPr>
          </a:p>
        </p:txBody>
      </p:sp>
      <p:sp>
        <p:nvSpPr>
          <p:cNvPr id="3" name="object 3"/>
          <p:cNvSpPr txBox="1"/>
          <p:nvPr/>
        </p:nvSpPr>
        <p:spPr>
          <a:xfrm>
            <a:off x="154939" y="1537995"/>
            <a:ext cx="6376670" cy="5137150"/>
          </a:xfrm>
          <a:prstGeom prst="rect">
            <a:avLst/>
          </a:prstGeom>
        </p:spPr>
        <p:txBody>
          <a:bodyPr vert="horz" wrap="square" lIns="0" tIns="52705" rIns="0" bIns="0" rtlCol="0">
            <a:spAutoFit/>
          </a:bodyPr>
          <a:lstStyle/>
          <a:p>
            <a:pPr marL="12700">
              <a:lnSpc>
                <a:spcPct val="100000"/>
              </a:lnSpc>
              <a:spcBef>
                <a:spcPts val="415"/>
              </a:spcBef>
            </a:pPr>
            <a:r>
              <a:rPr sz="1600" spc="-5" dirty="0">
                <a:latin typeface="Times New Roman"/>
                <a:cs typeface="Times New Roman"/>
              </a:rPr>
              <a:t>class MultiCatch</a:t>
            </a:r>
            <a:r>
              <a:rPr sz="1600" spc="40" dirty="0">
                <a:latin typeface="Times New Roman"/>
                <a:cs typeface="Times New Roman"/>
              </a:rPr>
              <a:t> </a:t>
            </a:r>
            <a:r>
              <a:rPr sz="1600" spc="-5" dirty="0">
                <a:latin typeface="Times New Roman"/>
                <a:cs typeface="Times New Roman"/>
              </a:rPr>
              <a:t>{</a:t>
            </a:r>
            <a:endParaRPr sz="1600">
              <a:latin typeface="Times New Roman"/>
              <a:cs typeface="Times New Roman"/>
            </a:endParaRPr>
          </a:p>
          <a:p>
            <a:pPr marL="1079500" marR="2269490" indent="-152400">
              <a:lnSpc>
                <a:spcPct val="116300"/>
              </a:lnSpc>
            </a:pPr>
            <a:r>
              <a:rPr sz="1600" spc="-5" dirty="0">
                <a:latin typeface="Times New Roman"/>
                <a:cs typeface="Times New Roman"/>
              </a:rPr>
              <a:t>public static void main(String args[]) {  try</a:t>
            </a:r>
            <a:r>
              <a:rPr sz="1600" dirty="0">
                <a:latin typeface="Times New Roman"/>
                <a:cs typeface="Times New Roman"/>
              </a:rPr>
              <a:t> </a:t>
            </a:r>
            <a:r>
              <a:rPr sz="1600" spc="-5" dirty="0">
                <a:latin typeface="Times New Roman"/>
                <a:cs typeface="Times New Roman"/>
              </a:rPr>
              <a:t>{</a:t>
            </a:r>
            <a:endParaRPr sz="1600">
              <a:latin typeface="Times New Roman"/>
              <a:cs typeface="Times New Roman"/>
            </a:endParaRPr>
          </a:p>
          <a:p>
            <a:pPr marL="1841500" marR="2053589">
              <a:lnSpc>
                <a:spcPct val="116300"/>
              </a:lnSpc>
              <a:spcBef>
                <a:spcPts val="10"/>
              </a:spcBef>
            </a:pPr>
            <a:r>
              <a:rPr sz="1600" spc="-5" dirty="0">
                <a:latin typeface="Times New Roman"/>
                <a:cs typeface="Times New Roman"/>
              </a:rPr>
              <a:t>int a = args.length;  System.out.println("a = " + a);  int b = 42 /</a:t>
            </a:r>
            <a:r>
              <a:rPr sz="1600" dirty="0">
                <a:latin typeface="Times New Roman"/>
                <a:cs typeface="Times New Roman"/>
              </a:rPr>
              <a:t> </a:t>
            </a:r>
            <a:r>
              <a:rPr sz="1600" spc="-5" dirty="0">
                <a:latin typeface="Times New Roman"/>
                <a:cs typeface="Times New Roman"/>
              </a:rPr>
              <a:t>a;</a:t>
            </a:r>
            <a:endParaRPr sz="1600">
              <a:latin typeface="Times New Roman"/>
              <a:cs typeface="Times New Roman"/>
            </a:endParaRPr>
          </a:p>
          <a:p>
            <a:pPr marL="1841500" marR="3364865">
              <a:lnSpc>
                <a:spcPct val="116199"/>
              </a:lnSpc>
              <a:spcBef>
                <a:spcPts val="15"/>
              </a:spcBef>
            </a:pPr>
            <a:r>
              <a:rPr sz="1600" spc="-5" dirty="0">
                <a:latin typeface="Times New Roman"/>
                <a:cs typeface="Times New Roman"/>
              </a:rPr>
              <a:t>int </a:t>
            </a:r>
            <a:r>
              <a:rPr sz="1600" dirty="0">
                <a:latin typeface="Times New Roman"/>
                <a:cs typeface="Times New Roman"/>
              </a:rPr>
              <a:t>c[] </a:t>
            </a:r>
            <a:r>
              <a:rPr sz="1600" spc="-5" dirty="0">
                <a:latin typeface="Times New Roman"/>
                <a:cs typeface="Times New Roman"/>
              </a:rPr>
              <a:t>= { 1</a:t>
            </a:r>
            <a:r>
              <a:rPr sz="1600" spc="-65" dirty="0">
                <a:latin typeface="Times New Roman"/>
                <a:cs typeface="Times New Roman"/>
              </a:rPr>
              <a:t> </a:t>
            </a:r>
            <a:r>
              <a:rPr sz="1600" spc="-5" dirty="0">
                <a:latin typeface="Times New Roman"/>
                <a:cs typeface="Times New Roman"/>
              </a:rPr>
              <a:t>};  c[42] =</a:t>
            </a:r>
            <a:r>
              <a:rPr sz="1600" spc="-25" dirty="0">
                <a:latin typeface="Times New Roman"/>
                <a:cs typeface="Times New Roman"/>
              </a:rPr>
              <a:t> </a:t>
            </a:r>
            <a:r>
              <a:rPr sz="1600" dirty="0">
                <a:latin typeface="Times New Roman"/>
                <a:cs typeface="Times New Roman"/>
              </a:rPr>
              <a:t>99;</a:t>
            </a:r>
            <a:endParaRPr sz="1600">
              <a:latin typeface="Times New Roman"/>
              <a:cs typeface="Times New Roman"/>
            </a:endParaRPr>
          </a:p>
          <a:p>
            <a:pPr marL="1231900">
              <a:lnSpc>
                <a:spcPct val="100000"/>
              </a:lnSpc>
              <a:spcBef>
                <a:spcPts val="315"/>
              </a:spcBef>
            </a:pPr>
            <a:r>
              <a:rPr sz="1600" spc="-5" dirty="0">
                <a:latin typeface="Times New Roman"/>
                <a:cs typeface="Times New Roman"/>
              </a:rPr>
              <a:t>}</a:t>
            </a:r>
            <a:endParaRPr sz="1600">
              <a:latin typeface="Times New Roman"/>
              <a:cs typeface="Times New Roman"/>
            </a:endParaRPr>
          </a:p>
          <a:p>
            <a:pPr marL="977265">
              <a:lnSpc>
                <a:spcPct val="100000"/>
              </a:lnSpc>
              <a:spcBef>
                <a:spcPts val="325"/>
              </a:spcBef>
            </a:pPr>
            <a:r>
              <a:rPr sz="1600" spc="-5" dirty="0">
                <a:latin typeface="Times New Roman"/>
                <a:cs typeface="Times New Roman"/>
              </a:rPr>
              <a:t>catch(ArithmeticException e)</a:t>
            </a:r>
            <a:r>
              <a:rPr sz="1600" spc="60" dirty="0">
                <a:latin typeface="Times New Roman"/>
                <a:cs typeface="Times New Roman"/>
              </a:rPr>
              <a:t> </a:t>
            </a:r>
            <a:r>
              <a:rPr sz="1600" spc="-5" dirty="0">
                <a:latin typeface="Times New Roman"/>
                <a:cs typeface="Times New Roman"/>
              </a:rPr>
              <a:t>{</a:t>
            </a:r>
            <a:endParaRPr sz="1600">
              <a:latin typeface="Times New Roman"/>
              <a:cs typeface="Times New Roman"/>
            </a:endParaRPr>
          </a:p>
          <a:p>
            <a:pPr marL="2756535">
              <a:lnSpc>
                <a:spcPct val="100000"/>
              </a:lnSpc>
              <a:spcBef>
                <a:spcPts val="310"/>
              </a:spcBef>
            </a:pPr>
            <a:r>
              <a:rPr sz="1600" spc="-5" dirty="0">
                <a:latin typeface="Times New Roman"/>
                <a:cs typeface="Times New Roman"/>
              </a:rPr>
              <a:t>System.out.println("Divide by 0: " +</a:t>
            </a:r>
            <a:r>
              <a:rPr sz="1600" spc="55" dirty="0">
                <a:latin typeface="Times New Roman"/>
                <a:cs typeface="Times New Roman"/>
              </a:rPr>
              <a:t> </a:t>
            </a:r>
            <a:r>
              <a:rPr sz="1600" spc="-5" dirty="0">
                <a:latin typeface="Times New Roman"/>
                <a:cs typeface="Times New Roman"/>
              </a:rPr>
              <a:t>e);</a:t>
            </a:r>
            <a:endParaRPr sz="1600">
              <a:latin typeface="Times New Roman"/>
              <a:cs typeface="Times New Roman"/>
            </a:endParaRPr>
          </a:p>
          <a:p>
            <a:pPr marL="1029335">
              <a:lnSpc>
                <a:spcPct val="100000"/>
              </a:lnSpc>
              <a:spcBef>
                <a:spcPts val="315"/>
              </a:spcBef>
            </a:pPr>
            <a:r>
              <a:rPr sz="1600" spc="-5" dirty="0">
                <a:latin typeface="Times New Roman"/>
                <a:cs typeface="Times New Roman"/>
              </a:rPr>
              <a:t>}</a:t>
            </a:r>
            <a:endParaRPr sz="1600">
              <a:latin typeface="Times New Roman"/>
              <a:cs typeface="Times New Roman"/>
            </a:endParaRPr>
          </a:p>
          <a:p>
            <a:pPr marL="927100">
              <a:lnSpc>
                <a:spcPct val="100000"/>
              </a:lnSpc>
              <a:spcBef>
                <a:spcPts val="325"/>
              </a:spcBef>
            </a:pPr>
            <a:r>
              <a:rPr sz="1600" spc="-5" dirty="0">
                <a:latin typeface="Times New Roman"/>
                <a:cs typeface="Times New Roman"/>
              </a:rPr>
              <a:t>catch(ArrayIndexOutOfBoundsException e)</a:t>
            </a:r>
            <a:r>
              <a:rPr sz="1600" spc="50" dirty="0">
                <a:latin typeface="Times New Roman"/>
                <a:cs typeface="Times New Roman"/>
              </a:rPr>
              <a:t> </a:t>
            </a:r>
            <a:r>
              <a:rPr sz="1600" spc="-5" dirty="0">
                <a:latin typeface="Times New Roman"/>
                <a:cs typeface="Times New Roman"/>
              </a:rPr>
              <a:t>{</a:t>
            </a:r>
            <a:endParaRPr sz="1600">
              <a:latin typeface="Times New Roman"/>
              <a:cs typeface="Times New Roman"/>
            </a:endParaRPr>
          </a:p>
          <a:p>
            <a:pPr marL="2756535">
              <a:lnSpc>
                <a:spcPct val="100000"/>
              </a:lnSpc>
              <a:spcBef>
                <a:spcPts val="310"/>
              </a:spcBef>
            </a:pPr>
            <a:r>
              <a:rPr sz="1600" spc="-5" dirty="0">
                <a:latin typeface="Times New Roman"/>
                <a:cs typeface="Times New Roman"/>
              </a:rPr>
              <a:t>System.out.println("Array index oob: " +</a:t>
            </a:r>
            <a:r>
              <a:rPr sz="1600" spc="65" dirty="0">
                <a:latin typeface="Times New Roman"/>
                <a:cs typeface="Times New Roman"/>
              </a:rPr>
              <a:t> </a:t>
            </a:r>
            <a:r>
              <a:rPr sz="1600" spc="-5" dirty="0">
                <a:latin typeface="Times New Roman"/>
                <a:cs typeface="Times New Roman"/>
              </a:rPr>
              <a:t>e);</a:t>
            </a:r>
            <a:endParaRPr sz="1600">
              <a:latin typeface="Times New Roman"/>
              <a:cs typeface="Times New Roman"/>
            </a:endParaRPr>
          </a:p>
          <a:p>
            <a:pPr marL="927100">
              <a:lnSpc>
                <a:spcPct val="100000"/>
              </a:lnSpc>
              <a:spcBef>
                <a:spcPts val="315"/>
              </a:spcBef>
            </a:pPr>
            <a:r>
              <a:rPr sz="1600" spc="-5" dirty="0">
                <a:latin typeface="Times New Roman"/>
                <a:cs typeface="Times New Roman"/>
              </a:rPr>
              <a:t>}</a:t>
            </a:r>
            <a:endParaRPr sz="1600">
              <a:latin typeface="Times New Roman"/>
              <a:cs typeface="Times New Roman"/>
            </a:endParaRPr>
          </a:p>
          <a:p>
            <a:pPr marL="927100">
              <a:lnSpc>
                <a:spcPct val="100000"/>
              </a:lnSpc>
              <a:spcBef>
                <a:spcPts val="320"/>
              </a:spcBef>
            </a:pPr>
            <a:r>
              <a:rPr sz="1600" spc="-5" dirty="0">
                <a:latin typeface="Times New Roman"/>
                <a:cs typeface="Times New Roman"/>
              </a:rPr>
              <a:t>System.out.println("After try/catch</a:t>
            </a:r>
            <a:r>
              <a:rPr sz="1600" spc="100" dirty="0">
                <a:latin typeface="Times New Roman"/>
                <a:cs typeface="Times New Roman"/>
              </a:rPr>
              <a:t> </a:t>
            </a:r>
            <a:r>
              <a:rPr sz="1600" spc="-5" dirty="0">
                <a:latin typeface="Times New Roman"/>
                <a:cs typeface="Times New Roman"/>
              </a:rPr>
              <a:t>blocks.");</a:t>
            </a:r>
            <a:endParaRPr sz="1600">
              <a:latin typeface="Times New Roman"/>
              <a:cs typeface="Times New Roman"/>
            </a:endParaRPr>
          </a:p>
          <a:p>
            <a:pPr marL="469900">
              <a:lnSpc>
                <a:spcPct val="100000"/>
              </a:lnSpc>
              <a:spcBef>
                <a:spcPts val="315"/>
              </a:spcBef>
            </a:pPr>
            <a:r>
              <a:rPr sz="1600" spc="-5" dirty="0">
                <a:latin typeface="Times New Roman"/>
                <a:cs typeface="Times New Roman"/>
              </a:rPr>
              <a:t>}</a:t>
            </a:r>
            <a:endParaRPr sz="1600">
              <a:latin typeface="Times New Roman"/>
              <a:cs typeface="Times New Roman"/>
            </a:endParaRPr>
          </a:p>
          <a:p>
            <a:pPr marL="12700">
              <a:lnSpc>
                <a:spcPct val="100000"/>
              </a:lnSpc>
              <a:spcBef>
                <a:spcPts val="315"/>
              </a:spcBef>
            </a:pPr>
            <a:r>
              <a:rPr sz="1600" spc="-5" dirty="0">
                <a:latin typeface="Times New Roman"/>
                <a:cs typeface="Times New Roman"/>
              </a:rPr>
              <a:t>}</a:t>
            </a:r>
            <a:endParaRPr sz="1600">
              <a:latin typeface="Times New Roman"/>
              <a:cs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340" y="206451"/>
            <a:ext cx="8529319" cy="677108"/>
          </a:xfrm>
        </p:spPr>
        <p:txBody>
          <a:bodyPr/>
          <a:lstStyle/>
          <a:p>
            <a:r>
              <a:rPr lang="en-US" sz="4400" b="0" dirty="0"/>
              <a:t>Nested try Statements:</a:t>
            </a:r>
            <a:endParaRPr lang="en-IN" sz="4400" b="0" dirty="0"/>
          </a:p>
        </p:txBody>
      </p:sp>
      <p:sp>
        <p:nvSpPr>
          <p:cNvPr id="3" name="Text Placeholder 2"/>
          <p:cNvSpPr>
            <a:spLocks noGrp="1"/>
          </p:cNvSpPr>
          <p:nvPr>
            <p:ph type="body" idx="1"/>
          </p:nvPr>
        </p:nvSpPr>
        <p:spPr>
          <a:xfrm>
            <a:off x="609600" y="1828800"/>
            <a:ext cx="8227059" cy="1969770"/>
          </a:xfrm>
        </p:spPr>
        <p:txBody>
          <a:bodyPr/>
          <a:lstStyle/>
          <a:p>
            <a:r>
              <a:rPr lang="en-US" dirty="0"/>
              <a:t>The </a:t>
            </a:r>
            <a:r>
              <a:rPr lang="en-US" b="1" dirty="0"/>
              <a:t>try </a:t>
            </a:r>
            <a:r>
              <a:rPr lang="en-US" dirty="0"/>
              <a:t>statement can be </a:t>
            </a:r>
            <a:r>
              <a:rPr lang="en-US" dirty="0" smtClean="0"/>
              <a:t>nested.</a:t>
            </a:r>
          </a:p>
          <a:p>
            <a:r>
              <a:rPr lang="en-US" dirty="0"/>
              <a:t>a </a:t>
            </a:r>
            <a:r>
              <a:rPr lang="en-US" b="1" dirty="0"/>
              <a:t>try </a:t>
            </a:r>
            <a:r>
              <a:rPr lang="en-US" dirty="0"/>
              <a:t>statement can be inside the block of another </a:t>
            </a:r>
            <a:r>
              <a:rPr lang="en-US" b="1" dirty="0"/>
              <a:t>try</a:t>
            </a:r>
            <a:r>
              <a:rPr lang="en-US" dirty="0"/>
              <a:t>. </a:t>
            </a:r>
            <a:endParaRPr lang="en-US" dirty="0" smtClean="0"/>
          </a:p>
          <a:p>
            <a:r>
              <a:rPr lang="en-US" dirty="0"/>
              <a:t>Each time a </a:t>
            </a:r>
            <a:r>
              <a:rPr lang="en-US" b="1" dirty="0"/>
              <a:t>try </a:t>
            </a:r>
            <a:r>
              <a:rPr lang="en-US" dirty="0"/>
              <a:t>statement is entered, the context of that exception is pushed on the stack. If an inner </a:t>
            </a:r>
            <a:r>
              <a:rPr lang="en-US" b="1" dirty="0"/>
              <a:t>try </a:t>
            </a:r>
            <a:r>
              <a:rPr lang="en-US" dirty="0"/>
              <a:t>statement does not have a </a:t>
            </a:r>
            <a:r>
              <a:rPr lang="en-US" b="1" dirty="0"/>
              <a:t>catch </a:t>
            </a:r>
            <a:r>
              <a:rPr lang="en-US" dirty="0"/>
              <a:t>handler for a particular </a:t>
            </a:r>
            <a:r>
              <a:rPr lang="en-US" dirty="0" smtClean="0"/>
              <a:t>exception.</a:t>
            </a:r>
          </a:p>
          <a:p>
            <a:r>
              <a:rPr lang="en-US" dirty="0"/>
              <a:t>This continues until one of the </a:t>
            </a:r>
            <a:r>
              <a:rPr lang="en-US" b="1" dirty="0"/>
              <a:t>catch </a:t>
            </a:r>
            <a:r>
              <a:rPr lang="en-US" dirty="0"/>
              <a:t>statements succeeds, or until all of the nested </a:t>
            </a:r>
            <a:r>
              <a:rPr lang="en-US" b="1" dirty="0"/>
              <a:t>try </a:t>
            </a:r>
            <a:r>
              <a:rPr lang="en-US" dirty="0"/>
              <a:t>statements are exhausted. If no </a:t>
            </a:r>
            <a:r>
              <a:rPr lang="en-US" b="1" dirty="0"/>
              <a:t>catch </a:t>
            </a:r>
            <a:r>
              <a:rPr lang="en-US" dirty="0"/>
              <a:t>statement matches, then the Java run-time system will handle the exception. </a:t>
            </a:r>
            <a:endParaRPr lang="en-US" dirty="0" smtClean="0"/>
          </a:p>
          <a:p>
            <a:endParaRPr lang="en-IN" dirty="0"/>
          </a:p>
        </p:txBody>
      </p:sp>
    </p:spTree>
    <p:extLst>
      <p:ext uri="{BB962C8B-B14F-4D97-AF65-F5344CB8AC3E}">
        <p14:creationId xmlns:p14="http://schemas.microsoft.com/office/powerpoint/2010/main" val="569575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340" y="206451"/>
            <a:ext cx="8529319" cy="492443"/>
          </a:xfrm>
        </p:spPr>
        <p:txBody>
          <a:bodyPr/>
          <a:lstStyle/>
          <a:p>
            <a:r>
              <a:rPr lang="en-US" dirty="0"/>
              <a:t>// An example of nested try statements.</a:t>
            </a:r>
            <a:endParaRPr lang="en-IN" dirty="0"/>
          </a:p>
        </p:txBody>
      </p:sp>
      <p:sp>
        <p:nvSpPr>
          <p:cNvPr id="3" name="Text Placeholder 2"/>
          <p:cNvSpPr>
            <a:spLocks noGrp="1"/>
          </p:cNvSpPr>
          <p:nvPr>
            <p:ph type="body" idx="1"/>
          </p:nvPr>
        </p:nvSpPr>
        <p:spPr>
          <a:xfrm>
            <a:off x="328122" y="1752600"/>
            <a:ext cx="7693660" cy="4431983"/>
          </a:xfrm>
        </p:spPr>
        <p:txBody>
          <a:bodyPr/>
          <a:lstStyle/>
          <a:p>
            <a:r>
              <a:rPr lang="en-US" sz="1800" dirty="0" smtClean="0"/>
              <a:t>class </a:t>
            </a:r>
            <a:r>
              <a:rPr lang="en-US" sz="1800" dirty="0" err="1"/>
              <a:t>NestTry</a:t>
            </a:r>
            <a:r>
              <a:rPr lang="en-US" sz="1800" dirty="0"/>
              <a:t> {</a:t>
            </a:r>
          </a:p>
          <a:p>
            <a:r>
              <a:rPr lang="en-US" sz="1800" dirty="0"/>
              <a:t>public static void main(String </a:t>
            </a:r>
            <a:r>
              <a:rPr lang="en-US" sz="1800" dirty="0" err="1"/>
              <a:t>args</a:t>
            </a:r>
            <a:r>
              <a:rPr lang="en-US" sz="1800" dirty="0"/>
              <a:t>[]) </a:t>
            </a:r>
            <a:r>
              <a:rPr lang="en-US" sz="1800" dirty="0" smtClean="0"/>
              <a:t>{</a:t>
            </a:r>
          </a:p>
          <a:p>
            <a:r>
              <a:rPr lang="en-US" sz="1800" dirty="0" smtClean="0"/>
              <a:t> </a:t>
            </a:r>
            <a:r>
              <a:rPr lang="en-US" sz="1800" dirty="0"/>
              <a:t>try {</a:t>
            </a:r>
          </a:p>
          <a:p>
            <a:r>
              <a:rPr lang="en-US" sz="1800" dirty="0" err="1"/>
              <a:t>int</a:t>
            </a:r>
            <a:r>
              <a:rPr lang="en-US" sz="1800" dirty="0"/>
              <a:t> a = </a:t>
            </a:r>
            <a:r>
              <a:rPr lang="en-US" sz="1800" dirty="0" err="1"/>
              <a:t>args.length</a:t>
            </a:r>
            <a:r>
              <a:rPr lang="en-US" sz="1800" dirty="0"/>
              <a:t>;</a:t>
            </a:r>
          </a:p>
          <a:p>
            <a:endParaRPr lang="en-US" sz="1800" dirty="0"/>
          </a:p>
          <a:p>
            <a:r>
              <a:rPr lang="en-US" sz="1800" dirty="0"/>
              <a:t>/* If no command-line </a:t>
            </a:r>
            <a:r>
              <a:rPr lang="en-US" sz="1800" dirty="0" err="1"/>
              <a:t>args</a:t>
            </a:r>
            <a:r>
              <a:rPr lang="en-US" sz="1800" dirty="0"/>
              <a:t> are present, the following statement will generate a divide-by-zero exception. */</a:t>
            </a:r>
          </a:p>
          <a:p>
            <a:r>
              <a:rPr lang="en-US" sz="1800" dirty="0" err="1"/>
              <a:t>int</a:t>
            </a:r>
            <a:r>
              <a:rPr lang="en-US" sz="1800" dirty="0"/>
              <a:t> b = 42 / a;</a:t>
            </a:r>
          </a:p>
          <a:p>
            <a:r>
              <a:rPr lang="en-US" sz="1800" dirty="0" err="1"/>
              <a:t>System.out.println</a:t>
            </a:r>
            <a:r>
              <a:rPr lang="en-US" sz="1800" dirty="0"/>
              <a:t>("a = " + a); </a:t>
            </a:r>
            <a:endParaRPr lang="en-US" sz="1800" dirty="0" smtClean="0"/>
          </a:p>
          <a:p>
            <a:r>
              <a:rPr lang="en-US" sz="1800" dirty="0" smtClean="0"/>
              <a:t>try </a:t>
            </a:r>
            <a:r>
              <a:rPr lang="en-US" sz="1800" dirty="0"/>
              <a:t>{ </a:t>
            </a:r>
            <a:endParaRPr lang="en-US" sz="1800" dirty="0" smtClean="0"/>
          </a:p>
          <a:p>
            <a:r>
              <a:rPr lang="en-US" sz="1800" dirty="0" smtClean="0"/>
              <a:t>// </a:t>
            </a:r>
            <a:r>
              <a:rPr lang="en-US" sz="1800" dirty="0"/>
              <a:t>nested try block</a:t>
            </a:r>
          </a:p>
          <a:p>
            <a:r>
              <a:rPr lang="en-US" sz="1800" dirty="0"/>
              <a:t>/* If one command-line </a:t>
            </a:r>
            <a:r>
              <a:rPr lang="en-US" sz="1800" dirty="0" err="1"/>
              <a:t>arg</a:t>
            </a:r>
            <a:r>
              <a:rPr lang="en-US" sz="1800" dirty="0"/>
              <a:t> is used, then a divide-by-zero exception</a:t>
            </a:r>
          </a:p>
          <a:p>
            <a:r>
              <a:rPr lang="en-US" sz="1800" dirty="0"/>
              <a:t>will be generated by the following code. */ </a:t>
            </a:r>
            <a:endParaRPr lang="en-US" sz="1800" dirty="0" smtClean="0"/>
          </a:p>
          <a:p>
            <a:r>
              <a:rPr lang="en-US" sz="1800" dirty="0" smtClean="0"/>
              <a:t>if(a</a:t>
            </a:r>
            <a:r>
              <a:rPr lang="en-US" sz="1800" dirty="0"/>
              <a:t>==1) </a:t>
            </a:r>
            <a:endParaRPr lang="en-US" sz="1800" dirty="0" smtClean="0"/>
          </a:p>
          <a:p>
            <a:r>
              <a:rPr lang="en-US" sz="1800" dirty="0" smtClean="0"/>
              <a:t>a </a:t>
            </a:r>
            <a:r>
              <a:rPr lang="en-US" sz="1800" dirty="0"/>
              <a:t>= a/(a-a); // division by zero</a:t>
            </a:r>
          </a:p>
          <a:p>
            <a:endParaRPr lang="en-IN" sz="1800" dirty="0"/>
          </a:p>
        </p:txBody>
      </p:sp>
    </p:spTree>
    <p:extLst>
      <p:ext uri="{BB962C8B-B14F-4D97-AF65-F5344CB8AC3E}">
        <p14:creationId xmlns:p14="http://schemas.microsoft.com/office/powerpoint/2010/main" val="2507163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52600"/>
            <a:ext cx="6974205" cy="4431983"/>
          </a:xfrm>
        </p:spPr>
        <p:txBody>
          <a:bodyPr/>
          <a:lstStyle/>
          <a:p>
            <a:endParaRPr lang="en-US" sz="1800" dirty="0"/>
          </a:p>
          <a:p>
            <a:r>
              <a:rPr lang="en-US" sz="1800" dirty="0"/>
              <a:t>/* If two command-line </a:t>
            </a:r>
            <a:r>
              <a:rPr lang="en-US" sz="1800" dirty="0" err="1"/>
              <a:t>args</a:t>
            </a:r>
            <a:r>
              <a:rPr lang="en-US" sz="1800" dirty="0"/>
              <a:t> are used,</a:t>
            </a:r>
          </a:p>
          <a:p>
            <a:r>
              <a:rPr lang="en-US" sz="1800" dirty="0"/>
              <a:t>then generate an out-of-bounds exception. */ </a:t>
            </a:r>
          </a:p>
          <a:p>
            <a:r>
              <a:rPr lang="en-US" sz="1800" dirty="0"/>
              <a:t>if(a==2) {</a:t>
            </a:r>
          </a:p>
          <a:p>
            <a:r>
              <a:rPr lang="en-US" sz="1800" dirty="0" err="1"/>
              <a:t>int</a:t>
            </a:r>
            <a:r>
              <a:rPr lang="en-US" sz="1800" dirty="0"/>
              <a:t> c</a:t>
            </a:r>
            <a:r>
              <a:rPr lang="en-US" sz="1800" dirty="0" smtClean="0"/>
              <a:t>[ ] </a:t>
            </a:r>
            <a:r>
              <a:rPr lang="en-US" sz="1800" dirty="0"/>
              <a:t>= { 1 };</a:t>
            </a:r>
          </a:p>
          <a:p>
            <a:r>
              <a:rPr lang="en-US" sz="1800" dirty="0"/>
              <a:t>c[42] = 99; // generate an out-of-bounds exception</a:t>
            </a:r>
            <a:endParaRPr lang="en-IN" sz="1800" dirty="0"/>
          </a:p>
          <a:p>
            <a:r>
              <a:rPr lang="en-US" sz="1800" dirty="0"/>
              <a:t>}</a:t>
            </a:r>
            <a:endParaRPr lang="en-IN" sz="1800" dirty="0"/>
          </a:p>
          <a:p>
            <a:r>
              <a:rPr lang="en-US" sz="1800" dirty="0"/>
              <a:t>} catch(</a:t>
            </a:r>
            <a:r>
              <a:rPr lang="en-US" sz="1800" dirty="0" err="1"/>
              <a:t>ArrayIndexOutOfBoundsException</a:t>
            </a:r>
            <a:r>
              <a:rPr lang="en-US" sz="1800" dirty="0"/>
              <a:t> e) { </a:t>
            </a:r>
            <a:endParaRPr lang="en-US" sz="1800" dirty="0" smtClean="0"/>
          </a:p>
          <a:p>
            <a:r>
              <a:rPr lang="en-US" sz="1800" dirty="0" err="1" smtClean="0"/>
              <a:t>System.out.println</a:t>
            </a:r>
            <a:r>
              <a:rPr lang="en-US" sz="1800" dirty="0"/>
              <a:t>("Array index out-of-bounds: " + e);</a:t>
            </a:r>
            <a:endParaRPr lang="en-IN" sz="1800" dirty="0"/>
          </a:p>
          <a:p>
            <a:r>
              <a:rPr lang="en-US" sz="1800" dirty="0"/>
              <a:t>}</a:t>
            </a:r>
            <a:endParaRPr lang="en-IN" sz="1800" dirty="0"/>
          </a:p>
          <a:p>
            <a:r>
              <a:rPr lang="en-US" sz="1800" dirty="0"/>
              <a:t> </a:t>
            </a:r>
            <a:endParaRPr lang="en-IN" sz="1800" dirty="0"/>
          </a:p>
          <a:p>
            <a:r>
              <a:rPr lang="en-US" sz="1800" dirty="0"/>
              <a:t>} catch(</a:t>
            </a:r>
            <a:r>
              <a:rPr lang="en-US" sz="1800" dirty="0" err="1"/>
              <a:t>ArithmeticException</a:t>
            </a:r>
            <a:r>
              <a:rPr lang="en-US" sz="1800" dirty="0"/>
              <a:t> e) { </a:t>
            </a:r>
            <a:endParaRPr lang="en-US" sz="1800" dirty="0" smtClean="0"/>
          </a:p>
          <a:p>
            <a:r>
              <a:rPr lang="en-US" sz="1800" dirty="0" err="1" smtClean="0"/>
              <a:t>System.out.println</a:t>
            </a:r>
            <a:r>
              <a:rPr lang="en-US" sz="1800" dirty="0"/>
              <a:t>("Divide by 0: " + e);</a:t>
            </a:r>
            <a:endParaRPr lang="en-IN" sz="1800" dirty="0"/>
          </a:p>
          <a:p>
            <a:r>
              <a:rPr lang="en-US" sz="1800" dirty="0"/>
              <a:t>}  </a:t>
            </a:r>
            <a:endParaRPr lang="en-US" sz="1800" dirty="0" smtClean="0"/>
          </a:p>
          <a:p>
            <a:r>
              <a:rPr lang="en-US" sz="1800" dirty="0" smtClean="0"/>
              <a:t>}    </a:t>
            </a:r>
          </a:p>
          <a:p>
            <a:r>
              <a:rPr lang="en-US" sz="1800" dirty="0" smtClean="0"/>
              <a:t> </a:t>
            </a:r>
            <a:r>
              <a:rPr lang="en-US" sz="1800" dirty="0"/>
              <a:t>} </a:t>
            </a:r>
            <a:endParaRPr lang="en-IN" sz="1800" dirty="0"/>
          </a:p>
        </p:txBody>
      </p:sp>
    </p:spTree>
    <p:extLst>
      <p:ext uri="{BB962C8B-B14F-4D97-AF65-F5344CB8AC3E}">
        <p14:creationId xmlns:p14="http://schemas.microsoft.com/office/powerpoint/2010/main" val="1282543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293485" y="1600200"/>
            <a:ext cx="8227059" cy="4924425"/>
          </a:xfrm>
        </p:spPr>
        <p:txBody>
          <a:bodyPr/>
          <a:lstStyle/>
          <a:p>
            <a:r>
              <a:rPr lang="en-US" dirty="0"/>
              <a:t>The program works </a:t>
            </a:r>
            <a:r>
              <a:rPr lang="en-US" dirty="0" smtClean="0"/>
              <a:t>as follows.</a:t>
            </a:r>
          </a:p>
          <a:p>
            <a:pPr marL="285750" indent="-285750">
              <a:buFont typeface="Arial" panose="020B0604020202020204" pitchFamily="34" charset="0"/>
              <a:buChar char="•"/>
            </a:pPr>
            <a:r>
              <a:rPr lang="en-US" dirty="0" smtClean="0"/>
              <a:t> </a:t>
            </a:r>
            <a:r>
              <a:rPr lang="en-US" dirty="0"/>
              <a:t>When you execute the program with no command-line arguments, a divide-by-zero exception is generated by the outer </a:t>
            </a:r>
            <a:r>
              <a:rPr lang="en-US" b="1" dirty="0"/>
              <a:t>try </a:t>
            </a:r>
            <a:r>
              <a:rPr lang="en-US" dirty="0"/>
              <a:t>block</a:t>
            </a:r>
            <a:r>
              <a:rPr lang="en-US" dirty="0" smtClean="0"/>
              <a:t>.</a:t>
            </a:r>
          </a:p>
          <a:p>
            <a:pPr marL="285750" indent="-285750">
              <a:buFont typeface="Arial" panose="020B0604020202020204" pitchFamily="34" charset="0"/>
              <a:buChar char="•"/>
            </a:pPr>
            <a:r>
              <a:rPr lang="en-US" dirty="0" smtClean="0"/>
              <a:t> </a:t>
            </a:r>
            <a:r>
              <a:rPr lang="en-US" dirty="0"/>
              <a:t>Execution of the program with one command-line argument generates a divide-by-zero exception from within the nested </a:t>
            </a:r>
            <a:r>
              <a:rPr lang="en-US" b="1" dirty="0"/>
              <a:t>try </a:t>
            </a:r>
            <a:r>
              <a:rPr lang="en-US" dirty="0"/>
              <a:t>block. </a:t>
            </a:r>
            <a:endParaRPr lang="en-US" dirty="0" smtClean="0"/>
          </a:p>
          <a:p>
            <a:pPr marL="285750" indent="-285750">
              <a:buFont typeface="Arial" panose="020B0604020202020204" pitchFamily="34" charset="0"/>
              <a:buChar char="•"/>
            </a:pPr>
            <a:r>
              <a:rPr lang="en-US" dirty="0" smtClean="0"/>
              <a:t>Since </a:t>
            </a:r>
            <a:r>
              <a:rPr lang="en-US" dirty="0"/>
              <a:t>the inner block does not catch this exception, it is passed on to the outer </a:t>
            </a:r>
            <a:r>
              <a:rPr lang="en-US" b="1" dirty="0"/>
              <a:t>try </a:t>
            </a:r>
            <a:r>
              <a:rPr lang="en-US" dirty="0"/>
              <a:t>block, where it is handled</a:t>
            </a:r>
            <a:r>
              <a:rPr lang="en-US" dirty="0" smtClean="0"/>
              <a:t>.</a:t>
            </a:r>
          </a:p>
          <a:p>
            <a:pPr marL="285750" indent="-285750">
              <a:buFont typeface="Arial" panose="020B0604020202020204" pitchFamily="34" charset="0"/>
              <a:buChar char="•"/>
            </a:pPr>
            <a:r>
              <a:rPr lang="en-US" dirty="0" smtClean="0"/>
              <a:t> </a:t>
            </a:r>
            <a:r>
              <a:rPr lang="en-US" dirty="0"/>
              <a:t>If you execute the program with two command-line arguments, an array boundary exception is generated from within the inner </a:t>
            </a:r>
            <a:r>
              <a:rPr lang="en-US" b="1" dirty="0"/>
              <a:t>try </a:t>
            </a:r>
            <a:r>
              <a:rPr lang="en-US" dirty="0"/>
              <a:t>block</a:t>
            </a:r>
            <a:r>
              <a:rPr lang="en-US" dirty="0" smtClean="0"/>
              <a:t>.</a:t>
            </a:r>
          </a:p>
          <a:p>
            <a:r>
              <a:rPr lang="en-US" dirty="0" smtClean="0"/>
              <a:t> </a:t>
            </a:r>
          </a:p>
          <a:p>
            <a:r>
              <a:rPr lang="en-US" dirty="0" smtClean="0"/>
              <a:t>Here </a:t>
            </a:r>
            <a:r>
              <a:rPr lang="en-US" dirty="0"/>
              <a:t>are sample runs that illustrate each case:</a:t>
            </a:r>
            <a:endParaRPr lang="en-IN" dirty="0"/>
          </a:p>
          <a:p>
            <a:r>
              <a:rPr lang="en-US" dirty="0"/>
              <a:t>C:\&gt;java </a:t>
            </a:r>
            <a:r>
              <a:rPr lang="en-US" dirty="0" err="1"/>
              <a:t>NestTry</a:t>
            </a:r>
            <a:endParaRPr lang="en-IN" dirty="0"/>
          </a:p>
          <a:p>
            <a:r>
              <a:rPr lang="en-US" dirty="0"/>
              <a:t>Divide by 0: </a:t>
            </a:r>
            <a:r>
              <a:rPr lang="en-US" dirty="0" err="1"/>
              <a:t>java.lang.ArithmeticException</a:t>
            </a:r>
            <a:r>
              <a:rPr lang="en-US" dirty="0"/>
              <a:t>: / by zero</a:t>
            </a:r>
            <a:endParaRPr lang="en-IN" dirty="0"/>
          </a:p>
          <a:p>
            <a:r>
              <a:rPr lang="en-US" dirty="0"/>
              <a:t> </a:t>
            </a:r>
            <a:endParaRPr lang="en-IN" dirty="0"/>
          </a:p>
          <a:p>
            <a:r>
              <a:rPr lang="en-US" dirty="0"/>
              <a:t>C:\&gt;java </a:t>
            </a:r>
            <a:r>
              <a:rPr lang="en-US" dirty="0" err="1"/>
              <a:t>NestTry</a:t>
            </a:r>
            <a:r>
              <a:rPr lang="en-US" dirty="0"/>
              <a:t> </a:t>
            </a:r>
            <a:r>
              <a:rPr lang="en-US" dirty="0" smtClean="0"/>
              <a:t>One</a:t>
            </a:r>
          </a:p>
          <a:p>
            <a:r>
              <a:rPr lang="en-US" dirty="0" smtClean="0"/>
              <a:t> </a:t>
            </a:r>
            <a:r>
              <a:rPr lang="en-US" dirty="0"/>
              <a:t>a = </a:t>
            </a:r>
            <a:r>
              <a:rPr lang="en-US" dirty="0" smtClean="0"/>
              <a:t>1 Divide </a:t>
            </a:r>
            <a:r>
              <a:rPr lang="en-US" dirty="0"/>
              <a:t>by 0: </a:t>
            </a:r>
            <a:r>
              <a:rPr lang="en-US" dirty="0" err="1"/>
              <a:t>java.lang.ArithmeticException</a:t>
            </a:r>
            <a:r>
              <a:rPr lang="en-US" dirty="0"/>
              <a:t>: / by zero</a:t>
            </a:r>
            <a:endParaRPr lang="en-IN" dirty="0"/>
          </a:p>
          <a:p>
            <a:r>
              <a:rPr lang="en-US" dirty="0"/>
              <a:t> </a:t>
            </a:r>
            <a:endParaRPr lang="en-IN" dirty="0"/>
          </a:p>
          <a:p>
            <a:r>
              <a:rPr lang="en-US" dirty="0"/>
              <a:t>C:\&gt;java </a:t>
            </a:r>
            <a:r>
              <a:rPr lang="en-US" dirty="0" err="1"/>
              <a:t>NestTry</a:t>
            </a:r>
            <a:r>
              <a:rPr lang="en-US" dirty="0"/>
              <a:t> One Two </a:t>
            </a:r>
            <a:endParaRPr lang="en-US" dirty="0" smtClean="0"/>
          </a:p>
          <a:p>
            <a:r>
              <a:rPr lang="en-US" dirty="0" smtClean="0"/>
              <a:t>a </a:t>
            </a:r>
            <a:r>
              <a:rPr lang="en-US" dirty="0"/>
              <a:t>= </a:t>
            </a:r>
            <a:r>
              <a:rPr lang="en-US" dirty="0" smtClean="0"/>
              <a:t>2 Array </a:t>
            </a:r>
            <a:r>
              <a:rPr lang="en-US" dirty="0"/>
              <a:t>index out-of-bounds: java.lang.ArrayIndexOutOfBoundsException:42</a:t>
            </a:r>
            <a:endParaRPr lang="en-IN" dirty="0"/>
          </a:p>
          <a:p>
            <a:endParaRPr lang="en-IN" dirty="0"/>
          </a:p>
        </p:txBody>
      </p:sp>
    </p:spTree>
    <p:extLst>
      <p:ext uri="{BB962C8B-B14F-4D97-AF65-F5344CB8AC3E}">
        <p14:creationId xmlns:p14="http://schemas.microsoft.com/office/powerpoint/2010/main" val="15234242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340" y="206451"/>
            <a:ext cx="8529319" cy="861774"/>
          </a:xfrm>
        </p:spPr>
        <p:txBody>
          <a:bodyPr/>
          <a:lstStyle/>
          <a:p>
            <a:r>
              <a:rPr lang="en-US" sz="2800" dirty="0" smtClean="0"/>
              <a:t>Enclose a call to a method within a try block. Inside that method is another try statement.</a:t>
            </a:r>
            <a:endParaRPr lang="en-IN" sz="2800" dirty="0"/>
          </a:p>
        </p:txBody>
      </p:sp>
      <p:sp>
        <p:nvSpPr>
          <p:cNvPr id="3" name="Text Placeholder 2"/>
          <p:cNvSpPr>
            <a:spLocks noGrp="1"/>
          </p:cNvSpPr>
          <p:nvPr>
            <p:ph type="body" idx="1"/>
          </p:nvPr>
        </p:nvSpPr>
        <p:spPr>
          <a:xfrm>
            <a:off x="458469" y="1524000"/>
            <a:ext cx="8227059" cy="5262979"/>
          </a:xfrm>
        </p:spPr>
        <p:txBody>
          <a:bodyPr/>
          <a:lstStyle/>
          <a:p>
            <a:r>
              <a:rPr lang="en-US" sz="1800" dirty="0"/>
              <a:t>/* Try statements can be implicitly nested via calls to methods. */</a:t>
            </a:r>
          </a:p>
          <a:p>
            <a:r>
              <a:rPr lang="en-US" sz="1800" dirty="0"/>
              <a:t>class </a:t>
            </a:r>
            <a:r>
              <a:rPr lang="en-US" sz="1800" dirty="0" err="1"/>
              <a:t>MethNestTry</a:t>
            </a:r>
            <a:r>
              <a:rPr lang="en-US" sz="1800" dirty="0"/>
              <a:t> {</a:t>
            </a:r>
          </a:p>
          <a:p>
            <a:r>
              <a:rPr lang="en-US" sz="1800" dirty="0" smtClean="0"/>
              <a:t>	static </a:t>
            </a:r>
            <a:r>
              <a:rPr lang="en-US" sz="1800" dirty="0"/>
              <a:t>void </a:t>
            </a:r>
            <a:r>
              <a:rPr lang="en-US" sz="1800" dirty="0" err="1"/>
              <a:t>nesttry</a:t>
            </a:r>
            <a:r>
              <a:rPr lang="en-US" sz="1800" dirty="0"/>
              <a:t>(</a:t>
            </a:r>
            <a:r>
              <a:rPr lang="en-US" sz="1800" dirty="0" err="1"/>
              <a:t>int</a:t>
            </a:r>
            <a:r>
              <a:rPr lang="en-US" sz="1800" dirty="0"/>
              <a:t> a) </a:t>
            </a:r>
            <a:r>
              <a:rPr lang="en-US" sz="1800" dirty="0" smtClean="0"/>
              <a:t>{</a:t>
            </a:r>
          </a:p>
          <a:p>
            <a:r>
              <a:rPr lang="en-US" sz="1800" dirty="0" smtClean="0"/>
              <a:t> 	</a:t>
            </a:r>
            <a:r>
              <a:rPr lang="en-US" sz="1800" dirty="0" smtClean="0">
                <a:solidFill>
                  <a:srgbClr val="00B0F0"/>
                </a:solidFill>
              </a:rPr>
              <a:t>try</a:t>
            </a:r>
            <a:r>
              <a:rPr lang="en-US" sz="1800" dirty="0" smtClean="0"/>
              <a:t> </a:t>
            </a:r>
            <a:r>
              <a:rPr lang="en-US" sz="1800" dirty="0"/>
              <a:t>{ // nested try block</a:t>
            </a:r>
          </a:p>
          <a:p>
            <a:r>
              <a:rPr lang="en-US" sz="1800" dirty="0"/>
              <a:t>/* If one command-line </a:t>
            </a:r>
            <a:r>
              <a:rPr lang="en-US" sz="1800" dirty="0" err="1"/>
              <a:t>arg</a:t>
            </a:r>
            <a:r>
              <a:rPr lang="en-US" sz="1800" dirty="0"/>
              <a:t> is used, then a divide-by-zero exception</a:t>
            </a:r>
          </a:p>
          <a:p>
            <a:r>
              <a:rPr lang="en-US" sz="1800" dirty="0"/>
              <a:t>will be generated by the following code. </a:t>
            </a:r>
            <a:r>
              <a:rPr lang="en-US" sz="1800" dirty="0" smtClean="0"/>
              <a:t>*/</a:t>
            </a:r>
          </a:p>
          <a:p>
            <a:r>
              <a:rPr lang="en-US" sz="1800" dirty="0" smtClean="0"/>
              <a:t>	 </a:t>
            </a:r>
            <a:r>
              <a:rPr lang="en-US" sz="1800" dirty="0"/>
              <a:t>if(a==1) </a:t>
            </a:r>
            <a:endParaRPr lang="en-US" sz="1800" dirty="0" smtClean="0"/>
          </a:p>
          <a:p>
            <a:r>
              <a:rPr lang="en-US" sz="1800" dirty="0" smtClean="0"/>
              <a:t>		a </a:t>
            </a:r>
            <a:r>
              <a:rPr lang="en-US" sz="1800" dirty="0"/>
              <a:t>= a/(a-a); // division by zero</a:t>
            </a:r>
          </a:p>
          <a:p>
            <a:endParaRPr lang="en-US" sz="1800" dirty="0"/>
          </a:p>
          <a:p>
            <a:r>
              <a:rPr lang="en-US" sz="1800" dirty="0"/>
              <a:t>/* If two command-line </a:t>
            </a:r>
            <a:r>
              <a:rPr lang="en-US" sz="1800" dirty="0" err="1"/>
              <a:t>args</a:t>
            </a:r>
            <a:r>
              <a:rPr lang="en-US" sz="1800" dirty="0"/>
              <a:t> are used</a:t>
            </a:r>
            <a:r>
              <a:rPr lang="en-US" sz="1800" dirty="0" smtClean="0"/>
              <a:t>, then </a:t>
            </a:r>
            <a:r>
              <a:rPr lang="en-US" sz="1800" dirty="0"/>
              <a:t>generate an out-of-bounds exception. </a:t>
            </a:r>
            <a:r>
              <a:rPr lang="en-US" sz="1800" dirty="0" smtClean="0"/>
              <a:t>*/</a:t>
            </a:r>
          </a:p>
          <a:p>
            <a:r>
              <a:rPr lang="en-US" sz="1800" dirty="0" smtClean="0"/>
              <a:t>	 </a:t>
            </a:r>
            <a:r>
              <a:rPr lang="en-US" sz="1800" dirty="0"/>
              <a:t>if(a==2) {</a:t>
            </a:r>
          </a:p>
          <a:p>
            <a:r>
              <a:rPr lang="en-US" sz="1800" dirty="0" smtClean="0"/>
              <a:t>		</a:t>
            </a:r>
            <a:r>
              <a:rPr lang="en-US" sz="1800" dirty="0" err="1" smtClean="0"/>
              <a:t>int</a:t>
            </a:r>
            <a:r>
              <a:rPr lang="en-US" sz="1800" dirty="0" smtClean="0"/>
              <a:t> </a:t>
            </a:r>
            <a:r>
              <a:rPr lang="en-US" sz="1800" dirty="0"/>
              <a:t>c[] = { 1 };</a:t>
            </a:r>
          </a:p>
          <a:p>
            <a:r>
              <a:rPr lang="en-US" sz="1800" dirty="0" smtClean="0"/>
              <a:t>		c[42</a:t>
            </a:r>
            <a:r>
              <a:rPr lang="en-US" sz="1800" dirty="0"/>
              <a:t>] = 99; // generate an out-of-bounds exception</a:t>
            </a:r>
          </a:p>
          <a:p>
            <a:r>
              <a:rPr lang="en-US" sz="1800" dirty="0" smtClean="0"/>
              <a:t>		}</a:t>
            </a:r>
            <a:endParaRPr lang="en-US" sz="1800" dirty="0"/>
          </a:p>
          <a:p>
            <a:r>
              <a:rPr lang="en-US" sz="1800" dirty="0" smtClean="0"/>
              <a:t>	} </a:t>
            </a:r>
            <a:r>
              <a:rPr lang="en-US" sz="1800" dirty="0"/>
              <a:t>catch(</a:t>
            </a:r>
            <a:r>
              <a:rPr lang="en-US" sz="1800" dirty="0" err="1"/>
              <a:t>ArrayIndexOutOfBoundsException</a:t>
            </a:r>
            <a:r>
              <a:rPr lang="en-US" sz="1800" dirty="0"/>
              <a:t> e) </a:t>
            </a:r>
            <a:r>
              <a:rPr lang="en-US" sz="1800" dirty="0" smtClean="0"/>
              <a:t>{</a:t>
            </a:r>
          </a:p>
          <a:p>
            <a:r>
              <a:rPr lang="en-US" sz="1800" dirty="0" smtClean="0"/>
              <a:t>	 </a:t>
            </a:r>
            <a:r>
              <a:rPr lang="en-US" sz="1800" dirty="0" err="1"/>
              <a:t>System.out.println</a:t>
            </a:r>
            <a:r>
              <a:rPr lang="en-US" sz="1800" dirty="0"/>
              <a:t>("Array index out-of-bounds: " + e);</a:t>
            </a:r>
          </a:p>
          <a:p>
            <a:r>
              <a:rPr lang="en-US" sz="1800" dirty="0" smtClean="0"/>
              <a:t>	}</a:t>
            </a:r>
            <a:endParaRPr lang="en-US" sz="1800" dirty="0"/>
          </a:p>
          <a:p>
            <a:r>
              <a:rPr lang="en-US" sz="1800" dirty="0" smtClean="0"/>
              <a:t>	}</a:t>
            </a:r>
            <a:endParaRPr lang="en-IN" dirty="0"/>
          </a:p>
        </p:txBody>
      </p:sp>
    </p:spTree>
    <p:extLst>
      <p:ext uri="{BB962C8B-B14F-4D97-AF65-F5344CB8AC3E}">
        <p14:creationId xmlns:p14="http://schemas.microsoft.com/office/powerpoint/2010/main" val="4211148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1179522"/>
            <a:ext cx="8077200" cy="5678478"/>
          </a:xfrm>
        </p:spPr>
        <p:txBody>
          <a:bodyPr/>
          <a:lstStyle/>
          <a:p>
            <a:endParaRPr lang="en-US" sz="1800" dirty="0"/>
          </a:p>
          <a:p>
            <a:pPr>
              <a:lnSpc>
                <a:spcPct val="150000"/>
              </a:lnSpc>
            </a:pPr>
            <a:r>
              <a:rPr lang="en-US" sz="1800" dirty="0"/>
              <a:t>public static void main(String </a:t>
            </a:r>
            <a:r>
              <a:rPr lang="en-US" sz="1800" dirty="0" err="1"/>
              <a:t>args</a:t>
            </a:r>
            <a:r>
              <a:rPr lang="en-US" sz="1800" dirty="0"/>
              <a:t>[]) </a:t>
            </a:r>
            <a:r>
              <a:rPr lang="en-US" sz="1800" dirty="0" smtClean="0"/>
              <a:t>{</a:t>
            </a:r>
          </a:p>
          <a:p>
            <a:pPr>
              <a:lnSpc>
                <a:spcPct val="150000"/>
              </a:lnSpc>
            </a:pPr>
            <a:r>
              <a:rPr lang="en-US" sz="1800" dirty="0" smtClean="0"/>
              <a:t> </a:t>
            </a:r>
            <a:r>
              <a:rPr lang="en-US" sz="1800" dirty="0">
                <a:solidFill>
                  <a:srgbClr val="00B0F0"/>
                </a:solidFill>
              </a:rPr>
              <a:t>try {</a:t>
            </a:r>
          </a:p>
          <a:p>
            <a:pPr>
              <a:lnSpc>
                <a:spcPct val="150000"/>
              </a:lnSpc>
            </a:pPr>
            <a:r>
              <a:rPr lang="en-US" sz="1800" dirty="0" err="1"/>
              <a:t>int</a:t>
            </a:r>
            <a:r>
              <a:rPr lang="en-US" sz="1800" dirty="0"/>
              <a:t> a = </a:t>
            </a:r>
            <a:r>
              <a:rPr lang="en-US" sz="1800" dirty="0" err="1"/>
              <a:t>args.length</a:t>
            </a:r>
            <a:r>
              <a:rPr lang="en-US" sz="1800" dirty="0"/>
              <a:t>;</a:t>
            </a:r>
          </a:p>
          <a:p>
            <a:pPr>
              <a:lnSpc>
                <a:spcPct val="150000"/>
              </a:lnSpc>
            </a:pPr>
            <a:r>
              <a:rPr lang="en-US" sz="1800" dirty="0" smtClean="0"/>
              <a:t>/* </a:t>
            </a:r>
            <a:r>
              <a:rPr lang="en-US" sz="1800" dirty="0"/>
              <a:t>If no command-line </a:t>
            </a:r>
            <a:r>
              <a:rPr lang="en-US" sz="1800" dirty="0" err="1"/>
              <a:t>args</a:t>
            </a:r>
            <a:r>
              <a:rPr lang="en-US" sz="1800" dirty="0"/>
              <a:t> are present, the following statement will generate a divide-by-zero exception. */</a:t>
            </a:r>
          </a:p>
          <a:p>
            <a:pPr>
              <a:lnSpc>
                <a:spcPct val="150000"/>
              </a:lnSpc>
            </a:pPr>
            <a:r>
              <a:rPr lang="en-US" sz="1800" dirty="0" err="1"/>
              <a:t>int</a:t>
            </a:r>
            <a:r>
              <a:rPr lang="en-US" sz="1800" dirty="0"/>
              <a:t> b = 42 / a</a:t>
            </a:r>
            <a:r>
              <a:rPr lang="en-US" sz="1800" dirty="0" smtClean="0"/>
              <a:t>;</a:t>
            </a:r>
          </a:p>
          <a:p>
            <a:pPr>
              <a:lnSpc>
                <a:spcPct val="150000"/>
              </a:lnSpc>
            </a:pPr>
            <a:r>
              <a:rPr lang="en-US" sz="1800" dirty="0" smtClean="0"/>
              <a:t> </a:t>
            </a:r>
            <a:r>
              <a:rPr lang="en-US" sz="1800" dirty="0" err="1"/>
              <a:t>System.out.println</a:t>
            </a:r>
            <a:r>
              <a:rPr lang="en-US" sz="1800" dirty="0"/>
              <a:t>("a = " + a);</a:t>
            </a:r>
          </a:p>
          <a:p>
            <a:pPr>
              <a:lnSpc>
                <a:spcPct val="150000"/>
              </a:lnSpc>
            </a:pPr>
            <a:r>
              <a:rPr lang="en-US" sz="1800" dirty="0" err="1" smtClean="0">
                <a:solidFill>
                  <a:srgbClr val="00B0F0"/>
                </a:solidFill>
              </a:rPr>
              <a:t>nesttry</a:t>
            </a:r>
            <a:r>
              <a:rPr lang="en-US" sz="1800" dirty="0" smtClean="0">
                <a:solidFill>
                  <a:srgbClr val="00B0F0"/>
                </a:solidFill>
              </a:rPr>
              <a:t>(a</a:t>
            </a:r>
            <a:r>
              <a:rPr lang="en-US" sz="1800" dirty="0">
                <a:solidFill>
                  <a:srgbClr val="00B0F0"/>
                </a:solidFill>
              </a:rPr>
              <a:t>);</a:t>
            </a:r>
          </a:p>
          <a:p>
            <a:pPr>
              <a:lnSpc>
                <a:spcPct val="150000"/>
              </a:lnSpc>
            </a:pPr>
            <a:r>
              <a:rPr lang="en-US" sz="1800" dirty="0"/>
              <a:t>} catch(</a:t>
            </a:r>
            <a:r>
              <a:rPr lang="en-US" sz="1800" dirty="0" err="1"/>
              <a:t>ArithmeticException</a:t>
            </a:r>
            <a:r>
              <a:rPr lang="en-US" sz="1800" dirty="0"/>
              <a:t> e) { </a:t>
            </a:r>
            <a:endParaRPr lang="en-US" sz="1800" dirty="0" smtClean="0"/>
          </a:p>
          <a:p>
            <a:pPr>
              <a:lnSpc>
                <a:spcPct val="150000"/>
              </a:lnSpc>
            </a:pPr>
            <a:r>
              <a:rPr lang="en-US" sz="1800" dirty="0" err="1" smtClean="0"/>
              <a:t>System.out.println</a:t>
            </a:r>
            <a:r>
              <a:rPr lang="en-US" sz="1800" dirty="0"/>
              <a:t>("Divide by 0: " + e);</a:t>
            </a:r>
          </a:p>
          <a:p>
            <a:pPr>
              <a:lnSpc>
                <a:spcPct val="150000"/>
              </a:lnSpc>
            </a:pPr>
            <a:r>
              <a:rPr lang="en-US" sz="1800" dirty="0"/>
              <a:t>}</a:t>
            </a:r>
          </a:p>
          <a:p>
            <a:pPr>
              <a:lnSpc>
                <a:spcPct val="150000"/>
              </a:lnSpc>
            </a:pPr>
            <a:r>
              <a:rPr lang="en-US" sz="1800" dirty="0"/>
              <a:t>}</a:t>
            </a:r>
          </a:p>
          <a:p>
            <a:pPr>
              <a:lnSpc>
                <a:spcPct val="150000"/>
              </a:lnSpc>
            </a:pPr>
            <a:r>
              <a:rPr lang="en-US" sz="1800" dirty="0" smtClean="0"/>
              <a:t>}</a:t>
            </a:r>
            <a:endParaRPr lang="en-IN" sz="1800" dirty="0"/>
          </a:p>
        </p:txBody>
      </p:sp>
    </p:spTree>
    <p:extLst>
      <p:ext uri="{BB962C8B-B14F-4D97-AF65-F5344CB8AC3E}">
        <p14:creationId xmlns:p14="http://schemas.microsoft.com/office/powerpoint/2010/main" val="22497404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64312"/>
            <a:ext cx="6776084" cy="757555"/>
          </a:xfrm>
          <a:prstGeom prst="rect">
            <a:avLst/>
          </a:prstGeom>
        </p:spPr>
        <p:txBody>
          <a:bodyPr vert="horz" wrap="square" lIns="0" tIns="12700" rIns="0" bIns="0" rtlCol="0">
            <a:spAutoFit/>
          </a:bodyPr>
          <a:lstStyle/>
          <a:p>
            <a:pPr marL="12700">
              <a:lnSpc>
                <a:spcPct val="100000"/>
              </a:lnSpc>
              <a:spcBef>
                <a:spcPts val="100"/>
              </a:spcBef>
            </a:pPr>
            <a:r>
              <a:rPr sz="4800" dirty="0"/>
              <a:t>Throw - </a:t>
            </a:r>
            <a:r>
              <a:rPr sz="2000" b="0" spc="65" dirty="0">
                <a:solidFill>
                  <a:srgbClr val="333333"/>
                </a:solidFill>
                <a:latin typeface="Arial"/>
                <a:cs typeface="Arial"/>
              </a:rPr>
              <a:t>used </a:t>
            </a:r>
            <a:r>
              <a:rPr sz="2000" b="0" spc="125" dirty="0">
                <a:solidFill>
                  <a:srgbClr val="333333"/>
                </a:solidFill>
                <a:latin typeface="Arial"/>
                <a:cs typeface="Arial"/>
              </a:rPr>
              <a:t>to </a:t>
            </a:r>
            <a:r>
              <a:rPr sz="2000" b="0" spc="114" dirty="0">
                <a:solidFill>
                  <a:srgbClr val="333333"/>
                </a:solidFill>
                <a:latin typeface="Arial"/>
                <a:cs typeface="Arial"/>
              </a:rPr>
              <a:t>throw</a:t>
            </a:r>
            <a:r>
              <a:rPr sz="2000" b="0" spc="-390" dirty="0">
                <a:solidFill>
                  <a:srgbClr val="333333"/>
                </a:solidFill>
                <a:latin typeface="Arial"/>
                <a:cs typeface="Arial"/>
              </a:rPr>
              <a:t> </a:t>
            </a:r>
            <a:r>
              <a:rPr sz="2000" b="0" spc="35" dirty="0">
                <a:solidFill>
                  <a:srgbClr val="333333"/>
                </a:solidFill>
                <a:latin typeface="Arial"/>
                <a:cs typeface="Arial"/>
              </a:rPr>
              <a:t>an </a:t>
            </a:r>
            <a:r>
              <a:rPr sz="2000" b="0" spc="80" dirty="0">
                <a:solidFill>
                  <a:srgbClr val="333333"/>
                </a:solidFill>
                <a:latin typeface="Arial"/>
                <a:cs typeface="Arial"/>
              </a:rPr>
              <a:t>exception </a:t>
            </a:r>
            <a:r>
              <a:rPr sz="2000" b="0" spc="65" dirty="0">
                <a:solidFill>
                  <a:srgbClr val="333333"/>
                </a:solidFill>
                <a:latin typeface="Arial"/>
                <a:cs typeface="Arial"/>
              </a:rPr>
              <a:t>explicitly.</a:t>
            </a:r>
            <a:endParaRPr sz="2000">
              <a:latin typeface="Arial"/>
              <a:cs typeface="Arial"/>
            </a:endParaRPr>
          </a:p>
        </p:txBody>
      </p:sp>
      <p:sp>
        <p:nvSpPr>
          <p:cNvPr id="3" name="object 3"/>
          <p:cNvSpPr txBox="1"/>
          <p:nvPr/>
        </p:nvSpPr>
        <p:spPr>
          <a:xfrm>
            <a:off x="535940" y="1528013"/>
            <a:ext cx="8227059" cy="5038090"/>
          </a:xfrm>
          <a:prstGeom prst="rect">
            <a:avLst/>
          </a:prstGeom>
        </p:spPr>
        <p:txBody>
          <a:bodyPr vert="horz" wrap="square" lIns="0" tIns="100965" rIns="0" bIns="0" rtlCol="0">
            <a:spAutoFit/>
          </a:bodyPr>
          <a:lstStyle/>
          <a:p>
            <a:pPr marL="332740" marR="6985" indent="-320040" algn="just">
              <a:lnSpc>
                <a:spcPts val="2880"/>
              </a:lnSpc>
              <a:spcBef>
                <a:spcPts val="795"/>
              </a:spcBef>
              <a:buClr>
                <a:srgbClr val="DD8046"/>
              </a:buClr>
              <a:buSzPct val="60000"/>
              <a:buFont typeface="DejaVu Sans"/>
              <a:buChar char="◻"/>
              <a:tabLst>
                <a:tab pos="332740" algn="l"/>
              </a:tabLst>
            </a:pPr>
            <a:r>
              <a:rPr sz="3000" dirty="0">
                <a:latin typeface="Times New Roman"/>
                <a:cs typeface="Times New Roman"/>
              </a:rPr>
              <a:t>Normally JRE </a:t>
            </a:r>
            <a:r>
              <a:rPr sz="3000" spc="-5" dirty="0">
                <a:latin typeface="Times New Roman"/>
                <a:cs typeface="Times New Roman"/>
              </a:rPr>
              <a:t>will </a:t>
            </a:r>
            <a:r>
              <a:rPr sz="3000" dirty="0">
                <a:latin typeface="Times New Roman"/>
                <a:cs typeface="Times New Roman"/>
              </a:rPr>
              <a:t>identify the Exception and  </a:t>
            </a:r>
            <a:r>
              <a:rPr sz="3000" spc="-5" dirty="0">
                <a:latin typeface="Times New Roman"/>
                <a:cs typeface="Times New Roman"/>
              </a:rPr>
              <a:t>throw the</a:t>
            </a:r>
            <a:r>
              <a:rPr sz="3000" spc="10" dirty="0">
                <a:latin typeface="Times New Roman"/>
                <a:cs typeface="Times New Roman"/>
              </a:rPr>
              <a:t> </a:t>
            </a:r>
            <a:r>
              <a:rPr sz="3000" spc="-5" dirty="0">
                <a:latin typeface="Times New Roman"/>
                <a:cs typeface="Times New Roman"/>
              </a:rPr>
              <a:t>Exception.</a:t>
            </a:r>
            <a:endParaRPr sz="3000">
              <a:latin typeface="Times New Roman"/>
              <a:cs typeface="Times New Roman"/>
            </a:endParaRPr>
          </a:p>
          <a:p>
            <a:pPr marL="332740" marR="5080" indent="-320040" algn="just">
              <a:lnSpc>
                <a:spcPts val="2880"/>
              </a:lnSpc>
              <a:spcBef>
                <a:spcPts val="715"/>
              </a:spcBef>
              <a:buClr>
                <a:srgbClr val="DD8046"/>
              </a:buClr>
              <a:buSzPct val="60000"/>
              <a:buFont typeface="DejaVu Sans"/>
              <a:buChar char="◻"/>
              <a:tabLst>
                <a:tab pos="429259" algn="l"/>
              </a:tabLst>
            </a:pPr>
            <a:r>
              <a:rPr dirty="0"/>
              <a:t>	</a:t>
            </a:r>
            <a:r>
              <a:rPr sz="3000" dirty="0">
                <a:latin typeface="Times New Roman"/>
                <a:cs typeface="Times New Roman"/>
              </a:rPr>
              <a:t>However, </a:t>
            </a:r>
            <a:r>
              <a:rPr sz="3000" spc="-5" dirty="0">
                <a:latin typeface="Times New Roman"/>
                <a:cs typeface="Times New Roman"/>
              </a:rPr>
              <a:t>it </a:t>
            </a:r>
            <a:r>
              <a:rPr sz="3000" spc="-10" dirty="0">
                <a:latin typeface="Times New Roman"/>
                <a:cs typeface="Times New Roman"/>
              </a:rPr>
              <a:t>is </a:t>
            </a:r>
            <a:r>
              <a:rPr sz="3000" spc="-5" dirty="0">
                <a:latin typeface="Times New Roman"/>
                <a:cs typeface="Times New Roman"/>
              </a:rPr>
              <a:t>possible </a:t>
            </a:r>
            <a:r>
              <a:rPr sz="3000" dirty="0">
                <a:latin typeface="Times New Roman"/>
                <a:cs typeface="Times New Roman"/>
              </a:rPr>
              <a:t>for your program </a:t>
            </a:r>
            <a:r>
              <a:rPr sz="3000" spc="-5" dirty="0">
                <a:latin typeface="Times New Roman"/>
                <a:cs typeface="Times New Roman"/>
              </a:rPr>
              <a:t>to </a:t>
            </a:r>
            <a:r>
              <a:rPr sz="3000" dirty="0">
                <a:latin typeface="Times New Roman"/>
                <a:cs typeface="Times New Roman"/>
              </a:rPr>
              <a:t>throw  an exception explicitly, </a:t>
            </a:r>
            <a:r>
              <a:rPr sz="3000" spc="-5" dirty="0">
                <a:latin typeface="Times New Roman"/>
                <a:cs typeface="Times New Roman"/>
              </a:rPr>
              <a:t>using </a:t>
            </a:r>
            <a:r>
              <a:rPr sz="3000" dirty="0">
                <a:latin typeface="Times New Roman"/>
                <a:cs typeface="Times New Roman"/>
              </a:rPr>
              <a:t>the </a:t>
            </a:r>
            <a:r>
              <a:rPr sz="3000" b="1" dirty="0">
                <a:latin typeface="Times New Roman"/>
                <a:cs typeface="Times New Roman"/>
              </a:rPr>
              <a:t>throw </a:t>
            </a:r>
            <a:r>
              <a:rPr sz="3000" dirty="0">
                <a:latin typeface="Times New Roman"/>
                <a:cs typeface="Times New Roman"/>
              </a:rPr>
              <a:t>or  </a:t>
            </a:r>
            <a:r>
              <a:rPr sz="3000" spc="-5" dirty="0">
                <a:latin typeface="Times New Roman"/>
                <a:cs typeface="Times New Roman"/>
              </a:rPr>
              <a:t>“</a:t>
            </a:r>
            <a:r>
              <a:rPr sz="3000" b="1" spc="-5" dirty="0">
                <a:latin typeface="Times New Roman"/>
                <a:cs typeface="Times New Roman"/>
              </a:rPr>
              <a:t>throws</a:t>
            </a:r>
            <a:r>
              <a:rPr sz="3000" spc="-5" dirty="0">
                <a:latin typeface="Times New Roman"/>
                <a:cs typeface="Times New Roman"/>
              </a:rPr>
              <a:t>”.</a:t>
            </a:r>
            <a:endParaRPr sz="3000">
              <a:latin typeface="Times New Roman"/>
              <a:cs typeface="Times New Roman"/>
            </a:endParaRPr>
          </a:p>
          <a:p>
            <a:pPr marL="332740" indent="-320040" algn="just">
              <a:lnSpc>
                <a:spcPts val="3595"/>
              </a:lnSpc>
              <a:buClr>
                <a:srgbClr val="DD8046"/>
              </a:buClr>
              <a:buSzPct val="60000"/>
              <a:buFont typeface="DejaVu Sans"/>
              <a:buChar char="◻"/>
              <a:tabLst>
                <a:tab pos="332740" algn="l"/>
              </a:tabLst>
            </a:pPr>
            <a:r>
              <a:rPr sz="3000" dirty="0">
                <a:latin typeface="Times New Roman"/>
                <a:cs typeface="Times New Roman"/>
              </a:rPr>
              <a:t>General</a:t>
            </a:r>
            <a:r>
              <a:rPr sz="3000" spc="15" dirty="0">
                <a:latin typeface="Times New Roman"/>
                <a:cs typeface="Times New Roman"/>
              </a:rPr>
              <a:t> </a:t>
            </a:r>
            <a:r>
              <a:rPr sz="3000" dirty="0">
                <a:latin typeface="Times New Roman"/>
                <a:cs typeface="Times New Roman"/>
              </a:rPr>
              <a:t>form:</a:t>
            </a:r>
            <a:endParaRPr sz="3000">
              <a:latin typeface="Times New Roman"/>
              <a:cs typeface="Times New Roman"/>
            </a:endParaRPr>
          </a:p>
          <a:p>
            <a:pPr marL="377825" algn="just">
              <a:lnSpc>
                <a:spcPts val="3115"/>
              </a:lnSpc>
            </a:pPr>
            <a:r>
              <a:rPr sz="1800" spc="-430" dirty="0">
                <a:solidFill>
                  <a:srgbClr val="93B6D2"/>
                </a:solidFill>
                <a:latin typeface="Arial"/>
                <a:cs typeface="Arial"/>
              </a:rPr>
              <a:t>🞑 </a:t>
            </a:r>
            <a:r>
              <a:rPr sz="2600" b="1" dirty="0">
                <a:latin typeface="Times New Roman"/>
                <a:cs typeface="Times New Roman"/>
              </a:rPr>
              <a:t>throw</a:t>
            </a:r>
            <a:r>
              <a:rPr sz="2600" b="1" spc="-55" dirty="0">
                <a:latin typeface="Times New Roman"/>
                <a:cs typeface="Times New Roman"/>
              </a:rPr>
              <a:t> </a:t>
            </a:r>
            <a:r>
              <a:rPr sz="2600" b="1" dirty="0">
                <a:latin typeface="Times New Roman"/>
                <a:cs typeface="Times New Roman"/>
              </a:rPr>
              <a:t>ThrowableInstance;</a:t>
            </a:r>
            <a:endParaRPr sz="2600">
              <a:latin typeface="Times New Roman"/>
              <a:cs typeface="Times New Roman"/>
            </a:endParaRPr>
          </a:p>
          <a:p>
            <a:pPr marL="332740" marR="7620" indent="-320040" algn="just">
              <a:lnSpc>
                <a:spcPct val="80000"/>
              </a:lnSpc>
              <a:spcBef>
                <a:spcPts val="680"/>
              </a:spcBef>
              <a:buClr>
                <a:srgbClr val="DD8046"/>
              </a:buClr>
              <a:buSzPct val="59259"/>
              <a:buFont typeface="DejaVu Sans"/>
              <a:buChar char="◻"/>
              <a:tabLst>
                <a:tab pos="332740" algn="l"/>
              </a:tabLst>
            </a:pPr>
            <a:r>
              <a:rPr sz="2700" spc="45" dirty="0">
                <a:solidFill>
                  <a:srgbClr val="333333"/>
                </a:solidFill>
                <a:latin typeface="Arial"/>
                <a:cs typeface="Arial"/>
              </a:rPr>
              <a:t>We </a:t>
            </a:r>
            <a:r>
              <a:rPr sz="2700" spc="80" dirty="0">
                <a:solidFill>
                  <a:srgbClr val="333333"/>
                </a:solidFill>
                <a:latin typeface="Arial"/>
                <a:cs typeface="Arial"/>
              </a:rPr>
              <a:t>can </a:t>
            </a:r>
            <a:r>
              <a:rPr sz="2700" spc="155" dirty="0">
                <a:solidFill>
                  <a:srgbClr val="333333"/>
                </a:solidFill>
                <a:latin typeface="Arial"/>
                <a:cs typeface="Arial"/>
              </a:rPr>
              <a:t>throw </a:t>
            </a:r>
            <a:r>
              <a:rPr sz="2700" spc="95" dirty="0">
                <a:solidFill>
                  <a:srgbClr val="333333"/>
                </a:solidFill>
                <a:latin typeface="Arial"/>
                <a:cs typeface="Arial"/>
              </a:rPr>
              <a:t>either </a:t>
            </a:r>
            <a:r>
              <a:rPr sz="2700" spc="120" dirty="0">
                <a:solidFill>
                  <a:srgbClr val="333333"/>
                </a:solidFill>
                <a:latin typeface="Arial"/>
                <a:cs typeface="Arial"/>
              </a:rPr>
              <a:t>checked </a:t>
            </a:r>
            <a:r>
              <a:rPr sz="2700" spc="105" dirty="0">
                <a:solidFill>
                  <a:srgbClr val="333333"/>
                </a:solidFill>
                <a:latin typeface="Arial"/>
                <a:cs typeface="Arial"/>
              </a:rPr>
              <a:t>or unchecked  exceptions </a:t>
            </a:r>
            <a:r>
              <a:rPr sz="2700" spc="55" dirty="0">
                <a:solidFill>
                  <a:srgbClr val="333333"/>
                </a:solidFill>
                <a:latin typeface="Arial"/>
                <a:cs typeface="Arial"/>
              </a:rPr>
              <a:t>in </a:t>
            </a:r>
            <a:r>
              <a:rPr sz="2700" spc="75" dirty="0">
                <a:solidFill>
                  <a:srgbClr val="333333"/>
                </a:solidFill>
                <a:latin typeface="Arial"/>
                <a:cs typeface="Arial"/>
              </a:rPr>
              <a:t>Java </a:t>
            </a:r>
            <a:r>
              <a:rPr sz="2700" spc="160" dirty="0">
                <a:solidFill>
                  <a:srgbClr val="333333"/>
                </a:solidFill>
                <a:latin typeface="Arial"/>
                <a:cs typeface="Arial"/>
              </a:rPr>
              <a:t>by </a:t>
            </a:r>
            <a:r>
              <a:rPr sz="2700" spc="155" dirty="0">
                <a:solidFill>
                  <a:srgbClr val="333333"/>
                </a:solidFill>
                <a:latin typeface="Arial"/>
                <a:cs typeface="Arial"/>
              </a:rPr>
              <a:t>throw </a:t>
            </a:r>
            <a:r>
              <a:rPr sz="2700" spc="120" dirty="0">
                <a:solidFill>
                  <a:srgbClr val="333333"/>
                </a:solidFill>
                <a:latin typeface="Arial"/>
                <a:cs typeface="Arial"/>
              </a:rPr>
              <a:t>keyword. </a:t>
            </a:r>
            <a:r>
              <a:rPr sz="2700" spc="95" dirty="0">
                <a:solidFill>
                  <a:srgbClr val="333333"/>
                </a:solidFill>
                <a:latin typeface="Arial"/>
                <a:cs typeface="Arial"/>
              </a:rPr>
              <a:t>It </a:t>
            </a:r>
            <a:r>
              <a:rPr sz="2700" spc="45" dirty="0">
                <a:solidFill>
                  <a:srgbClr val="333333"/>
                </a:solidFill>
                <a:latin typeface="Arial"/>
                <a:cs typeface="Arial"/>
              </a:rPr>
              <a:t>is  </a:t>
            </a:r>
            <a:r>
              <a:rPr sz="2700" spc="65" dirty="0">
                <a:solidFill>
                  <a:srgbClr val="333333"/>
                </a:solidFill>
                <a:latin typeface="Arial"/>
                <a:cs typeface="Arial"/>
              </a:rPr>
              <a:t>mainly </a:t>
            </a:r>
            <a:r>
              <a:rPr sz="2700" spc="90" dirty="0">
                <a:solidFill>
                  <a:srgbClr val="6F2F9F"/>
                </a:solidFill>
                <a:latin typeface="Arial"/>
                <a:cs typeface="Arial"/>
              </a:rPr>
              <a:t>used </a:t>
            </a:r>
            <a:r>
              <a:rPr sz="2700" spc="170" dirty="0">
                <a:solidFill>
                  <a:srgbClr val="6F2F9F"/>
                </a:solidFill>
                <a:latin typeface="Arial"/>
                <a:cs typeface="Arial"/>
              </a:rPr>
              <a:t>to </a:t>
            </a:r>
            <a:r>
              <a:rPr sz="2700" spc="155" dirty="0">
                <a:solidFill>
                  <a:srgbClr val="6F2F9F"/>
                </a:solidFill>
                <a:latin typeface="Arial"/>
                <a:cs typeface="Arial"/>
              </a:rPr>
              <a:t>throw </a:t>
            </a:r>
            <a:r>
              <a:rPr sz="2700" spc="20" dirty="0">
                <a:solidFill>
                  <a:srgbClr val="6F2F9F"/>
                </a:solidFill>
                <a:latin typeface="Arial"/>
                <a:cs typeface="Arial"/>
              </a:rPr>
              <a:t>a </a:t>
            </a:r>
            <a:r>
              <a:rPr sz="2700" spc="120" dirty="0">
                <a:solidFill>
                  <a:srgbClr val="6F2F9F"/>
                </a:solidFill>
                <a:latin typeface="Arial"/>
                <a:cs typeface="Arial"/>
              </a:rPr>
              <a:t>custom</a:t>
            </a:r>
            <a:r>
              <a:rPr sz="2700" spc="-450" dirty="0">
                <a:solidFill>
                  <a:srgbClr val="6F2F9F"/>
                </a:solidFill>
                <a:latin typeface="Arial"/>
                <a:cs typeface="Arial"/>
              </a:rPr>
              <a:t> </a:t>
            </a:r>
            <a:r>
              <a:rPr sz="2700" spc="95" dirty="0">
                <a:solidFill>
                  <a:srgbClr val="6F2F9F"/>
                </a:solidFill>
                <a:latin typeface="Arial"/>
                <a:cs typeface="Arial"/>
              </a:rPr>
              <a:t>exception.</a:t>
            </a:r>
            <a:endParaRPr sz="2700">
              <a:latin typeface="Arial"/>
              <a:cs typeface="Arial"/>
            </a:endParaRPr>
          </a:p>
          <a:p>
            <a:pPr marL="332740" marR="7620" indent="-320040" algn="just">
              <a:lnSpc>
                <a:spcPct val="80200"/>
              </a:lnSpc>
              <a:spcBef>
                <a:spcPts val="690"/>
              </a:spcBef>
              <a:buClr>
                <a:srgbClr val="DD8046"/>
              </a:buClr>
              <a:buSzPct val="59259"/>
              <a:buFont typeface="DejaVu Sans"/>
              <a:buChar char="◻"/>
              <a:tabLst>
                <a:tab pos="332740" algn="l"/>
              </a:tabLst>
            </a:pPr>
            <a:r>
              <a:rPr sz="2700" spc="45" dirty="0">
                <a:solidFill>
                  <a:srgbClr val="333333"/>
                </a:solidFill>
                <a:latin typeface="Arial"/>
                <a:cs typeface="Arial"/>
              </a:rPr>
              <a:t>We </a:t>
            </a:r>
            <a:r>
              <a:rPr sz="2700" spc="80" dirty="0">
                <a:solidFill>
                  <a:srgbClr val="333333"/>
                </a:solidFill>
                <a:latin typeface="Arial"/>
                <a:cs typeface="Arial"/>
              </a:rPr>
              <a:t>can </a:t>
            </a:r>
            <a:r>
              <a:rPr sz="2700" spc="55" dirty="0">
                <a:solidFill>
                  <a:srgbClr val="333333"/>
                </a:solidFill>
                <a:latin typeface="Arial"/>
                <a:cs typeface="Arial"/>
              </a:rPr>
              <a:t>also </a:t>
            </a:r>
            <a:r>
              <a:rPr sz="2700" spc="110" dirty="0">
                <a:solidFill>
                  <a:srgbClr val="333333"/>
                </a:solidFill>
                <a:latin typeface="Arial"/>
                <a:cs typeface="Arial"/>
              </a:rPr>
              <a:t>define </a:t>
            </a:r>
            <a:r>
              <a:rPr sz="2700" spc="95" dirty="0">
                <a:solidFill>
                  <a:srgbClr val="333333"/>
                </a:solidFill>
                <a:latin typeface="Arial"/>
                <a:cs typeface="Arial"/>
              </a:rPr>
              <a:t>our </a:t>
            </a:r>
            <a:r>
              <a:rPr sz="2700" spc="145" dirty="0">
                <a:solidFill>
                  <a:srgbClr val="333333"/>
                </a:solidFill>
                <a:latin typeface="Arial"/>
                <a:cs typeface="Arial"/>
              </a:rPr>
              <a:t>own </a:t>
            </a:r>
            <a:r>
              <a:rPr sz="2700" spc="120" dirty="0">
                <a:solidFill>
                  <a:srgbClr val="333333"/>
                </a:solidFill>
                <a:latin typeface="Arial"/>
                <a:cs typeface="Arial"/>
              </a:rPr>
              <a:t>set </a:t>
            </a:r>
            <a:r>
              <a:rPr sz="2700" spc="170" dirty="0">
                <a:solidFill>
                  <a:srgbClr val="333333"/>
                </a:solidFill>
                <a:latin typeface="Arial"/>
                <a:cs typeface="Arial"/>
              </a:rPr>
              <a:t>of </a:t>
            </a:r>
            <a:r>
              <a:rPr sz="2700" spc="100" dirty="0">
                <a:solidFill>
                  <a:srgbClr val="333333"/>
                </a:solidFill>
                <a:latin typeface="Arial"/>
                <a:cs typeface="Arial"/>
              </a:rPr>
              <a:t>conditions  </a:t>
            </a:r>
            <a:r>
              <a:rPr sz="2700" spc="90" dirty="0">
                <a:solidFill>
                  <a:srgbClr val="333333"/>
                </a:solidFill>
                <a:latin typeface="Arial"/>
                <a:cs typeface="Arial"/>
              </a:rPr>
              <a:t>and </a:t>
            </a:r>
            <a:r>
              <a:rPr sz="2700" spc="155" dirty="0">
                <a:solidFill>
                  <a:srgbClr val="333333"/>
                </a:solidFill>
                <a:latin typeface="Arial"/>
                <a:cs typeface="Arial"/>
              </a:rPr>
              <a:t>throw </a:t>
            </a:r>
            <a:r>
              <a:rPr sz="2700" spc="45" dirty="0">
                <a:solidFill>
                  <a:srgbClr val="333333"/>
                </a:solidFill>
                <a:latin typeface="Arial"/>
                <a:cs typeface="Arial"/>
              </a:rPr>
              <a:t>an </a:t>
            </a:r>
            <a:r>
              <a:rPr sz="2700" spc="110" dirty="0">
                <a:solidFill>
                  <a:srgbClr val="333333"/>
                </a:solidFill>
                <a:latin typeface="Arial"/>
                <a:cs typeface="Arial"/>
              </a:rPr>
              <a:t>exception </a:t>
            </a:r>
            <a:r>
              <a:rPr sz="2700" spc="95" dirty="0">
                <a:solidFill>
                  <a:srgbClr val="333333"/>
                </a:solidFill>
                <a:latin typeface="Arial"/>
                <a:cs typeface="Arial"/>
              </a:rPr>
              <a:t>explicitly </a:t>
            </a:r>
            <a:r>
              <a:rPr sz="2700" spc="75" dirty="0">
                <a:solidFill>
                  <a:srgbClr val="333333"/>
                </a:solidFill>
                <a:latin typeface="Arial"/>
                <a:cs typeface="Arial"/>
              </a:rPr>
              <a:t>using </a:t>
            </a:r>
            <a:r>
              <a:rPr sz="2700" spc="155" dirty="0">
                <a:solidFill>
                  <a:srgbClr val="333333"/>
                </a:solidFill>
                <a:latin typeface="Arial"/>
                <a:cs typeface="Arial"/>
              </a:rPr>
              <a:t>throw  </a:t>
            </a:r>
            <a:r>
              <a:rPr sz="2700" spc="114" dirty="0">
                <a:solidFill>
                  <a:srgbClr val="333333"/>
                </a:solidFill>
                <a:latin typeface="Arial"/>
                <a:cs typeface="Arial"/>
              </a:rPr>
              <a:t>keyword.</a:t>
            </a:r>
            <a:endParaRPr sz="2700">
              <a:latin typeface="Arial"/>
              <a:cs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64312"/>
            <a:ext cx="2092325" cy="757555"/>
          </a:xfrm>
          <a:prstGeom prst="rect">
            <a:avLst/>
          </a:prstGeom>
        </p:spPr>
        <p:txBody>
          <a:bodyPr vert="horz" wrap="square" lIns="0" tIns="12700" rIns="0" bIns="0" rtlCol="0">
            <a:spAutoFit/>
          </a:bodyPr>
          <a:lstStyle/>
          <a:p>
            <a:pPr marL="12700">
              <a:lnSpc>
                <a:spcPct val="100000"/>
              </a:lnSpc>
              <a:spcBef>
                <a:spcPts val="100"/>
              </a:spcBef>
            </a:pPr>
            <a:r>
              <a:rPr sz="4800" dirty="0"/>
              <a:t>Throw..</a:t>
            </a:r>
            <a:endParaRPr sz="4800"/>
          </a:p>
        </p:txBody>
      </p:sp>
      <p:sp>
        <p:nvSpPr>
          <p:cNvPr id="3" name="object 3"/>
          <p:cNvSpPr txBox="1"/>
          <p:nvPr/>
        </p:nvSpPr>
        <p:spPr>
          <a:xfrm>
            <a:off x="535940" y="1619453"/>
            <a:ext cx="8149590" cy="3860165"/>
          </a:xfrm>
          <a:prstGeom prst="rect">
            <a:avLst/>
          </a:prstGeom>
        </p:spPr>
        <p:txBody>
          <a:bodyPr vert="horz" wrap="square" lIns="0" tIns="12700" rIns="0" bIns="0" rtlCol="0">
            <a:spAutoFit/>
          </a:bodyPr>
          <a:lstStyle/>
          <a:p>
            <a:pPr marL="332740" marR="7620" indent="-320040" algn="just">
              <a:lnSpc>
                <a:spcPct val="100000"/>
              </a:lnSpc>
              <a:spcBef>
                <a:spcPts val="100"/>
              </a:spcBef>
              <a:buClr>
                <a:srgbClr val="DD8046"/>
              </a:buClr>
              <a:buSzPct val="63333"/>
              <a:buFont typeface="DejaVu Sans"/>
              <a:buChar char="◻"/>
              <a:tabLst>
                <a:tab pos="332740" algn="l"/>
              </a:tabLst>
            </a:pPr>
            <a:r>
              <a:rPr sz="3000" dirty="0">
                <a:latin typeface="Times New Roman"/>
                <a:cs typeface="Times New Roman"/>
              </a:rPr>
              <a:t>Here, ThrowableInstance must </a:t>
            </a:r>
            <a:r>
              <a:rPr sz="3000" spc="-5" dirty="0">
                <a:latin typeface="Times New Roman"/>
                <a:cs typeface="Times New Roman"/>
              </a:rPr>
              <a:t>be an </a:t>
            </a:r>
            <a:r>
              <a:rPr sz="3000" dirty="0">
                <a:latin typeface="Times New Roman"/>
                <a:cs typeface="Times New Roman"/>
              </a:rPr>
              <a:t>object </a:t>
            </a:r>
            <a:r>
              <a:rPr sz="3000" spc="5" dirty="0">
                <a:latin typeface="Times New Roman"/>
                <a:cs typeface="Times New Roman"/>
              </a:rPr>
              <a:t>of </a:t>
            </a:r>
            <a:r>
              <a:rPr sz="3000" dirty="0">
                <a:latin typeface="Times New Roman"/>
                <a:cs typeface="Times New Roman"/>
              </a:rPr>
              <a:t>type  Throwable or a </a:t>
            </a:r>
            <a:r>
              <a:rPr sz="3000" spc="-5" dirty="0">
                <a:latin typeface="Times New Roman"/>
                <a:cs typeface="Times New Roman"/>
              </a:rPr>
              <a:t>subclass </a:t>
            </a:r>
            <a:r>
              <a:rPr sz="3000" dirty="0">
                <a:latin typeface="Times New Roman"/>
                <a:cs typeface="Times New Roman"/>
              </a:rPr>
              <a:t>of</a:t>
            </a:r>
            <a:r>
              <a:rPr sz="3000" spc="5" dirty="0">
                <a:latin typeface="Times New Roman"/>
                <a:cs typeface="Times New Roman"/>
              </a:rPr>
              <a:t> </a:t>
            </a:r>
            <a:r>
              <a:rPr sz="3000" dirty="0">
                <a:latin typeface="Times New Roman"/>
                <a:cs typeface="Times New Roman"/>
              </a:rPr>
              <a:t>Throwable.</a:t>
            </a:r>
            <a:endParaRPr sz="3000">
              <a:latin typeface="Times New Roman"/>
              <a:cs typeface="Times New Roman"/>
            </a:endParaRPr>
          </a:p>
          <a:p>
            <a:pPr marL="332740" marR="5080" indent="-320040" algn="just">
              <a:lnSpc>
                <a:spcPct val="100000"/>
              </a:lnSpc>
              <a:spcBef>
                <a:spcPts val="710"/>
              </a:spcBef>
              <a:buClr>
                <a:srgbClr val="DD8046"/>
              </a:buClr>
              <a:buSzPct val="63333"/>
              <a:buFont typeface="DejaVu Sans"/>
              <a:buChar char="◻"/>
              <a:tabLst>
                <a:tab pos="332740" algn="l"/>
              </a:tabLst>
            </a:pPr>
            <a:r>
              <a:rPr sz="3000" dirty="0">
                <a:latin typeface="Times New Roman"/>
                <a:cs typeface="Times New Roman"/>
              </a:rPr>
              <a:t>There are two </a:t>
            </a:r>
            <a:r>
              <a:rPr sz="3000" spc="-5" dirty="0">
                <a:latin typeface="Times New Roman"/>
                <a:cs typeface="Times New Roman"/>
              </a:rPr>
              <a:t>ways you can obtain </a:t>
            </a:r>
            <a:r>
              <a:rPr sz="3000" dirty="0">
                <a:latin typeface="Times New Roman"/>
                <a:cs typeface="Times New Roman"/>
              </a:rPr>
              <a:t>a Throwable  object: </a:t>
            </a:r>
            <a:r>
              <a:rPr sz="3000" spc="-5" dirty="0">
                <a:latin typeface="Times New Roman"/>
                <a:cs typeface="Times New Roman"/>
              </a:rPr>
              <a:t>using </a:t>
            </a:r>
            <a:r>
              <a:rPr sz="3000" dirty="0">
                <a:latin typeface="Times New Roman"/>
                <a:cs typeface="Times New Roman"/>
              </a:rPr>
              <a:t>a </a:t>
            </a:r>
            <a:r>
              <a:rPr sz="3000" spc="-5" dirty="0">
                <a:latin typeface="Times New Roman"/>
                <a:cs typeface="Times New Roman"/>
              </a:rPr>
              <a:t>parameter in </a:t>
            </a:r>
            <a:r>
              <a:rPr sz="3000" dirty="0">
                <a:latin typeface="Times New Roman"/>
                <a:cs typeface="Times New Roman"/>
              </a:rPr>
              <a:t>a catch </a:t>
            </a:r>
            <a:r>
              <a:rPr sz="3000" spc="-5" dirty="0">
                <a:latin typeface="Times New Roman"/>
                <a:cs typeface="Times New Roman"/>
              </a:rPr>
              <a:t>clause, </a:t>
            </a:r>
            <a:r>
              <a:rPr sz="3000" dirty="0">
                <a:latin typeface="Times New Roman"/>
                <a:cs typeface="Times New Roman"/>
              </a:rPr>
              <a:t>or  creating one with the </a:t>
            </a:r>
            <a:r>
              <a:rPr sz="3000" spc="-5" dirty="0">
                <a:latin typeface="Times New Roman"/>
                <a:cs typeface="Times New Roman"/>
              </a:rPr>
              <a:t>new</a:t>
            </a:r>
            <a:r>
              <a:rPr sz="3000" spc="30" dirty="0">
                <a:latin typeface="Times New Roman"/>
                <a:cs typeface="Times New Roman"/>
              </a:rPr>
              <a:t> </a:t>
            </a:r>
            <a:r>
              <a:rPr sz="3000" spc="-5" dirty="0">
                <a:latin typeface="Times New Roman"/>
                <a:cs typeface="Times New Roman"/>
              </a:rPr>
              <a:t>operator.</a:t>
            </a:r>
            <a:endParaRPr sz="3000">
              <a:latin typeface="Times New Roman"/>
              <a:cs typeface="Times New Roman"/>
            </a:endParaRPr>
          </a:p>
          <a:p>
            <a:pPr marL="332740" indent="-320040" algn="just">
              <a:lnSpc>
                <a:spcPct val="100000"/>
              </a:lnSpc>
              <a:spcBef>
                <a:spcPts val="700"/>
              </a:spcBef>
              <a:buClr>
                <a:srgbClr val="DD8046"/>
              </a:buClr>
              <a:buSzPct val="63333"/>
              <a:buFont typeface="DejaVu Sans"/>
              <a:buChar char="◻"/>
              <a:tabLst>
                <a:tab pos="332740" algn="l"/>
              </a:tabLst>
            </a:pPr>
            <a:r>
              <a:rPr sz="3000" dirty="0">
                <a:latin typeface="Times New Roman"/>
                <a:cs typeface="Times New Roman"/>
              </a:rPr>
              <a:t>Example</a:t>
            </a:r>
            <a:endParaRPr sz="3000">
              <a:latin typeface="Times New Roman"/>
              <a:cs typeface="Times New Roman"/>
            </a:endParaRPr>
          </a:p>
          <a:p>
            <a:pPr marL="332740">
              <a:lnSpc>
                <a:spcPct val="100000"/>
              </a:lnSpc>
              <a:spcBef>
                <a:spcPts val="5"/>
              </a:spcBef>
            </a:pPr>
            <a:r>
              <a:rPr sz="2700" b="1" spc="-245" dirty="0">
                <a:solidFill>
                  <a:srgbClr val="006699"/>
                </a:solidFill>
                <a:latin typeface="Verdana"/>
                <a:cs typeface="Verdana"/>
              </a:rPr>
              <a:t>throw </a:t>
            </a:r>
            <a:r>
              <a:rPr sz="2700" b="1" spc="-260" dirty="0">
                <a:solidFill>
                  <a:srgbClr val="006699"/>
                </a:solidFill>
                <a:latin typeface="Verdana"/>
                <a:cs typeface="Verdana"/>
              </a:rPr>
              <a:t>new </a:t>
            </a:r>
            <a:r>
              <a:rPr sz="2700" spc="75" dirty="0">
                <a:latin typeface="Arial"/>
                <a:cs typeface="Arial"/>
              </a:rPr>
              <a:t>exception_class(</a:t>
            </a:r>
            <a:r>
              <a:rPr sz="2700" spc="75" dirty="0">
                <a:solidFill>
                  <a:srgbClr val="0000FF"/>
                </a:solidFill>
                <a:latin typeface="Arial"/>
                <a:cs typeface="Arial"/>
              </a:rPr>
              <a:t>"error</a:t>
            </a:r>
            <a:r>
              <a:rPr sz="2700" spc="190" dirty="0">
                <a:solidFill>
                  <a:srgbClr val="0000FF"/>
                </a:solidFill>
                <a:latin typeface="Arial"/>
                <a:cs typeface="Arial"/>
              </a:rPr>
              <a:t> </a:t>
            </a:r>
            <a:r>
              <a:rPr sz="2700" spc="75" dirty="0">
                <a:solidFill>
                  <a:srgbClr val="0000FF"/>
                </a:solidFill>
                <a:latin typeface="Arial"/>
                <a:cs typeface="Arial"/>
              </a:rPr>
              <a:t>message"</a:t>
            </a:r>
            <a:r>
              <a:rPr sz="2700" spc="75" dirty="0">
                <a:latin typeface="Arial"/>
                <a:cs typeface="Arial"/>
              </a:rPr>
              <a:t>);</a:t>
            </a:r>
            <a:endParaRPr sz="2700">
              <a:latin typeface="Arial"/>
              <a:cs typeface="Arial"/>
            </a:endParaRPr>
          </a:p>
          <a:p>
            <a:pPr marL="250190">
              <a:lnSpc>
                <a:spcPct val="100000"/>
              </a:lnSpc>
              <a:spcBef>
                <a:spcPts val="695"/>
              </a:spcBef>
            </a:pPr>
            <a:r>
              <a:rPr sz="2700" b="1" spc="-245" dirty="0">
                <a:solidFill>
                  <a:srgbClr val="006699"/>
                </a:solidFill>
                <a:latin typeface="Verdana"/>
                <a:cs typeface="Verdana"/>
              </a:rPr>
              <a:t>throw </a:t>
            </a:r>
            <a:r>
              <a:rPr sz="2700" b="1" spc="-260" dirty="0">
                <a:solidFill>
                  <a:srgbClr val="006699"/>
                </a:solidFill>
                <a:latin typeface="Verdana"/>
                <a:cs typeface="Verdana"/>
              </a:rPr>
              <a:t>new </a:t>
            </a:r>
            <a:r>
              <a:rPr sz="2700" spc="75" dirty="0">
                <a:latin typeface="Arial"/>
                <a:cs typeface="Arial"/>
              </a:rPr>
              <a:t>IOException(</a:t>
            </a:r>
            <a:r>
              <a:rPr sz="2700" spc="75" dirty="0">
                <a:solidFill>
                  <a:srgbClr val="0000FF"/>
                </a:solidFill>
                <a:latin typeface="Arial"/>
                <a:cs typeface="Arial"/>
              </a:rPr>
              <a:t>"sorry </a:t>
            </a:r>
            <a:r>
              <a:rPr sz="2700" spc="110" dirty="0">
                <a:solidFill>
                  <a:srgbClr val="0000FF"/>
                </a:solidFill>
                <a:latin typeface="Arial"/>
                <a:cs typeface="Arial"/>
              </a:rPr>
              <a:t>device</a:t>
            </a:r>
            <a:r>
              <a:rPr sz="2700" spc="114" dirty="0">
                <a:solidFill>
                  <a:srgbClr val="0000FF"/>
                </a:solidFill>
                <a:latin typeface="Arial"/>
                <a:cs typeface="Arial"/>
              </a:rPr>
              <a:t> </a:t>
            </a:r>
            <a:r>
              <a:rPr sz="2700" spc="85" dirty="0">
                <a:solidFill>
                  <a:srgbClr val="0000FF"/>
                </a:solidFill>
                <a:latin typeface="Arial"/>
                <a:cs typeface="Arial"/>
              </a:rPr>
              <a:t>error"</a:t>
            </a:r>
            <a:r>
              <a:rPr sz="2700" spc="85" dirty="0">
                <a:latin typeface="Arial"/>
                <a:cs typeface="Arial"/>
              </a:rPr>
              <a:t>);</a:t>
            </a:r>
            <a:endParaRPr sz="2700">
              <a:latin typeface="Arial"/>
              <a:cs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64312"/>
            <a:ext cx="2092325" cy="757555"/>
          </a:xfrm>
          <a:prstGeom prst="rect">
            <a:avLst/>
          </a:prstGeom>
        </p:spPr>
        <p:txBody>
          <a:bodyPr vert="horz" wrap="square" lIns="0" tIns="12700" rIns="0" bIns="0" rtlCol="0">
            <a:spAutoFit/>
          </a:bodyPr>
          <a:lstStyle/>
          <a:p>
            <a:pPr marL="12700">
              <a:lnSpc>
                <a:spcPct val="100000"/>
              </a:lnSpc>
              <a:spcBef>
                <a:spcPts val="100"/>
              </a:spcBef>
            </a:pPr>
            <a:r>
              <a:rPr sz="4800" dirty="0"/>
              <a:t>Throw..</a:t>
            </a:r>
            <a:endParaRPr sz="4800"/>
          </a:p>
        </p:txBody>
      </p:sp>
      <p:sp>
        <p:nvSpPr>
          <p:cNvPr id="3" name="object 3"/>
          <p:cNvSpPr txBox="1"/>
          <p:nvPr/>
        </p:nvSpPr>
        <p:spPr>
          <a:xfrm>
            <a:off x="535940" y="1573733"/>
            <a:ext cx="8148955" cy="4777740"/>
          </a:xfrm>
          <a:prstGeom prst="rect">
            <a:avLst/>
          </a:prstGeom>
        </p:spPr>
        <p:txBody>
          <a:bodyPr vert="horz" wrap="square" lIns="0" tIns="58419" rIns="0" bIns="0" rtlCol="0">
            <a:spAutoFit/>
          </a:bodyPr>
          <a:lstStyle/>
          <a:p>
            <a:pPr marL="332740" marR="5080" indent="-320040" algn="just">
              <a:lnSpc>
                <a:spcPct val="90000"/>
              </a:lnSpc>
              <a:spcBef>
                <a:spcPts val="459"/>
              </a:spcBef>
              <a:buClr>
                <a:srgbClr val="DD8046"/>
              </a:buClr>
              <a:buSzPct val="60000"/>
              <a:buFont typeface="DejaVu Sans"/>
              <a:buChar char="◻"/>
              <a:tabLst>
                <a:tab pos="332740" algn="l"/>
              </a:tabLst>
            </a:pPr>
            <a:r>
              <a:rPr sz="3000" dirty="0">
                <a:latin typeface="Times New Roman"/>
                <a:cs typeface="Times New Roman"/>
              </a:rPr>
              <a:t>The </a:t>
            </a:r>
            <a:r>
              <a:rPr sz="3000" spc="-5" dirty="0">
                <a:latin typeface="Times New Roman"/>
                <a:cs typeface="Times New Roman"/>
              </a:rPr>
              <a:t>flow of </a:t>
            </a:r>
            <a:r>
              <a:rPr sz="3000" dirty="0">
                <a:latin typeface="Times New Roman"/>
                <a:cs typeface="Times New Roman"/>
              </a:rPr>
              <a:t>execution </a:t>
            </a:r>
            <a:r>
              <a:rPr sz="3000" spc="-5" dirty="0">
                <a:latin typeface="Times New Roman"/>
                <a:cs typeface="Times New Roman"/>
              </a:rPr>
              <a:t>stops </a:t>
            </a:r>
            <a:r>
              <a:rPr sz="3000" dirty="0">
                <a:latin typeface="Times New Roman"/>
                <a:cs typeface="Times New Roman"/>
              </a:rPr>
              <a:t>immediately after the  </a:t>
            </a:r>
            <a:r>
              <a:rPr sz="3000" spc="-5" dirty="0">
                <a:latin typeface="Times New Roman"/>
                <a:cs typeface="Times New Roman"/>
              </a:rPr>
              <a:t>throw </a:t>
            </a:r>
            <a:r>
              <a:rPr sz="3000" dirty="0">
                <a:latin typeface="Times New Roman"/>
                <a:cs typeface="Times New Roman"/>
              </a:rPr>
              <a:t>statement; any subsequent statements are  not executed. The nearest enclosing </a:t>
            </a:r>
            <a:r>
              <a:rPr sz="3000" spc="-5" dirty="0">
                <a:latin typeface="Times New Roman"/>
                <a:cs typeface="Times New Roman"/>
              </a:rPr>
              <a:t>try </a:t>
            </a:r>
            <a:r>
              <a:rPr sz="3000" dirty="0">
                <a:latin typeface="Times New Roman"/>
                <a:cs typeface="Times New Roman"/>
              </a:rPr>
              <a:t>block </a:t>
            </a:r>
            <a:r>
              <a:rPr sz="3000" spc="-10" dirty="0">
                <a:latin typeface="Times New Roman"/>
                <a:cs typeface="Times New Roman"/>
              </a:rPr>
              <a:t>is  </a:t>
            </a:r>
            <a:r>
              <a:rPr sz="3000" dirty="0">
                <a:latin typeface="Times New Roman"/>
                <a:cs typeface="Times New Roman"/>
              </a:rPr>
              <a:t>inspected </a:t>
            </a:r>
            <a:r>
              <a:rPr sz="3000" spc="-5" dirty="0">
                <a:latin typeface="Times New Roman"/>
                <a:cs typeface="Times New Roman"/>
              </a:rPr>
              <a:t>to </a:t>
            </a:r>
            <a:r>
              <a:rPr sz="3000" dirty="0">
                <a:latin typeface="Times New Roman"/>
                <a:cs typeface="Times New Roman"/>
              </a:rPr>
              <a:t>see </a:t>
            </a:r>
            <a:r>
              <a:rPr sz="3000" spc="-5" dirty="0">
                <a:latin typeface="Times New Roman"/>
                <a:cs typeface="Times New Roman"/>
              </a:rPr>
              <a:t>if it has </a:t>
            </a:r>
            <a:r>
              <a:rPr sz="3000" dirty="0">
                <a:latin typeface="Times New Roman"/>
                <a:cs typeface="Times New Roman"/>
              </a:rPr>
              <a:t>a </a:t>
            </a:r>
            <a:r>
              <a:rPr sz="3000" spc="-5" dirty="0">
                <a:latin typeface="Times New Roman"/>
                <a:cs typeface="Times New Roman"/>
              </a:rPr>
              <a:t>catch </a:t>
            </a:r>
            <a:r>
              <a:rPr sz="3000" dirty="0">
                <a:latin typeface="Times New Roman"/>
                <a:cs typeface="Times New Roman"/>
              </a:rPr>
              <a:t>statement that  matches the type of exception. </a:t>
            </a:r>
            <a:r>
              <a:rPr sz="3000" spc="-5" dirty="0">
                <a:latin typeface="Times New Roman"/>
                <a:cs typeface="Times New Roman"/>
              </a:rPr>
              <a:t>If it </a:t>
            </a:r>
            <a:r>
              <a:rPr sz="3000" dirty="0">
                <a:latin typeface="Times New Roman"/>
                <a:cs typeface="Times New Roman"/>
              </a:rPr>
              <a:t>does </a:t>
            </a:r>
            <a:r>
              <a:rPr sz="3000" spc="-5" dirty="0">
                <a:latin typeface="Times New Roman"/>
                <a:cs typeface="Times New Roman"/>
              </a:rPr>
              <a:t>find </a:t>
            </a:r>
            <a:r>
              <a:rPr sz="3000" dirty="0">
                <a:latin typeface="Times New Roman"/>
                <a:cs typeface="Times New Roman"/>
              </a:rPr>
              <a:t>a  match, </a:t>
            </a:r>
            <a:r>
              <a:rPr sz="3000" spc="-5" dirty="0">
                <a:latin typeface="Times New Roman"/>
                <a:cs typeface="Times New Roman"/>
              </a:rPr>
              <a:t>control </a:t>
            </a:r>
            <a:r>
              <a:rPr sz="3000" spc="-10" dirty="0">
                <a:latin typeface="Times New Roman"/>
                <a:cs typeface="Times New Roman"/>
              </a:rPr>
              <a:t>is </a:t>
            </a:r>
            <a:r>
              <a:rPr sz="3000" spc="-5" dirty="0">
                <a:latin typeface="Times New Roman"/>
                <a:cs typeface="Times New Roman"/>
              </a:rPr>
              <a:t>transferred to </a:t>
            </a:r>
            <a:r>
              <a:rPr sz="3000" dirty="0">
                <a:latin typeface="Times New Roman"/>
                <a:cs typeface="Times New Roman"/>
              </a:rPr>
              <a:t>that</a:t>
            </a:r>
            <a:r>
              <a:rPr sz="3000" spc="120" dirty="0">
                <a:latin typeface="Times New Roman"/>
                <a:cs typeface="Times New Roman"/>
              </a:rPr>
              <a:t> </a:t>
            </a:r>
            <a:r>
              <a:rPr sz="3000" spc="-5" dirty="0">
                <a:latin typeface="Times New Roman"/>
                <a:cs typeface="Times New Roman"/>
              </a:rPr>
              <a:t>statement.</a:t>
            </a:r>
            <a:endParaRPr sz="3000">
              <a:latin typeface="Times New Roman"/>
              <a:cs typeface="Times New Roman"/>
            </a:endParaRPr>
          </a:p>
          <a:p>
            <a:pPr marL="332740" marR="5080" indent="-320040" algn="just">
              <a:lnSpc>
                <a:spcPts val="3240"/>
              </a:lnSpc>
              <a:spcBef>
                <a:spcPts val="755"/>
              </a:spcBef>
              <a:buClr>
                <a:srgbClr val="DD8046"/>
              </a:buClr>
              <a:buSzPct val="60000"/>
              <a:buFont typeface="DejaVu Sans"/>
              <a:buChar char="◻"/>
              <a:tabLst>
                <a:tab pos="332740" algn="l"/>
              </a:tabLst>
            </a:pPr>
            <a:r>
              <a:rPr sz="3000" spc="-5" dirty="0">
                <a:latin typeface="Times New Roman"/>
                <a:cs typeface="Times New Roman"/>
              </a:rPr>
              <a:t>If not, </a:t>
            </a:r>
            <a:r>
              <a:rPr sz="3000" dirty="0">
                <a:latin typeface="Times New Roman"/>
                <a:cs typeface="Times New Roman"/>
              </a:rPr>
              <a:t>then the next enclosing </a:t>
            </a:r>
            <a:r>
              <a:rPr sz="3000" spc="-5" dirty="0">
                <a:latin typeface="Times New Roman"/>
                <a:cs typeface="Times New Roman"/>
              </a:rPr>
              <a:t>try statement is  </a:t>
            </a:r>
            <a:r>
              <a:rPr sz="3000" dirty="0">
                <a:latin typeface="Times New Roman"/>
                <a:cs typeface="Times New Roman"/>
              </a:rPr>
              <a:t>inspected, </a:t>
            </a:r>
            <a:r>
              <a:rPr sz="3000" spc="-5" dirty="0">
                <a:latin typeface="Times New Roman"/>
                <a:cs typeface="Times New Roman"/>
              </a:rPr>
              <a:t>and so</a:t>
            </a:r>
            <a:r>
              <a:rPr sz="3000" spc="15" dirty="0">
                <a:latin typeface="Times New Roman"/>
                <a:cs typeface="Times New Roman"/>
              </a:rPr>
              <a:t> </a:t>
            </a:r>
            <a:r>
              <a:rPr sz="3000" dirty="0">
                <a:latin typeface="Times New Roman"/>
                <a:cs typeface="Times New Roman"/>
              </a:rPr>
              <a:t>on.</a:t>
            </a:r>
            <a:endParaRPr sz="3000">
              <a:latin typeface="Times New Roman"/>
              <a:cs typeface="Times New Roman"/>
            </a:endParaRPr>
          </a:p>
          <a:p>
            <a:pPr marL="332740" marR="5715" indent="-320040" algn="just">
              <a:lnSpc>
                <a:spcPct val="90000"/>
              </a:lnSpc>
              <a:spcBef>
                <a:spcPts val="655"/>
              </a:spcBef>
              <a:buClr>
                <a:srgbClr val="DD8046"/>
              </a:buClr>
              <a:buSzPct val="60000"/>
              <a:buFont typeface="DejaVu Sans"/>
              <a:buChar char="◻"/>
              <a:tabLst>
                <a:tab pos="332740" algn="l"/>
              </a:tabLst>
            </a:pPr>
            <a:r>
              <a:rPr sz="3000" spc="-5" dirty="0">
                <a:latin typeface="Times New Roman"/>
                <a:cs typeface="Times New Roman"/>
              </a:rPr>
              <a:t>If </a:t>
            </a:r>
            <a:r>
              <a:rPr sz="3000" dirty="0">
                <a:latin typeface="Times New Roman"/>
                <a:cs typeface="Times New Roman"/>
              </a:rPr>
              <a:t>no matching catch </a:t>
            </a:r>
            <a:r>
              <a:rPr sz="3000" spc="-10" dirty="0">
                <a:latin typeface="Times New Roman"/>
                <a:cs typeface="Times New Roman"/>
              </a:rPr>
              <a:t>is </a:t>
            </a:r>
            <a:r>
              <a:rPr sz="3000" dirty="0">
                <a:latin typeface="Times New Roman"/>
                <a:cs typeface="Times New Roman"/>
              </a:rPr>
              <a:t>found, then the default  exception </a:t>
            </a:r>
            <a:r>
              <a:rPr sz="3000" spc="-5" dirty="0">
                <a:latin typeface="Times New Roman"/>
                <a:cs typeface="Times New Roman"/>
              </a:rPr>
              <a:t>handler </a:t>
            </a:r>
            <a:r>
              <a:rPr sz="3000" dirty="0">
                <a:latin typeface="Times New Roman"/>
                <a:cs typeface="Times New Roman"/>
              </a:rPr>
              <a:t>halts the program and </a:t>
            </a:r>
            <a:r>
              <a:rPr sz="3000" spc="-5" dirty="0">
                <a:latin typeface="Times New Roman"/>
                <a:cs typeface="Times New Roman"/>
              </a:rPr>
              <a:t>Prints </a:t>
            </a:r>
            <a:r>
              <a:rPr sz="3000" dirty="0">
                <a:latin typeface="Times New Roman"/>
                <a:cs typeface="Times New Roman"/>
              </a:rPr>
              <a:t>the  error</a:t>
            </a:r>
            <a:r>
              <a:rPr sz="3000" spc="5" dirty="0">
                <a:latin typeface="Times New Roman"/>
                <a:cs typeface="Times New Roman"/>
              </a:rPr>
              <a:t> </a:t>
            </a:r>
            <a:r>
              <a:rPr sz="3000" spc="-5" dirty="0">
                <a:latin typeface="Times New Roman"/>
                <a:cs typeface="Times New Roman"/>
              </a:rPr>
              <a:t>message.</a:t>
            </a:r>
            <a:endParaRPr sz="3000">
              <a:latin typeface="Times New Roman"/>
              <a:cs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150063"/>
            <a:ext cx="7996555" cy="1120775"/>
          </a:xfrm>
          <a:prstGeom prst="rect">
            <a:avLst/>
          </a:prstGeom>
        </p:spPr>
        <p:txBody>
          <a:bodyPr vert="horz" wrap="square" lIns="0" tIns="33020" rIns="0" bIns="0" rtlCol="0">
            <a:spAutoFit/>
          </a:bodyPr>
          <a:lstStyle/>
          <a:p>
            <a:pPr marL="12700" marR="5080">
              <a:lnSpc>
                <a:spcPts val="4300"/>
              </a:lnSpc>
              <a:spcBef>
                <a:spcPts val="260"/>
              </a:spcBef>
              <a:tabLst>
                <a:tab pos="2338705" algn="l"/>
                <a:tab pos="3266440" algn="l"/>
                <a:tab pos="5694680" algn="l"/>
              </a:tabLst>
            </a:pPr>
            <a:r>
              <a:rPr sz="3600" b="0" dirty="0">
                <a:solidFill>
                  <a:srgbClr val="600A4A"/>
                </a:solidFill>
                <a:latin typeface="Arial"/>
                <a:cs typeface="Arial"/>
              </a:rPr>
              <a:t>Example	1:	Throwing	Unchecked  </a:t>
            </a:r>
            <a:r>
              <a:rPr sz="3600" b="0" spc="-5" dirty="0">
                <a:solidFill>
                  <a:srgbClr val="600A4A"/>
                </a:solidFill>
                <a:latin typeface="Arial"/>
                <a:cs typeface="Arial"/>
              </a:rPr>
              <a:t>Exception</a:t>
            </a:r>
            <a:endParaRPr sz="3600">
              <a:latin typeface="Arial"/>
              <a:cs typeface="Arial"/>
            </a:endParaRPr>
          </a:p>
        </p:txBody>
      </p:sp>
      <p:sp>
        <p:nvSpPr>
          <p:cNvPr id="3" name="object 3"/>
          <p:cNvSpPr txBox="1"/>
          <p:nvPr/>
        </p:nvSpPr>
        <p:spPr>
          <a:xfrm>
            <a:off x="691387" y="1534947"/>
            <a:ext cx="6862445" cy="4857115"/>
          </a:xfrm>
          <a:prstGeom prst="rect">
            <a:avLst/>
          </a:prstGeom>
        </p:spPr>
        <p:txBody>
          <a:bodyPr vert="horz" wrap="square" lIns="0" tIns="53975" rIns="0" bIns="0" rtlCol="0">
            <a:spAutoFit/>
          </a:bodyPr>
          <a:lstStyle/>
          <a:p>
            <a:pPr marL="12700">
              <a:lnSpc>
                <a:spcPct val="100000"/>
              </a:lnSpc>
              <a:spcBef>
                <a:spcPts val="425"/>
              </a:spcBef>
            </a:pPr>
            <a:r>
              <a:rPr sz="1600" b="1" spc="-100" dirty="0">
                <a:solidFill>
                  <a:srgbClr val="006699"/>
                </a:solidFill>
                <a:latin typeface="Verdana"/>
                <a:cs typeface="Verdana"/>
              </a:rPr>
              <a:t>public </a:t>
            </a:r>
            <a:r>
              <a:rPr sz="1600" b="1" spc="-80" dirty="0">
                <a:solidFill>
                  <a:srgbClr val="006699"/>
                </a:solidFill>
                <a:latin typeface="Verdana"/>
                <a:cs typeface="Verdana"/>
              </a:rPr>
              <a:t>class </a:t>
            </a:r>
            <a:r>
              <a:rPr sz="1600" spc="40" dirty="0">
                <a:latin typeface="Arial"/>
                <a:cs typeface="Arial"/>
              </a:rPr>
              <a:t>TestThrow1 {</a:t>
            </a:r>
            <a:endParaRPr sz="1600">
              <a:latin typeface="Arial"/>
              <a:cs typeface="Arial"/>
            </a:endParaRPr>
          </a:p>
          <a:p>
            <a:pPr marL="241300">
              <a:lnSpc>
                <a:spcPct val="100000"/>
              </a:lnSpc>
              <a:spcBef>
                <a:spcPts val="330"/>
              </a:spcBef>
            </a:pPr>
            <a:r>
              <a:rPr sz="1600" spc="75" dirty="0">
                <a:solidFill>
                  <a:srgbClr val="008200"/>
                </a:solidFill>
                <a:latin typeface="Arial"/>
                <a:cs typeface="Arial"/>
              </a:rPr>
              <a:t>//function</a:t>
            </a:r>
            <a:r>
              <a:rPr sz="1600" spc="20" dirty="0">
                <a:solidFill>
                  <a:srgbClr val="008200"/>
                </a:solidFill>
                <a:latin typeface="Arial"/>
                <a:cs typeface="Arial"/>
              </a:rPr>
              <a:t> </a:t>
            </a:r>
            <a:r>
              <a:rPr sz="1600" spc="95" dirty="0">
                <a:solidFill>
                  <a:srgbClr val="008200"/>
                </a:solidFill>
                <a:latin typeface="Arial"/>
                <a:cs typeface="Arial"/>
              </a:rPr>
              <a:t>to</a:t>
            </a:r>
            <a:r>
              <a:rPr sz="1600" spc="15" dirty="0">
                <a:solidFill>
                  <a:srgbClr val="008200"/>
                </a:solidFill>
                <a:latin typeface="Arial"/>
                <a:cs typeface="Arial"/>
              </a:rPr>
              <a:t> </a:t>
            </a:r>
            <a:r>
              <a:rPr sz="1600" spc="60" dirty="0">
                <a:solidFill>
                  <a:srgbClr val="008200"/>
                </a:solidFill>
                <a:latin typeface="Arial"/>
                <a:cs typeface="Arial"/>
              </a:rPr>
              <a:t>check</a:t>
            </a:r>
            <a:r>
              <a:rPr sz="1600" spc="15" dirty="0">
                <a:solidFill>
                  <a:srgbClr val="008200"/>
                </a:solidFill>
                <a:latin typeface="Arial"/>
                <a:cs typeface="Arial"/>
              </a:rPr>
              <a:t> </a:t>
            </a:r>
            <a:r>
              <a:rPr sz="1600" spc="75" dirty="0">
                <a:solidFill>
                  <a:srgbClr val="008200"/>
                </a:solidFill>
                <a:latin typeface="Arial"/>
                <a:cs typeface="Arial"/>
              </a:rPr>
              <a:t>if</a:t>
            </a:r>
            <a:r>
              <a:rPr sz="1600" dirty="0">
                <a:solidFill>
                  <a:srgbClr val="008200"/>
                </a:solidFill>
                <a:latin typeface="Arial"/>
                <a:cs typeface="Arial"/>
              </a:rPr>
              <a:t> </a:t>
            </a:r>
            <a:r>
              <a:rPr sz="1600" spc="50" dirty="0">
                <a:solidFill>
                  <a:srgbClr val="008200"/>
                </a:solidFill>
                <a:latin typeface="Arial"/>
                <a:cs typeface="Arial"/>
              </a:rPr>
              <a:t>person</a:t>
            </a:r>
            <a:r>
              <a:rPr sz="1600" spc="25" dirty="0">
                <a:solidFill>
                  <a:srgbClr val="008200"/>
                </a:solidFill>
                <a:latin typeface="Arial"/>
                <a:cs typeface="Arial"/>
              </a:rPr>
              <a:t> </a:t>
            </a:r>
            <a:r>
              <a:rPr sz="1600" spc="30" dirty="0">
                <a:solidFill>
                  <a:srgbClr val="008200"/>
                </a:solidFill>
                <a:latin typeface="Arial"/>
                <a:cs typeface="Arial"/>
              </a:rPr>
              <a:t>is</a:t>
            </a:r>
            <a:r>
              <a:rPr sz="1600" spc="-10" dirty="0">
                <a:solidFill>
                  <a:srgbClr val="008200"/>
                </a:solidFill>
                <a:latin typeface="Arial"/>
                <a:cs typeface="Arial"/>
              </a:rPr>
              <a:t> </a:t>
            </a:r>
            <a:r>
              <a:rPr sz="1600" spc="40" dirty="0">
                <a:solidFill>
                  <a:srgbClr val="008200"/>
                </a:solidFill>
                <a:latin typeface="Arial"/>
                <a:cs typeface="Arial"/>
              </a:rPr>
              <a:t>eligible</a:t>
            </a:r>
            <a:r>
              <a:rPr sz="1600" spc="-5" dirty="0">
                <a:solidFill>
                  <a:srgbClr val="008200"/>
                </a:solidFill>
                <a:latin typeface="Arial"/>
                <a:cs typeface="Arial"/>
              </a:rPr>
              <a:t> </a:t>
            </a:r>
            <a:r>
              <a:rPr sz="1600" spc="95" dirty="0">
                <a:solidFill>
                  <a:srgbClr val="008200"/>
                </a:solidFill>
                <a:latin typeface="Arial"/>
                <a:cs typeface="Arial"/>
              </a:rPr>
              <a:t>to</a:t>
            </a:r>
            <a:r>
              <a:rPr sz="1600" spc="10" dirty="0">
                <a:solidFill>
                  <a:srgbClr val="008200"/>
                </a:solidFill>
                <a:latin typeface="Arial"/>
                <a:cs typeface="Arial"/>
              </a:rPr>
              <a:t> </a:t>
            </a:r>
            <a:r>
              <a:rPr sz="1600" spc="75" dirty="0">
                <a:solidFill>
                  <a:srgbClr val="008200"/>
                </a:solidFill>
                <a:latin typeface="Arial"/>
                <a:cs typeface="Arial"/>
              </a:rPr>
              <a:t>vote</a:t>
            </a:r>
            <a:r>
              <a:rPr sz="1600" spc="30" dirty="0">
                <a:solidFill>
                  <a:srgbClr val="008200"/>
                </a:solidFill>
                <a:latin typeface="Arial"/>
                <a:cs typeface="Arial"/>
              </a:rPr>
              <a:t> </a:t>
            </a:r>
            <a:r>
              <a:rPr sz="1600" spc="55" dirty="0">
                <a:solidFill>
                  <a:srgbClr val="008200"/>
                </a:solidFill>
                <a:latin typeface="Arial"/>
                <a:cs typeface="Arial"/>
              </a:rPr>
              <a:t>or</a:t>
            </a:r>
            <a:r>
              <a:rPr sz="1600" spc="15" dirty="0">
                <a:solidFill>
                  <a:srgbClr val="008200"/>
                </a:solidFill>
                <a:latin typeface="Arial"/>
                <a:cs typeface="Arial"/>
              </a:rPr>
              <a:t> </a:t>
            </a:r>
            <a:r>
              <a:rPr sz="1600" spc="75" dirty="0">
                <a:solidFill>
                  <a:srgbClr val="008200"/>
                </a:solidFill>
                <a:latin typeface="Arial"/>
                <a:cs typeface="Arial"/>
              </a:rPr>
              <a:t>not</a:t>
            </a:r>
            <a:endParaRPr sz="1600">
              <a:latin typeface="Arial"/>
              <a:cs typeface="Arial"/>
            </a:endParaRPr>
          </a:p>
          <a:p>
            <a:pPr marL="241300">
              <a:lnSpc>
                <a:spcPct val="100000"/>
              </a:lnSpc>
              <a:spcBef>
                <a:spcPts val="310"/>
              </a:spcBef>
            </a:pPr>
            <a:r>
              <a:rPr sz="1600" b="1" spc="-100" dirty="0">
                <a:solidFill>
                  <a:srgbClr val="006699"/>
                </a:solidFill>
                <a:latin typeface="Verdana"/>
                <a:cs typeface="Verdana"/>
              </a:rPr>
              <a:t>public </a:t>
            </a:r>
            <a:r>
              <a:rPr sz="1600" b="1" spc="-90" dirty="0">
                <a:solidFill>
                  <a:srgbClr val="006699"/>
                </a:solidFill>
                <a:latin typeface="Verdana"/>
                <a:cs typeface="Verdana"/>
              </a:rPr>
              <a:t>static </a:t>
            </a:r>
            <a:r>
              <a:rPr sz="1600" b="1" spc="-114" dirty="0">
                <a:solidFill>
                  <a:srgbClr val="006699"/>
                </a:solidFill>
                <a:latin typeface="Verdana"/>
                <a:cs typeface="Verdana"/>
              </a:rPr>
              <a:t>void </a:t>
            </a:r>
            <a:r>
              <a:rPr sz="1600" spc="5" dirty="0">
                <a:latin typeface="Arial"/>
                <a:cs typeface="Arial"/>
              </a:rPr>
              <a:t>validate(</a:t>
            </a:r>
            <a:r>
              <a:rPr sz="1600" b="1" spc="5" dirty="0">
                <a:solidFill>
                  <a:srgbClr val="006699"/>
                </a:solidFill>
                <a:latin typeface="Verdana"/>
                <a:cs typeface="Verdana"/>
              </a:rPr>
              <a:t>int </a:t>
            </a:r>
            <a:r>
              <a:rPr sz="1600" spc="40" dirty="0">
                <a:latin typeface="Arial"/>
                <a:cs typeface="Arial"/>
              </a:rPr>
              <a:t>age)</a:t>
            </a:r>
            <a:r>
              <a:rPr sz="1600" spc="-45" dirty="0">
                <a:latin typeface="Arial"/>
                <a:cs typeface="Arial"/>
              </a:rPr>
              <a:t> </a:t>
            </a:r>
            <a:r>
              <a:rPr sz="1600" spc="40" dirty="0">
                <a:latin typeface="Arial"/>
                <a:cs typeface="Arial"/>
              </a:rPr>
              <a:t>{</a:t>
            </a:r>
            <a:endParaRPr sz="1600">
              <a:latin typeface="Arial"/>
              <a:cs typeface="Arial"/>
            </a:endParaRPr>
          </a:p>
          <a:p>
            <a:pPr marL="469900">
              <a:lnSpc>
                <a:spcPct val="100000"/>
              </a:lnSpc>
              <a:spcBef>
                <a:spcPts val="310"/>
              </a:spcBef>
            </a:pPr>
            <a:r>
              <a:rPr sz="1600" b="1" spc="5" dirty="0">
                <a:solidFill>
                  <a:srgbClr val="006699"/>
                </a:solidFill>
                <a:latin typeface="Verdana"/>
                <a:cs typeface="Verdana"/>
              </a:rPr>
              <a:t>if</a:t>
            </a:r>
            <a:r>
              <a:rPr sz="1600" spc="5" dirty="0">
                <a:latin typeface="Arial"/>
                <a:cs typeface="Arial"/>
              </a:rPr>
              <a:t>(age&lt;</a:t>
            </a:r>
            <a:r>
              <a:rPr sz="1600" spc="5" dirty="0">
                <a:solidFill>
                  <a:srgbClr val="C00000"/>
                </a:solidFill>
                <a:latin typeface="Arial"/>
                <a:cs typeface="Arial"/>
              </a:rPr>
              <a:t>18</a:t>
            </a:r>
            <a:r>
              <a:rPr sz="1600" spc="5" dirty="0">
                <a:latin typeface="Arial"/>
                <a:cs typeface="Arial"/>
              </a:rPr>
              <a:t>)</a:t>
            </a:r>
            <a:r>
              <a:rPr sz="1600" dirty="0">
                <a:latin typeface="Arial"/>
                <a:cs typeface="Arial"/>
              </a:rPr>
              <a:t> </a:t>
            </a:r>
            <a:r>
              <a:rPr sz="1600" spc="40" dirty="0">
                <a:latin typeface="Arial"/>
                <a:cs typeface="Arial"/>
              </a:rPr>
              <a:t>{</a:t>
            </a:r>
            <a:endParaRPr sz="1600">
              <a:latin typeface="Arial"/>
              <a:cs typeface="Arial"/>
            </a:endParaRPr>
          </a:p>
          <a:p>
            <a:pPr marL="698500">
              <a:lnSpc>
                <a:spcPct val="100000"/>
              </a:lnSpc>
              <a:spcBef>
                <a:spcPts val="325"/>
              </a:spcBef>
            </a:pPr>
            <a:r>
              <a:rPr sz="1600" spc="95" dirty="0">
                <a:solidFill>
                  <a:srgbClr val="008200"/>
                </a:solidFill>
                <a:latin typeface="Arial"/>
                <a:cs typeface="Arial"/>
              </a:rPr>
              <a:t>//throw </a:t>
            </a:r>
            <a:r>
              <a:rPr sz="1600" spc="60" dirty="0">
                <a:solidFill>
                  <a:srgbClr val="008200"/>
                </a:solidFill>
                <a:latin typeface="Arial"/>
                <a:cs typeface="Arial"/>
              </a:rPr>
              <a:t>Arithmetic exception </a:t>
            </a:r>
            <a:r>
              <a:rPr sz="1600" spc="75" dirty="0">
                <a:solidFill>
                  <a:srgbClr val="008200"/>
                </a:solidFill>
                <a:latin typeface="Arial"/>
                <a:cs typeface="Arial"/>
              </a:rPr>
              <a:t>if not </a:t>
            </a:r>
            <a:r>
              <a:rPr sz="1600" spc="40" dirty="0">
                <a:solidFill>
                  <a:srgbClr val="008200"/>
                </a:solidFill>
                <a:latin typeface="Arial"/>
                <a:cs typeface="Arial"/>
              </a:rPr>
              <a:t>eligible </a:t>
            </a:r>
            <a:r>
              <a:rPr sz="1600" spc="95" dirty="0">
                <a:solidFill>
                  <a:srgbClr val="008200"/>
                </a:solidFill>
                <a:latin typeface="Arial"/>
                <a:cs typeface="Arial"/>
              </a:rPr>
              <a:t>to</a:t>
            </a:r>
            <a:r>
              <a:rPr sz="1600" spc="-295" dirty="0">
                <a:solidFill>
                  <a:srgbClr val="008200"/>
                </a:solidFill>
                <a:latin typeface="Arial"/>
                <a:cs typeface="Arial"/>
              </a:rPr>
              <a:t> </a:t>
            </a:r>
            <a:r>
              <a:rPr sz="1600" spc="75" dirty="0">
                <a:solidFill>
                  <a:srgbClr val="008200"/>
                </a:solidFill>
                <a:latin typeface="Arial"/>
                <a:cs typeface="Arial"/>
              </a:rPr>
              <a:t>vote</a:t>
            </a:r>
            <a:endParaRPr sz="1600">
              <a:latin typeface="Arial"/>
              <a:cs typeface="Arial"/>
            </a:endParaRPr>
          </a:p>
          <a:p>
            <a:pPr marL="698500">
              <a:lnSpc>
                <a:spcPct val="100000"/>
              </a:lnSpc>
              <a:spcBef>
                <a:spcPts val="315"/>
              </a:spcBef>
            </a:pPr>
            <a:r>
              <a:rPr sz="1600" b="1" spc="-145" dirty="0">
                <a:solidFill>
                  <a:srgbClr val="006699"/>
                </a:solidFill>
                <a:latin typeface="Verdana"/>
                <a:cs typeface="Verdana"/>
              </a:rPr>
              <a:t>throw </a:t>
            </a:r>
            <a:r>
              <a:rPr sz="1600" b="1" spc="-160" dirty="0">
                <a:solidFill>
                  <a:srgbClr val="006699"/>
                </a:solidFill>
                <a:latin typeface="Verdana"/>
                <a:cs typeface="Verdana"/>
              </a:rPr>
              <a:t>new </a:t>
            </a:r>
            <a:r>
              <a:rPr sz="1600" spc="45" dirty="0">
                <a:latin typeface="Arial"/>
                <a:cs typeface="Arial"/>
              </a:rPr>
              <a:t>ArithmeticException(</a:t>
            </a:r>
            <a:r>
              <a:rPr sz="1600" spc="45" dirty="0">
                <a:solidFill>
                  <a:srgbClr val="0000FF"/>
                </a:solidFill>
                <a:latin typeface="Arial"/>
                <a:cs typeface="Arial"/>
              </a:rPr>
              <a:t>"Person </a:t>
            </a:r>
            <a:r>
              <a:rPr sz="1600" spc="30" dirty="0">
                <a:solidFill>
                  <a:srgbClr val="0000FF"/>
                </a:solidFill>
                <a:latin typeface="Arial"/>
                <a:cs typeface="Arial"/>
              </a:rPr>
              <a:t>is </a:t>
            </a:r>
            <a:r>
              <a:rPr sz="1600" spc="75" dirty="0">
                <a:solidFill>
                  <a:srgbClr val="0000FF"/>
                </a:solidFill>
                <a:latin typeface="Arial"/>
                <a:cs typeface="Arial"/>
              </a:rPr>
              <a:t>not </a:t>
            </a:r>
            <a:r>
              <a:rPr sz="1600" spc="40" dirty="0">
                <a:solidFill>
                  <a:srgbClr val="0000FF"/>
                </a:solidFill>
                <a:latin typeface="Arial"/>
                <a:cs typeface="Arial"/>
              </a:rPr>
              <a:t>eligible </a:t>
            </a:r>
            <a:r>
              <a:rPr sz="1600" spc="95" dirty="0">
                <a:solidFill>
                  <a:srgbClr val="0000FF"/>
                </a:solidFill>
                <a:latin typeface="Arial"/>
                <a:cs typeface="Arial"/>
              </a:rPr>
              <a:t>to</a:t>
            </a:r>
            <a:r>
              <a:rPr sz="1600" spc="65" dirty="0">
                <a:solidFill>
                  <a:srgbClr val="0000FF"/>
                </a:solidFill>
                <a:latin typeface="Arial"/>
                <a:cs typeface="Arial"/>
              </a:rPr>
              <a:t> </a:t>
            </a:r>
            <a:r>
              <a:rPr sz="1600" spc="60" dirty="0">
                <a:solidFill>
                  <a:srgbClr val="0000FF"/>
                </a:solidFill>
                <a:latin typeface="Arial"/>
                <a:cs typeface="Arial"/>
              </a:rPr>
              <a:t>vote"</a:t>
            </a:r>
            <a:r>
              <a:rPr sz="1600" spc="60" dirty="0">
                <a:latin typeface="Arial"/>
                <a:cs typeface="Arial"/>
              </a:rPr>
              <a:t>);</a:t>
            </a:r>
            <a:endParaRPr sz="1600">
              <a:latin typeface="Arial"/>
              <a:cs typeface="Arial"/>
            </a:endParaRPr>
          </a:p>
          <a:p>
            <a:pPr marL="469900">
              <a:lnSpc>
                <a:spcPct val="100000"/>
              </a:lnSpc>
              <a:spcBef>
                <a:spcPts val="310"/>
              </a:spcBef>
            </a:pPr>
            <a:r>
              <a:rPr sz="1600" spc="40" dirty="0">
                <a:latin typeface="Arial"/>
                <a:cs typeface="Arial"/>
              </a:rPr>
              <a:t>}</a:t>
            </a:r>
            <a:endParaRPr sz="1600">
              <a:latin typeface="Arial"/>
              <a:cs typeface="Arial"/>
            </a:endParaRPr>
          </a:p>
          <a:p>
            <a:pPr marL="469900">
              <a:lnSpc>
                <a:spcPct val="100000"/>
              </a:lnSpc>
              <a:spcBef>
                <a:spcPts val="325"/>
              </a:spcBef>
            </a:pPr>
            <a:r>
              <a:rPr sz="1600" b="1" spc="-100" dirty="0">
                <a:solidFill>
                  <a:srgbClr val="006699"/>
                </a:solidFill>
                <a:latin typeface="Verdana"/>
                <a:cs typeface="Verdana"/>
              </a:rPr>
              <a:t>else</a:t>
            </a:r>
            <a:r>
              <a:rPr sz="1600" b="1" spc="-80" dirty="0">
                <a:solidFill>
                  <a:srgbClr val="006699"/>
                </a:solidFill>
                <a:latin typeface="Verdana"/>
                <a:cs typeface="Verdana"/>
              </a:rPr>
              <a:t> </a:t>
            </a:r>
            <a:r>
              <a:rPr sz="1600" spc="40" dirty="0">
                <a:latin typeface="Arial"/>
                <a:cs typeface="Arial"/>
              </a:rPr>
              <a:t>{</a:t>
            </a:r>
            <a:endParaRPr sz="1600">
              <a:latin typeface="Arial"/>
              <a:cs typeface="Arial"/>
            </a:endParaRPr>
          </a:p>
          <a:p>
            <a:pPr marL="698500">
              <a:lnSpc>
                <a:spcPct val="100000"/>
              </a:lnSpc>
              <a:spcBef>
                <a:spcPts val="315"/>
              </a:spcBef>
            </a:pPr>
            <a:r>
              <a:rPr sz="1600" spc="45" dirty="0">
                <a:latin typeface="Arial"/>
                <a:cs typeface="Arial"/>
              </a:rPr>
              <a:t>System.out.println(</a:t>
            </a:r>
            <a:r>
              <a:rPr sz="1600" spc="45" dirty="0">
                <a:solidFill>
                  <a:srgbClr val="0000FF"/>
                </a:solidFill>
                <a:latin typeface="Arial"/>
                <a:cs typeface="Arial"/>
              </a:rPr>
              <a:t>"Person </a:t>
            </a:r>
            <a:r>
              <a:rPr sz="1600" spc="30" dirty="0">
                <a:solidFill>
                  <a:srgbClr val="0000FF"/>
                </a:solidFill>
                <a:latin typeface="Arial"/>
                <a:cs typeface="Arial"/>
              </a:rPr>
              <a:t>is </a:t>
            </a:r>
            <a:r>
              <a:rPr sz="1600" spc="40" dirty="0">
                <a:solidFill>
                  <a:srgbClr val="0000FF"/>
                </a:solidFill>
                <a:latin typeface="Arial"/>
                <a:cs typeface="Arial"/>
              </a:rPr>
              <a:t>eligible </a:t>
            </a:r>
            <a:r>
              <a:rPr sz="1600" spc="95" dirty="0">
                <a:solidFill>
                  <a:srgbClr val="0000FF"/>
                </a:solidFill>
                <a:latin typeface="Arial"/>
                <a:cs typeface="Arial"/>
              </a:rPr>
              <a:t>to</a:t>
            </a:r>
            <a:r>
              <a:rPr sz="1600" spc="-65" dirty="0">
                <a:solidFill>
                  <a:srgbClr val="0000FF"/>
                </a:solidFill>
                <a:latin typeface="Arial"/>
                <a:cs typeface="Arial"/>
              </a:rPr>
              <a:t> </a:t>
            </a:r>
            <a:r>
              <a:rPr sz="1600" spc="45" dirty="0">
                <a:solidFill>
                  <a:srgbClr val="0000FF"/>
                </a:solidFill>
                <a:latin typeface="Arial"/>
                <a:cs typeface="Arial"/>
              </a:rPr>
              <a:t>vote!!"</a:t>
            </a:r>
            <a:r>
              <a:rPr sz="1600" spc="45" dirty="0">
                <a:latin typeface="Arial"/>
                <a:cs typeface="Arial"/>
              </a:rPr>
              <a:t>);</a:t>
            </a:r>
            <a:endParaRPr sz="1600">
              <a:latin typeface="Arial"/>
              <a:cs typeface="Arial"/>
            </a:endParaRPr>
          </a:p>
          <a:p>
            <a:pPr marL="469900">
              <a:lnSpc>
                <a:spcPct val="100000"/>
              </a:lnSpc>
              <a:spcBef>
                <a:spcPts val="310"/>
              </a:spcBef>
            </a:pPr>
            <a:r>
              <a:rPr sz="1600" spc="40" dirty="0">
                <a:latin typeface="Arial"/>
                <a:cs typeface="Arial"/>
              </a:rPr>
              <a:t>}</a:t>
            </a:r>
            <a:endParaRPr sz="1600">
              <a:latin typeface="Arial"/>
              <a:cs typeface="Arial"/>
            </a:endParaRPr>
          </a:p>
          <a:p>
            <a:pPr marL="241300">
              <a:lnSpc>
                <a:spcPct val="100000"/>
              </a:lnSpc>
              <a:spcBef>
                <a:spcPts val="325"/>
              </a:spcBef>
            </a:pPr>
            <a:r>
              <a:rPr sz="1600" spc="40" dirty="0">
                <a:latin typeface="Arial"/>
                <a:cs typeface="Arial"/>
              </a:rPr>
              <a:t>}</a:t>
            </a:r>
            <a:endParaRPr sz="1600">
              <a:latin typeface="Arial"/>
              <a:cs typeface="Arial"/>
            </a:endParaRPr>
          </a:p>
          <a:p>
            <a:pPr marL="241300">
              <a:lnSpc>
                <a:spcPct val="100000"/>
              </a:lnSpc>
              <a:spcBef>
                <a:spcPts val="315"/>
              </a:spcBef>
            </a:pPr>
            <a:r>
              <a:rPr sz="1600" spc="60" dirty="0">
                <a:solidFill>
                  <a:srgbClr val="008200"/>
                </a:solidFill>
                <a:latin typeface="Arial"/>
                <a:cs typeface="Arial"/>
              </a:rPr>
              <a:t>//main</a:t>
            </a:r>
            <a:r>
              <a:rPr sz="1600" dirty="0">
                <a:solidFill>
                  <a:srgbClr val="008200"/>
                </a:solidFill>
                <a:latin typeface="Arial"/>
                <a:cs typeface="Arial"/>
              </a:rPr>
              <a:t> </a:t>
            </a:r>
            <a:r>
              <a:rPr sz="1600" spc="70" dirty="0">
                <a:solidFill>
                  <a:srgbClr val="008200"/>
                </a:solidFill>
                <a:latin typeface="Arial"/>
                <a:cs typeface="Arial"/>
              </a:rPr>
              <a:t>method</a:t>
            </a:r>
            <a:endParaRPr sz="1600">
              <a:latin typeface="Arial"/>
              <a:cs typeface="Arial"/>
            </a:endParaRPr>
          </a:p>
          <a:p>
            <a:pPr marL="1097915" marR="2903220" indent="-800100">
              <a:lnSpc>
                <a:spcPts val="2240"/>
              </a:lnSpc>
              <a:spcBef>
                <a:spcPts val="120"/>
              </a:spcBef>
            </a:pPr>
            <a:r>
              <a:rPr sz="1600" b="1" spc="-100" dirty="0">
                <a:solidFill>
                  <a:srgbClr val="006699"/>
                </a:solidFill>
                <a:latin typeface="Verdana"/>
                <a:cs typeface="Verdana"/>
              </a:rPr>
              <a:t>public </a:t>
            </a:r>
            <a:r>
              <a:rPr sz="1600" b="1" spc="-90" dirty="0">
                <a:solidFill>
                  <a:srgbClr val="006699"/>
                </a:solidFill>
                <a:latin typeface="Verdana"/>
                <a:cs typeface="Verdana"/>
              </a:rPr>
              <a:t>static </a:t>
            </a:r>
            <a:r>
              <a:rPr sz="1600" b="1" spc="-114" dirty="0">
                <a:solidFill>
                  <a:srgbClr val="006699"/>
                </a:solidFill>
                <a:latin typeface="Verdana"/>
                <a:cs typeface="Verdana"/>
              </a:rPr>
              <a:t>void </a:t>
            </a:r>
            <a:r>
              <a:rPr sz="1600" spc="40" dirty="0">
                <a:latin typeface="Arial"/>
                <a:cs typeface="Arial"/>
              </a:rPr>
              <a:t>main(String </a:t>
            </a:r>
            <a:r>
              <a:rPr sz="1600" spc="60" dirty="0">
                <a:latin typeface="Arial"/>
                <a:cs typeface="Arial"/>
              </a:rPr>
              <a:t>args[]){  </a:t>
            </a:r>
            <a:r>
              <a:rPr sz="1600" spc="35" dirty="0">
                <a:latin typeface="Arial"/>
                <a:cs typeface="Arial"/>
              </a:rPr>
              <a:t>validate(</a:t>
            </a:r>
            <a:r>
              <a:rPr sz="1600" spc="35" dirty="0">
                <a:solidFill>
                  <a:srgbClr val="C00000"/>
                </a:solidFill>
                <a:latin typeface="Arial"/>
                <a:cs typeface="Arial"/>
              </a:rPr>
              <a:t>13</a:t>
            </a:r>
            <a:r>
              <a:rPr sz="1600" spc="35" dirty="0">
                <a:latin typeface="Arial"/>
                <a:cs typeface="Arial"/>
              </a:rPr>
              <a:t>);</a:t>
            </a:r>
            <a:endParaRPr sz="1600">
              <a:latin typeface="Arial"/>
              <a:cs typeface="Arial"/>
            </a:endParaRPr>
          </a:p>
          <a:p>
            <a:pPr marL="1155700">
              <a:lnSpc>
                <a:spcPct val="100000"/>
              </a:lnSpc>
              <a:spcBef>
                <a:spcPts val="185"/>
              </a:spcBef>
            </a:pPr>
            <a:r>
              <a:rPr sz="1600" spc="50" dirty="0">
                <a:latin typeface="Arial"/>
                <a:cs typeface="Arial"/>
              </a:rPr>
              <a:t>System.out.println(</a:t>
            </a:r>
            <a:r>
              <a:rPr sz="1600" spc="50" dirty="0">
                <a:solidFill>
                  <a:srgbClr val="0000FF"/>
                </a:solidFill>
                <a:latin typeface="Arial"/>
                <a:cs typeface="Arial"/>
              </a:rPr>
              <a:t>"rest </a:t>
            </a:r>
            <a:r>
              <a:rPr sz="1600" spc="90" dirty="0">
                <a:solidFill>
                  <a:srgbClr val="0000FF"/>
                </a:solidFill>
                <a:latin typeface="Arial"/>
                <a:cs typeface="Arial"/>
              </a:rPr>
              <a:t>of </a:t>
            </a:r>
            <a:r>
              <a:rPr sz="1600" spc="70" dirty="0">
                <a:solidFill>
                  <a:srgbClr val="0000FF"/>
                </a:solidFill>
                <a:latin typeface="Arial"/>
                <a:cs typeface="Arial"/>
              </a:rPr>
              <a:t>the</a:t>
            </a:r>
            <a:r>
              <a:rPr sz="1600" spc="-50" dirty="0">
                <a:solidFill>
                  <a:srgbClr val="0000FF"/>
                </a:solidFill>
                <a:latin typeface="Arial"/>
                <a:cs typeface="Arial"/>
              </a:rPr>
              <a:t> </a:t>
            </a:r>
            <a:r>
              <a:rPr sz="1600" spc="35" dirty="0">
                <a:solidFill>
                  <a:srgbClr val="0000FF"/>
                </a:solidFill>
                <a:latin typeface="Arial"/>
                <a:cs typeface="Arial"/>
              </a:rPr>
              <a:t>code..."</a:t>
            </a:r>
            <a:r>
              <a:rPr sz="1600" spc="35" dirty="0">
                <a:latin typeface="Arial"/>
                <a:cs typeface="Arial"/>
              </a:rPr>
              <a:t>);</a:t>
            </a:r>
            <a:endParaRPr sz="1600">
              <a:latin typeface="Arial"/>
              <a:cs typeface="Arial"/>
            </a:endParaRPr>
          </a:p>
          <a:p>
            <a:pPr marL="584200">
              <a:lnSpc>
                <a:spcPct val="100000"/>
              </a:lnSpc>
              <a:spcBef>
                <a:spcPts val="315"/>
              </a:spcBef>
            </a:pPr>
            <a:r>
              <a:rPr sz="1600" spc="40" dirty="0">
                <a:latin typeface="Arial"/>
                <a:cs typeface="Arial"/>
              </a:rPr>
              <a:t>}</a:t>
            </a:r>
            <a:endParaRPr sz="1600">
              <a:latin typeface="Arial"/>
              <a:cs typeface="Arial"/>
            </a:endParaRPr>
          </a:p>
          <a:p>
            <a:pPr marL="12700">
              <a:lnSpc>
                <a:spcPct val="100000"/>
              </a:lnSpc>
              <a:spcBef>
                <a:spcPts val="325"/>
              </a:spcBef>
            </a:pPr>
            <a:r>
              <a:rPr sz="1600" spc="40" dirty="0">
                <a:latin typeface="Arial"/>
                <a:cs typeface="Arial"/>
              </a:rPr>
              <a:t>}</a:t>
            </a:r>
            <a:endParaRPr sz="1600">
              <a:latin typeface="Arial"/>
              <a:cs typeface="Arial"/>
            </a:endParaRPr>
          </a:p>
        </p:txBody>
      </p:sp>
      <p:sp>
        <p:nvSpPr>
          <p:cNvPr id="4" name="object 4"/>
          <p:cNvSpPr/>
          <p:nvPr/>
        </p:nvSpPr>
        <p:spPr>
          <a:xfrm>
            <a:off x="2712720" y="6204203"/>
            <a:ext cx="6347459" cy="624837"/>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87579"/>
            <a:ext cx="4598670" cy="635000"/>
          </a:xfrm>
          <a:prstGeom prst="rect">
            <a:avLst/>
          </a:prstGeom>
        </p:spPr>
        <p:txBody>
          <a:bodyPr vert="horz" wrap="square" lIns="0" tIns="12065" rIns="0" bIns="0" rtlCol="0">
            <a:spAutoFit/>
          </a:bodyPr>
          <a:lstStyle/>
          <a:p>
            <a:pPr marL="12700">
              <a:lnSpc>
                <a:spcPct val="100000"/>
              </a:lnSpc>
              <a:spcBef>
                <a:spcPts val="95"/>
              </a:spcBef>
            </a:pPr>
            <a:r>
              <a:rPr sz="4000" b="0" spc="-5" dirty="0">
                <a:solidFill>
                  <a:srgbClr val="600A38"/>
                </a:solidFill>
                <a:latin typeface="Arial"/>
                <a:cs typeface="Arial"/>
              </a:rPr>
              <a:t>Java </a:t>
            </a:r>
            <a:r>
              <a:rPr sz="4000" b="0" dirty="0">
                <a:solidFill>
                  <a:srgbClr val="600A38"/>
                </a:solidFill>
                <a:latin typeface="Arial"/>
                <a:cs typeface="Arial"/>
              </a:rPr>
              <a:t>throw</a:t>
            </a:r>
            <a:r>
              <a:rPr sz="4000" b="0" spc="-55" dirty="0">
                <a:solidFill>
                  <a:srgbClr val="600A38"/>
                </a:solidFill>
                <a:latin typeface="Arial"/>
                <a:cs typeface="Arial"/>
              </a:rPr>
              <a:t> </a:t>
            </a:r>
            <a:r>
              <a:rPr sz="4000" b="0" spc="-5" dirty="0">
                <a:solidFill>
                  <a:srgbClr val="600A38"/>
                </a:solidFill>
                <a:latin typeface="Arial"/>
                <a:cs typeface="Arial"/>
              </a:rPr>
              <a:t>Example</a:t>
            </a:r>
            <a:endParaRPr sz="4000">
              <a:latin typeface="Arial"/>
              <a:cs typeface="Arial"/>
            </a:endParaRPr>
          </a:p>
        </p:txBody>
      </p:sp>
      <p:sp>
        <p:nvSpPr>
          <p:cNvPr id="3" name="object 3"/>
          <p:cNvSpPr txBox="1"/>
          <p:nvPr/>
        </p:nvSpPr>
        <p:spPr>
          <a:xfrm>
            <a:off x="231140" y="1534947"/>
            <a:ext cx="8456295" cy="5052060"/>
          </a:xfrm>
          <a:prstGeom prst="rect">
            <a:avLst/>
          </a:prstGeom>
        </p:spPr>
        <p:txBody>
          <a:bodyPr vert="horz" wrap="square" lIns="0" tIns="53975" rIns="0" bIns="0" rtlCol="0">
            <a:spAutoFit/>
          </a:bodyPr>
          <a:lstStyle/>
          <a:p>
            <a:pPr marL="12700">
              <a:lnSpc>
                <a:spcPct val="100000"/>
              </a:lnSpc>
              <a:spcBef>
                <a:spcPts val="425"/>
              </a:spcBef>
            </a:pPr>
            <a:r>
              <a:rPr sz="1600" b="1" spc="-100" dirty="0">
                <a:solidFill>
                  <a:srgbClr val="006699"/>
                </a:solidFill>
                <a:latin typeface="Verdana"/>
                <a:cs typeface="Verdana"/>
              </a:rPr>
              <a:t>public </a:t>
            </a:r>
            <a:r>
              <a:rPr sz="1600" b="1" spc="-80" dirty="0">
                <a:solidFill>
                  <a:srgbClr val="006699"/>
                </a:solidFill>
                <a:latin typeface="Verdana"/>
                <a:cs typeface="Verdana"/>
              </a:rPr>
              <a:t>class </a:t>
            </a:r>
            <a:r>
              <a:rPr sz="1600" spc="65" dirty="0">
                <a:latin typeface="Arial"/>
                <a:cs typeface="Arial"/>
              </a:rPr>
              <a:t>TestThrow</a:t>
            </a:r>
            <a:r>
              <a:rPr sz="1600" spc="40" dirty="0">
                <a:latin typeface="Arial"/>
                <a:cs typeface="Arial"/>
              </a:rPr>
              <a:t> {</a:t>
            </a:r>
            <a:endParaRPr sz="1600">
              <a:latin typeface="Arial"/>
              <a:cs typeface="Arial"/>
            </a:endParaRPr>
          </a:p>
          <a:p>
            <a:pPr marL="241300">
              <a:lnSpc>
                <a:spcPct val="100000"/>
              </a:lnSpc>
              <a:spcBef>
                <a:spcPts val="330"/>
              </a:spcBef>
            </a:pPr>
            <a:r>
              <a:rPr sz="1600" spc="70" dirty="0">
                <a:solidFill>
                  <a:srgbClr val="008200"/>
                </a:solidFill>
                <a:latin typeface="Arial"/>
                <a:cs typeface="Arial"/>
              </a:rPr>
              <a:t>//defining </a:t>
            </a:r>
            <a:r>
              <a:rPr sz="1600" spc="10" dirty="0">
                <a:solidFill>
                  <a:srgbClr val="008200"/>
                </a:solidFill>
                <a:latin typeface="Arial"/>
                <a:cs typeface="Arial"/>
              </a:rPr>
              <a:t>a</a:t>
            </a:r>
            <a:r>
              <a:rPr sz="1600" spc="-50" dirty="0">
                <a:solidFill>
                  <a:srgbClr val="008200"/>
                </a:solidFill>
                <a:latin typeface="Arial"/>
                <a:cs typeface="Arial"/>
              </a:rPr>
              <a:t> </a:t>
            </a:r>
            <a:r>
              <a:rPr sz="1600" spc="70" dirty="0">
                <a:solidFill>
                  <a:srgbClr val="008200"/>
                </a:solidFill>
                <a:latin typeface="Arial"/>
                <a:cs typeface="Arial"/>
              </a:rPr>
              <a:t>method</a:t>
            </a:r>
            <a:endParaRPr sz="1600">
              <a:latin typeface="Arial"/>
              <a:cs typeface="Arial"/>
            </a:endParaRPr>
          </a:p>
          <a:p>
            <a:pPr marL="241300">
              <a:lnSpc>
                <a:spcPct val="100000"/>
              </a:lnSpc>
              <a:spcBef>
                <a:spcPts val="310"/>
              </a:spcBef>
            </a:pPr>
            <a:r>
              <a:rPr sz="1600" b="1" spc="-100" dirty="0">
                <a:solidFill>
                  <a:srgbClr val="006699"/>
                </a:solidFill>
                <a:latin typeface="Verdana"/>
                <a:cs typeface="Verdana"/>
              </a:rPr>
              <a:t>public </a:t>
            </a:r>
            <a:r>
              <a:rPr sz="1600" b="1" spc="-90" dirty="0">
                <a:solidFill>
                  <a:srgbClr val="006699"/>
                </a:solidFill>
                <a:latin typeface="Verdana"/>
                <a:cs typeface="Verdana"/>
              </a:rPr>
              <a:t>static </a:t>
            </a:r>
            <a:r>
              <a:rPr sz="1600" b="1" spc="-114" dirty="0">
                <a:solidFill>
                  <a:srgbClr val="006699"/>
                </a:solidFill>
                <a:latin typeface="Verdana"/>
                <a:cs typeface="Verdana"/>
              </a:rPr>
              <a:t>void </a:t>
            </a:r>
            <a:r>
              <a:rPr sz="1600" spc="5" dirty="0">
                <a:latin typeface="Arial"/>
                <a:cs typeface="Arial"/>
              </a:rPr>
              <a:t>checkNum(</a:t>
            </a:r>
            <a:r>
              <a:rPr sz="1600" b="1" spc="5" dirty="0">
                <a:solidFill>
                  <a:srgbClr val="006699"/>
                </a:solidFill>
                <a:latin typeface="Verdana"/>
                <a:cs typeface="Verdana"/>
              </a:rPr>
              <a:t>int </a:t>
            </a:r>
            <a:r>
              <a:rPr sz="1600" spc="40" dirty="0">
                <a:latin typeface="Arial"/>
                <a:cs typeface="Arial"/>
              </a:rPr>
              <a:t>num)</a:t>
            </a:r>
            <a:r>
              <a:rPr sz="1600" spc="-25" dirty="0">
                <a:latin typeface="Arial"/>
                <a:cs typeface="Arial"/>
              </a:rPr>
              <a:t> </a:t>
            </a:r>
            <a:r>
              <a:rPr sz="1600" spc="40" dirty="0">
                <a:latin typeface="Arial"/>
                <a:cs typeface="Arial"/>
              </a:rPr>
              <a:t>{</a:t>
            </a:r>
            <a:endParaRPr sz="1600">
              <a:latin typeface="Arial"/>
              <a:cs typeface="Arial"/>
            </a:endParaRPr>
          </a:p>
          <a:p>
            <a:pPr marL="469900">
              <a:lnSpc>
                <a:spcPct val="100000"/>
              </a:lnSpc>
              <a:spcBef>
                <a:spcPts val="310"/>
              </a:spcBef>
            </a:pPr>
            <a:r>
              <a:rPr sz="1600" b="1" spc="-90" dirty="0">
                <a:solidFill>
                  <a:srgbClr val="006699"/>
                </a:solidFill>
                <a:latin typeface="Verdana"/>
                <a:cs typeface="Verdana"/>
              </a:rPr>
              <a:t>if </a:t>
            </a:r>
            <a:r>
              <a:rPr sz="1600" spc="40" dirty="0">
                <a:latin typeface="Arial"/>
                <a:cs typeface="Arial"/>
              </a:rPr>
              <a:t>(num </a:t>
            </a:r>
            <a:r>
              <a:rPr sz="1600" spc="114" dirty="0">
                <a:latin typeface="Arial"/>
                <a:cs typeface="Arial"/>
              </a:rPr>
              <a:t>&lt; </a:t>
            </a:r>
            <a:r>
              <a:rPr sz="1600" spc="-55" dirty="0">
                <a:solidFill>
                  <a:srgbClr val="C00000"/>
                </a:solidFill>
                <a:latin typeface="Arial"/>
                <a:cs typeface="Arial"/>
              </a:rPr>
              <a:t>1</a:t>
            </a:r>
            <a:r>
              <a:rPr sz="1600" spc="-55" dirty="0">
                <a:latin typeface="Arial"/>
                <a:cs typeface="Arial"/>
              </a:rPr>
              <a:t>)</a:t>
            </a:r>
            <a:r>
              <a:rPr sz="1600" spc="-170" dirty="0">
                <a:latin typeface="Arial"/>
                <a:cs typeface="Arial"/>
              </a:rPr>
              <a:t> </a:t>
            </a:r>
            <a:r>
              <a:rPr sz="1600" spc="40" dirty="0">
                <a:latin typeface="Arial"/>
                <a:cs typeface="Arial"/>
              </a:rPr>
              <a:t>{</a:t>
            </a:r>
            <a:endParaRPr sz="1600">
              <a:latin typeface="Arial"/>
              <a:cs typeface="Arial"/>
            </a:endParaRPr>
          </a:p>
          <a:p>
            <a:pPr marL="736600">
              <a:lnSpc>
                <a:spcPts val="1735"/>
              </a:lnSpc>
              <a:spcBef>
                <a:spcPts val="315"/>
              </a:spcBef>
            </a:pPr>
            <a:r>
              <a:rPr sz="1600" b="1" spc="-145" dirty="0">
                <a:solidFill>
                  <a:srgbClr val="006699"/>
                </a:solidFill>
                <a:latin typeface="Verdana"/>
                <a:cs typeface="Verdana"/>
              </a:rPr>
              <a:t>throw </a:t>
            </a:r>
            <a:r>
              <a:rPr sz="1600" b="1" spc="-155" dirty="0">
                <a:solidFill>
                  <a:srgbClr val="006699"/>
                </a:solidFill>
                <a:latin typeface="Verdana"/>
                <a:cs typeface="Verdana"/>
              </a:rPr>
              <a:t>new </a:t>
            </a:r>
            <a:r>
              <a:rPr sz="1600" spc="55" dirty="0">
                <a:latin typeface="Arial"/>
                <a:cs typeface="Arial"/>
              </a:rPr>
              <a:t>ArithmeticException(</a:t>
            </a:r>
            <a:r>
              <a:rPr sz="1600" spc="55" dirty="0">
                <a:solidFill>
                  <a:srgbClr val="0000FF"/>
                </a:solidFill>
                <a:latin typeface="Arial"/>
                <a:cs typeface="Arial"/>
              </a:rPr>
              <a:t>"\nNumber </a:t>
            </a:r>
            <a:r>
              <a:rPr sz="1600" spc="30" dirty="0">
                <a:solidFill>
                  <a:srgbClr val="0000FF"/>
                </a:solidFill>
                <a:latin typeface="Arial"/>
                <a:cs typeface="Arial"/>
              </a:rPr>
              <a:t>is </a:t>
            </a:r>
            <a:r>
              <a:rPr sz="1600" spc="50" dirty="0">
                <a:solidFill>
                  <a:srgbClr val="0000FF"/>
                </a:solidFill>
                <a:latin typeface="Arial"/>
                <a:cs typeface="Arial"/>
              </a:rPr>
              <a:t>negative, </a:t>
            </a:r>
            <a:r>
              <a:rPr sz="1600" spc="60" dirty="0">
                <a:solidFill>
                  <a:srgbClr val="0000FF"/>
                </a:solidFill>
                <a:latin typeface="Arial"/>
                <a:cs typeface="Arial"/>
              </a:rPr>
              <a:t>cannot </a:t>
            </a:r>
            <a:r>
              <a:rPr sz="1600" spc="45" dirty="0">
                <a:solidFill>
                  <a:srgbClr val="0000FF"/>
                </a:solidFill>
                <a:latin typeface="Arial"/>
                <a:cs typeface="Arial"/>
              </a:rPr>
              <a:t>calculate</a:t>
            </a:r>
            <a:r>
              <a:rPr sz="1600" spc="210" dirty="0">
                <a:solidFill>
                  <a:srgbClr val="0000FF"/>
                </a:solidFill>
                <a:latin typeface="Arial"/>
                <a:cs typeface="Arial"/>
              </a:rPr>
              <a:t> </a:t>
            </a:r>
            <a:r>
              <a:rPr sz="1600" spc="40" dirty="0">
                <a:solidFill>
                  <a:srgbClr val="0000FF"/>
                </a:solidFill>
                <a:latin typeface="Arial"/>
                <a:cs typeface="Arial"/>
              </a:rPr>
              <a:t>square</a:t>
            </a:r>
            <a:endParaRPr sz="1600">
              <a:latin typeface="Arial"/>
              <a:cs typeface="Arial"/>
            </a:endParaRPr>
          </a:p>
          <a:p>
            <a:pPr marL="12700">
              <a:lnSpc>
                <a:spcPts val="1735"/>
              </a:lnSpc>
            </a:pPr>
            <a:r>
              <a:rPr sz="1600" spc="35" dirty="0">
                <a:solidFill>
                  <a:srgbClr val="0000FF"/>
                </a:solidFill>
                <a:latin typeface="Arial"/>
                <a:cs typeface="Arial"/>
              </a:rPr>
              <a:t>"</a:t>
            </a:r>
            <a:r>
              <a:rPr sz="1600" spc="35" dirty="0">
                <a:latin typeface="Arial"/>
                <a:cs typeface="Arial"/>
              </a:rPr>
              <a:t>);</a:t>
            </a:r>
            <a:endParaRPr sz="1600">
              <a:latin typeface="Arial"/>
              <a:cs typeface="Arial"/>
            </a:endParaRPr>
          </a:p>
          <a:p>
            <a:pPr marL="469900">
              <a:lnSpc>
                <a:spcPct val="100000"/>
              </a:lnSpc>
              <a:spcBef>
                <a:spcPts val="315"/>
              </a:spcBef>
            </a:pPr>
            <a:r>
              <a:rPr sz="1600" spc="40" dirty="0">
                <a:latin typeface="Arial"/>
                <a:cs typeface="Arial"/>
              </a:rPr>
              <a:t>}</a:t>
            </a:r>
            <a:endParaRPr sz="1600">
              <a:latin typeface="Arial"/>
              <a:cs typeface="Arial"/>
            </a:endParaRPr>
          </a:p>
          <a:p>
            <a:pPr marL="469900">
              <a:lnSpc>
                <a:spcPct val="100000"/>
              </a:lnSpc>
              <a:spcBef>
                <a:spcPts val="310"/>
              </a:spcBef>
            </a:pPr>
            <a:r>
              <a:rPr sz="1600" b="1" spc="-100" dirty="0">
                <a:solidFill>
                  <a:srgbClr val="006699"/>
                </a:solidFill>
                <a:latin typeface="Verdana"/>
                <a:cs typeface="Verdana"/>
              </a:rPr>
              <a:t>else</a:t>
            </a:r>
            <a:r>
              <a:rPr sz="1600" b="1" spc="-75" dirty="0">
                <a:solidFill>
                  <a:srgbClr val="006699"/>
                </a:solidFill>
                <a:latin typeface="Verdana"/>
                <a:cs typeface="Verdana"/>
              </a:rPr>
              <a:t> </a:t>
            </a:r>
            <a:r>
              <a:rPr sz="1600" spc="40" dirty="0">
                <a:latin typeface="Arial"/>
                <a:cs typeface="Arial"/>
              </a:rPr>
              <a:t>{</a:t>
            </a:r>
            <a:endParaRPr sz="1600">
              <a:latin typeface="Arial"/>
              <a:cs typeface="Arial"/>
            </a:endParaRPr>
          </a:p>
          <a:p>
            <a:pPr marL="698500">
              <a:lnSpc>
                <a:spcPct val="100000"/>
              </a:lnSpc>
              <a:spcBef>
                <a:spcPts val="325"/>
              </a:spcBef>
            </a:pPr>
            <a:r>
              <a:rPr sz="1600" spc="45" dirty="0">
                <a:latin typeface="Arial"/>
                <a:cs typeface="Arial"/>
              </a:rPr>
              <a:t>System.out.println(</a:t>
            </a:r>
            <a:r>
              <a:rPr sz="1600" spc="45" dirty="0">
                <a:solidFill>
                  <a:srgbClr val="0000FF"/>
                </a:solidFill>
                <a:latin typeface="Arial"/>
                <a:cs typeface="Arial"/>
              </a:rPr>
              <a:t>"Square</a:t>
            </a:r>
            <a:r>
              <a:rPr sz="1600" spc="25" dirty="0">
                <a:solidFill>
                  <a:srgbClr val="0000FF"/>
                </a:solidFill>
                <a:latin typeface="Arial"/>
                <a:cs typeface="Arial"/>
              </a:rPr>
              <a:t> </a:t>
            </a:r>
            <a:r>
              <a:rPr sz="1600" spc="90" dirty="0">
                <a:solidFill>
                  <a:srgbClr val="0000FF"/>
                </a:solidFill>
                <a:latin typeface="Arial"/>
                <a:cs typeface="Arial"/>
              </a:rPr>
              <a:t>of</a:t>
            </a:r>
            <a:r>
              <a:rPr sz="1600" spc="10" dirty="0">
                <a:solidFill>
                  <a:srgbClr val="0000FF"/>
                </a:solidFill>
                <a:latin typeface="Arial"/>
                <a:cs typeface="Arial"/>
              </a:rPr>
              <a:t> </a:t>
            </a:r>
            <a:r>
              <a:rPr sz="1600" spc="75" dirty="0">
                <a:solidFill>
                  <a:srgbClr val="0000FF"/>
                </a:solidFill>
                <a:latin typeface="Arial"/>
                <a:cs typeface="Arial"/>
              </a:rPr>
              <a:t>"</a:t>
            </a:r>
            <a:r>
              <a:rPr sz="1600" spc="15" dirty="0">
                <a:solidFill>
                  <a:srgbClr val="0000FF"/>
                </a:solidFill>
                <a:latin typeface="Arial"/>
                <a:cs typeface="Arial"/>
              </a:rPr>
              <a:t> </a:t>
            </a:r>
            <a:r>
              <a:rPr sz="1600" spc="114" dirty="0">
                <a:latin typeface="Arial"/>
                <a:cs typeface="Arial"/>
              </a:rPr>
              <a:t>+</a:t>
            </a:r>
            <a:r>
              <a:rPr sz="1600" dirty="0">
                <a:latin typeface="Arial"/>
                <a:cs typeface="Arial"/>
              </a:rPr>
              <a:t> </a:t>
            </a:r>
            <a:r>
              <a:rPr sz="1600" spc="40" dirty="0">
                <a:latin typeface="Arial"/>
                <a:cs typeface="Arial"/>
              </a:rPr>
              <a:t>num</a:t>
            </a:r>
            <a:r>
              <a:rPr sz="1600" dirty="0">
                <a:latin typeface="Arial"/>
                <a:cs typeface="Arial"/>
              </a:rPr>
              <a:t> </a:t>
            </a:r>
            <a:r>
              <a:rPr sz="1600" spc="114" dirty="0">
                <a:latin typeface="Arial"/>
                <a:cs typeface="Arial"/>
              </a:rPr>
              <a:t>+</a:t>
            </a:r>
            <a:r>
              <a:rPr sz="1600" spc="5" dirty="0">
                <a:latin typeface="Arial"/>
                <a:cs typeface="Arial"/>
              </a:rPr>
              <a:t> </a:t>
            </a:r>
            <a:r>
              <a:rPr sz="1600" spc="75" dirty="0">
                <a:solidFill>
                  <a:srgbClr val="0000FF"/>
                </a:solidFill>
                <a:latin typeface="Arial"/>
                <a:cs typeface="Arial"/>
              </a:rPr>
              <a:t>"</a:t>
            </a:r>
            <a:r>
              <a:rPr sz="1600" spc="15" dirty="0">
                <a:solidFill>
                  <a:srgbClr val="0000FF"/>
                </a:solidFill>
                <a:latin typeface="Arial"/>
                <a:cs typeface="Arial"/>
              </a:rPr>
              <a:t> </a:t>
            </a:r>
            <a:r>
              <a:rPr sz="1600" spc="30" dirty="0">
                <a:solidFill>
                  <a:srgbClr val="0000FF"/>
                </a:solidFill>
                <a:latin typeface="Arial"/>
                <a:cs typeface="Arial"/>
              </a:rPr>
              <a:t>is</a:t>
            </a:r>
            <a:r>
              <a:rPr sz="1600" spc="-10" dirty="0">
                <a:solidFill>
                  <a:srgbClr val="0000FF"/>
                </a:solidFill>
                <a:latin typeface="Arial"/>
                <a:cs typeface="Arial"/>
              </a:rPr>
              <a:t> </a:t>
            </a:r>
            <a:r>
              <a:rPr sz="1600" spc="75" dirty="0">
                <a:solidFill>
                  <a:srgbClr val="0000FF"/>
                </a:solidFill>
                <a:latin typeface="Arial"/>
                <a:cs typeface="Arial"/>
              </a:rPr>
              <a:t>"</a:t>
            </a:r>
            <a:r>
              <a:rPr sz="1600" spc="15" dirty="0">
                <a:solidFill>
                  <a:srgbClr val="0000FF"/>
                </a:solidFill>
                <a:latin typeface="Arial"/>
                <a:cs typeface="Arial"/>
              </a:rPr>
              <a:t> </a:t>
            </a:r>
            <a:r>
              <a:rPr sz="1600" spc="114" dirty="0">
                <a:latin typeface="Arial"/>
                <a:cs typeface="Arial"/>
              </a:rPr>
              <a:t>+</a:t>
            </a:r>
            <a:r>
              <a:rPr sz="1600" dirty="0">
                <a:latin typeface="Arial"/>
                <a:cs typeface="Arial"/>
              </a:rPr>
              <a:t> </a:t>
            </a:r>
            <a:r>
              <a:rPr sz="1600" spc="50" dirty="0">
                <a:latin typeface="Arial"/>
                <a:cs typeface="Arial"/>
              </a:rPr>
              <a:t>(num*num));</a:t>
            </a:r>
            <a:endParaRPr sz="1600">
              <a:latin typeface="Arial"/>
              <a:cs typeface="Arial"/>
            </a:endParaRPr>
          </a:p>
          <a:p>
            <a:pPr marL="469900">
              <a:lnSpc>
                <a:spcPct val="100000"/>
              </a:lnSpc>
              <a:spcBef>
                <a:spcPts val="310"/>
              </a:spcBef>
            </a:pPr>
            <a:r>
              <a:rPr sz="1600" spc="40" dirty="0">
                <a:latin typeface="Arial"/>
                <a:cs typeface="Arial"/>
              </a:rPr>
              <a:t>}</a:t>
            </a:r>
            <a:endParaRPr sz="1600">
              <a:latin typeface="Arial"/>
              <a:cs typeface="Arial"/>
            </a:endParaRPr>
          </a:p>
          <a:p>
            <a:pPr marL="241300">
              <a:lnSpc>
                <a:spcPct val="100000"/>
              </a:lnSpc>
              <a:spcBef>
                <a:spcPts val="315"/>
              </a:spcBef>
            </a:pPr>
            <a:r>
              <a:rPr sz="1600" spc="40" dirty="0">
                <a:latin typeface="Arial"/>
                <a:cs typeface="Arial"/>
              </a:rPr>
              <a:t>}</a:t>
            </a:r>
            <a:endParaRPr sz="1600">
              <a:latin typeface="Arial"/>
              <a:cs typeface="Arial"/>
            </a:endParaRPr>
          </a:p>
          <a:p>
            <a:pPr marL="241300">
              <a:lnSpc>
                <a:spcPct val="100000"/>
              </a:lnSpc>
              <a:spcBef>
                <a:spcPts val="325"/>
              </a:spcBef>
            </a:pPr>
            <a:r>
              <a:rPr sz="1600" spc="60" dirty="0">
                <a:solidFill>
                  <a:srgbClr val="008200"/>
                </a:solidFill>
                <a:latin typeface="Arial"/>
                <a:cs typeface="Arial"/>
              </a:rPr>
              <a:t>//main</a:t>
            </a:r>
            <a:r>
              <a:rPr sz="1600" spc="10" dirty="0">
                <a:solidFill>
                  <a:srgbClr val="008200"/>
                </a:solidFill>
                <a:latin typeface="Arial"/>
                <a:cs typeface="Arial"/>
              </a:rPr>
              <a:t> </a:t>
            </a:r>
            <a:r>
              <a:rPr sz="1600" spc="70" dirty="0">
                <a:solidFill>
                  <a:srgbClr val="008200"/>
                </a:solidFill>
                <a:latin typeface="Arial"/>
                <a:cs typeface="Arial"/>
              </a:rPr>
              <a:t>method</a:t>
            </a:r>
            <a:endParaRPr sz="1600">
              <a:latin typeface="Arial"/>
              <a:cs typeface="Arial"/>
            </a:endParaRPr>
          </a:p>
          <a:p>
            <a:pPr marL="698500" marR="4386580" indent="-457200">
              <a:lnSpc>
                <a:spcPct val="116199"/>
              </a:lnSpc>
            </a:pPr>
            <a:r>
              <a:rPr sz="1600" b="1" spc="-100" dirty="0">
                <a:solidFill>
                  <a:srgbClr val="006699"/>
                </a:solidFill>
                <a:latin typeface="Verdana"/>
                <a:cs typeface="Verdana"/>
              </a:rPr>
              <a:t>public </a:t>
            </a:r>
            <a:r>
              <a:rPr sz="1600" b="1" spc="-90" dirty="0">
                <a:solidFill>
                  <a:srgbClr val="006699"/>
                </a:solidFill>
                <a:latin typeface="Verdana"/>
                <a:cs typeface="Verdana"/>
              </a:rPr>
              <a:t>static </a:t>
            </a:r>
            <a:r>
              <a:rPr sz="1600" b="1" spc="-114" dirty="0">
                <a:solidFill>
                  <a:srgbClr val="006699"/>
                </a:solidFill>
                <a:latin typeface="Verdana"/>
                <a:cs typeface="Verdana"/>
              </a:rPr>
              <a:t>void </a:t>
            </a:r>
            <a:r>
              <a:rPr sz="1600" spc="50" dirty="0">
                <a:latin typeface="Arial"/>
                <a:cs typeface="Arial"/>
              </a:rPr>
              <a:t>main(String[] </a:t>
            </a:r>
            <a:r>
              <a:rPr sz="1600" spc="45" dirty="0">
                <a:latin typeface="Arial"/>
                <a:cs typeface="Arial"/>
              </a:rPr>
              <a:t>args) </a:t>
            </a:r>
            <a:r>
              <a:rPr sz="1600" spc="40" dirty="0">
                <a:latin typeface="Arial"/>
                <a:cs typeface="Arial"/>
              </a:rPr>
              <a:t>{  </a:t>
            </a:r>
            <a:r>
              <a:rPr sz="1600" spc="65" dirty="0">
                <a:latin typeface="Arial"/>
                <a:cs typeface="Arial"/>
              </a:rPr>
              <a:t>TestThrow </a:t>
            </a:r>
            <a:r>
              <a:rPr sz="1600" spc="60" dirty="0">
                <a:latin typeface="Arial"/>
                <a:cs typeface="Arial"/>
              </a:rPr>
              <a:t>obj </a:t>
            </a:r>
            <a:r>
              <a:rPr sz="1600" spc="114" dirty="0">
                <a:latin typeface="Arial"/>
                <a:cs typeface="Arial"/>
              </a:rPr>
              <a:t>= </a:t>
            </a:r>
            <a:r>
              <a:rPr sz="1600" b="1" spc="-160" dirty="0">
                <a:solidFill>
                  <a:srgbClr val="006699"/>
                </a:solidFill>
                <a:latin typeface="Verdana"/>
                <a:cs typeface="Verdana"/>
              </a:rPr>
              <a:t>new</a:t>
            </a:r>
            <a:r>
              <a:rPr sz="1600" b="1" spc="-340" dirty="0">
                <a:solidFill>
                  <a:srgbClr val="006699"/>
                </a:solidFill>
                <a:latin typeface="Verdana"/>
                <a:cs typeface="Verdana"/>
              </a:rPr>
              <a:t> </a:t>
            </a:r>
            <a:r>
              <a:rPr sz="1600" spc="55" dirty="0">
                <a:latin typeface="Arial"/>
                <a:cs typeface="Arial"/>
              </a:rPr>
              <a:t>TestThrow();</a:t>
            </a:r>
            <a:endParaRPr sz="1600">
              <a:latin typeface="Arial"/>
              <a:cs typeface="Arial"/>
            </a:endParaRPr>
          </a:p>
          <a:p>
            <a:pPr marL="698500">
              <a:lnSpc>
                <a:spcPct val="100000"/>
              </a:lnSpc>
              <a:spcBef>
                <a:spcPts val="325"/>
              </a:spcBef>
            </a:pPr>
            <a:r>
              <a:rPr sz="1600" spc="60" dirty="0">
                <a:latin typeface="Arial"/>
                <a:cs typeface="Arial"/>
              </a:rPr>
              <a:t>obj.checkNum(-</a:t>
            </a:r>
            <a:r>
              <a:rPr sz="1600" spc="60" dirty="0">
                <a:solidFill>
                  <a:srgbClr val="C00000"/>
                </a:solidFill>
                <a:latin typeface="Arial"/>
                <a:cs typeface="Arial"/>
              </a:rPr>
              <a:t>3</a:t>
            </a:r>
            <a:r>
              <a:rPr sz="1600" spc="60" dirty="0">
                <a:latin typeface="Arial"/>
                <a:cs typeface="Arial"/>
              </a:rPr>
              <a:t>);</a:t>
            </a:r>
            <a:endParaRPr sz="1600">
              <a:latin typeface="Arial"/>
              <a:cs typeface="Arial"/>
            </a:endParaRPr>
          </a:p>
          <a:p>
            <a:pPr marL="698500">
              <a:lnSpc>
                <a:spcPct val="100000"/>
              </a:lnSpc>
              <a:spcBef>
                <a:spcPts val="310"/>
              </a:spcBef>
            </a:pPr>
            <a:r>
              <a:rPr sz="1600" spc="45" dirty="0">
                <a:latin typeface="Arial"/>
                <a:cs typeface="Arial"/>
              </a:rPr>
              <a:t>System.out.println(</a:t>
            </a:r>
            <a:r>
              <a:rPr sz="1600" spc="45" dirty="0">
                <a:solidFill>
                  <a:srgbClr val="0000FF"/>
                </a:solidFill>
                <a:latin typeface="Arial"/>
                <a:cs typeface="Arial"/>
              </a:rPr>
              <a:t>"Rest </a:t>
            </a:r>
            <a:r>
              <a:rPr sz="1600" spc="90" dirty="0">
                <a:solidFill>
                  <a:srgbClr val="0000FF"/>
                </a:solidFill>
                <a:latin typeface="Arial"/>
                <a:cs typeface="Arial"/>
              </a:rPr>
              <a:t>of </a:t>
            </a:r>
            <a:r>
              <a:rPr sz="1600" spc="70" dirty="0">
                <a:solidFill>
                  <a:srgbClr val="0000FF"/>
                </a:solidFill>
                <a:latin typeface="Arial"/>
                <a:cs typeface="Arial"/>
              </a:rPr>
              <a:t>the</a:t>
            </a:r>
            <a:r>
              <a:rPr sz="1600" spc="-65" dirty="0">
                <a:solidFill>
                  <a:srgbClr val="0000FF"/>
                </a:solidFill>
                <a:latin typeface="Arial"/>
                <a:cs typeface="Arial"/>
              </a:rPr>
              <a:t> </a:t>
            </a:r>
            <a:r>
              <a:rPr sz="1600" spc="40" dirty="0">
                <a:solidFill>
                  <a:srgbClr val="0000FF"/>
                </a:solidFill>
                <a:latin typeface="Arial"/>
                <a:cs typeface="Arial"/>
              </a:rPr>
              <a:t>code.."</a:t>
            </a:r>
            <a:r>
              <a:rPr sz="1600" spc="40" dirty="0">
                <a:latin typeface="Arial"/>
                <a:cs typeface="Arial"/>
              </a:rPr>
              <a:t>);</a:t>
            </a:r>
            <a:endParaRPr sz="1600">
              <a:latin typeface="Arial"/>
              <a:cs typeface="Arial"/>
            </a:endParaRPr>
          </a:p>
          <a:p>
            <a:pPr marL="241300">
              <a:lnSpc>
                <a:spcPct val="100000"/>
              </a:lnSpc>
              <a:spcBef>
                <a:spcPts val="315"/>
              </a:spcBef>
            </a:pPr>
            <a:r>
              <a:rPr sz="1600" spc="40" dirty="0">
                <a:latin typeface="Arial"/>
                <a:cs typeface="Arial"/>
              </a:rPr>
              <a:t>}</a:t>
            </a:r>
            <a:endParaRPr sz="1600">
              <a:latin typeface="Arial"/>
              <a:cs typeface="Arial"/>
            </a:endParaRPr>
          </a:p>
          <a:p>
            <a:pPr marL="12700">
              <a:lnSpc>
                <a:spcPct val="100000"/>
              </a:lnSpc>
              <a:spcBef>
                <a:spcPts val="325"/>
              </a:spcBef>
            </a:pPr>
            <a:r>
              <a:rPr sz="1600" spc="40" dirty="0">
                <a:latin typeface="Arial"/>
                <a:cs typeface="Arial"/>
              </a:rPr>
              <a:t>}</a:t>
            </a:r>
            <a:endParaRPr sz="1600">
              <a:latin typeface="Arial"/>
              <a:cs typeface="Arial"/>
            </a:endParaRPr>
          </a:p>
        </p:txBody>
      </p:sp>
      <p:sp>
        <p:nvSpPr>
          <p:cNvPr id="4" name="object 4"/>
          <p:cNvSpPr/>
          <p:nvPr/>
        </p:nvSpPr>
        <p:spPr>
          <a:xfrm>
            <a:off x="4572000" y="5257800"/>
            <a:ext cx="3962400" cy="92964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939" y="192404"/>
            <a:ext cx="7964170" cy="1123315"/>
          </a:xfrm>
          <a:prstGeom prst="rect">
            <a:avLst/>
          </a:prstGeom>
        </p:spPr>
        <p:txBody>
          <a:bodyPr vert="horz" wrap="square" lIns="0" tIns="12700" rIns="0" bIns="0" rtlCol="0">
            <a:spAutoFit/>
          </a:bodyPr>
          <a:lstStyle/>
          <a:p>
            <a:pPr marL="12700" marR="5080">
              <a:lnSpc>
                <a:spcPct val="100000"/>
              </a:lnSpc>
              <a:spcBef>
                <a:spcPts val="100"/>
              </a:spcBef>
            </a:pPr>
            <a:r>
              <a:rPr sz="2400" spc="-5" dirty="0"/>
              <a:t>A </a:t>
            </a:r>
            <a:r>
              <a:rPr sz="2400" dirty="0"/>
              <a:t>sample </a:t>
            </a:r>
            <a:r>
              <a:rPr sz="2400" spc="-5" dirty="0"/>
              <a:t>program that </a:t>
            </a:r>
            <a:r>
              <a:rPr sz="2400" dirty="0"/>
              <a:t>creates </a:t>
            </a:r>
            <a:r>
              <a:rPr sz="2400" spc="-5" dirty="0"/>
              <a:t>and throws an </a:t>
            </a:r>
            <a:r>
              <a:rPr sz="2400" dirty="0"/>
              <a:t>exception. </a:t>
            </a:r>
            <a:r>
              <a:rPr sz="2400" spc="-5" dirty="0"/>
              <a:t>The  handler that </a:t>
            </a:r>
            <a:r>
              <a:rPr sz="2400" dirty="0"/>
              <a:t>catches </a:t>
            </a:r>
            <a:r>
              <a:rPr sz="2400" spc="-5" dirty="0"/>
              <a:t>the </a:t>
            </a:r>
            <a:r>
              <a:rPr sz="2400" dirty="0"/>
              <a:t>exception </a:t>
            </a:r>
            <a:r>
              <a:rPr sz="2400" spc="-5" dirty="0"/>
              <a:t>rethrows </a:t>
            </a:r>
            <a:r>
              <a:rPr sz="2400" dirty="0"/>
              <a:t>it to the outer  </a:t>
            </a:r>
            <a:r>
              <a:rPr sz="2400" spc="-5" dirty="0"/>
              <a:t>handler.</a:t>
            </a:r>
            <a:endParaRPr sz="2400"/>
          </a:p>
        </p:txBody>
      </p:sp>
      <p:sp>
        <p:nvSpPr>
          <p:cNvPr id="3" name="object 3"/>
          <p:cNvSpPr/>
          <p:nvPr/>
        </p:nvSpPr>
        <p:spPr>
          <a:xfrm>
            <a:off x="312040" y="1617624"/>
            <a:ext cx="8579730" cy="502698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 y="1828800"/>
            <a:ext cx="8611870" cy="3031599"/>
          </a:xfrm>
          <a:prstGeom prst="rect">
            <a:avLst/>
          </a:prstGeom>
        </p:spPr>
        <p:txBody>
          <a:bodyPr vert="horz" wrap="square" lIns="0" tIns="12700" rIns="0" bIns="0" rtlCol="0">
            <a:spAutoFit/>
          </a:bodyPr>
          <a:lstStyle/>
          <a:p>
            <a:pPr marL="332740" indent="-320040" algn="just">
              <a:lnSpc>
                <a:spcPts val="2735"/>
              </a:lnSpc>
              <a:spcBef>
                <a:spcPts val="100"/>
              </a:spcBef>
              <a:buClr>
                <a:srgbClr val="DD8046"/>
              </a:buClr>
              <a:buSzPct val="58333"/>
              <a:buFont typeface="DejaVu Sans"/>
              <a:buChar char="◻"/>
              <a:tabLst>
                <a:tab pos="332740" algn="l"/>
              </a:tabLst>
            </a:pPr>
            <a:r>
              <a:rPr sz="2400" dirty="0">
                <a:latin typeface="Times New Roman"/>
                <a:cs typeface="Times New Roman"/>
              </a:rPr>
              <a:t>This</a:t>
            </a:r>
            <a:r>
              <a:rPr sz="2400" spc="254" dirty="0">
                <a:latin typeface="Times New Roman"/>
                <a:cs typeface="Times New Roman"/>
              </a:rPr>
              <a:t> </a:t>
            </a:r>
            <a:r>
              <a:rPr sz="2400" spc="-5" dirty="0">
                <a:latin typeface="Times New Roman"/>
                <a:cs typeface="Times New Roman"/>
              </a:rPr>
              <a:t>program</a:t>
            </a:r>
            <a:r>
              <a:rPr sz="2400" spc="225" dirty="0">
                <a:latin typeface="Times New Roman"/>
                <a:cs typeface="Times New Roman"/>
              </a:rPr>
              <a:t> </a:t>
            </a:r>
            <a:r>
              <a:rPr sz="2400" dirty="0">
                <a:latin typeface="Times New Roman"/>
                <a:cs typeface="Times New Roman"/>
              </a:rPr>
              <a:t>gets</a:t>
            </a:r>
            <a:r>
              <a:rPr sz="2400" spc="260" dirty="0">
                <a:latin typeface="Times New Roman"/>
                <a:cs typeface="Times New Roman"/>
              </a:rPr>
              <a:t> </a:t>
            </a:r>
            <a:r>
              <a:rPr sz="2400" dirty="0">
                <a:latin typeface="Times New Roman"/>
                <a:cs typeface="Times New Roman"/>
              </a:rPr>
              <a:t>two</a:t>
            </a:r>
            <a:r>
              <a:rPr sz="2400" spc="250" dirty="0">
                <a:latin typeface="Times New Roman"/>
                <a:cs typeface="Times New Roman"/>
              </a:rPr>
              <a:t> </a:t>
            </a:r>
            <a:r>
              <a:rPr sz="2400" spc="-5" dirty="0">
                <a:latin typeface="Times New Roman"/>
                <a:cs typeface="Times New Roman"/>
              </a:rPr>
              <a:t>chances</a:t>
            </a:r>
            <a:r>
              <a:rPr sz="2400" spc="254" dirty="0">
                <a:latin typeface="Times New Roman"/>
                <a:cs typeface="Times New Roman"/>
              </a:rPr>
              <a:t> </a:t>
            </a:r>
            <a:r>
              <a:rPr sz="2400" dirty="0">
                <a:latin typeface="Times New Roman"/>
                <a:cs typeface="Times New Roman"/>
              </a:rPr>
              <a:t>to</a:t>
            </a:r>
            <a:r>
              <a:rPr sz="2400" spc="240" dirty="0">
                <a:latin typeface="Times New Roman"/>
                <a:cs typeface="Times New Roman"/>
              </a:rPr>
              <a:t> </a:t>
            </a:r>
            <a:r>
              <a:rPr sz="2400" spc="-5" dirty="0">
                <a:latin typeface="Times New Roman"/>
                <a:cs typeface="Times New Roman"/>
              </a:rPr>
              <a:t>deal</a:t>
            </a:r>
            <a:r>
              <a:rPr sz="2400" spc="260" dirty="0">
                <a:latin typeface="Times New Roman"/>
                <a:cs typeface="Times New Roman"/>
              </a:rPr>
              <a:t> </a:t>
            </a:r>
            <a:r>
              <a:rPr sz="2400" dirty="0">
                <a:latin typeface="Times New Roman"/>
                <a:cs typeface="Times New Roman"/>
              </a:rPr>
              <a:t>with</a:t>
            </a:r>
            <a:r>
              <a:rPr sz="2400" spc="240" dirty="0">
                <a:latin typeface="Times New Roman"/>
                <a:cs typeface="Times New Roman"/>
              </a:rPr>
              <a:t> </a:t>
            </a:r>
            <a:r>
              <a:rPr sz="2400" spc="-5" dirty="0">
                <a:latin typeface="Times New Roman"/>
                <a:cs typeface="Times New Roman"/>
              </a:rPr>
              <a:t>the</a:t>
            </a:r>
            <a:r>
              <a:rPr sz="2400" spc="254" dirty="0">
                <a:latin typeface="Times New Roman"/>
                <a:cs typeface="Times New Roman"/>
              </a:rPr>
              <a:t> </a:t>
            </a:r>
            <a:r>
              <a:rPr sz="2400" spc="-5" dirty="0">
                <a:latin typeface="Times New Roman"/>
                <a:cs typeface="Times New Roman"/>
              </a:rPr>
              <a:t>same</a:t>
            </a:r>
            <a:r>
              <a:rPr sz="2400" spc="250" dirty="0">
                <a:latin typeface="Times New Roman"/>
                <a:cs typeface="Times New Roman"/>
              </a:rPr>
              <a:t> </a:t>
            </a:r>
            <a:r>
              <a:rPr sz="2400" spc="-5" dirty="0">
                <a:latin typeface="Times New Roman"/>
                <a:cs typeface="Times New Roman"/>
              </a:rPr>
              <a:t>error.</a:t>
            </a:r>
            <a:r>
              <a:rPr sz="2400" spc="254" dirty="0">
                <a:latin typeface="Times New Roman"/>
                <a:cs typeface="Times New Roman"/>
              </a:rPr>
              <a:t> </a:t>
            </a:r>
            <a:r>
              <a:rPr sz="2400" dirty="0">
                <a:latin typeface="Times New Roman"/>
                <a:cs typeface="Times New Roman"/>
              </a:rPr>
              <a:t>First,</a:t>
            </a:r>
          </a:p>
          <a:p>
            <a:pPr marL="332740" algn="just">
              <a:lnSpc>
                <a:spcPts val="2735"/>
              </a:lnSpc>
            </a:pPr>
            <a:r>
              <a:rPr sz="2400" spc="-5" dirty="0">
                <a:latin typeface="Times New Roman"/>
                <a:cs typeface="Times New Roman"/>
              </a:rPr>
              <a:t>main( </a:t>
            </a:r>
            <a:r>
              <a:rPr sz="2400" dirty="0">
                <a:latin typeface="Times New Roman"/>
                <a:cs typeface="Times New Roman"/>
              </a:rPr>
              <a:t>) sets up an exception context and then calls </a:t>
            </a:r>
            <a:r>
              <a:rPr sz="2400" spc="-5" dirty="0">
                <a:latin typeface="Times New Roman"/>
                <a:cs typeface="Times New Roman"/>
              </a:rPr>
              <a:t>demoproc(</a:t>
            </a:r>
            <a:r>
              <a:rPr sz="2400" spc="-125" dirty="0">
                <a:latin typeface="Times New Roman"/>
                <a:cs typeface="Times New Roman"/>
              </a:rPr>
              <a:t> </a:t>
            </a:r>
            <a:r>
              <a:rPr sz="2400" dirty="0">
                <a:latin typeface="Times New Roman"/>
                <a:cs typeface="Times New Roman"/>
              </a:rPr>
              <a:t>).</a:t>
            </a:r>
          </a:p>
          <a:p>
            <a:pPr marL="332740" marR="5080" indent="-320040" algn="just">
              <a:lnSpc>
                <a:spcPts val="2590"/>
              </a:lnSpc>
              <a:spcBef>
                <a:spcPts val="735"/>
              </a:spcBef>
              <a:buClr>
                <a:srgbClr val="DD8046"/>
              </a:buClr>
              <a:buSzPct val="58333"/>
              <a:buFont typeface="DejaVu Sans"/>
              <a:buChar char="◻"/>
              <a:tabLst>
                <a:tab pos="332740" algn="l"/>
              </a:tabLst>
            </a:pPr>
            <a:r>
              <a:rPr sz="2400" dirty="0">
                <a:latin typeface="Times New Roman"/>
                <a:cs typeface="Times New Roman"/>
              </a:rPr>
              <a:t>The </a:t>
            </a:r>
            <a:r>
              <a:rPr sz="2400" spc="-5" dirty="0">
                <a:latin typeface="Times New Roman"/>
                <a:cs typeface="Times New Roman"/>
              </a:rPr>
              <a:t>demoproc( </a:t>
            </a:r>
            <a:r>
              <a:rPr sz="2400" dirty="0">
                <a:latin typeface="Times New Roman"/>
                <a:cs typeface="Times New Roman"/>
              </a:rPr>
              <a:t>) </a:t>
            </a:r>
            <a:r>
              <a:rPr sz="2400" spc="-5" dirty="0">
                <a:latin typeface="Times New Roman"/>
                <a:cs typeface="Times New Roman"/>
              </a:rPr>
              <a:t>method then sets </a:t>
            </a:r>
            <a:r>
              <a:rPr sz="2400" dirty="0">
                <a:latin typeface="Times New Roman"/>
                <a:cs typeface="Times New Roman"/>
              </a:rPr>
              <a:t>up </a:t>
            </a:r>
            <a:r>
              <a:rPr sz="2400" spc="-5" dirty="0">
                <a:latin typeface="Times New Roman"/>
                <a:cs typeface="Times New Roman"/>
              </a:rPr>
              <a:t>another exception handling  context and immediately throws </a:t>
            </a:r>
            <a:r>
              <a:rPr sz="2400" dirty="0">
                <a:latin typeface="Times New Roman"/>
                <a:cs typeface="Times New Roman"/>
              </a:rPr>
              <a:t>a </a:t>
            </a:r>
            <a:r>
              <a:rPr sz="2400" spc="-5" dirty="0">
                <a:latin typeface="Times New Roman"/>
                <a:cs typeface="Times New Roman"/>
              </a:rPr>
              <a:t>new instance </a:t>
            </a:r>
            <a:r>
              <a:rPr sz="2400" dirty="0">
                <a:latin typeface="Times New Roman"/>
                <a:cs typeface="Times New Roman"/>
              </a:rPr>
              <a:t>of  </a:t>
            </a:r>
            <a:r>
              <a:rPr sz="2400" spc="-5" dirty="0">
                <a:latin typeface="Times New Roman"/>
                <a:cs typeface="Times New Roman"/>
              </a:rPr>
              <a:t>NullPointerException, which </a:t>
            </a:r>
            <a:r>
              <a:rPr sz="2400" dirty="0">
                <a:latin typeface="Times New Roman"/>
                <a:cs typeface="Times New Roman"/>
              </a:rPr>
              <a:t>is caught </a:t>
            </a:r>
            <a:r>
              <a:rPr sz="2400" spc="-5" dirty="0">
                <a:latin typeface="Times New Roman"/>
                <a:cs typeface="Times New Roman"/>
              </a:rPr>
              <a:t>on </a:t>
            </a:r>
            <a:r>
              <a:rPr sz="2400" dirty="0">
                <a:latin typeface="Times New Roman"/>
                <a:cs typeface="Times New Roman"/>
              </a:rPr>
              <a:t>the next</a:t>
            </a:r>
            <a:r>
              <a:rPr sz="2400" spc="-65" dirty="0">
                <a:latin typeface="Times New Roman"/>
                <a:cs typeface="Times New Roman"/>
              </a:rPr>
              <a:t> </a:t>
            </a:r>
            <a:r>
              <a:rPr sz="2400" dirty="0">
                <a:latin typeface="Times New Roman"/>
                <a:cs typeface="Times New Roman"/>
              </a:rPr>
              <a:t>line.</a:t>
            </a:r>
          </a:p>
          <a:p>
            <a:pPr marL="332740" indent="-320040" algn="just">
              <a:lnSpc>
                <a:spcPct val="100000"/>
              </a:lnSpc>
              <a:spcBef>
                <a:spcPts val="390"/>
              </a:spcBef>
              <a:buClr>
                <a:srgbClr val="DD8046"/>
              </a:buClr>
              <a:buSzPct val="58333"/>
              <a:buFont typeface="DejaVu Sans"/>
              <a:buChar char="◻"/>
              <a:tabLst>
                <a:tab pos="332740" algn="l"/>
              </a:tabLst>
            </a:pPr>
            <a:r>
              <a:rPr sz="2400" dirty="0">
                <a:latin typeface="Times New Roman"/>
                <a:cs typeface="Times New Roman"/>
              </a:rPr>
              <a:t>The exception is then rethrown. Here is the resulting</a:t>
            </a:r>
            <a:r>
              <a:rPr sz="2400" spc="-150" dirty="0">
                <a:latin typeface="Times New Roman"/>
                <a:cs typeface="Times New Roman"/>
              </a:rPr>
              <a:t> </a:t>
            </a:r>
            <a:r>
              <a:rPr sz="2400" dirty="0">
                <a:latin typeface="Times New Roman"/>
                <a:cs typeface="Times New Roman"/>
              </a:rPr>
              <a:t>output:</a:t>
            </a:r>
          </a:p>
          <a:p>
            <a:pPr marL="927100" algn="just">
              <a:lnSpc>
                <a:spcPct val="100000"/>
              </a:lnSpc>
              <a:spcBef>
                <a:spcPts val="315"/>
              </a:spcBef>
            </a:pPr>
            <a:r>
              <a:rPr sz="2400" b="1" spc="-5" dirty="0">
                <a:latin typeface="Times New Roman"/>
                <a:cs typeface="Times New Roman"/>
              </a:rPr>
              <a:t>Caught </a:t>
            </a:r>
            <a:r>
              <a:rPr sz="2400" b="1" dirty="0">
                <a:latin typeface="Times New Roman"/>
                <a:cs typeface="Times New Roman"/>
              </a:rPr>
              <a:t>inside</a:t>
            </a:r>
            <a:r>
              <a:rPr sz="2400" b="1" spc="5" dirty="0">
                <a:latin typeface="Times New Roman"/>
                <a:cs typeface="Times New Roman"/>
              </a:rPr>
              <a:t> </a:t>
            </a:r>
            <a:r>
              <a:rPr sz="2400" b="1" dirty="0">
                <a:latin typeface="Times New Roman"/>
                <a:cs typeface="Times New Roman"/>
              </a:rPr>
              <a:t>demoproc.</a:t>
            </a:r>
            <a:endParaRPr sz="2400" dirty="0">
              <a:latin typeface="Times New Roman"/>
              <a:cs typeface="Times New Roman"/>
            </a:endParaRPr>
          </a:p>
          <a:p>
            <a:pPr marL="927100" algn="just">
              <a:lnSpc>
                <a:spcPct val="100000"/>
              </a:lnSpc>
              <a:spcBef>
                <a:spcPts val="310"/>
              </a:spcBef>
            </a:pPr>
            <a:r>
              <a:rPr sz="2400" b="1" spc="-5" dirty="0">
                <a:latin typeface="Times New Roman"/>
                <a:cs typeface="Times New Roman"/>
              </a:rPr>
              <a:t>Recaught: java.lang.NullPointerException:</a:t>
            </a:r>
            <a:r>
              <a:rPr sz="2400" b="1" spc="-15" dirty="0">
                <a:latin typeface="Times New Roman"/>
                <a:cs typeface="Times New Roman"/>
              </a:rPr>
              <a:t> </a:t>
            </a:r>
            <a:r>
              <a:rPr sz="2400" b="1" dirty="0" smtClean="0">
                <a:latin typeface="Times New Roman"/>
                <a:cs typeface="Times New Roman"/>
              </a:rPr>
              <a:t>demo</a:t>
            </a:r>
            <a:endParaRPr sz="2400" dirty="0">
              <a:latin typeface="Times New Roman"/>
              <a:cs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905000"/>
            <a:ext cx="7620000" cy="3816429"/>
          </a:xfrm>
          <a:prstGeom prst="rect">
            <a:avLst/>
          </a:prstGeom>
        </p:spPr>
        <p:txBody>
          <a:bodyPr wrap="square">
            <a:spAutoFit/>
          </a:bodyPr>
          <a:lstStyle/>
          <a:p>
            <a:pPr marL="332740" marR="6350" indent="-320040" algn="just">
              <a:lnSpc>
                <a:spcPts val="2590"/>
              </a:lnSpc>
              <a:spcBef>
                <a:spcPts val="740"/>
              </a:spcBef>
              <a:buClr>
                <a:srgbClr val="DD8046"/>
              </a:buClr>
              <a:buSzPct val="58333"/>
              <a:buFont typeface="DejaVu Sans"/>
              <a:buChar char="◻"/>
              <a:tabLst>
                <a:tab pos="332740" algn="l"/>
              </a:tabLst>
            </a:pPr>
            <a:r>
              <a:rPr lang="en-US" sz="2400" dirty="0">
                <a:latin typeface="Times New Roman"/>
                <a:cs typeface="Times New Roman"/>
              </a:rPr>
              <a:t>The </a:t>
            </a:r>
            <a:r>
              <a:rPr lang="en-US" sz="2400" spc="-5" dirty="0">
                <a:latin typeface="Times New Roman"/>
                <a:cs typeface="Times New Roman"/>
              </a:rPr>
              <a:t>program </a:t>
            </a:r>
            <a:r>
              <a:rPr lang="en-US" sz="2400" dirty="0">
                <a:latin typeface="Times New Roman"/>
                <a:cs typeface="Times New Roman"/>
              </a:rPr>
              <a:t>also </a:t>
            </a:r>
            <a:r>
              <a:rPr lang="en-US" sz="2400" spc="-5" dirty="0">
                <a:latin typeface="Times New Roman"/>
                <a:cs typeface="Times New Roman"/>
              </a:rPr>
              <a:t>illustrates </a:t>
            </a:r>
            <a:r>
              <a:rPr lang="en-US" sz="2400" dirty="0">
                <a:latin typeface="Times New Roman"/>
                <a:cs typeface="Times New Roman"/>
              </a:rPr>
              <a:t>how to </a:t>
            </a:r>
            <a:r>
              <a:rPr lang="en-US" sz="2400" spc="-5" dirty="0">
                <a:latin typeface="Times New Roman"/>
                <a:cs typeface="Times New Roman"/>
              </a:rPr>
              <a:t>create one </a:t>
            </a:r>
            <a:r>
              <a:rPr lang="en-US" sz="2400" dirty="0">
                <a:latin typeface="Times New Roman"/>
                <a:cs typeface="Times New Roman"/>
              </a:rPr>
              <a:t>of </a:t>
            </a:r>
            <a:r>
              <a:rPr lang="en-US" sz="2400" spc="-5" dirty="0">
                <a:latin typeface="Times New Roman"/>
                <a:cs typeface="Times New Roman"/>
              </a:rPr>
              <a:t>Java’s standard  </a:t>
            </a:r>
            <a:r>
              <a:rPr lang="en-US" sz="2400" dirty="0">
                <a:latin typeface="Times New Roman"/>
                <a:cs typeface="Times New Roman"/>
              </a:rPr>
              <a:t>exception</a:t>
            </a:r>
            <a:r>
              <a:rPr lang="en-US" sz="2400" spc="-35" dirty="0">
                <a:latin typeface="Times New Roman"/>
                <a:cs typeface="Times New Roman"/>
              </a:rPr>
              <a:t> </a:t>
            </a:r>
            <a:r>
              <a:rPr lang="en-US" sz="2400" dirty="0">
                <a:latin typeface="Times New Roman"/>
                <a:cs typeface="Times New Roman"/>
              </a:rPr>
              <a:t>objects.</a:t>
            </a:r>
          </a:p>
          <a:p>
            <a:pPr marL="927100" algn="just">
              <a:lnSpc>
                <a:spcPct val="100000"/>
              </a:lnSpc>
              <a:spcBef>
                <a:spcPts val="370"/>
              </a:spcBef>
            </a:pPr>
            <a:r>
              <a:rPr lang="en-US" sz="2400" b="1" spc="-5" dirty="0">
                <a:latin typeface="Times New Roman"/>
                <a:cs typeface="Times New Roman"/>
              </a:rPr>
              <a:t>throw new</a:t>
            </a:r>
            <a:r>
              <a:rPr lang="en-US" sz="2400" b="1" spc="5" dirty="0">
                <a:latin typeface="Times New Roman"/>
                <a:cs typeface="Times New Roman"/>
              </a:rPr>
              <a:t> </a:t>
            </a:r>
            <a:r>
              <a:rPr lang="en-US" sz="2400" b="1" dirty="0" err="1">
                <a:latin typeface="Times New Roman"/>
                <a:cs typeface="Times New Roman"/>
              </a:rPr>
              <a:t>NullPointerException</a:t>
            </a:r>
            <a:r>
              <a:rPr lang="en-US" sz="2400" b="1" dirty="0">
                <a:latin typeface="Times New Roman"/>
                <a:cs typeface="Times New Roman"/>
              </a:rPr>
              <a:t>("demo");</a:t>
            </a:r>
            <a:endParaRPr lang="en-US" sz="2400" dirty="0">
              <a:latin typeface="Times New Roman"/>
              <a:cs typeface="Times New Roman"/>
            </a:endParaRPr>
          </a:p>
          <a:p>
            <a:pPr marL="332740" indent="-320040" algn="just">
              <a:lnSpc>
                <a:spcPct val="100000"/>
              </a:lnSpc>
              <a:spcBef>
                <a:spcPts val="420"/>
              </a:spcBef>
              <a:buClr>
                <a:srgbClr val="DD8046"/>
              </a:buClr>
              <a:buSzPct val="58333"/>
              <a:buFont typeface="DejaVu Sans"/>
              <a:buChar char="◻"/>
              <a:tabLst>
                <a:tab pos="332740" algn="l"/>
              </a:tabLst>
            </a:pPr>
            <a:r>
              <a:rPr lang="en-US" sz="2400" dirty="0">
                <a:latin typeface="Times New Roman"/>
                <a:cs typeface="Times New Roman"/>
              </a:rPr>
              <a:t>Here, new is used to construct an instance </a:t>
            </a:r>
            <a:r>
              <a:rPr lang="en-US" sz="2400" spc="-5" dirty="0">
                <a:latin typeface="Times New Roman"/>
                <a:cs typeface="Times New Roman"/>
              </a:rPr>
              <a:t>of</a:t>
            </a:r>
            <a:r>
              <a:rPr lang="en-US" sz="2400" spc="-65" dirty="0">
                <a:latin typeface="Times New Roman"/>
                <a:cs typeface="Times New Roman"/>
              </a:rPr>
              <a:t> </a:t>
            </a:r>
            <a:r>
              <a:rPr lang="en-US" sz="2400" spc="-5" dirty="0" err="1">
                <a:latin typeface="Times New Roman"/>
                <a:cs typeface="Times New Roman"/>
              </a:rPr>
              <a:t>NullPointerException</a:t>
            </a:r>
            <a:r>
              <a:rPr lang="en-US" sz="2400" spc="-5" dirty="0">
                <a:latin typeface="Times New Roman"/>
                <a:cs typeface="Times New Roman"/>
              </a:rPr>
              <a:t>.</a:t>
            </a:r>
            <a:endParaRPr lang="en-US" sz="2400" dirty="0">
              <a:latin typeface="Times New Roman"/>
              <a:cs typeface="Times New Roman"/>
            </a:endParaRPr>
          </a:p>
          <a:p>
            <a:pPr marL="332740" marR="6985" indent="-320040" algn="just">
              <a:lnSpc>
                <a:spcPts val="2590"/>
              </a:lnSpc>
              <a:spcBef>
                <a:spcPts val="740"/>
              </a:spcBef>
              <a:buClr>
                <a:srgbClr val="DD8046"/>
              </a:buClr>
              <a:buSzPct val="58333"/>
              <a:buFont typeface="DejaVu Sans"/>
              <a:buChar char="◻"/>
              <a:tabLst>
                <a:tab pos="332740" algn="l"/>
              </a:tabLst>
            </a:pPr>
            <a:r>
              <a:rPr lang="en-US" sz="2400" dirty="0">
                <a:latin typeface="Times New Roman"/>
                <a:cs typeface="Times New Roman"/>
              </a:rPr>
              <a:t>Many of </a:t>
            </a:r>
            <a:r>
              <a:rPr lang="en-US" sz="2400" spc="-5" dirty="0">
                <a:latin typeface="Times New Roman"/>
                <a:cs typeface="Times New Roman"/>
              </a:rPr>
              <a:t>Java’s built in run-time exceptions </a:t>
            </a:r>
            <a:r>
              <a:rPr lang="en-US" sz="2400" dirty="0">
                <a:latin typeface="Times New Roman"/>
                <a:cs typeface="Times New Roman"/>
              </a:rPr>
              <a:t>have at </a:t>
            </a:r>
            <a:r>
              <a:rPr lang="en-US" sz="2400" spc="-5" dirty="0">
                <a:latin typeface="Times New Roman"/>
                <a:cs typeface="Times New Roman"/>
              </a:rPr>
              <a:t>least two  constructors: one with </a:t>
            </a:r>
            <a:r>
              <a:rPr lang="en-US" sz="2400" dirty="0">
                <a:latin typeface="Times New Roman"/>
                <a:cs typeface="Times New Roman"/>
              </a:rPr>
              <a:t>no </a:t>
            </a:r>
            <a:r>
              <a:rPr lang="en-US" sz="2400" spc="-5" dirty="0">
                <a:latin typeface="Times New Roman"/>
                <a:cs typeface="Times New Roman"/>
              </a:rPr>
              <a:t>parameter </a:t>
            </a:r>
            <a:r>
              <a:rPr lang="en-US" sz="2400" dirty="0">
                <a:latin typeface="Times New Roman"/>
                <a:cs typeface="Times New Roman"/>
              </a:rPr>
              <a:t>and </a:t>
            </a:r>
            <a:r>
              <a:rPr lang="en-US" sz="2400" spc="-5" dirty="0">
                <a:latin typeface="Times New Roman"/>
                <a:cs typeface="Times New Roman"/>
              </a:rPr>
              <a:t>one that </a:t>
            </a:r>
            <a:r>
              <a:rPr lang="en-US" sz="2400" dirty="0">
                <a:latin typeface="Times New Roman"/>
                <a:cs typeface="Times New Roman"/>
              </a:rPr>
              <a:t>takes a string  </a:t>
            </a:r>
            <a:r>
              <a:rPr lang="en-US" sz="2400" spc="-5" dirty="0">
                <a:latin typeface="Times New Roman"/>
                <a:cs typeface="Times New Roman"/>
              </a:rPr>
              <a:t>parameter.</a:t>
            </a:r>
            <a:endParaRPr lang="en-US" sz="2400" dirty="0">
              <a:latin typeface="Times New Roman"/>
              <a:cs typeface="Times New Roman"/>
            </a:endParaRPr>
          </a:p>
          <a:p>
            <a:pPr marL="332740" marR="6985" indent="-320040" algn="just">
              <a:lnSpc>
                <a:spcPts val="2590"/>
              </a:lnSpc>
              <a:spcBef>
                <a:spcPts val="705"/>
              </a:spcBef>
              <a:buClr>
                <a:srgbClr val="DD8046"/>
              </a:buClr>
              <a:buSzPct val="58333"/>
              <a:buFont typeface="DejaVu Sans"/>
              <a:buChar char="◻"/>
              <a:tabLst>
                <a:tab pos="332740" algn="l"/>
              </a:tabLst>
            </a:pPr>
            <a:r>
              <a:rPr lang="en-US" sz="2400" spc="-5" dirty="0">
                <a:latin typeface="Times New Roman"/>
                <a:cs typeface="Times New Roman"/>
              </a:rPr>
              <a:t>When the second </a:t>
            </a:r>
            <a:r>
              <a:rPr lang="en-US" sz="2400" dirty="0">
                <a:latin typeface="Times New Roman"/>
                <a:cs typeface="Times New Roman"/>
              </a:rPr>
              <a:t>form is used, the </a:t>
            </a:r>
            <a:r>
              <a:rPr lang="en-US" sz="2400" spc="-5" dirty="0">
                <a:latin typeface="Times New Roman"/>
                <a:cs typeface="Times New Roman"/>
              </a:rPr>
              <a:t>argument specifies </a:t>
            </a:r>
            <a:r>
              <a:rPr lang="en-US" sz="2400" dirty="0">
                <a:latin typeface="Times New Roman"/>
                <a:cs typeface="Times New Roman"/>
              </a:rPr>
              <a:t>a </a:t>
            </a:r>
            <a:r>
              <a:rPr lang="en-US" sz="2400" spc="-5" dirty="0">
                <a:latin typeface="Times New Roman"/>
                <a:cs typeface="Times New Roman"/>
              </a:rPr>
              <a:t>string that  </a:t>
            </a:r>
            <a:r>
              <a:rPr lang="en-US" sz="2400" dirty="0">
                <a:latin typeface="Times New Roman"/>
                <a:cs typeface="Times New Roman"/>
              </a:rPr>
              <a:t>describes the</a:t>
            </a:r>
            <a:r>
              <a:rPr lang="en-US" sz="2400" spc="-20" dirty="0">
                <a:latin typeface="Times New Roman"/>
                <a:cs typeface="Times New Roman"/>
              </a:rPr>
              <a:t> </a:t>
            </a:r>
            <a:r>
              <a:rPr lang="en-US" sz="2400" dirty="0">
                <a:latin typeface="Times New Roman"/>
                <a:cs typeface="Times New Roman"/>
              </a:rPr>
              <a:t>exception.</a:t>
            </a:r>
            <a:endParaRPr lang="en-US" sz="2400" dirty="0">
              <a:latin typeface="Times New Roman"/>
              <a:cs typeface="Times New Roman"/>
            </a:endParaRPr>
          </a:p>
        </p:txBody>
      </p:sp>
    </p:spTree>
    <p:extLst>
      <p:ext uri="{BB962C8B-B14F-4D97-AF65-F5344CB8AC3E}">
        <p14:creationId xmlns:p14="http://schemas.microsoft.com/office/powerpoint/2010/main" val="35477650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64312"/>
            <a:ext cx="6350635" cy="757555"/>
          </a:xfrm>
          <a:prstGeom prst="rect">
            <a:avLst/>
          </a:prstGeom>
        </p:spPr>
        <p:txBody>
          <a:bodyPr vert="horz" wrap="square" lIns="0" tIns="12700" rIns="0" bIns="0" rtlCol="0">
            <a:spAutoFit/>
          </a:bodyPr>
          <a:lstStyle/>
          <a:p>
            <a:pPr marL="12700">
              <a:lnSpc>
                <a:spcPct val="100000"/>
              </a:lnSpc>
              <a:spcBef>
                <a:spcPts val="100"/>
              </a:spcBef>
            </a:pPr>
            <a:r>
              <a:rPr sz="4800" dirty="0"/>
              <a:t>Throws - </a:t>
            </a:r>
            <a:r>
              <a:rPr sz="2000" b="0" spc="35" dirty="0">
                <a:solidFill>
                  <a:srgbClr val="333333"/>
                </a:solidFill>
                <a:latin typeface="Arial"/>
                <a:cs typeface="Arial"/>
              </a:rPr>
              <a:t>is </a:t>
            </a:r>
            <a:r>
              <a:rPr sz="2000" b="0" spc="70" dirty="0">
                <a:solidFill>
                  <a:srgbClr val="333333"/>
                </a:solidFill>
                <a:latin typeface="Arial"/>
                <a:cs typeface="Arial"/>
              </a:rPr>
              <a:t>used </a:t>
            </a:r>
            <a:r>
              <a:rPr sz="2000" b="0" spc="125" dirty="0">
                <a:solidFill>
                  <a:srgbClr val="333333"/>
                </a:solidFill>
                <a:latin typeface="Arial"/>
                <a:cs typeface="Arial"/>
              </a:rPr>
              <a:t>to </a:t>
            </a:r>
            <a:r>
              <a:rPr sz="2000" b="0" spc="65" dirty="0">
                <a:solidFill>
                  <a:srgbClr val="333333"/>
                </a:solidFill>
                <a:latin typeface="Arial"/>
                <a:cs typeface="Arial"/>
              </a:rPr>
              <a:t>declare </a:t>
            </a:r>
            <a:r>
              <a:rPr sz="2000" b="0" spc="35" dirty="0">
                <a:solidFill>
                  <a:srgbClr val="333333"/>
                </a:solidFill>
                <a:latin typeface="Arial"/>
                <a:cs typeface="Arial"/>
              </a:rPr>
              <a:t>an</a:t>
            </a:r>
            <a:r>
              <a:rPr sz="2000" b="0" spc="-340" dirty="0">
                <a:solidFill>
                  <a:srgbClr val="333333"/>
                </a:solidFill>
                <a:latin typeface="Arial"/>
                <a:cs typeface="Arial"/>
              </a:rPr>
              <a:t> </a:t>
            </a:r>
            <a:r>
              <a:rPr sz="2000" b="0" spc="70" dirty="0">
                <a:solidFill>
                  <a:srgbClr val="333333"/>
                </a:solidFill>
                <a:latin typeface="Arial"/>
                <a:cs typeface="Arial"/>
              </a:rPr>
              <a:t>exception.</a:t>
            </a:r>
            <a:endParaRPr sz="2000">
              <a:latin typeface="Arial"/>
              <a:cs typeface="Arial"/>
            </a:endParaRPr>
          </a:p>
        </p:txBody>
      </p:sp>
      <p:sp>
        <p:nvSpPr>
          <p:cNvPr id="3" name="object 3"/>
          <p:cNvSpPr txBox="1"/>
          <p:nvPr/>
        </p:nvSpPr>
        <p:spPr>
          <a:xfrm>
            <a:off x="535940" y="1543253"/>
            <a:ext cx="8301355" cy="4309745"/>
          </a:xfrm>
          <a:prstGeom prst="rect">
            <a:avLst/>
          </a:prstGeom>
        </p:spPr>
        <p:txBody>
          <a:bodyPr vert="horz" wrap="square" lIns="0" tIns="12700" rIns="0" bIns="0" rtlCol="0">
            <a:spAutoFit/>
          </a:bodyPr>
          <a:lstStyle/>
          <a:p>
            <a:pPr marL="332740" marR="5080" indent="-320040">
              <a:lnSpc>
                <a:spcPct val="100000"/>
              </a:lnSpc>
              <a:spcBef>
                <a:spcPts val="100"/>
              </a:spcBef>
              <a:buClr>
                <a:srgbClr val="DD8046"/>
              </a:buClr>
              <a:buSzPct val="60000"/>
              <a:buFont typeface="DejaVu Sans"/>
              <a:buChar char="◻"/>
              <a:tabLst>
                <a:tab pos="332105" algn="l"/>
                <a:tab pos="332740" algn="l"/>
                <a:tab pos="2294255" algn="l"/>
                <a:tab pos="3129280" algn="l"/>
                <a:tab pos="3565525" algn="l"/>
                <a:tab pos="4973955" algn="l"/>
                <a:tab pos="5767705" algn="l"/>
                <a:tab pos="6923405" algn="l"/>
                <a:tab pos="7927975" algn="l"/>
              </a:tabLst>
            </a:pPr>
            <a:r>
              <a:rPr sz="3000" dirty="0">
                <a:latin typeface="Times New Roman"/>
                <a:cs typeface="Times New Roman"/>
              </a:rPr>
              <a:t>Exce</a:t>
            </a:r>
            <a:r>
              <a:rPr sz="3000" spc="15" dirty="0">
                <a:latin typeface="Times New Roman"/>
                <a:cs typeface="Times New Roman"/>
              </a:rPr>
              <a:t>p</a:t>
            </a:r>
            <a:r>
              <a:rPr sz="3000" dirty="0">
                <a:latin typeface="Times New Roman"/>
                <a:cs typeface="Times New Roman"/>
              </a:rPr>
              <a:t>tio</a:t>
            </a:r>
            <a:r>
              <a:rPr sz="3000" spc="15" dirty="0">
                <a:latin typeface="Times New Roman"/>
                <a:cs typeface="Times New Roman"/>
              </a:rPr>
              <a:t>n</a:t>
            </a:r>
            <a:r>
              <a:rPr sz="3000" dirty="0">
                <a:latin typeface="Times New Roman"/>
                <a:cs typeface="Times New Roman"/>
              </a:rPr>
              <a:t>s	that	a	me</a:t>
            </a:r>
            <a:r>
              <a:rPr sz="3000" spc="-15" dirty="0">
                <a:latin typeface="Times New Roman"/>
                <a:cs typeface="Times New Roman"/>
              </a:rPr>
              <a:t>t</a:t>
            </a:r>
            <a:r>
              <a:rPr sz="3000" dirty="0">
                <a:latin typeface="Times New Roman"/>
                <a:cs typeface="Times New Roman"/>
              </a:rPr>
              <a:t>hod	</a:t>
            </a:r>
            <a:r>
              <a:rPr sz="3000" spc="-5" dirty="0">
                <a:latin typeface="Times New Roman"/>
                <a:cs typeface="Times New Roman"/>
              </a:rPr>
              <a:t>ca</a:t>
            </a:r>
            <a:r>
              <a:rPr sz="3000" dirty="0">
                <a:latin typeface="Times New Roman"/>
                <a:cs typeface="Times New Roman"/>
              </a:rPr>
              <a:t>n	throw	m</a:t>
            </a:r>
            <a:r>
              <a:rPr sz="3000" spc="-10" dirty="0">
                <a:latin typeface="Times New Roman"/>
                <a:cs typeface="Times New Roman"/>
              </a:rPr>
              <a:t>u</a:t>
            </a:r>
            <a:r>
              <a:rPr sz="3000" dirty="0">
                <a:latin typeface="Times New Roman"/>
                <a:cs typeface="Times New Roman"/>
              </a:rPr>
              <a:t>st	be  declared </a:t>
            </a:r>
            <a:r>
              <a:rPr sz="3000" spc="-5" dirty="0">
                <a:latin typeface="Times New Roman"/>
                <a:cs typeface="Times New Roman"/>
              </a:rPr>
              <a:t>in </a:t>
            </a:r>
            <a:r>
              <a:rPr sz="3000" dirty="0">
                <a:latin typeface="Times New Roman"/>
                <a:cs typeface="Times New Roman"/>
              </a:rPr>
              <a:t>the </a:t>
            </a:r>
            <a:r>
              <a:rPr sz="3000" spc="-5" dirty="0">
                <a:latin typeface="Times New Roman"/>
                <a:cs typeface="Times New Roman"/>
              </a:rPr>
              <a:t>throws</a:t>
            </a:r>
            <a:r>
              <a:rPr sz="3000" spc="45" dirty="0">
                <a:latin typeface="Times New Roman"/>
                <a:cs typeface="Times New Roman"/>
              </a:rPr>
              <a:t> </a:t>
            </a:r>
            <a:r>
              <a:rPr sz="3000" spc="-5" dirty="0">
                <a:latin typeface="Times New Roman"/>
                <a:cs typeface="Times New Roman"/>
              </a:rPr>
              <a:t>clause.</a:t>
            </a:r>
            <a:endParaRPr sz="3000">
              <a:latin typeface="Times New Roman"/>
              <a:cs typeface="Times New Roman"/>
            </a:endParaRPr>
          </a:p>
          <a:p>
            <a:pPr marL="332740" indent="-320040">
              <a:lnSpc>
                <a:spcPct val="100000"/>
              </a:lnSpc>
              <a:spcBef>
                <a:spcPts val="710"/>
              </a:spcBef>
              <a:buClr>
                <a:srgbClr val="DD8046"/>
              </a:buClr>
              <a:buSzPct val="60000"/>
              <a:buFont typeface="DejaVu Sans"/>
              <a:buChar char="◻"/>
              <a:tabLst>
                <a:tab pos="332105" algn="l"/>
                <a:tab pos="332740" algn="l"/>
              </a:tabLst>
            </a:pPr>
            <a:r>
              <a:rPr sz="3000" dirty="0">
                <a:latin typeface="Times New Roman"/>
                <a:cs typeface="Times New Roman"/>
              </a:rPr>
              <a:t>The general form of a </a:t>
            </a:r>
            <a:r>
              <a:rPr sz="3000" spc="-5" dirty="0">
                <a:latin typeface="Times New Roman"/>
                <a:cs typeface="Times New Roman"/>
              </a:rPr>
              <a:t>throws clause</a:t>
            </a:r>
            <a:r>
              <a:rPr sz="3000" spc="55" dirty="0">
                <a:latin typeface="Times New Roman"/>
                <a:cs typeface="Times New Roman"/>
              </a:rPr>
              <a:t> </a:t>
            </a:r>
            <a:r>
              <a:rPr sz="3000" spc="-5" dirty="0">
                <a:latin typeface="Times New Roman"/>
                <a:cs typeface="Times New Roman"/>
              </a:rPr>
              <a:t>is:</a:t>
            </a:r>
            <a:endParaRPr sz="3000">
              <a:latin typeface="Times New Roman"/>
              <a:cs typeface="Times New Roman"/>
            </a:endParaRPr>
          </a:p>
          <a:p>
            <a:pPr marL="12700">
              <a:lnSpc>
                <a:spcPct val="100000"/>
              </a:lnSpc>
              <a:spcBef>
                <a:spcPts val="725"/>
              </a:spcBef>
            </a:pPr>
            <a:r>
              <a:rPr sz="2400" b="1" spc="-5" dirty="0">
                <a:solidFill>
                  <a:srgbClr val="FF0000"/>
                </a:solidFill>
                <a:latin typeface="Times New Roman"/>
                <a:cs typeface="Times New Roman"/>
              </a:rPr>
              <a:t>type method-name(parameter-list) throws</a:t>
            </a:r>
            <a:r>
              <a:rPr sz="2400" b="1" spc="20" dirty="0">
                <a:solidFill>
                  <a:srgbClr val="FF0000"/>
                </a:solidFill>
                <a:latin typeface="Times New Roman"/>
                <a:cs typeface="Times New Roman"/>
              </a:rPr>
              <a:t> </a:t>
            </a:r>
            <a:r>
              <a:rPr sz="2400" b="1" dirty="0">
                <a:solidFill>
                  <a:srgbClr val="FF0000"/>
                </a:solidFill>
                <a:latin typeface="Times New Roman"/>
                <a:cs typeface="Times New Roman"/>
              </a:rPr>
              <a:t>exception-list</a:t>
            </a:r>
            <a:endParaRPr sz="2400">
              <a:latin typeface="Times New Roman"/>
              <a:cs typeface="Times New Roman"/>
            </a:endParaRPr>
          </a:p>
          <a:p>
            <a:pPr marL="12700">
              <a:lnSpc>
                <a:spcPct val="100000"/>
              </a:lnSpc>
              <a:spcBef>
                <a:spcPts val="695"/>
              </a:spcBef>
            </a:pPr>
            <a:r>
              <a:rPr sz="2400" b="1" spc="-5" dirty="0">
                <a:solidFill>
                  <a:srgbClr val="FF0000"/>
                </a:solidFill>
                <a:latin typeface="Times New Roman"/>
                <a:cs typeface="Times New Roman"/>
              </a:rPr>
              <a:t>{</a:t>
            </a:r>
            <a:endParaRPr sz="2400">
              <a:latin typeface="Times New Roman"/>
              <a:cs typeface="Times New Roman"/>
            </a:endParaRPr>
          </a:p>
          <a:p>
            <a:pPr marL="927100">
              <a:lnSpc>
                <a:spcPct val="100000"/>
              </a:lnSpc>
              <a:spcBef>
                <a:spcPts val="695"/>
              </a:spcBef>
            </a:pPr>
            <a:r>
              <a:rPr sz="2400" b="1" dirty="0">
                <a:solidFill>
                  <a:srgbClr val="FF0000"/>
                </a:solidFill>
                <a:latin typeface="Times New Roman"/>
                <a:cs typeface="Times New Roman"/>
              </a:rPr>
              <a:t>// </a:t>
            </a:r>
            <a:r>
              <a:rPr sz="2400" b="1" spc="-5" dirty="0">
                <a:solidFill>
                  <a:srgbClr val="FF0000"/>
                </a:solidFill>
                <a:latin typeface="Times New Roman"/>
                <a:cs typeface="Times New Roman"/>
              </a:rPr>
              <a:t>body </a:t>
            </a:r>
            <a:r>
              <a:rPr sz="2400" b="1" dirty="0">
                <a:solidFill>
                  <a:srgbClr val="FF0000"/>
                </a:solidFill>
                <a:latin typeface="Times New Roman"/>
                <a:cs typeface="Times New Roman"/>
              </a:rPr>
              <a:t>of</a:t>
            </a:r>
            <a:r>
              <a:rPr sz="2400" b="1" spc="-15" dirty="0">
                <a:solidFill>
                  <a:srgbClr val="FF0000"/>
                </a:solidFill>
                <a:latin typeface="Times New Roman"/>
                <a:cs typeface="Times New Roman"/>
              </a:rPr>
              <a:t> </a:t>
            </a:r>
            <a:r>
              <a:rPr sz="2400" b="1" dirty="0">
                <a:solidFill>
                  <a:srgbClr val="FF0000"/>
                </a:solidFill>
                <a:latin typeface="Times New Roman"/>
                <a:cs typeface="Times New Roman"/>
              </a:rPr>
              <a:t>method</a:t>
            </a:r>
            <a:endParaRPr sz="2400">
              <a:latin typeface="Times New Roman"/>
              <a:cs typeface="Times New Roman"/>
            </a:endParaRPr>
          </a:p>
          <a:p>
            <a:pPr marL="12700">
              <a:lnSpc>
                <a:spcPct val="100000"/>
              </a:lnSpc>
              <a:spcBef>
                <a:spcPts val="710"/>
              </a:spcBef>
            </a:pPr>
            <a:r>
              <a:rPr sz="2400" b="1" spc="-5" dirty="0">
                <a:solidFill>
                  <a:srgbClr val="FF0000"/>
                </a:solidFill>
                <a:latin typeface="Times New Roman"/>
                <a:cs typeface="Times New Roman"/>
              </a:rPr>
              <a:t>}</a:t>
            </a:r>
            <a:endParaRPr sz="2400">
              <a:latin typeface="Times New Roman"/>
              <a:cs typeface="Times New Roman"/>
            </a:endParaRPr>
          </a:p>
          <a:p>
            <a:pPr marL="332740" marR="5080" indent="-320040">
              <a:lnSpc>
                <a:spcPct val="100000"/>
              </a:lnSpc>
              <a:spcBef>
                <a:spcPts val="675"/>
              </a:spcBef>
              <a:buClr>
                <a:srgbClr val="DD8046"/>
              </a:buClr>
              <a:buSzPct val="60000"/>
              <a:buFont typeface="DejaVu Sans"/>
              <a:buChar char="◻"/>
              <a:tabLst>
                <a:tab pos="332105" algn="l"/>
                <a:tab pos="332740" algn="l"/>
              </a:tabLst>
            </a:pPr>
            <a:r>
              <a:rPr sz="3000" dirty="0">
                <a:latin typeface="Times New Roman"/>
                <a:cs typeface="Times New Roman"/>
              </a:rPr>
              <a:t>Here, exception-list </a:t>
            </a:r>
            <a:r>
              <a:rPr sz="3000" spc="-10" dirty="0">
                <a:latin typeface="Times New Roman"/>
                <a:cs typeface="Times New Roman"/>
              </a:rPr>
              <a:t>is </a:t>
            </a:r>
            <a:r>
              <a:rPr sz="3000" dirty="0">
                <a:latin typeface="Times New Roman"/>
                <a:cs typeface="Times New Roman"/>
              </a:rPr>
              <a:t>a comma-separated </a:t>
            </a:r>
            <a:r>
              <a:rPr sz="3000" spc="-5" dirty="0">
                <a:latin typeface="Times New Roman"/>
                <a:cs typeface="Times New Roman"/>
              </a:rPr>
              <a:t>list </a:t>
            </a:r>
            <a:r>
              <a:rPr sz="3000" spc="5" dirty="0">
                <a:latin typeface="Times New Roman"/>
                <a:cs typeface="Times New Roman"/>
              </a:rPr>
              <a:t>of </a:t>
            </a:r>
            <a:r>
              <a:rPr sz="3000" dirty="0">
                <a:latin typeface="Times New Roman"/>
                <a:cs typeface="Times New Roman"/>
              </a:rPr>
              <a:t>the  exceptions that a </a:t>
            </a:r>
            <a:r>
              <a:rPr sz="3000" spc="-5" dirty="0">
                <a:latin typeface="Times New Roman"/>
                <a:cs typeface="Times New Roman"/>
              </a:rPr>
              <a:t>method can</a:t>
            </a:r>
            <a:r>
              <a:rPr sz="3000" spc="50" dirty="0">
                <a:latin typeface="Times New Roman"/>
                <a:cs typeface="Times New Roman"/>
              </a:rPr>
              <a:t> </a:t>
            </a:r>
            <a:r>
              <a:rPr sz="3000" spc="-5" dirty="0">
                <a:latin typeface="Times New Roman"/>
                <a:cs typeface="Times New Roman"/>
              </a:rPr>
              <a:t>throw.</a:t>
            </a:r>
            <a:endParaRPr sz="3000">
              <a:latin typeface="Times New Roman"/>
              <a:cs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87579"/>
            <a:ext cx="3639185" cy="635000"/>
          </a:xfrm>
          <a:prstGeom prst="rect">
            <a:avLst/>
          </a:prstGeom>
        </p:spPr>
        <p:txBody>
          <a:bodyPr vert="horz" wrap="square" lIns="0" tIns="12065" rIns="0" bIns="0" rtlCol="0">
            <a:spAutoFit/>
          </a:bodyPr>
          <a:lstStyle/>
          <a:p>
            <a:pPr marL="12700">
              <a:lnSpc>
                <a:spcPct val="100000"/>
              </a:lnSpc>
              <a:spcBef>
                <a:spcPts val="95"/>
              </a:spcBef>
            </a:pPr>
            <a:r>
              <a:rPr sz="4000" b="0" spc="-5" dirty="0">
                <a:solidFill>
                  <a:srgbClr val="600A38"/>
                </a:solidFill>
                <a:latin typeface="Arial"/>
                <a:cs typeface="Arial"/>
              </a:rPr>
              <a:t>throws</a:t>
            </a:r>
            <a:r>
              <a:rPr sz="4000" b="0" spc="-40" dirty="0">
                <a:solidFill>
                  <a:srgbClr val="600A38"/>
                </a:solidFill>
                <a:latin typeface="Arial"/>
                <a:cs typeface="Arial"/>
              </a:rPr>
              <a:t> </a:t>
            </a:r>
            <a:r>
              <a:rPr sz="4000" b="0" spc="-5" dirty="0">
                <a:solidFill>
                  <a:srgbClr val="600A38"/>
                </a:solidFill>
                <a:latin typeface="Arial"/>
                <a:cs typeface="Arial"/>
              </a:rPr>
              <a:t>Example</a:t>
            </a:r>
            <a:endParaRPr sz="4000">
              <a:latin typeface="Arial"/>
              <a:cs typeface="Arial"/>
            </a:endParaRPr>
          </a:p>
        </p:txBody>
      </p:sp>
      <p:sp>
        <p:nvSpPr>
          <p:cNvPr id="3" name="object 3"/>
          <p:cNvSpPr txBox="1"/>
          <p:nvPr/>
        </p:nvSpPr>
        <p:spPr>
          <a:xfrm>
            <a:off x="78739" y="1534947"/>
            <a:ext cx="6969125" cy="5140325"/>
          </a:xfrm>
          <a:prstGeom prst="rect">
            <a:avLst/>
          </a:prstGeom>
        </p:spPr>
        <p:txBody>
          <a:bodyPr vert="horz" wrap="square" lIns="0" tIns="53975" rIns="0" bIns="0" rtlCol="0">
            <a:spAutoFit/>
          </a:bodyPr>
          <a:lstStyle/>
          <a:p>
            <a:pPr marL="12700">
              <a:lnSpc>
                <a:spcPct val="100000"/>
              </a:lnSpc>
              <a:spcBef>
                <a:spcPts val="425"/>
              </a:spcBef>
            </a:pPr>
            <a:r>
              <a:rPr sz="1600" b="1" spc="-100" dirty="0">
                <a:solidFill>
                  <a:srgbClr val="006699"/>
                </a:solidFill>
                <a:latin typeface="Verdana"/>
                <a:cs typeface="Verdana"/>
              </a:rPr>
              <a:t>public </a:t>
            </a:r>
            <a:r>
              <a:rPr sz="1600" b="1" spc="-80" dirty="0">
                <a:solidFill>
                  <a:srgbClr val="006699"/>
                </a:solidFill>
                <a:latin typeface="Verdana"/>
                <a:cs typeface="Verdana"/>
              </a:rPr>
              <a:t>class </a:t>
            </a:r>
            <a:r>
              <a:rPr sz="1600" spc="60" dirty="0">
                <a:latin typeface="Arial"/>
                <a:cs typeface="Arial"/>
              </a:rPr>
              <a:t>TestThrows</a:t>
            </a:r>
            <a:r>
              <a:rPr sz="1600" spc="40" dirty="0">
                <a:latin typeface="Arial"/>
                <a:cs typeface="Arial"/>
              </a:rPr>
              <a:t> {</a:t>
            </a:r>
            <a:endParaRPr sz="1600">
              <a:latin typeface="Arial"/>
              <a:cs typeface="Arial"/>
            </a:endParaRPr>
          </a:p>
          <a:p>
            <a:pPr marL="241300">
              <a:lnSpc>
                <a:spcPct val="100000"/>
              </a:lnSpc>
              <a:spcBef>
                <a:spcPts val="330"/>
              </a:spcBef>
            </a:pPr>
            <a:r>
              <a:rPr sz="1600" spc="70" dirty="0">
                <a:solidFill>
                  <a:srgbClr val="008200"/>
                </a:solidFill>
                <a:latin typeface="Arial"/>
                <a:cs typeface="Arial"/>
              </a:rPr>
              <a:t>//defining </a:t>
            </a:r>
            <a:r>
              <a:rPr sz="1600" spc="10" dirty="0">
                <a:solidFill>
                  <a:srgbClr val="008200"/>
                </a:solidFill>
                <a:latin typeface="Arial"/>
                <a:cs typeface="Arial"/>
              </a:rPr>
              <a:t>a</a:t>
            </a:r>
            <a:r>
              <a:rPr sz="1600" spc="-50" dirty="0">
                <a:solidFill>
                  <a:srgbClr val="008200"/>
                </a:solidFill>
                <a:latin typeface="Arial"/>
                <a:cs typeface="Arial"/>
              </a:rPr>
              <a:t> </a:t>
            </a:r>
            <a:r>
              <a:rPr sz="1600" spc="70" dirty="0">
                <a:solidFill>
                  <a:srgbClr val="008200"/>
                </a:solidFill>
                <a:latin typeface="Arial"/>
                <a:cs typeface="Arial"/>
              </a:rPr>
              <a:t>method</a:t>
            </a:r>
            <a:endParaRPr sz="1600">
              <a:latin typeface="Arial"/>
              <a:cs typeface="Arial"/>
            </a:endParaRPr>
          </a:p>
          <a:p>
            <a:pPr marL="241300">
              <a:lnSpc>
                <a:spcPct val="100000"/>
              </a:lnSpc>
              <a:spcBef>
                <a:spcPts val="310"/>
              </a:spcBef>
            </a:pPr>
            <a:r>
              <a:rPr sz="1600" b="1" spc="-100" dirty="0">
                <a:solidFill>
                  <a:srgbClr val="006699"/>
                </a:solidFill>
                <a:latin typeface="Verdana"/>
                <a:cs typeface="Verdana"/>
              </a:rPr>
              <a:t>public </a:t>
            </a:r>
            <a:r>
              <a:rPr sz="1600" b="1" spc="-90" dirty="0">
                <a:solidFill>
                  <a:srgbClr val="006699"/>
                </a:solidFill>
                <a:latin typeface="Verdana"/>
                <a:cs typeface="Verdana"/>
              </a:rPr>
              <a:t>static </a:t>
            </a:r>
            <a:r>
              <a:rPr sz="1600" b="1" spc="-125" dirty="0">
                <a:solidFill>
                  <a:srgbClr val="006699"/>
                </a:solidFill>
                <a:latin typeface="Verdana"/>
                <a:cs typeface="Verdana"/>
              </a:rPr>
              <a:t>int </a:t>
            </a:r>
            <a:r>
              <a:rPr sz="1600" spc="10" dirty="0">
                <a:latin typeface="Arial"/>
                <a:cs typeface="Arial"/>
              </a:rPr>
              <a:t>divideNum(</a:t>
            </a:r>
            <a:r>
              <a:rPr sz="1600" b="1" spc="10" dirty="0">
                <a:solidFill>
                  <a:srgbClr val="006699"/>
                </a:solidFill>
                <a:latin typeface="Verdana"/>
                <a:cs typeface="Verdana"/>
              </a:rPr>
              <a:t>int </a:t>
            </a:r>
            <a:r>
              <a:rPr sz="1600" spc="25" dirty="0">
                <a:latin typeface="Arial"/>
                <a:cs typeface="Arial"/>
              </a:rPr>
              <a:t>m, </a:t>
            </a:r>
            <a:r>
              <a:rPr sz="1600" b="1" spc="-125" dirty="0">
                <a:solidFill>
                  <a:srgbClr val="006699"/>
                </a:solidFill>
                <a:latin typeface="Verdana"/>
                <a:cs typeface="Verdana"/>
              </a:rPr>
              <a:t>int </a:t>
            </a:r>
            <a:r>
              <a:rPr sz="1600" spc="40" dirty="0">
                <a:latin typeface="Arial"/>
                <a:cs typeface="Arial"/>
              </a:rPr>
              <a:t>n) </a:t>
            </a:r>
            <a:r>
              <a:rPr sz="1600" b="1" spc="-130" dirty="0">
                <a:solidFill>
                  <a:srgbClr val="006699"/>
                </a:solidFill>
                <a:latin typeface="Verdana"/>
                <a:cs typeface="Verdana"/>
              </a:rPr>
              <a:t>throws </a:t>
            </a:r>
            <a:r>
              <a:rPr sz="1600" spc="50" dirty="0">
                <a:latin typeface="Arial"/>
                <a:cs typeface="Arial"/>
              </a:rPr>
              <a:t>ArithmeticException</a:t>
            </a:r>
            <a:r>
              <a:rPr sz="1600" spc="70" dirty="0">
                <a:latin typeface="Arial"/>
                <a:cs typeface="Arial"/>
              </a:rPr>
              <a:t> </a:t>
            </a:r>
            <a:r>
              <a:rPr sz="1600" spc="40" dirty="0">
                <a:latin typeface="Arial"/>
                <a:cs typeface="Arial"/>
              </a:rPr>
              <a:t>{</a:t>
            </a:r>
            <a:endParaRPr sz="1600">
              <a:latin typeface="Arial"/>
              <a:cs typeface="Arial"/>
            </a:endParaRPr>
          </a:p>
          <a:p>
            <a:pPr marL="469900">
              <a:lnSpc>
                <a:spcPct val="100000"/>
              </a:lnSpc>
              <a:spcBef>
                <a:spcPts val="310"/>
              </a:spcBef>
            </a:pPr>
            <a:r>
              <a:rPr sz="1600" b="1" spc="-125" dirty="0">
                <a:solidFill>
                  <a:srgbClr val="006699"/>
                </a:solidFill>
                <a:latin typeface="Verdana"/>
                <a:cs typeface="Verdana"/>
              </a:rPr>
              <a:t>int </a:t>
            </a:r>
            <a:r>
              <a:rPr sz="1600" spc="70" dirty="0">
                <a:latin typeface="Arial"/>
                <a:cs typeface="Arial"/>
              </a:rPr>
              <a:t>div </a:t>
            </a:r>
            <a:r>
              <a:rPr sz="1600" spc="114" dirty="0">
                <a:latin typeface="Arial"/>
                <a:cs typeface="Arial"/>
              </a:rPr>
              <a:t>= </a:t>
            </a:r>
            <a:r>
              <a:rPr sz="1600" spc="50" dirty="0">
                <a:latin typeface="Arial"/>
                <a:cs typeface="Arial"/>
              </a:rPr>
              <a:t>m </a:t>
            </a:r>
            <a:r>
              <a:rPr sz="1600" spc="120" dirty="0">
                <a:latin typeface="Arial"/>
                <a:cs typeface="Arial"/>
              </a:rPr>
              <a:t>/</a:t>
            </a:r>
            <a:r>
              <a:rPr sz="1600" spc="-204" dirty="0">
                <a:latin typeface="Arial"/>
                <a:cs typeface="Arial"/>
              </a:rPr>
              <a:t> </a:t>
            </a:r>
            <a:r>
              <a:rPr sz="1600" spc="20" dirty="0">
                <a:latin typeface="Arial"/>
                <a:cs typeface="Arial"/>
              </a:rPr>
              <a:t>n;</a:t>
            </a:r>
            <a:endParaRPr sz="1600">
              <a:latin typeface="Arial"/>
              <a:cs typeface="Arial"/>
            </a:endParaRPr>
          </a:p>
          <a:p>
            <a:pPr marL="469900">
              <a:lnSpc>
                <a:spcPct val="100000"/>
              </a:lnSpc>
              <a:spcBef>
                <a:spcPts val="325"/>
              </a:spcBef>
            </a:pPr>
            <a:r>
              <a:rPr sz="1600" b="1" spc="-135" dirty="0">
                <a:solidFill>
                  <a:srgbClr val="006699"/>
                </a:solidFill>
                <a:latin typeface="Verdana"/>
                <a:cs typeface="Verdana"/>
              </a:rPr>
              <a:t>return</a:t>
            </a:r>
            <a:r>
              <a:rPr sz="1600" b="1" spc="-70" dirty="0">
                <a:solidFill>
                  <a:srgbClr val="006699"/>
                </a:solidFill>
                <a:latin typeface="Verdana"/>
                <a:cs typeface="Verdana"/>
              </a:rPr>
              <a:t> </a:t>
            </a:r>
            <a:r>
              <a:rPr sz="1600" spc="50" dirty="0">
                <a:latin typeface="Arial"/>
                <a:cs typeface="Arial"/>
              </a:rPr>
              <a:t>div;</a:t>
            </a:r>
            <a:endParaRPr sz="1600">
              <a:latin typeface="Arial"/>
              <a:cs typeface="Arial"/>
            </a:endParaRPr>
          </a:p>
          <a:p>
            <a:pPr marL="241300">
              <a:lnSpc>
                <a:spcPct val="100000"/>
              </a:lnSpc>
              <a:spcBef>
                <a:spcPts val="315"/>
              </a:spcBef>
            </a:pPr>
            <a:r>
              <a:rPr sz="1600" spc="40" dirty="0">
                <a:latin typeface="Arial"/>
                <a:cs typeface="Arial"/>
              </a:rPr>
              <a:t>}</a:t>
            </a:r>
            <a:endParaRPr sz="1600">
              <a:latin typeface="Arial"/>
              <a:cs typeface="Arial"/>
            </a:endParaRPr>
          </a:p>
          <a:p>
            <a:pPr marL="241300">
              <a:lnSpc>
                <a:spcPct val="100000"/>
              </a:lnSpc>
              <a:spcBef>
                <a:spcPts val="310"/>
              </a:spcBef>
            </a:pPr>
            <a:r>
              <a:rPr sz="1600" spc="60" dirty="0">
                <a:solidFill>
                  <a:srgbClr val="008200"/>
                </a:solidFill>
                <a:latin typeface="Arial"/>
                <a:cs typeface="Arial"/>
              </a:rPr>
              <a:t>//main</a:t>
            </a:r>
            <a:r>
              <a:rPr sz="1600" spc="10" dirty="0">
                <a:solidFill>
                  <a:srgbClr val="008200"/>
                </a:solidFill>
                <a:latin typeface="Arial"/>
                <a:cs typeface="Arial"/>
              </a:rPr>
              <a:t> </a:t>
            </a:r>
            <a:r>
              <a:rPr sz="1600" spc="70" dirty="0">
                <a:solidFill>
                  <a:srgbClr val="008200"/>
                </a:solidFill>
                <a:latin typeface="Arial"/>
                <a:cs typeface="Arial"/>
              </a:rPr>
              <a:t>method</a:t>
            </a:r>
            <a:endParaRPr sz="1600">
              <a:latin typeface="Arial"/>
              <a:cs typeface="Arial"/>
            </a:endParaRPr>
          </a:p>
          <a:p>
            <a:pPr marL="469900" marR="2915920" indent="-228600">
              <a:lnSpc>
                <a:spcPct val="116199"/>
              </a:lnSpc>
              <a:spcBef>
                <a:spcPts val="15"/>
              </a:spcBef>
            </a:pPr>
            <a:r>
              <a:rPr sz="1600" b="1" spc="-100" dirty="0">
                <a:solidFill>
                  <a:srgbClr val="006699"/>
                </a:solidFill>
                <a:latin typeface="Verdana"/>
                <a:cs typeface="Verdana"/>
              </a:rPr>
              <a:t>public </a:t>
            </a:r>
            <a:r>
              <a:rPr sz="1600" b="1" spc="-90" dirty="0">
                <a:solidFill>
                  <a:srgbClr val="006699"/>
                </a:solidFill>
                <a:latin typeface="Verdana"/>
                <a:cs typeface="Verdana"/>
              </a:rPr>
              <a:t>static </a:t>
            </a:r>
            <a:r>
              <a:rPr sz="1600" b="1" spc="-114" dirty="0">
                <a:solidFill>
                  <a:srgbClr val="006699"/>
                </a:solidFill>
                <a:latin typeface="Verdana"/>
                <a:cs typeface="Verdana"/>
              </a:rPr>
              <a:t>void </a:t>
            </a:r>
            <a:r>
              <a:rPr sz="1600" spc="50" dirty="0">
                <a:latin typeface="Arial"/>
                <a:cs typeface="Arial"/>
              </a:rPr>
              <a:t>main(String[] </a:t>
            </a:r>
            <a:r>
              <a:rPr sz="1600" spc="45" dirty="0">
                <a:latin typeface="Arial"/>
                <a:cs typeface="Arial"/>
              </a:rPr>
              <a:t>args) </a:t>
            </a:r>
            <a:r>
              <a:rPr sz="1600" spc="40" dirty="0">
                <a:latin typeface="Arial"/>
                <a:cs typeface="Arial"/>
              </a:rPr>
              <a:t>{  </a:t>
            </a:r>
            <a:r>
              <a:rPr sz="1600" spc="60" dirty="0">
                <a:latin typeface="Arial"/>
                <a:cs typeface="Arial"/>
              </a:rPr>
              <a:t>TestThrows obj </a:t>
            </a:r>
            <a:r>
              <a:rPr sz="1600" spc="114" dirty="0">
                <a:latin typeface="Arial"/>
                <a:cs typeface="Arial"/>
              </a:rPr>
              <a:t>= </a:t>
            </a:r>
            <a:r>
              <a:rPr sz="1600" b="1" spc="-160" dirty="0">
                <a:solidFill>
                  <a:srgbClr val="006699"/>
                </a:solidFill>
                <a:latin typeface="Verdana"/>
                <a:cs typeface="Verdana"/>
              </a:rPr>
              <a:t>new</a:t>
            </a:r>
            <a:r>
              <a:rPr sz="1600" b="1" spc="-280" dirty="0">
                <a:solidFill>
                  <a:srgbClr val="006699"/>
                </a:solidFill>
                <a:latin typeface="Verdana"/>
                <a:cs typeface="Verdana"/>
              </a:rPr>
              <a:t> </a:t>
            </a:r>
            <a:r>
              <a:rPr sz="1600" spc="50" dirty="0">
                <a:latin typeface="Arial"/>
                <a:cs typeface="Arial"/>
              </a:rPr>
              <a:t>TestThrows();  </a:t>
            </a:r>
            <a:r>
              <a:rPr sz="1600" b="1" spc="-120" dirty="0">
                <a:solidFill>
                  <a:srgbClr val="006699"/>
                </a:solidFill>
                <a:latin typeface="Verdana"/>
                <a:cs typeface="Verdana"/>
              </a:rPr>
              <a:t>try</a:t>
            </a:r>
            <a:r>
              <a:rPr sz="1600" b="1" spc="-100" dirty="0">
                <a:solidFill>
                  <a:srgbClr val="006699"/>
                </a:solidFill>
                <a:latin typeface="Verdana"/>
                <a:cs typeface="Verdana"/>
              </a:rPr>
              <a:t> </a:t>
            </a:r>
            <a:r>
              <a:rPr sz="1600" spc="40" dirty="0">
                <a:latin typeface="Arial"/>
                <a:cs typeface="Arial"/>
              </a:rPr>
              <a:t>{</a:t>
            </a:r>
            <a:endParaRPr sz="1600">
              <a:latin typeface="Arial"/>
              <a:cs typeface="Arial"/>
            </a:endParaRPr>
          </a:p>
          <a:p>
            <a:pPr marL="983615">
              <a:lnSpc>
                <a:spcPct val="100000"/>
              </a:lnSpc>
              <a:spcBef>
                <a:spcPts val="325"/>
              </a:spcBef>
            </a:pPr>
            <a:r>
              <a:rPr sz="1600" spc="50" dirty="0">
                <a:latin typeface="Arial"/>
                <a:cs typeface="Arial"/>
              </a:rPr>
              <a:t>System.out.println(obj.divideNum(</a:t>
            </a:r>
            <a:r>
              <a:rPr sz="1600" spc="50" dirty="0">
                <a:solidFill>
                  <a:srgbClr val="C00000"/>
                </a:solidFill>
                <a:latin typeface="Arial"/>
                <a:cs typeface="Arial"/>
              </a:rPr>
              <a:t>45</a:t>
            </a:r>
            <a:r>
              <a:rPr sz="1600" spc="50" dirty="0">
                <a:latin typeface="Arial"/>
                <a:cs typeface="Arial"/>
              </a:rPr>
              <a:t>,</a:t>
            </a:r>
            <a:r>
              <a:rPr sz="1600" spc="-5" dirty="0">
                <a:latin typeface="Arial"/>
                <a:cs typeface="Arial"/>
              </a:rPr>
              <a:t> </a:t>
            </a:r>
            <a:r>
              <a:rPr sz="1600" spc="45" dirty="0">
                <a:solidFill>
                  <a:srgbClr val="C00000"/>
                </a:solidFill>
                <a:latin typeface="Arial"/>
                <a:cs typeface="Arial"/>
              </a:rPr>
              <a:t>0</a:t>
            </a:r>
            <a:r>
              <a:rPr sz="1600" spc="45" dirty="0">
                <a:latin typeface="Arial"/>
                <a:cs typeface="Arial"/>
              </a:rPr>
              <a:t>));</a:t>
            </a:r>
            <a:endParaRPr sz="1600">
              <a:latin typeface="Arial"/>
              <a:cs typeface="Arial"/>
            </a:endParaRPr>
          </a:p>
          <a:p>
            <a:pPr marL="754380">
              <a:lnSpc>
                <a:spcPct val="100000"/>
              </a:lnSpc>
              <a:spcBef>
                <a:spcPts val="315"/>
              </a:spcBef>
            </a:pPr>
            <a:r>
              <a:rPr sz="1600" spc="40" dirty="0">
                <a:latin typeface="Arial"/>
                <a:cs typeface="Arial"/>
              </a:rPr>
              <a:t>}</a:t>
            </a:r>
            <a:endParaRPr sz="1600">
              <a:latin typeface="Arial"/>
              <a:cs typeface="Arial"/>
            </a:endParaRPr>
          </a:p>
          <a:p>
            <a:pPr marL="698500" marR="925830" indent="-228600">
              <a:lnSpc>
                <a:spcPts val="2240"/>
              </a:lnSpc>
              <a:spcBef>
                <a:spcPts val="120"/>
              </a:spcBef>
            </a:pPr>
            <a:r>
              <a:rPr sz="1600" b="1" spc="-85" dirty="0">
                <a:solidFill>
                  <a:srgbClr val="006699"/>
                </a:solidFill>
                <a:latin typeface="Verdana"/>
                <a:cs typeface="Verdana"/>
              </a:rPr>
              <a:t>catch </a:t>
            </a:r>
            <a:r>
              <a:rPr sz="1600" spc="50" dirty="0">
                <a:latin typeface="Arial"/>
                <a:cs typeface="Arial"/>
              </a:rPr>
              <a:t>(ArithmeticException </a:t>
            </a:r>
            <a:r>
              <a:rPr sz="1600" spc="35" dirty="0">
                <a:latin typeface="Arial"/>
                <a:cs typeface="Arial"/>
              </a:rPr>
              <a:t>e){  </a:t>
            </a:r>
            <a:r>
              <a:rPr sz="1600" spc="50" dirty="0">
                <a:latin typeface="Arial"/>
                <a:cs typeface="Arial"/>
              </a:rPr>
              <a:t>System.out.println(</a:t>
            </a:r>
            <a:r>
              <a:rPr sz="1600" spc="50" dirty="0">
                <a:solidFill>
                  <a:srgbClr val="0000FF"/>
                </a:solidFill>
                <a:latin typeface="Arial"/>
                <a:cs typeface="Arial"/>
              </a:rPr>
              <a:t>"\nNumber </a:t>
            </a:r>
            <a:r>
              <a:rPr sz="1600" spc="60" dirty="0">
                <a:solidFill>
                  <a:srgbClr val="0000FF"/>
                </a:solidFill>
                <a:latin typeface="Arial"/>
                <a:cs typeface="Arial"/>
              </a:rPr>
              <a:t>cannot </a:t>
            </a:r>
            <a:r>
              <a:rPr sz="1600" spc="70" dirty="0">
                <a:solidFill>
                  <a:srgbClr val="0000FF"/>
                </a:solidFill>
                <a:latin typeface="Arial"/>
                <a:cs typeface="Arial"/>
              </a:rPr>
              <a:t>be </a:t>
            </a:r>
            <a:r>
              <a:rPr sz="1600" spc="65" dirty="0">
                <a:solidFill>
                  <a:srgbClr val="0000FF"/>
                </a:solidFill>
                <a:latin typeface="Arial"/>
                <a:cs typeface="Arial"/>
              </a:rPr>
              <a:t>divided </a:t>
            </a:r>
            <a:r>
              <a:rPr sz="1600" spc="95" dirty="0">
                <a:solidFill>
                  <a:srgbClr val="0000FF"/>
                </a:solidFill>
                <a:latin typeface="Arial"/>
                <a:cs typeface="Arial"/>
              </a:rPr>
              <a:t>by</a:t>
            </a:r>
            <a:r>
              <a:rPr sz="1600" spc="-165" dirty="0">
                <a:solidFill>
                  <a:srgbClr val="0000FF"/>
                </a:solidFill>
                <a:latin typeface="Arial"/>
                <a:cs typeface="Arial"/>
              </a:rPr>
              <a:t> </a:t>
            </a:r>
            <a:r>
              <a:rPr sz="1600" spc="55" dirty="0">
                <a:solidFill>
                  <a:srgbClr val="0000FF"/>
                </a:solidFill>
                <a:latin typeface="Arial"/>
                <a:cs typeface="Arial"/>
              </a:rPr>
              <a:t>0"</a:t>
            </a:r>
            <a:r>
              <a:rPr sz="1600" spc="55" dirty="0">
                <a:latin typeface="Arial"/>
                <a:cs typeface="Arial"/>
              </a:rPr>
              <a:t>);</a:t>
            </a:r>
            <a:endParaRPr sz="1600">
              <a:latin typeface="Arial"/>
              <a:cs typeface="Arial"/>
            </a:endParaRPr>
          </a:p>
          <a:p>
            <a:pPr marL="469900">
              <a:lnSpc>
                <a:spcPct val="100000"/>
              </a:lnSpc>
              <a:spcBef>
                <a:spcPts val="185"/>
              </a:spcBef>
            </a:pPr>
            <a:r>
              <a:rPr sz="1600" spc="40" dirty="0">
                <a:latin typeface="Arial"/>
                <a:cs typeface="Arial"/>
              </a:rPr>
              <a:t>}</a:t>
            </a:r>
            <a:endParaRPr sz="1600">
              <a:latin typeface="Arial"/>
              <a:cs typeface="Arial"/>
            </a:endParaRPr>
          </a:p>
          <a:p>
            <a:pPr marL="411480">
              <a:lnSpc>
                <a:spcPct val="100000"/>
              </a:lnSpc>
              <a:spcBef>
                <a:spcPts val="315"/>
              </a:spcBef>
            </a:pPr>
            <a:r>
              <a:rPr sz="1600" spc="45" dirty="0">
                <a:latin typeface="Arial"/>
                <a:cs typeface="Arial"/>
              </a:rPr>
              <a:t>System.out.println(</a:t>
            </a:r>
            <a:r>
              <a:rPr sz="1600" spc="45" dirty="0">
                <a:solidFill>
                  <a:srgbClr val="0000FF"/>
                </a:solidFill>
                <a:latin typeface="Arial"/>
                <a:cs typeface="Arial"/>
              </a:rPr>
              <a:t>"Rest </a:t>
            </a:r>
            <a:r>
              <a:rPr sz="1600" spc="90" dirty="0">
                <a:solidFill>
                  <a:srgbClr val="0000FF"/>
                </a:solidFill>
                <a:latin typeface="Arial"/>
                <a:cs typeface="Arial"/>
              </a:rPr>
              <a:t>of </a:t>
            </a:r>
            <a:r>
              <a:rPr sz="1600" spc="70" dirty="0">
                <a:solidFill>
                  <a:srgbClr val="0000FF"/>
                </a:solidFill>
                <a:latin typeface="Arial"/>
                <a:cs typeface="Arial"/>
              </a:rPr>
              <a:t>the</a:t>
            </a:r>
            <a:r>
              <a:rPr sz="1600" spc="-45" dirty="0">
                <a:solidFill>
                  <a:srgbClr val="0000FF"/>
                </a:solidFill>
                <a:latin typeface="Arial"/>
                <a:cs typeface="Arial"/>
              </a:rPr>
              <a:t> </a:t>
            </a:r>
            <a:r>
              <a:rPr sz="1600" spc="40" dirty="0">
                <a:solidFill>
                  <a:srgbClr val="0000FF"/>
                </a:solidFill>
                <a:latin typeface="Arial"/>
                <a:cs typeface="Arial"/>
              </a:rPr>
              <a:t>code.."</a:t>
            </a:r>
            <a:r>
              <a:rPr sz="1600" spc="40" dirty="0">
                <a:latin typeface="Arial"/>
                <a:cs typeface="Arial"/>
              </a:rPr>
              <a:t>);</a:t>
            </a:r>
            <a:endParaRPr sz="1600">
              <a:latin typeface="Arial"/>
              <a:cs typeface="Arial"/>
            </a:endParaRPr>
          </a:p>
          <a:p>
            <a:pPr marL="241300">
              <a:lnSpc>
                <a:spcPct val="100000"/>
              </a:lnSpc>
              <a:spcBef>
                <a:spcPts val="325"/>
              </a:spcBef>
            </a:pPr>
            <a:r>
              <a:rPr sz="1600" spc="40" dirty="0">
                <a:latin typeface="Arial"/>
                <a:cs typeface="Arial"/>
              </a:rPr>
              <a:t>}</a:t>
            </a:r>
            <a:endParaRPr sz="1600">
              <a:latin typeface="Arial"/>
              <a:cs typeface="Arial"/>
            </a:endParaRPr>
          </a:p>
          <a:p>
            <a:pPr marL="12700">
              <a:lnSpc>
                <a:spcPct val="100000"/>
              </a:lnSpc>
              <a:spcBef>
                <a:spcPts val="310"/>
              </a:spcBef>
            </a:pPr>
            <a:r>
              <a:rPr sz="1600" spc="40" dirty="0">
                <a:latin typeface="Arial"/>
                <a:cs typeface="Arial"/>
              </a:rPr>
              <a:t>}</a:t>
            </a:r>
            <a:endParaRPr sz="1600">
              <a:latin typeface="Arial"/>
              <a:cs typeface="Arial"/>
            </a:endParaRPr>
          </a:p>
        </p:txBody>
      </p:sp>
      <p:sp>
        <p:nvSpPr>
          <p:cNvPr id="4" name="object 4"/>
          <p:cNvSpPr/>
          <p:nvPr/>
        </p:nvSpPr>
        <p:spPr>
          <a:xfrm>
            <a:off x="5137570" y="6019798"/>
            <a:ext cx="3796117" cy="72389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64312"/>
            <a:ext cx="2025014" cy="757555"/>
          </a:xfrm>
          <a:prstGeom prst="rect">
            <a:avLst/>
          </a:prstGeom>
        </p:spPr>
        <p:txBody>
          <a:bodyPr vert="horz" wrap="square" lIns="0" tIns="12700" rIns="0" bIns="0" rtlCol="0">
            <a:spAutoFit/>
          </a:bodyPr>
          <a:lstStyle/>
          <a:p>
            <a:pPr marL="12700">
              <a:lnSpc>
                <a:spcPct val="100000"/>
              </a:lnSpc>
              <a:spcBef>
                <a:spcPts val="100"/>
              </a:spcBef>
            </a:pPr>
            <a:r>
              <a:rPr sz="4800" dirty="0"/>
              <a:t>Throws</a:t>
            </a:r>
            <a:endParaRPr sz="4800"/>
          </a:p>
        </p:txBody>
      </p:sp>
      <p:sp>
        <p:nvSpPr>
          <p:cNvPr id="3" name="object 3"/>
          <p:cNvSpPr/>
          <p:nvPr/>
        </p:nvSpPr>
        <p:spPr>
          <a:xfrm>
            <a:off x="76200" y="1689435"/>
            <a:ext cx="9041707" cy="5116354"/>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3051175" y="6046723"/>
            <a:ext cx="81280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0000"/>
                </a:solidFill>
                <a:latin typeface="Times New Roman"/>
                <a:cs typeface="Times New Roman"/>
              </a:rPr>
              <a:t>Out</a:t>
            </a:r>
            <a:r>
              <a:rPr sz="1800" b="1" spc="-15" dirty="0">
                <a:solidFill>
                  <a:srgbClr val="FF0000"/>
                </a:solidFill>
                <a:latin typeface="Times New Roman"/>
                <a:cs typeface="Times New Roman"/>
              </a:rPr>
              <a:t>p</a:t>
            </a:r>
            <a:r>
              <a:rPr sz="1800" b="1" spc="-5" dirty="0">
                <a:solidFill>
                  <a:srgbClr val="FF0000"/>
                </a:solidFill>
                <a:latin typeface="Times New Roman"/>
                <a:cs typeface="Times New Roman"/>
              </a:rPr>
              <a:t>ut:</a:t>
            </a:r>
            <a:endParaRPr sz="1800">
              <a:latin typeface="Times New Roman"/>
              <a:cs typeface="Times New Roman"/>
            </a:endParaRPr>
          </a:p>
        </p:txBody>
      </p:sp>
      <p:sp>
        <p:nvSpPr>
          <p:cNvPr id="5" name="object 5"/>
          <p:cNvSpPr txBox="1"/>
          <p:nvPr/>
        </p:nvSpPr>
        <p:spPr>
          <a:xfrm>
            <a:off x="4067340" y="6046723"/>
            <a:ext cx="4666615" cy="57404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0000"/>
                </a:solidFill>
                <a:latin typeface="Times New Roman"/>
                <a:cs typeface="Times New Roman"/>
              </a:rPr>
              <a:t>inside </a:t>
            </a:r>
            <a:r>
              <a:rPr sz="1800" b="1" dirty="0">
                <a:solidFill>
                  <a:srgbClr val="FF0000"/>
                </a:solidFill>
                <a:latin typeface="Times New Roman"/>
                <a:cs typeface="Times New Roman"/>
              </a:rPr>
              <a:t>throwOne</a:t>
            </a:r>
            <a:endParaRPr sz="1800">
              <a:latin typeface="Times New Roman"/>
              <a:cs typeface="Times New Roman"/>
            </a:endParaRPr>
          </a:p>
          <a:p>
            <a:pPr marL="24765">
              <a:lnSpc>
                <a:spcPct val="100000"/>
              </a:lnSpc>
            </a:pPr>
            <a:r>
              <a:rPr sz="1800" b="1" spc="-5" dirty="0">
                <a:solidFill>
                  <a:srgbClr val="FF0000"/>
                </a:solidFill>
                <a:latin typeface="Times New Roman"/>
                <a:cs typeface="Times New Roman"/>
              </a:rPr>
              <a:t>caught </a:t>
            </a:r>
            <a:r>
              <a:rPr sz="1800" b="1" dirty="0">
                <a:solidFill>
                  <a:srgbClr val="FF0000"/>
                </a:solidFill>
                <a:latin typeface="Times New Roman"/>
                <a:cs typeface="Times New Roman"/>
              </a:rPr>
              <a:t>java.lang.IllegalAccessException:</a:t>
            </a:r>
            <a:r>
              <a:rPr sz="1800" b="1" spc="-80" dirty="0">
                <a:solidFill>
                  <a:srgbClr val="FF0000"/>
                </a:solidFill>
                <a:latin typeface="Times New Roman"/>
                <a:cs typeface="Times New Roman"/>
              </a:rPr>
              <a:t> </a:t>
            </a:r>
            <a:r>
              <a:rPr sz="1800" b="1" dirty="0">
                <a:solidFill>
                  <a:srgbClr val="FF0000"/>
                </a:solidFill>
                <a:latin typeface="Times New Roman"/>
                <a:cs typeface="Times New Roman"/>
              </a:rPr>
              <a:t>demo</a:t>
            </a:r>
            <a:endParaRPr sz="1800">
              <a:latin typeface="Times New Roman"/>
              <a:cs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6041" y="455421"/>
            <a:ext cx="4809490" cy="513715"/>
          </a:xfrm>
          <a:prstGeom prst="rect">
            <a:avLst/>
          </a:prstGeom>
        </p:spPr>
        <p:txBody>
          <a:bodyPr vert="horz" wrap="square" lIns="0" tIns="13335" rIns="0" bIns="0" rtlCol="0">
            <a:spAutoFit/>
          </a:bodyPr>
          <a:lstStyle/>
          <a:p>
            <a:pPr marL="12700">
              <a:lnSpc>
                <a:spcPct val="100000"/>
              </a:lnSpc>
              <a:spcBef>
                <a:spcPts val="105"/>
              </a:spcBef>
            </a:pPr>
            <a:r>
              <a:rPr b="0" spc="-5" dirty="0">
                <a:solidFill>
                  <a:srgbClr val="600A38"/>
                </a:solidFill>
                <a:latin typeface="Arial"/>
                <a:cs typeface="Arial"/>
              </a:rPr>
              <a:t>throw and throws</a:t>
            </a:r>
            <a:r>
              <a:rPr b="0" spc="-70" dirty="0">
                <a:solidFill>
                  <a:srgbClr val="600A38"/>
                </a:solidFill>
                <a:latin typeface="Arial"/>
                <a:cs typeface="Arial"/>
              </a:rPr>
              <a:t> </a:t>
            </a:r>
            <a:r>
              <a:rPr b="0" dirty="0">
                <a:solidFill>
                  <a:srgbClr val="600A38"/>
                </a:solidFill>
                <a:latin typeface="Arial"/>
                <a:cs typeface="Arial"/>
              </a:rPr>
              <a:t>Example</a:t>
            </a:r>
          </a:p>
        </p:txBody>
      </p:sp>
      <p:sp>
        <p:nvSpPr>
          <p:cNvPr id="3" name="object 3"/>
          <p:cNvSpPr txBox="1">
            <a:spLocks noGrp="1"/>
          </p:cNvSpPr>
          <p:nvPr>
            <p:ph type="body" idx="1"/>
          </p:nvPr>
        </p:nvSpPr>
        <p:spPr>
          <a:prstGeom prst="rect">
            <a:avLst/>
          </a:prstGeom>
        </p:spPr>
        <p:txBody>
          <a:bodyPr vert="horz" wrap="square" lIns="0" tIns="53340" rIns="0" bIns="0" rtlCol="0">
            <a:spAutoFit/>
          </a:bodyPr>
          <a:lstStyle/>
          <a:p>
            <a:pPr marL="12700">
              <a:lnSpc>
                <a:spcPct val="100000"/>
              </a:lnSpc>
              <a:spcBef>
                <a:spcPts val="420"/>
              </a:spcBef>
            </a:pPr>
            <a:r>
              <a:rPr b="1" spc="-100" dirty="0">
                <a:solidFill>
                  <a:srgbClr val="006699"/>
                </a:solidFill>
                <a:latin typeface="Verdana"/>
                <a:cs typeface="Verdana"/>
              </a:rPr>
              <a:t>public </a:t>
            </a:r>
            <a:r>
              <a:rPr b="1" spc="-80" dirty="0">
                <a:solidFill>
                  <a:srgbClr val="006699"/>
                </a:solidFill>
                <a:latin typeface="Verdana"/>
                <a:cs typeface="Verdana"/>
              </a:rPr>
              <a:t>class</a:t>
            </a:r>
            <a:r>
              <a:rPr b="1" spc="-75" dirty="0">
                <a:solidFill>
                  <a:srgbClr val="006699"/>
                </a:solidFill>
                <a:latin typeface="Verdana"/>
                <a:cs typeface="Verdana"/>
              </a:rPr>
              <a:t> </a:t>
            </a:r>
            <a:r>
              <a:rPr spc="60" dirty="0"/>
              <a:t>TestThrowAndThrows</a:t>
            </a:r>
          </a:p>
          <a:p>
            <a:pPr marL="12700">
              <a:lnSpc>
                <a:spcPct val="100000"/>
              </a:lnSpc>
              <a:spcBef>
                <a:spcPts val="325"/>
              </a:spcBef>
            </a:pPr>
            <a:r>
              <a:rPr spc="40" dirty="0"/>
              <a:t>{</a:t>
            </a:r>
          </a:p>
          <a:p>
            <a:pPr marL="412115">
              <a:lnSpc>
                <a:spcPct val="100000"/>
              </a:lnSpc>
              <a:spcBef>
                <a:spcPts val="315"/>
              </a:spcBef>
            </a:pPr>
            <a:r>
              <a:rPr spc="120" dirty="0">
                <a:solidFill>
                  <a:srgbClr val="008200"/>
                </a:solidFill>
              </a:rPr>
              <a:t>// </a:t>
            </a:r>
            <a:r>
              <a:rPr spc="70" dirty="0">
                <a:solidFill>
                  <a:srgbClr val="008200"/>
                </a:solidFill>
              </a:rPr>
              <a:t>which </a:t>
            </a:r>
            <a:r>
              <a:rPr spc="80" dirty="0">
                <a:solidFill>
                  <a:srgbClr val="008200"/>
                </a:solidFill>
              </a:rPr>
              <a:t>throws</a:t>
            </a:r>
            <a:r>
              <a:rPr spc="-140" dirty="0">
                <a:solidFill>
                  <a:srgbClr val="008200"/>
                </a:solidFill>
              </a:rPr>
              <a:t> </a:t>
            </a:r>
            <a:r>
              <a:rPr spc="50" dirty="0">
                <a:solidFill>
                  <a:srgbClr val="008200"/>
                </a:solidFill>
              </a:rPr>
              <a:t>ArithmeticException</a:t>
            </a:r>
          </a:p>
          <a:p>
            <a:pPr marL="241300">
              <a:lnSpc>
                <a:spcPct val="100000"/>
              </a:lnSpc>
              <a:spcBef>
                <a:spcPts val="310"/>
              </a:spcBef>
            </a:pPr>
            <a:r>
              <a:rPr b="1" spc="-90" dirty="0">
                <a:solidFill>
                  <a:srgbClr val="006699"/>
                </a:solidFill>
                <a:latin typeface="Verdana"/>
                <a:cs typeface="Verdana"/>
              </a:rPr>
              <a:t>static </a:t>
            </a:r>
            <a:r>
              <a:rPr b="1" spc="-114" dirty="0">
                <a:solidFill>
                  <a:srgbClr val="006699"/>
                </a:solidFill>
                <a:latin typeface="Verdana"/>
                <a:cs typeface="Verdana"/>
              </a:rPr>
              <a:t>void </a:t>
            </a:r>
            <a:r>
              <a:rPr spc="60" dirty="0"/>
              <a:t>method() </a:t>
            </a:r>
            <a:r>
              <a:rPr b="1" spc="-130" dirty="0">
                <a:solidFill>
                  <a:srgbClr val="006699"/>
                </a:solidFill>
                <a:latin typeface="Verdana"/>
                <a:cs typeface="Verdana"/>
              </a:rPr>
              <a:t>throws</a:t>
            </a:r>
            <a:r>
              <a:rPr b="1" spc="-90" dirty="0">
                <a:solidFill>
                  <a:srgbClr val="006699"/>
                </a:solidFill>
                <a:latin typeface="Verdana"/>
                <a:cs typeface="Verdana"/>
              </a:rPr>
              <a:t> </a:t>
            </a:r>
            <a:r>
              <a:rPr spc="50" dirty="0"/>
              <a:t>ArithmeticException</a:t>
            </a:r>
          </a:p>
          <a:p>
            <a:pPr marL="241300">
              <a:lnSpc>
                <a:spcPct val="100000"/>
              </a:lnSpc>
              <a:spcBef>
                <a:spcPts val="325"/>
              </a:spcBef>
            </a:pPr>
            <a:r>
              <a:rPr spc="40" dirty="0"/>
              <a:t>{</a:t>
            </a:r>
          </a:p>
          <a:p>
            <a:pPr marL="469900">
              <a:lnSpc>
                <a:spcPct val="100000"/>
              </a:lnSpc>
              <a:spcBef>
                <a:spcPts val="310"/>
              </a:spcBef>
            </a:pPr>
            <a:r>
              <a:rPr spc="45" dirty="0"/>
              <a:t>System.out.println(</a:t>
            </a:r>
            <a:r>
              <a:rPr spc="45" dirty="0">
                <a:solidFill>
                  <a:srgbClr val="0000FF"/>
                </a:solidFill>
              </a:rPr>
              <a:t>"Inside </a:t>
            </a:r>
            <a:r>
              <a:rPr spc="70" dirty="0">
                <a:solidFill>
                  <a:srgbClr val="0000FF"/>
                </a:solidFill>
              </a:rPr>
              <a:t>the</a:t>
            </a:r>
            <a:r>
              <a:rPr spc="10" dirty="0">
                <a:solidFill>
                  <a:srgbClr val="0000FF"/>
                </a:solidFill>
              </a:rPr>
              <a:t> </a:t>
            </a:r>
            <a:r>
              <a:rPr spc="55" dirty="0">
                <a:solidFill>
                  <a:srgbClr val="0000FF"/>
                </a:solidFill>
              </a:rPr>
              <a:t>method()"</a:t>
            </a:r>
            <a:r>
              <a:rPr spc="55" dirty="0"/>
              <a:t>);</a:t>
            </a:r>
          </a:p>
          <a:p>
            <a:pPr marL="469900">
              <a:lnSpc>
                <a:spcPct val="100000"/>
              </a:lnSpc>
              <a:spcBef>
                <a:spcPts val="315"/>
              </a:spcBef>
            </a:pPr>
            <a:r>
              <a:rPr b="1" spc="-145" dirty="0">
                <a:solidFill>
                  <a:srgbClr val="006699"/>
                </a:solidFill>
                <a:latin typeface="Verdana"/>
                <a:cs typeface="Verdana"/>
              </a:rPr>
              <a:t>throw </a:t>
            </a:r>
            <a:r>
              <a:rPr b="1" spc="-160" dirty="0">
                <a:solidFill>
                  <a:srgbClr val="006699"/>
                </a:solidFill>
                <a:latin typeface="Verdana"/>
                <a:cs typeface="Verdana"/>
              </a:rPr>
              <a:t>new </a:t>
            </a:r>
            <a:r>
              <a:rPr spc="55" dirty="0"/>
              <a:t>ArithmeticException(</a:t>
            </a:r>
            <a:r>
              <a:rPr spc="55" dirty="0">
                <a:solidFill>
                  <a:srgbClr val="0000FF"/>
                </a:solidFill>
              </a:rPr>
              <a:t>"throwing</a:t>
            </a:r>
            <a:r>
              <a:rPr spc="245" dirty="0">
                <a:solidFill>
                  <a:srgbClr val="0000FF"/>
                </a:solidFill>
              </a:rPr>
              <a:t> </a:t>
            </a:r>
            <a:r>
              <a:rPr spc="50" dirty="0">
                <a:solidFill>
                  <a:srgbClr val="0000FF"/>
                </a:solidFill>
              </a:rPr>
              <a:t>ArithmeticException"</a:t>
            </a:r>
            <a:r>
              <a:rPr spc="50" dirty="0"/>
              <a:t>);</a:t>
            </a:r>
          </a:p>
          <a:p>
            <a:pPr marL="241300">
              <a:lnSpc>
                <a:spcPct val="100000"/>
              </a:lnSpc>
              <a:spcBef>
                <a:spcPts val="325"/>
              </a:spcBef>
            </a:pPr>
            <a:r>
              <a:rPr spc="40" dirty="0"/>
              <a:t>}</a:t>
            </a:r>
          </a:p>
          <a:p>
            <a:pPr marL="241300">
              <a:lnSpc>
                <a:spcPct val="100000"/>
              </a:lnSpc>
              <a:spcBef>
                <a:spcPts val="310"/>
              </a:spcBef>
            </a:pPr>
            <a:r>
              <a:rPr b="1" spc="-100" dirty="0">
                <a:solidFill>
                  <a:srgbClr val="006699"/>
                </a:solidFill>
                <a:latin typeface="Verdana"/>
                <a:cs typeface="Verdana"/>
              </a:rPr>
              <a:t>public </a:t>
            </a:r>
            <a:r>
              <a:rPr b="1" spc="-90" dirty="0">
                <a:solidFill>
                  <a:srgbClr val="006699"/>
                </a:solidFill>
                <a:latin typeface="Verdana"/>
                <a:cs typeface="Verdana"/>
              </a:rPr>
              <a:t>static </a:t>
            </a:r>
            <a:r>
              <a:rPr b="1" spc="-114" dirty="0">
                <a:solidFill>
                  <a:srgbClr val="006699"/>
                </a:solidFill>
                <a:latin typeface="Verdana"/>
                <a:cs typeface="Verdana"/>
              </a:rPr>
              <a:t>void </a:t>
            </a:r>
            <a:r>
              <a:rPr spc="40" dirty="0"/>
              <a:t>main(String </a:t>
            </a:r>
            <a:r>
              <a:rPr spc="65" dirty="0"/>
              <a:t>args[])</a:t>
            </a:r>
          </a:p>
          <a:p>
            <a:pPr marL="241300">
              <a:lnSpc>
                <a:spcPct val="100000"/>
              </a:lnSpc>
              <a:spcBef>
                <a:spcPts val="315"/>
              </a:spcBef>
            </a:pPr>
            <a:r>
              <a:rPr spc="40" dirty="0"/>
              <a:t>{</a:t>
            </a:r>
          </a:p>
          <a:p>
            <a:pPr marL="469900">
              <a:lnSpc>
                <a:spcPct val="100000"/>
              </a:lnSpc>
              <a:spcBef>
                <a:spcPts val="325"/>
              </a:spcBef>
              <a:tabLst>
                <a:tab pos="978535" algn="l"/>
              </a:tabLst>
            </a:pPr>
            <a:r>
              <a:rPr b="1" spc="-120" dirty="0">
                <a:solidFill>
                  <a:srgbClr val="006699"/>
                </a:solidFill>
                <a:latin typeface="Verdana"/>
                <a:cs typeface="Verdana"/>
              </a:rPr>
              <a:t>try	</a:t>
            </a:r>
            <a:r>
              <a:rPr spc="40" dirty="0"/>
              <a:t>{</a:t>
            </a:r>
          </a:p>
          <a:p>
            <a:pPr marL="1155700">
              <a:lnSpc>
                <a:spcPct val="100000"/>
              </a:lnSpc>
              <a:spcBef>
                <a:spcPts val="315"/>
              </a:spcBef>
            </a:pPr>
            <a:r>
              <a:rPr spc="55" dirty="0"/>
              <a:t>method();</a:t>
            </a:r>
          </a:p>
        </p:txBody>
      </p:sp>
      <p:sp>
        <p:nvSpPr>
          <p:cNvPr id="4" name="object 4"/>
          <p:cNvSpPr txBox="1"/>
          <p:nvPr/>
        </p:nvSpPr>
        <p:spPr>
          <a:xfrm>
            <a:off x="756310" y="4791608"/>
            <a:ext cx="3148965" cy="595630"/>
          </a:xfrm>
          <a:prstGeom prst="rect">
            <a:avLst/>
          </a:prstGeom>
        </p:spPr>
        <p:txBody>
          <a:bodyPr vert="horz" wrap="square" lIns="0" tIns="53975" rIns="0" bIns="0" rtlCol="0">
            <a:spAutoFit/>
          </a:bodyPr>
          <a:lstStyle/>
          <a:p>
            <a:pPr marL="12700">
              <a:lnSpc>
                <a:spcPct val="100000"/>
              </a:lnSpc>
              <a:spcBef>
                <a:spcPts val="425"/>
              </a:spcBef>
            </a:pPr>
            <a:r>
              <a:rPr sz="1600" spc="40" dirty="0">
                <a:latin typeface="Arial"/>
                <a:cs typeface="Arial"/>
              </a:rPr>
              <a:t>}</a:t>
            </a:r>
            <a:endParaRPr sz="1600">
              <a:latin typeface="Arial"/>
              <a:cs typeface="Arial"/>
            </a:endParaRPr>
          </a:p>
          <a:p>
            <a:pPr marL="12700">
              <a:lnSpc>
                <a:spcPct val="100000"/>
              </a:lnSpc>
              <a:spcBef>
                <a:spcPts val="320"/>
              </a:spcBef>
              <a:tabLst>
                <a:tab pos="3061970" algn="l"/>
              </a:tabLst>
            </a:pPr>
            <a:r>
              <a:rPr sz="1600" b="1" spc="-85" dirty="0">
                <a:solidFill>
                  <a:srgbClr val="006699"/>
                </a:solidFill>
                <a:latin typeface="Verdana"/>
                <a:cs typeface="Verdana"/>
              </a:rPr>
              <a:t>catc</a:t>
            </a:r>
            <a:r>
              <a:rPr sz="1600" b="1" spc="-100" dirty="0">
                <a:solidFill>
                  <a:srgbClr val="006699"/>
                </a:solidFill>
                <a:latin typeface="Verdana"/>
                <a:cs typeface="Verdana"/>
              </a:rPr>
              <a:t>h</a:t>
            </a:r>
            <a:r>
              <a:rPr sz="1600" spc="35" dirty="0">
                <a:latin typeface="Arial"/>
                <a:cs typeface="Arial"/>
              </a:rPr>
              <a:t>(A</a:t>
            </a:r>
            <a:r>
              <a:rPr sz="1600" spc="25" dirty="0">
                <a:latin typeface="Arial"/>
                <a:cs typeface="Arial"/>
              </a:rPr>
              <a:t>r</a:t>
            </a:r>
            <a:r>
              <a:rPr sz="1600" spc="20" dirty="0">
                <a:latin typeface="Arial"/>
                <a:cs typeface="Arial"/>
              </a:rPr>
              <a:t>i</a:t>
            </a:r>
            <a:r>
              <a:rPr sz="1600" spc="130" dirty="0">
                <a:latin typeface="Arial"/>
                <a:cs typeface="Arial"/>
              </a:rPr>
              <a:t>t</a:t>
            </a:r>
            <a:r>
              <a:rPr sz="1600" spc="40" dirty="0">
                <a:latin typeface="Arial"/>
                <a:cs typeface="Arial"/>
              </a:rPr>
              <a:t>h</a:t>
            </a:r>
            <a:r>
              <a:rPr sz="1600" spc="65" dirty="0">
                <a:latin typeface="Arial"/>
                <a:cs typeface="Arial"/>
              </a:rPr>
              <a:t>m</a:t>
            </a:r>
            <a:r>
              <a:rPr sz="1600" spc="25" dirty="0">
                <a:latin typeface="Arial"/>
                <a:cs typeface="Arial"/>
              </a:rPr>
              <a:t>e</a:t>
            </a:r>
            <a:r>
              <a:rPr sz="1600" spc="130" dirty="0">
                <a:latin typeface="Arial"/>
                <a:cs typeface="Arial"/>
              </a:rPr>
              <a:t>t</a:t>
            </a:r>
            <a:r>
              <a:rPr sz="1600" spc="20" dirty="0">
                <a:latin typeface="Arial"/>
                <a:cs typeface="Arial"/>
              </a:rPr>
              <a:t>i</a:t>
            </a:r>
            <a:r>
              <a:rPr sz="1600" spc="5" dirty="0">
                <a:latin typeface="Arial"/>
                <a:cs typeface="Arial"/>
              </a:rPr>
              <a:t>cE</a:t>
            </a:r>
            <a:r>
              <a:rPr sz="1600" spc="10" dirty="0">
                <a:latin typeface="Arial"/>
                <a:cs typeface="Arial"/>
              </a:rPr>
              <a:t>x</a:t>
            </a:r>
            <a:r>
              <a:rPr sz="1600" spc="55" dirty="0">
                <a:latin typeface="Arial"/>
                <a:cs typeface="Arial"/>
              </a:rPr>
              <a:t>ce</a:t>
            </a:r>
            <a:r>
              <a:rPr sz="1600" spc="140" dirty="0">
                <a:latin typeface="Arial"/>
                <a:cs typeface="Arial"/>
              </a:rPr>
              <a:t>p</a:t>
            </a:r>
            <a:r>
              <a:rPr sz="1600" spc="60" dirty="0">
                <a:latin typeface="Arial"/>
                <a:cs typeface="Arial"/>
              </a:rPr>
              <a:t>t</a:t>
            </a:r>
            <a:r>
              <a:rPr sz="1600" spc="20" dirty="0">
                <a:latin typeface="Arial"/>
                <a:cs typeface="Arial"/>
              </a:rPr>
              <a:t>i</a:t>
            </a:r>
            <a:r>
              <a:rPr sz="1600" spc="55" dirty="0">
                <a:latin typeface="Arial"/>
                <a:cs typeface="Arial"/>
              </a:rPr>
              <a:t>o</a:t>
            </a:r>
            <a:r>
              <a:rPr sz="1600" spc="40" dirty="0">
                <a:latin typeface="Arial"/>
                <a:cs typeface="Arial"/>
              </a:rPr>
              <a:t>n</a:t>
            </a:r>
            <a:r>
              <a:rPr sz="1600" spc="70" dirty="0">
                <a:latin typeface="Arial"/>
                <a:cs typeface="Arial"/>
              </a:rPr>
              <a:t> </a:t>
            </a:r>
            <a:r>
              <a:rPr sz="1600" spc="40" dirty="0">
                <a:latin typeface="Arial"/>
                <a:cs typeface="Arial"/>
              </a:rPr>
              <a:t>e</a:t>
            </a:r>
            <a:r>
              <a:rPr sz="1600" spc="30" dirty="0">
                <a:latin typeface="Arial"/>
                <a:cs typeface="Arial"/>
              </a:rPr>
              <a:t>)</a:t>
            </a:r>
            <a:r>
              <a:rPr sz="1600" dirty="0">
                <a:latin typeface="Arial"/>
                <a:cs typeface="Arial"/>
              </a:rPr>
              <a:t>	</a:t>
            </a:r>
            <a:r>
              <a:rPr sz="1600" spc="40" dirty="0">
                <a:latin typeface="Arial"/>
                <a:cs typeface="Arial"/>
              </a:rPr>
              <a:t>{</a:t>
            </a:r>
            <a:endParaRPr sz="1600">
              <a:latin typeface="Arial"/>
              <a:cs typeface="Arial"/>
            </a:endParaRPr>
          </a:p>
        </p:txBody>
      </p:sp>
      <p:sp>
        <p:nvSpPr>
          <p:cNvPr id="5" name="object 5"/>
          <p:cNvSpPr txBox="1"/>
          <p:nvPr/>
        </p:nvSpPr>
        <p:spPr>
          <a:xfrm>
            <a:off x="984910" y="5401767"/>
            <a:ext cx="4484370"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Arial"/>
                <a:cs typeface="Arial"/>
              </a:rPr>
              <a:t>System.out.println(</a:t>
            </a:r>
            <a:r>
              <a:rPr sz="1600" spc="50" dirty="0">
                <a:solidFill>
                  <a:srgbClr val="0000FF"/>
                </a:solidFill>
                <a:latin typeface="Arial"/>
                <a:cs typeface="Arial"/>
              </a:rPr>
              <a:t>"caught </a:t>
            </a:r>
            <a:r>
              <a:rPr sz="1600" spc="35" dirty="0">
                <a:solidFill>
                  <a:srgbClr val="0000FF"/>
                </a:solidFill>
                <a:latin typeface="Arial"/>
                <a:cs typeface="Arial"/>
              </a:rPr>
              <a:t>in main()</a:t>
            </a:r>
            <a:r>
              <a:rPr sz="1600" spc="-20" dirty="0">
                <a:solidFill>
                  <a:srgbClr val="0000FF"/>
                </a:solidFill>
                <a:latin typeface="Arial"/>
                <a:cs typeface="Arial"/>
              </a:rPr>
              <a:t> </a:t>
            </a:r>
            <a:r>
              <a:rPr sz="1600" spc="60" dirty="0">
                <a:solidFill>
                  <a:srgbClr val="0000FF"/>
                </a:solidFill>
                <a:latin typeface="Arial"/>
                <a:cs typeface="Arial"/>
              </a:rPr>
              <a:t>method"</a:t>
            </a:r>
            <a:r>
              <a:rPr sz="1600" spc="60" dirty="0">
                <a:latin typeface="Arial"/>
                <a:cs typeface="Arial"/>
              </a:rPr>
              <a:t>);</a:t>
            </a:r>
            <a:endParaRPr sz="1600">
              <a:latin typeface="Arial"/>
              <a:cs typeface="Arial"/>
            </a:endParaRPr>
          </a:p>
        </p:txBody>
      </p:sp>
      <p:sp>
        <p:nvSpPr>
          <p:cNvPr id="6" name="object 6"/>
          <p:cNvSpPr txBox="1"/>
          <p:nvPr/>
        </p:nvSpPr>
        <p:spPr>
          <a:xfrm>
            <a:off x="527405" y="5643168"/>
            <a:ext cx="328295" cy="596265"/>
          </a:xfrm>
          <a:prstGeom prst="rect">
            <a:avLst/>
          </a:prstGeom>
        </p:spPr>
        <p:txBody>
          <a:bodyPr vert="horz" wrap="square" lIns="0" tIns="53975" rIns="0" bIns="0" rtlCol="0">
            <a:spAutoFit/>
          </a:bodyPr>
          <a:lstStyle/>
          <a:p>
            <a:pPr marL="241300">
              <a:lnSpc>
                <a:spcPct val="100000"/>
              </a:lnSpc>
              <a:spcBef>
                <a:spcPts val="425"/>
              </a:spcBef>
            </a:pPr>
            <a:r>
              <a:rPr sz="1600" spc="40" dirty="0">
                <a:latin typeface="Arial"/>
                <a:cs typeface="Arial"/>
              </a:rPr>
              <a:t>}</a:t>
            </a:r>
            <a:endParaRPr sz="1600">
              <a:latin typeface="Arial"/>
              <a:cs typeface="Arial"/>
            </a:endParaRPr>
          </a:p>
          <a:p>
            <a:pPr marL="12700">
              <a:lnSpc>
                <a:spcPct val="100000"/>
              </a:lnSpc>
              <a:spcBef>
                <a:spcPts val="325"/>
              </a:spcBef>
            </a:pPr>
            <a:r>
              <a:rPr sz="1600" spc="40" dirty="0">
                <a:latin typeface="Arial"/>
                <a:cs typeface="Arial"/>
              </a:rPr>
              <a:t>}</a:t>
            </a:r>
            <a:endParaRPr sz="1600">
              <a:latin typeface="Arial"/>
              <a:cs typeface="Arial"/>
            </a:endParaRPr>
          </a:p>
        </p:txBody>
      </p:sp>
      <p:sp>
        <p:nvSpPr>
          <p:cNvPr id="7" name="object 7"/>
          <p:cNvSpPr txBox="1"/>
          <p:nvPr/>
        </p:nvSpPr>
        <p:spPr>
          <a:xfrm>
            <a:off x="298805" y="6253988"/>
            <a:ext cx="4364990" cy="488315"/>
          </a:xfrm>
          <a:prstGeom prst="rect">
            <a:avLst/>
          </a:prstGeom>
        </p:spPr>
        <p:txBody>
          <a:bodyPr vert="horz" wrap="square" lIns="0" tIns="12065" rIns="0" bIns="0" rtlCol="0">
            <a:spAutoFit/>
          </a:bodyPr>
          <a:lstStyle/>
          <a:p>
            <a:pPr marL="12700">
              <a:lnSpc>
                <a:spcPts val="1825"/>
              </a:lnSpc>
              <a:spcBef>
                <a:spcPts val="95"/>
              </a:spcBef>
            </a:pPr>
            <a:r>
              <a:rPr sz="1600" spc="40" dirty="0">
                <a:latin typeface="Arial"/>
                <a:cs typeface="Arial"/>
              </a:rPr>
              <a:t>}</a:t>
            </a:r>
            <a:endParaRPr sz="1600">
              <a:latin typeface="Arial"/>
              <a:cs typeface="Arial"/>
            </a:endParaRPr>
          </a:p>
          <a:p>
            <a:pPr marL="12700">
              <a:lnSpc>
                <a:spcPts val="1825"/>
              </a:lnSpc>
            </a:pPr>
            <a:r>
              <a:rPr sz="1600" spc="-5" dirty="0">
                <a:solidFill>
                  <a:srgbClr val="FF0000"/>
                </a:solidFill>
                <a:latin typeface="Times New Roman"/>
                <a:cs typeface="Times New Roman"/>
              </a:rPr>
              <a:t>// System.out.println("caught in </a:t>
            </a:r>
            <a:r>
              <a:rPr sz="1600" spc="-10" dirty="0">
                <a:solidFill>
                  <a:srgbClr val="FF0000"/>
                </a:solidFill>
                <a:latin typeface="Times New Roman"/>
                <a:cs typeface="Times New Roman"/>
              </a:rPr>
              <a:t>main() method" </a:t>
            </a:r>
            <a:r>
              <a:rPr sz="1600" spc="-5" dirty="0">
                <a:solidFill>
                  <a:srgbClr val="FF0000"/>
                </a:solidFill>
                <a:latin typeface="Times New Roman"/>
                <a:cs typeface="Times New Roman"/>
              </a:rPr>
              <a:t>+</a:t>
            </a:r>
            <a:r>
              <a:rPr sz="1600" spc="195" dirty="0">
                <a:solidFill>
                  <a:srgbClr val="FF0000"/>
                </a:solidFill>
                <a:latin typeface="Times New Roman"/>
                <a:cs typeface="Times New Roman"/>
              </a:rPr>
              <a:t> </a:t>
            </a:r>
            <a:r>
              <a:rPr sz="1600" spc="-5" dirty="0">
                <a:solidFill>
                  <a:srgbClr val="FF0000"/>
                </a:solidFill>
                <a:latin typeface="Times New Roman"/>
                <a:cs typeface="Times New Roman"/>
              </a:rPr>
              <a:t>e);</a:t>
            </a:r>
            <a:endParaRPr sz="1600">
              <a:latin typeface="Times New Roman"/>
              <a:cs typeface="Times New Roman"/>
            </a:endParaRPr>
          </a:p>
        </p:txBody>
      </p:sp>
      <p:sp>
        <p:nvSpPr>
          <p:cNvPr id="8" name="object 8"/>
          <p:cNvSpPr txBox="1"/>
          <p:nvPr/>
        </p:nvSpPr>
        <p:spPr>
          <a:xfrm>
            <a:off x="5569077" y="5232653"/>
            <a:ext cx="2920365" cy="452755"/>
          </a:xfrm>
          <a:prstGeom prst="rect">
            <a:avLst/>
          </a:prstGeom>
        </p:spPr>
        <p:txBody>
          <a:bodyPr vert="horz" wrap="square" lIns="0" tIns="12700" rIns="0" bIns="0" rtlCol="0">
            <a:spAutoFit/>
          </a:bodyPr>
          <a:lstStyle/>
          <a:p>
            <a:pPr marL="12700">
              <a:lnSpc>
                <a:spcPct val="100000"/>
              </a:lnSpc>
              <a:spcBef>
                <a:spcPts val="100"/>
              </a:spcBef>
              <a:tabLst>
                <a:tab pos="798830" algn="l"/>
              </a:tabLst>
            </a:pPr>
            <a:r>
              <a:rPr sz="1400" b="1" spc="-5" dirty="0">
                <a:solidFill>
                  <a:srgbClr val="00AF50"/>
                </a:solidFill>
                <a:latin typeface="Arial"/>
                <a:cs typeface="Arial"/>
              </a:rPr>
              <a:t>Output:	Inside the</a:t>
            </a:r>
            <a:r>
              <a:rPr sz="1400" b="1" spc="-60" dirty="0">
                <a:solidFill>
                  <a:srgbClr val="00AF50"/>
                </a:solidFill>
                <a:latin typeface="Arial"/>
                <a:cs typeface="Arial"/>
              </a:rPr>
              <a:t> </a:t>
            </a:r>
            <a:r>
              <a:rPr sz="1400" b="1" spc="-5" dirty="0">
                <a:solidFill>
                  <a:srgbClr val="00AF50"/>
                </a:solidFill>
                <a:latin typeface="Arial"/>
                <a:cs typeface="Arial"/>
              </a:rPr>
              <a:t>method()</a:t>
            </a:r>
            <a:endParaRPr sz="1400">
              <a:latin typeface="Arial"/>
              <a:cs typeface="Arial"/>
            </a:endParaRPr>
          </a:p>
          <a:p>
            <a:pPr marL="848994">
              <a:lnSpc>
                <a:spcPct val="100000"/>
              </a:lnSpc>
            </a:pPr>
            <a:r>
              <a:rPr sz="1400" b="1" spc="-5" dirty="0">
                <a:solidFill>
                  <a:srgbClr val="00AF50"/>
                </a:solidFill>
                <a:latin typeface="Arial"/>
                <a:cs typeface="Arial"/>
              </a:rPr>
              <a:t>caught </a:t>
            </a:r>
            <a:r>
              <a:rPr sz="1400" b="1" dirty="0">
                <a:solidFill>
                  <a:srgbClr val="00AF50"/>
                </a:solidFill>
                <a:latin typeface="Arial"/>
                <a:cs typeface="Arial"/>
              </a:rPr>
              <a:t>in main()</a:t>
            </a:r>
            <a:r>
              <a:rPr sz="1400" b="1" spc="-114" dirty="0">
                <a:solidFill>
                  <a:srgbClr val="00AF50"/>
                </a:solidFill>
                <a:latin typeface="Arial"/>
                <a:cs typeface="Arial"/>
              </a:rPr>
              <a:t> </a:t>
            </a:r>
            <a:r>
              <a:rPr sz="1400" b="1" spc="-5" dirty="0">
                <a:solidFill>
                  <a:srgbClr val="00AF50"/>
                </a:solidFill>
                <a:latin typeface="Arial"/>
                <a:cs typeface="Arial"/>
              </a:rPr>
              <a:t>method</a:t>
            </a:r>
            <a:endParaRPr sz="1400">
              <a:latin typeface="Arial"/>
              <a:cs typeface="Arial"/>
            </a:endParaRPr>
          </a:p>
        </p:txBody>
      </p:sp>
      <p:sp>
        <p:nvSpPr>
          <p:cNvPr id="9" name="object 9"/>
          <p:cNvSpPr txBox="1"/>
          <p:nvPr/>
        </p:nvSpPr>
        <p:spPr>
          <a:xfrm>
            <a:off x="4743450" y="6179007"/>
            <a:ext cx="66738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0000"/>
                </a:solidFill>
                <a:latin typeface="Arial"/>
                <a:cs typeface="Arial"/>
              </a:rPr>
              <a:t>O</a:t>
            </a:r>
            <a:r>
              <a:rPr sz="1400" b="1" spc="-10" dirty="0">
                <a:solidFill>
                  <a:srgbClr val="FF0000"/>
                </a:solidFill>
                <a:latin typeface="Arial"/>
                <a:cs typeface="Arial"/>
              </a:rPr>
              <a:t>u</a:t>
            </a:r>
            <a:r>
              <a:rPr sz="1400" b="1" dirty="0">
                <a:solidFill>
                  <a:srgbClr val="FF0000"/>
                </a:solidFill>
                <a:latin typeface="Arial"/>
                <a:cs typeface="Arial"/>
              </a:rPr>
              <a:t>t</a:t>
            </a:r>
            <a:r>
              <a:rPr sz="1400" b="1" spc="-10" dirty="0">
                <a:solidFill>
                  <a:srgbClr val="FF0000"/>
                </a:solidFill>
                <a:latin typeface="Arial"/>
                <a:cs typeface="Arial"/>
              </a:rPr>
              <a:t>pu</a:t>
            </a:r>
            <a:r>
              <a:rPr sz="1400" b="1" dirty="0">
                <a:solidFill>
                  <a:srgbClr val="FF0000"/>
                </a:solidFill>
                <a:latin typeface="Arial"/>
                <a:cs typeface="Arial"/>
              </a:rPr>
              <a:t>t:</a:t>
            </a:r>
            <a:endParaRPr sz="1400">
              <a:latin typeface="Arial"/>
              <a:cs typeface="Arial"/>
            </a:endParaRPr>
          </a:p>
        </p:txBody>
      </p:sp>
      <p:sp>
        <p:nvSpPr>
          <p:cNvPr id="10" name="object 10"/>
          <p:cNvSpPr txBox="1"/>
          <p:nvPr/>
        </p:nvSpPr>
        <p:spPr>
          <a:xfrm>
            <a:off x="5473700" y="6218021"/>
            <a:ext cx="3421379" cy="505459"/>
          </a:xfrm>
          <a:prstGeom prst="rect">
            <a:avLst/>
          </a:prstGeom>
        </p:spPr>
        <p:txBody>
          <a:bodyPr vert="horz" wrap="square" lIns="0" tIns="12700" rIns="0" bIns="0" rtlCol="0">
            <a:spAutoFit/>
          </a:bodyPr>
          <a:lstStyle/>
          <a:p>
            <a:pPr marL="155575" marR="1785620" indent="-86995">
              <a:lnSpc>
                <a:spcPct val="108000"/>
              </a:lnSpc>
              <a:spcBef>
                <a:spcPts val="100"/>
              </a:spcBef>
            </a:pPr>
            <a:r>
              <a:rPr sz="1000" b="1" spc="-5" dirty="0">
                <a:solidFill>
                  <a:srgbClr val="FF0000"/>
                </a:solidFill>
                <a:latin typeface="Arial"/>
                <a:cs typeface="Arial"/>
              </a:rPr>
              <a:t>Inside the method()  caught in main()</a:t>
            </a:r>
            <a:r>
              <a:rPr sz="1000" b="1" spc="-40" dirty="0">
                <a:solidFill>
                  <a:srgbClr val="FF0000"/>
                </a:solidFill>
                <a:latin typeface="Arial"/>
                <a:cs typeface="Arial"/>
              </a:rPr>
              <a:t> </a:t>
            </a:r>
            <a:r>
              <a:rPr sz="1000" b="1" spc="-5" dirty="0">
                <a:solidFill>
                  <a:srgbClr val="FF0000"/>
                </a:solidFill>
                <a:latin typeface="Arial"/>
                <a:cs typeface="Arial"/>
              </a:rPr>
              <a:t>method</a:t>
            </a:r>
            <a:endParaRPr sz="1000">
              <a:latin typeface="Arial"/>
              <a:cs typeface="Arial"/>
            </a:endParaRPr>
          </a:p>
          <a:p>
            <a:pPr marL="12700">
              <a:lnSpc>
                <a:spcPts val="1190"/>
              </a:lnSpc>
            </a:pPr>
            <a:r>
              <a:rPr sz="1000" b="1" spc="-5" dirty="0">
                <a:solidFill>
                  <a:srgbClr val="FF0000"/>
                </a:solidFill>
                <a:latin typeface="Times New Roman"/>
                <a:cs typeface="Times New Roman"/>
              </a:rPr>
              <a:t>java.lang.ArithmeticException: throwing</a:t>
            </a:r>
            <a:r>
              <a:rPr sz="1000" b="1" spc="90" dirty="0">
                <a:solidFill>
                  <a:srgbClr val="FF0000"/>
                </a:solidFill>
                <a:latin typeface="Times New Roman"/>
                <a:cs typeface="Times New Roman"/>
              </a:rPr>
              <a:t> </a:t>
            </a:r>
            <a:r>
              <a:rPr sz="1000" b="1" spc="-5" dirty="0">
                <a:solidFill>
                  <a:srgbClr val="FF0000"/>
                </a:solidFill>
                <a:latin typeface="Times New Roman"/>
                <a:cs typeface="Times New Roman"/>
              </a:rPr>
              <a:t>ArithmeticException</a:t>
            </a:r>
            <a:endParaRPr sz="1000">
              <a:latin typeface="Times New Roman"/>
              <a:cs typeface="Times New Roman"/>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8488" y="427990"/>
            <a:ext cx="8411845" cy="635000"/>
          </a:xfrm>
          <a:prstGeom prst="rect">
            <a:avLst/>
          </a:prstGeom>
        </p:spPr>
        <p:txBody>
          <a:bodyPr vert="horz" wrap="square" lIns="0" tIns="12065" rIns="0" bIns="0" rtlCol="0">
            <a:spAutoFit/>
          </a:bodyPr>
          <a:lstStyle/>
          <a:p>
            <a:pPr marL="12700">
              <a:lnSpc>
                <a:spcPct val="100000"/>
              </a:lnSpc>
              <a:spcBef>
                <a:spcPts val="95"/>
              </a:spcBef>
            </a:pPr>
            <a:r>
              <a:rPr sz="4000" b="0" spc="-5" dirty="0">
                <a:solidFill>
                  <a:srgbClr val="600A38"/>
                </a:solidFill>
                <a:latin typeface="Arial"/>
                <a:cs typeface="Arial"/>
              </a:rPr>
              <a:t>Difference between throw and</a:t>
            </a:r>
            <a:r>
              <a:rPr sz="4000" b="0" spc="55" dirty="0">
                <a:solidFill>
                  <a:srgbClr val="600A38"/>
                </a:solidFill>
                <a:latin typeface="Arial"/>
                <a:cs typeface="Arial"/>
              </a:rPr>
              <a:t> </a:t>
            </a:r>
            <a:r>
              <a:rPr sz="4000" b="0" spc="-5" dirty="0">
                <a:solidFill>
                  <a:srgbClr val="600A38"/>
                </a:solidFill>
                <a:latin typeface="Arial"/>
                <a:cs typeface="Arial"/>
              </a:rPr>
              <a:t>throws</a:t>
            </a:r>
            <a:endParaRPr sz="4000">
              <a:latin typeface="Arial"/>
              <a:cs typeface="Arial"/>
            </a:endParaRPr>
          </a:p>
        </p:txBody>
      </p:sp>
      <p:sp>
        <p:nvSpPr>
          <p:cNvPr id="3" name="object 3"/>
          <p:cNvSpPr/>
          <p:nvPr/>
        </p:nvSpPr>
        <p:spPr>
          <a:xfrm>
            <a:off x="180964" y="1703404"/>
            <a:ext cx="8806063" cy="4869891"/>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64312"/>
            <a:ext cx="1684655" cy="757555"/>
          </a:xfrm>
          <a:prstGeom prst="rect">
            <a:avLst/>
          </a:prstGeom>
        </p:spPr>
        <p:txBody>
          <a:bodyPr vert="horz" wrap="square" lIns="0" tIns="12700" rIns="0" bIns="0" rtlCol="0">
            <a:spAutoFit/>
          </a:bodyPr>
          <a:lstStyle/>
          <a:p>
            <a:pPr marL="12700">
              <a:lnSpc>
                <a:spcPct val="100000"/>
              </a:lnSpc>
              <a:spcBef>
                <a:spcPts val="100"/>
              </a:spcBef>
            </a:pPr>
            <a:r>
              <a:rPr sz="4800" dirty="0"/>
              <a:t>fina</a:t>
            </a:r>
            <a:r>
              <a:rPr sz="4800" spc="-15" dirty="0"/>
              <a:t>l</a:t>
            </a:r>
            <a:r>
              <a:rPr sz="4800" dirty="0"/>
              <a:t>ly</a:t>
            </a:r>
            <a:endParaRPr sz="4800"/>
          </a:p>
        </p:txBody>
      </p:sp>
      <p:sp>
        <p:nvSpPr>
          <p:cNvPr id="3" name="object 3"/>
          <p:cNvSpPr txBox="1"/>
          <p:nvPr/>
        </p:nvSpPr>
        <p:spPr>
          <a:xfrm>
            <a:off x="535940" y="1619453"/>
            <a:ext cx="8150225" cy="4044950"/>
          </a:xfrm>
          <a:prstGeom prst="rect">
            <a:avLst/>
          </a:prstGeom>
        </p:spPr>
        <p:txBody>
          <a:bodyPr vert="horz" wrap="square" lIns="0" tIns="12065" rIns="0" bIns="0" rtlCol="0">
            <a:spAutoFit/>
          </a:bodyPr>
          <a:lstStyle/>
          <a:p>
            <a:pPr marL="332740" marR="5080" indent="-320040" algn="just">
              <a:lnSpc>
                <a:spcPct val="100000"/>
              </a:lnSpc>
              <a:spcBef>
                <a:spcPts val="95"/>
              </a:spcBef>
              <a:buClr>
                <a:srgbClr val="DD8046"/>
              </a:buClr>
              <a:buSzPct val="67857"/>
              <a:buFont typeface="DejaVu Sans"/>
              <a:buChar char="◻"/>
              <a:tabLst>
                <a:tab pos="332740" algn="l"/>
              </a:tabLst>
            </a:pPr>
            <a:r>
              <a:rPr sz="2800" b="1" spc="-160" dirty="0">
                <a:solidFill>
                  <a:srgbClr val="333333"/>
                </a:solidFill>
                <a:latin typeface="Verdana"/>
                <a:cs typeface="Verdana"/>
              </a:rPr>
              <a:t>Java </a:t>
            </a:r>
            <a:r>
              <a:rPr sz="2800" b="1" spc="-200" dirty="0">
                <a:solidFill>
                  <a:srgbClr val="333333"/>
                </a:solidFill>
                <a:latin typeface="Verdana"/>
                <a:cs typeface="Verdana"/>
              </a:rPr>
              <a:t>finally </a:t>
            </a:r>
            <a:r>
              <a:rPr sz="2800" b="1" spc="-170" dirty="0">
                <a:solidFill>
                  <a:srgbClr val="333333"/>
                </a:solidFill>
                <a:latin typeface="Verdana"/>
                <a:cs typeface="Verdana"/>
              </a:rPr>
              <a:t>block </a:t>
            </a:r>
            <a:r>
              <a:rPr sz="2800" spc="45" dirty="0">
                <a:solidFill>
                  <a:srgbClr val="333333"/>
                </a:solidFill>
                <a:latin typeface="Arial"/>
                <a:cs typeface="Arial"/>
              </a:rPr>
              <a:t>is </a:t>
            </a:r>
            <a:r>
              <a:rPr sz="2800" spc="20" dirty="0">
                <a:solidFill>
                  <a:srgbClr val="333333"/>
                </a:solidFill>
                <a:latin typeface="Arial"/>
                <a:cs typeface="Arial"/>
              </a:rPr>
              <a:t>a </a:t>
            </a:r>
            <a:r>
              <a:rPr sz="2800" spc="120" dirty="0">
                <a:solidFill>
                  <a:srgbClr val="333333"/>
                </a:solidFill>
                <a:latin typeface="Arial"/>
                <a:cs typeface="Arial"/>
              </a:rPr>
              <a:t>block </a:t>
            </a:r>
            <a:r>
              <a:rPr sz="2800" spc="95" dirty="0">
                <a:solidFill>
                  <a:srgbClr val="333333"/>
                </a:solidFill>
                <a:latin typeface="Arial"/>
                <a:cs typeface="Arial"/>
              </a:rPr>
              <a:t>used </a:t>
            </a:r>
            <a:r>
              <a:rPr sz="2800" spc="175" dirty="0">
                <a:solidFill>
                  <a:srgbClr val="333333"/>
                </a:solidFill>
                <a:latin typeface="Arial"/>
                <a:cs typeface="Arial"/>
              </a:rPr>
              <a:t>to </a:t>
            </a:r>
            <a:r>
              <a:rPr sz="2800" spc="105" dirty="0">
                <a:solidFill>
                  <a:srgbClr val="333333"/>
                </a:solidFill>
                <a:latin typeface="Arial"/>
                <a:cs typeface="Arial"/>
              </a:rPr>
              <a:t>execute  </a:t>
            </a:r>
            <a:r>
              <a:rPr sz="2800" spc="120" dirty="0">
                <a:solidFill>
                  <a:srgbClr val="333333"/>
                </a:solidFill>
                <a:latin typeface="Arial"/>
                <a:cs typeface="Arial"/>
              </a:rPr>
              <a:t>important </a:t>
            </a:r>
            <a:r>
              <a:rPr sz="2800" spc="125" dirty="0">
                <a:solidFill>
                  <a:srgbClr val="333333"/>
                </a:solidFill>
                <a:latin typeface="Arial"/>
                <a:cs typeface="Arial"/>
              </a:rPr>
              <a:t>code </a:t>
            </a:r>
            <a:r>
              <a:rPr sz="2800" spc="90" dirty="0">
                <a:solidFill>
                  <a:srgbClr val="333333"/>
                </a:solidFill>
                <a:latin typeface="Arial"/>
                <a:cs typeface="Arial"/>
              </a:rPr>
              <a:t>such </a:t>
            </a:r>
            <a:r>
              <a:rPr sz="2800" spc="35" dirty="0">
                <a:solidFill>
                  <a:srgbClr val="333333"/>
                </a:solidFill>
                <a:latin typeface="Arial"/>
                <a:cs typeface="Arial"/>
              </a:rPr>
              <a:t>as </a:t>
            </a:r>
            <a:r>
              <a:rPr sz="2800" spc="85" dirty="0">
                <a:solidFill>
                  <a:srgbClr val="333333"/>
                </a:solidFill>
                <a:latin typeface="Arial"/>
                <a:cs typeface="Arial"/>
              </a:rPr>
              <a:t>closing </a:t>
            </a:r>
            <a:r>
              <a:rPr sz="2800" spc="135" dirty="0">
                <a:solidFill>
                  <a:srgbClr val="333333"/>
                </a:solidFill>
                <a:latin typeface="Arial"/>
                <a:cs typeface="Arial"/>
              </a:rPr>
              <a:t>the </a:t>
            </a:r>
            <a:r>
              <a:rPr sz="2800" spc="105" dirty="0">
                <a:solidFill>
                  <a:srgbClr val="333333"/>
                </a:solidFill>
                <a:latin typeface="Arial"/>
                <a:cs typeface="Arial"/>
              </a:rPr>
              <a:t>opened  </a:t>
            </a:r>
            <a:r>
              <a:rPr sz="2800" spc="75" dirty="0">
                <a:solidFill>
                  <a:srgbClr val="333333"/>
                </a:solidFill>
                <a:latin typeface="Arial"/>
                <a:cs typeface="Arial"/>
              </a:rPr>
              <a:t>file,</a:t>
            </a:r>
            <a:r>
              <a:rPr sz="2800" dirty="0">
                <a:solidFill>
                  <a:srgbClr val="333333"/>
                </a:solidFill>
                <a:latin typeface="Arial"/>
                <a:cs typeface="Arial"/>
              </a:rPr>
              <a:t> </a:t>
            </a:r>
            <a:r>
              <a:rPr sz="2800" spc="110" dirty="0">
                <a:solidFill>
                  <a:srgbClr val="333333"/>
                </a:solidFill>
                <a:latin typeface="Arial"/>
                <a:cs typeface="Arial"/>
              </a:rPr>
              <a:t>etc.</a:t>
            </a:r>
            <a:endParaRPr sz="2800">
              <a:latin typeface="Arial"/>
              <a:cs typeface="Arial"/>
            </a:endParaRPr>
          </a:p>
          <a:p>
            <a:pPr marL="332740" marR="5080" indent="-320040" algn="just">
              <a:lnSpc>
                <a:spcPct val="100099"/>
              </a:lnSpc>
              <a:spcBef>
                <a:spcPts val="700"/>
              </a:spcBef>
              <a:buClr>
                <a:srgbClr val="DD8046"/>
              </a:buClr>
              <a:buSzPct val="67857"/>
              <a:buFont typeface="DejaVu Sans"/>
              <a:buChar char="◻"/>
              <a:tabLst>
                <a:tab pos="332740" algn="l"/>
              </a:tabLst>
            </a:pPr>
            <a:r>
              <a:rPr sz="2800" spc="75" dirty="0">
                <a:solidFill>
                  <a:srgbClr val="333333"/>
                </a:solidFill>
                <a:latin typeface="Arial"/>
                <a:cs typeface="Arial"/>
              </a:rPr>
              <a:t>Java </a:t>
            </a:r>
            <a:r>
              <a:rPr sz="2800" spc="85" dirty="0">
                <a:solidFill>
                  <a:srgbClr val="333333"/>
                </a:solidFill>
                <a:latin typeface="Arial"/>
                <a:cs typeface="Arial"/>
              </a:rPr>
              <a:t>finally </a:t>
            </a:r>
            <a:r>
              <a:rPr sz="2800" spc="120" dirty="0">
                <a:solidFill>
                  <a:srgbClr val="333333"/>
                </a:solidFill>
                <a:latin typeface="Arial"/>
                <a:cs typeface="Arial"/>
              </a:rPr>
              <a:t>block </a:t>
            </a:r>
            <a:r>
              <a:rPr sz="2800" spc="45" dirty="0">
                <a:solidFill>
                  <a:srgbClr val="333333"/>
                </a:solidFill>
                <a:latin typeface="Arial"/>
                <a:cs typeface="Arial"/>
              </a:rPr>
              <a:t>is </a:t>
            </a:r>
            <a:r>
              <a:rPr sz="2800" spc="85" dirty="0">
                <a:solidFill>
                  <a:srgbClr val="333333"/>
                </a:solidFill>
                <a:latin typeface="Arial"/>
                <a:cs typeface="Arial"/>
              </a:rPr>
              <a:t>always </a:t>
            </a:r>
            <a:r>
              <a:rPr sz="2800" spc="114" dirty="0">
                <a:solidFill>
                  <a:srgbClr val="333333"/>
                </a:solidFill>
                <a:latin typeface="Arial"/>
                <a:cs typeface="Arial"/>
              </a:rPr>
              <a:t>executed </a:t>
            </a:r>
            <a:r>
              <a:rPr sz="2800" spc="125" dirty="0">
                <a:solidFill>
                  <a:srgbClr val="333333"/>
                </a:solidFill>
                <a:latin typeface="Arial"/>
                <a:cs typeface="Arial"/>
              </a:rPr>
              <a:t>whether  </a:t>
            </a:r>
            <a:r>
              <a:rPr sz="2800" spc="45" dirty="0">
                <a:solidFill>
                  <a:srgbClr val="333333"/>
                </a:solidFill>
                <a:latin typeface="Arial"/>
                <a:cs typeface="Arial"/>
              </a:rPr>
              <a:t>an </a:t>
            </a:r>
            <a:r>
              <a:rPr sz="2800" spc="110" dirty="0">
                <a:solidFill>
                  <a:srgbClr val="333333"/>
                </a:solidFill>
                <a:latin typeface="Arial"/>
                <a:cs typeface="Arial"/>
              </a:rPr>
              <a:t>exception </a:t>
            </a:r>
            <a:r>
              <a:rPr sz="2800" spc="45" dirty="0">
                <a:solidFill>
                  <a:srgbClr val="333333"/>
                </a:solidFill>
                <a:latin typeface="Arial"/>
                <a:cs typeface="Arial"/>
              </a:rPr>
              <a:t>is </a:t>
            </a:r>
            <a:r>
              <a:rPr sz="2800" spc="90" dirty="0">
                <a:solidFill>
                  <a:srgbClr val="333333"/>
                </a:solidFill>
                <a:latin typeface="Arial"/>
                <a:cs typeface="Arial"/>
              </a:rPr>
              <a:t>handled </a:t>
            </a:r>
            <a:r>
              <a:rPr sz="2800" spc="105" dirty="0">
                <a:solidFill>
                  <a:srgbClr val="333333"/>
                </a:solidFill>
                <a:latin typeface="Arial"/>
                <a:cs typeface="Arial"/>
              </a:rPr>
              <a:t>or </a:t>
            </a:r>
            <a:r>
              <a:rPr sz="2800" spc="100" dirty="0">
                <a:solidFill>
                  <a:srgbClr val="333333"/>
                </a:solidFill>
                <a:latin typeface="Arial"/>
                <a:cs typeface="Arial"/>
              </a:rPr>
              <a:t>not. </a:t>
            </a:r>
            <a:r>
              <a:rPr sz="2800" spc="95" dirty="0">
                <a:solidFill>
                  <a:srgbClr val="333333"/>
                </a:solidFill>
                <a:latin typeface="Arial"/>
                <a:cs typeface="Arial"/>
              </a:rPr>
              <a:t>Therefore, </a:t>
            </a:r>
            <a:r>
              <a:rPr sz="2800" spc="135" dirty="0">
                <a:solidFill>
                  <a:srgbClr val="333333"/>
                </a:solidFill>
                <a:latin typeface="Arial"/>
                <a:cs typeface="Arial"/>
              </a:rPr>
              <a:t>it  </a:t>
            </a:r>
            <a:r>
              <a:rPr sz="2800" spc="95" dirty="0">
                <a:solidFill>
                  <a:srgbClr val="333333"/>
                </a:solidFill>
                <a:latin typeface="Arial"/>
                <a:cs typeface="Arial"/>
              </a:rPr>
              <a:t>contains </a:t>
            </a:r>
            <a:r>
              <a:rPr sz="2800" spc="30" dirty="0">
                <a:solidFill>
                  <a:srgbClr val="333333"/>
                </a:solidFill>
                <a:latin typeface="Arial"/>
                <a:cs typeface="Arial"/>
              </a:rPr>
              <a:t>all </a:t>
            </a:r>
            <a:r>
              <a:rPr sz="2800" spc="135" dirty="0">
                <a:solidFill>
                  <a:srgbClr val="333333"/>
                </a:solidFill>
                <a:latin typeface="Arial"/>
                <a:cs typeface="Arial"/>
              </a:rPr>
              <a:t>the </a:t>
            </a:r>
            <a:r>
              <a:rPr sz="2800" spc="80" dirty="0">
                <a:solidFill>
                  <a:srgbClr val="333333"/>
                </a:solidFill>
                <a:latin typeface="Arial"/>
                <a:cs typeface="Arial"/>
              </a:rPr>
              <a:t>necessary </a:t>
            </a:r>
            <a:r>
              <a:rPr sz="2800" spc="110" dirty="0">
                <a:solidFill>
                  <a:srgbClr val="333333"/>
                </a:solidFill>
                <a:latin typeface="Arial"/>
                <a:cs typeface="Arial"/>
              </a:rPr>
              <a:t>statements </a:t>
            </a:r>
            <a:r>
              <a:rPr sz="2800" spc="140" dirty="0">
                <a:solidFill>
                  <a:srgbClr val="333333"/>
                </a:solidFill>
                <a:latin typeface="Arial"/>
                <a:cs typeface="Arial"/>
              </a:rPr>
              <a:t>that  </a:t>
            </a:r>
            <a:r>
              <a:rPr sz="2800" spc="100" dirty="0">
                <a:solidFill>
                  <a:srgbClr val="333333"/>
                </a:solidFill>
                <a:latin typeface="Arial"/>
                <a:cs typeface="Arial"/>
              </a:rPr>
              <a:t>need </a:t>
            </a:r>
            <a:r>
              <a:rPr sz="2800" spc="170" dirty="0">
                <a:solidFill>
                  <a:srgbClr val="333333"/>
                </a:solidFill>
                <a:latin typeface="Arial"/>
                <a:cs typeface="Arial"/>
              </a:rPr>
              <a:t>to </a:t>
            </a:r>
            <a:r>
              <a:rPr sz="2800" spc="125" dirty="0">
                <a:solidFill>
                  <a:srgbClr val="333333"/>
                </a:solidFill>
                <a:latin typeface="Arial"/>
                <a:cs typeface="Arial"/>
              </a:rPr>
              <a:t>be </a:t>
            </a:r>
            <a:r>
              <a:rPr sz="2800" spc="120" dirty="0">
                <a:solidFill>
                  <a:srgbClr val="333333"/>
                </a:solidFill>
                <a:latin typeface="Arial"/>
                <a:cs typeface="Arial"/>
              </a:rPr>
              <a:t>printed </a:t>
            </a:r>
            <a:r>
              <a:rPr sz="2800" spc="80" dirty="0">
                <a:solidFill>
                  <a:srgbClr val="333333"/>
                </a:solidFill>
                <a:latin typeface="Arial"/>
                <a:cs typeface="Arial"/>
              </a:rPr>
              <a:t>regardless </a:t>
            </a:r>
            <a:r>
              <a:rPr sz="2800" spc="165" dirty="0">
                <a:solidFill>
                  <a:srgbClr val="333333"/>
                </a:solidFill>
                <a:latin typeface="Arial"/>
                <a:cs typeface="Arial"/>
              </a:rPr>
              <a:t>of </a:t>
            </a:r>
            <a:r>
              <a:rPr sz="2800" spc="130" dirty="0">
                <a:solidFill>
                  <a:srgbClr val="333333"/>
                </a:solidFill>
                <a:latin typeface="Arial"/>
                <a:cs typeface="Arial"/>
              </a:rPr>
              <a:t>the  </a:t>
            </a:r>
            <a:r>
              <a:rPr sz="2800" spc="110" dirty="0">
                <a:solidFill>
                  <a:srgbClr val="333333"/>
                </a:solidFill>
                <a:latin typeface="Arial"/>
                <a:cs typeface="Arial"/>
              </a:rPr>
              <a:t>exception occurs </a:t>
            </a:r>
            <a:r>
              <a:rPr sz="2800" spc="105" dirty="0">
                <a:solidFill>
                  <a:srgbClr val="333333"/>
                </a:solidFill>
                <a:latin typeface="Arial"/>
                <a:cs typeface="Arial"/>
              </a:rPr>
              <a:t>or</a:t>
            </a:r>
            <a:r>
              <a:rPr sz="2800" spc="-195" dirty="0">
                <a:solidFill>
                  <a:srgbClr val="333333"/>
                </a:solidFill>
                <a:latin typeface="Arial"/>
                <a:cs typeface="Arial"/>
              </a:rPr>
              <a:t> </a:t>
            </a:r>
            <a:r>
              <a:rPr sz="2800" spc="100" dirty="0">
                <a:solidFill>
                  <a:srgbClr val="333333"/>
                </a:solidFill>
                <a:latin typeface="Arial"/>
                <a:cs typeface="Arial"/>
              </a:rPr>
              <a:t>not.</a:t>
            </a:r>
            <a:endParaRPr sz="2800">
              <a:latin typeface="Arial"/>
              <a:cs typeface="Arial"/>
            </a:endParaRPr>
          </a:p>
          <a:p>
            <a:pPr marL="332740" indent="-320040" algn="just">
              <a:lnSpc>
                <a:spcPct val="100000"/>
              </a:lnSpc>
              <a:spcBef>
                <a:spcPts val="695"/>
              </a:spcBef>
              <a:buClr>
                <a:srgbClr val="DD8046"/>
              </a:buClr>
              <a:buSzPct val="67857"/>
              <a:buFont typeface="DejaVu Sans"/>
              <a:buChar char="◻"/>
              <a:tabLst>
                <a:tab pos="332740" algn="l"/>
              </a:tabLst>
            </a:pPr>
            <a:r>
              <a:rPr sz="2800" spc="85" dirty="0">
                <a:solidFill>
                  <a:srgbClr val="333333"/>
                </a:solidFill>
                <a:latin typeface="Arial"/>
                <a:cs typeface="Arial"/>
              </a:rPr>
              <a:t>The </a:t>
            </a:r>
            <a:r>
              <a:rPr sz="2800" spc="80" dirty="0">
                <a:solidFill>
                  <a:srgbClr val="333333"/>
                </a:solidFill>
                <a:latin typeface="Arial"/>
                <a:cs typeface="Arial"/>
              </a:rPr>
              <a:t>finally </a:t>
            </a:r>
            <a:r>
              <a:rPr sz="2800" spc="120" dirty="0">
                <a:solidFill>
                  <a:srgbClr val="333333"/>
                </a:solidFill>
                <a:latin typeface="Arial"/>
                <a:cs typeface="Arial"/>
              </a:rPr>
              <a:t>block </a:t>
            </a:r>
            <a:r>
              <a:rPr sz="2800" spc="114" dirty="0">
                <a:solidFill>
                  <a:srgbClr val="333333"/>
                </a:solidFill>
                <a:latin typeface="Arial"/>
                <a:cs typeface="Arial"/>
              </a:rPr>
              <a:t>follows </a:t>
            </a:r>
            <a:r>
              <a:rPr sz="2800" spc="135" dirty="0">
                <a:solidFill>
                  <a:srgbClr val="333333"/>
                </a:solidFill>
                <a:latin typeface="Arial"/>
                <a:cs typeface="Arial"/>
              </a:rPr>
              <a:t>the </a:t>
            </a:r>
            <a:r>
              <a:rPr sz="2800" spc="165" dirty="0">
                <a:solidFill>
                  <a:srgbClr val="333333"/>
                </a:solidFill>
                <a:latin typeface="Arial"/>
                <a:cs typeface="Arial"/>
              </a:rPr>
              <a:t>try-catch</a:t>
            </a:r>
            <a:r>
              <a:rPr sz="2800" spc="-459" dirty="0">
                <a:solidFill>
                  <a:srgbClr val="333333"/>
                </a:solidFill>
                <a:latin typeface="Arial"/>
                <a:cs typeface="Arial"/>
              </a:rPr>
              <a:t> </a:t>
            </a:r>
            <a:r>
              <a:rPr sz="2800" spc="100" dirty="0">
                <a:solidFill>
                  <a:srgbClr val="333333"/>
                </a:solidFill>
                <a:latin typeface="Arial"/>
                <a:cs typeface="Arial"/>
              </a:rPr>
              <a:t>block.</a:t>
            </a:r>
            <a:endParaRPr sz="2800">
              <a:latin typeface="Arial"/>
              <a:cs typeface="Aria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7886"/>
            <a:ext cx="6117590" cy="696595"/>
          </a:xfrm>
          <a:prstGeom prst="rect">
            <a:avLst/>
          </a:prstGeom>
        </p:spPr>
        <p:txBody>
          <a:bodyPr vert="horz" wrap="square" lIns="0" tIns="13335" rIns="0" bIns="0" rtlCol="0">
            <a:spAutoFit/>
          </a:bodyPr>
          <a:lstStyle/>
          <a:p>
            <a:pPr marL="12700">
              <a:lnSpc>
                <a:spcPct val="100000"/>
              </a:lnSpc>
              <a:spcBef>
                <a:spcPts val="105"/>
              </a:spcBef>
            </a:pPr>
            <a:r>
              <a:rPr sz="4400" b="0" dirty="0">
                <a:solidFill>
                  <a:srgbClr val="600A4A"/>
                </a:solidFill>
                <a:latin typeface="Arial"/>
                <a:cs typeface="Arial"/>
              </a:rPr>
              <a:t>Flowchart </a:t>
            </a:r>
            <a:r>
              <a:rPr sz="4400" b="0" spc="-5" dirty="0">
                <a:solidFill>
                  <a:srgbClr val="600A4A"/>
                </a:solidFill>
                <a:latin typeface="Arial"/>
                <a:cs typeface="Arial"/>
              </a:rPr>
              <a:t>of </a:t>
            </a:r>
            <a:r>
              <a:rPr sz="4400" b="0" dirty="0">
                <a:solidFill>
                  <a:srgbClr val="600A4A"/>
                </a:solidFill>
                <a:latin typeface="Arial"/>
                <a:cs typeface="Arial"/>
              </a:rPr>
              <a:t>finally</a:t>
            </a:r>
            <a:r>
              <a:rPr sz="4400" b="0" spc="-70" dirty="0">
                <a:solidFill>
                  <a:srgbClr val="600A4A"/>
                </a:solidFill>
                <a:latin typeface="Arial"/>
                <a:cs typeface="Arial"/>
              </a:rPr>
              <a:t> </a:t>
            </a:r>
            <a:r>
              <a:rPr sz="4400" b="0" dirty="0">
                <a:solidFill>
                  <a:srgbClr val="600A4A"/>
                </a:solidFill>
                <a:latin typeface="Arial"/>
                <a:cs typeface="Arial"/>
              </a:rPr>
              <a:t>block</a:t>
            </a:r>
            <a:endParaRPr sz="4400">
              <a:latin typeface="Arial"/>
              <a:cs typeface="Arial"/>
            </a:endParaRPr>
          </a:p>
        </p:txBody>
      </p:sp>
      <p:sp>
        <p:nvSpPr>
          <p:cNvPr id="3" name="object 3"/>
          <p:cNvSpPr/>
          <p:nvPr/>
        </p:nvSpPr>
        <p:spPr>
          <a:xfrm>
            <a:off x="2063213" y="1631360"/>
            <a:ext cx="5791447" cy="4271512"/>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239369" y="5962903"/>
            <a:ext cx="8739505" cy="574675"/>
          </a:xfrm>
          <a:prstGeom prst="rect">
            <a:avLst/>
          </a:prstGeom>
        </p:spPr>
        <p:txBody>
          <a:bodyPr vert="horz" wrap="square" lIns="0" tIns="12700" rIns="0" bIns="0" rtlCol="0">
            <a:spAutoFit/>
          </a:bodyPr>
          <a:lstStyle/>
          <a:p>
            <a:pPr algn="ctr">
              <a:lnSpc>
                <a:spcPct val="100000"/>
              </a:lnSpc>
              <a:spcBef>
                <a:spcPts val="100"/>
              </a:spcBef>
            </a:pPr>
            <a:r>
              <a:rPr sz="1800" spc="-5" dirty="0">
                <a:solidFill>
                  <a:srgbClr val="FF0000"/>
                </a:solidFill>
                <a:latin typeface="Arial"/>
                <a:cs typeface="Arial"/>
              </a:rPr>
              <a:t>Note: </a:t>
            </a:r>
            <a:r>
              <a:rPr sz="1800" dirty="0">
                <a:solidFill>
                  <a:srgbClr val="333333"/>
                </a:solidFill>
                <a:latin typeface="Arial"/>
                <a:cs typeface="Arial"/>
              </a:rPr>
              <a:t>If </a:t>
            </a:r>
            <a:r>
              <a:rPr sz="1800" spc="-10" dirty="0">
                <a:solidFill>
                  <a:srgbClr val="333333"/>
                </a:solidFill>
                <a:latin typeface="Arial"/>
                <a:cs typeface="Arial"/>
              </a:rPr>
              <a:t>you </a:t>
            </a:r>
            <a:r>
              <a:rPr sz="1800" spc="-5" dirty="0">
                <a:solidFill>
                  <a:srgbClr val="333333"/>
                </a:solidFill>
                <a:latin typeface="Arial"/>
                <a:cs typeface="Arial"/>
              </a:rPr>
              <a:t>don't handle </a:t>
            </a:r>
            <a:r>
              <a:rPr sz="1800" dirty="0">
                <a:solidFill>
                  <a:srgbClr val="333333"/>
                </a:solidFill>
                <a:latin typeface="Arial"/>
                <a:cs typeface="Arial"/>
              </a:rPr>
              <a:t>the </a:t>
            </a:r>
            <a:r>
              <a:rPr sz="1800" spc="-5" dirty="0">
                <a:solidFill>
                  <a:srgbClr val="333333"/>
                </a:solidFill>
                <a:latin typeface="Arial"/>
                <a:cs typeface="Arial"/>
              </a:rPr>
              <a:t>exception, before terminating </a:t>
            </a:r>
            <a:r>
              <a:rPr sz="1800" dirty="0">
                <a:solidFill>
                  <a:srgbClr val="333333"/>
                </a:solidFill>
                <a:latin typeface="Arial"/>
                <a:cs typeface="Arial"/>
              </a:rPr>
              <a:t>the </a:t>
            </a:r>
            <a:r>
              <a:rPr sz="1800" spc="-5" dirty="0">
                <a:solidFill>
                  <a:srgbClr val="333333"/>
                </a:solidFill>
                <a:latin typeface="Arial"/>
                <a:cs typeface="Arial"/>
              </a:rPr>
              <a:t>program, </a:t>
            </a:r>
            <a:r>
              <a:rPr sz="1800" dirty="0">
                <a:solidFill>
                  <a:srgbClr val="333333"/>
                </a:solidFill>
                <a:latin typeface="Arial"/>
                <a:cs typeface="Arial"/>
              </a:rPr>
              <a:t>JVM</a:t>
            </a:r>
            <a:r>
              <a:rPr sz="1800" spc="140" dirty="0">
                <a:solidFill>
                  <a:srgbClr val="333333"/>
                </a:solidFill>
                <a:latin typeface="Arial"/>
                <a:cs typeface="Arial"/>
              </a:rPr>
              <a:t> </a:t>
            </a:r>
            <a:r>
              <a:rPr sz="1800" spc="-5" dirty="0">
                <a:solidFill>
                  <a:srgbClr val="333333"/>
                </a:solidFill>
                <a:latin typeface="Arial"/>
                <a:cs typeface="Arial"/>
              </a:rPr>
              <a:t>executes</a:t>
            </a:r>
            <a:endParaRPr sz="1800">
              <a:latin typeface="Arial"/>
              <a:cs typeface="Arial"/>
            </a:endParaRPr>
          </a:p>
          <a:p>
            <a:pPr marL="635" algn="ctr">
              <a:lnSpc>
                <a:spcPct val="100000"/>
              </a:lnSpc>
            </a:pPr>
            <a:r>
              <a:rPr sz="1800" spc="-5" dirty="0">
                <a:solidFill>
                  <a:srgbClr val="333333"/>
                </a:solidFill>
                <a:latin typeface="Arial"/>
                <a:cs typeface="Arial"/>
              </a:rPr>
              <a:t>finally block </a:t>
            </a:r>
            <a:r>
              <a:rPr sz="1800" dirty="0">
                <a:solidFill>
                  <a:srgbClr val="333333"/>
                </a:solidFill>
                <a:latin typeface="Arial"/>
                <a:cs typeface="Arial"/>
              </a:rPr>
              <a:t>(if</a:t>
            </a:r>
            <a:r>
              <a:rPr sz="1800" spc="15" dirty="0">
                <a:solidFill>
                  <a:srgbClr val="333333"/>
                </a:solidFill>
                <a:latin typeface="Arial"/>
                <a:cs typeface="Arial"/>
              </a:rPr>
              <a:t> </a:t>
            </a:r>
            <a:r>
              <a:rPr sz="1800" spc="-10" dirty="0">
                <a:solidFill>
                  <a:srgbClr val="333333"/>
                </a:solidFill>
                <a:latin typeface="Arial"/>
                <a:cs typeface="Arial"/>
              </a:rPr>
              <a:t>any).</a:t>
            </a:r>
            <a:endParaRPr sz="1800">
              <a:latin typeface="Arial"/>
              <a:cs typeface="Aria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7886"/>
            <a:ext cx="6896100" cy="696595"/>
          </a:xfrm>
          <a:prstGeom prst="rect">
            <a:avLst/>
          </a:prstGeom>
        </p:spPr>
        <p:txBody>
          <a:bodyPr vert="horz" wrap="square" lIns="0" tIns="13335" rIns="0" bIns="0" rtlCol="0">
            <a:spAutoFit/>
          </a:bodyPr>
          <a:lstStyle/>
          <a:p>
            <a:pPr marL="12700">
              <a:lnSpc>
                <a:spcPct val="100000"/>
              </a:lnSpc>
              <a:spcBef>
                <a:spcPts val="105"/>
              </a:spcBef>
            </a:pPr>
            <a:r>
              <a:rPr sz="4400" b="0" dirty="0">
                <a:solidFill>
                  <a:srgbClr val="600A38"/>
                </a:solidFill>
                <a:latin typeface="Arial"/>
                <a:cs typeface="Arial"/>
              </a:rPr>
              <a:t>Why use Java finally</a:t>
            </a:r>
            <a:r>
              <a:rPr sz="4400" b="0" spc="-65" dirty="0">
                <a:solidFill>
                  <a:srgbClr val="600A38"/>
                </a:solidFill>
                <a:latin typeface="Arial"/>
                <a:cs typeface="Arial"/>
              </a:rPr>
              <a:t> </a:t>
            </a:r>
            <a:r>
              <a:rPr sz="4400" b="0" dirty="0">
                <a:solidFill>
                  <a:srgbClr val="600A38"/>
                </a:solidFill>
                <a:latin typeface="Arial"/>
                <a:cs typeface="Arial"/>
              </a:rPr>
              <a:t>block?</a:t>
            </a:r>
            <a:endParaRPr sz="4400">
              <a:latin typeface="Arial"/>
              <a:cs typeface="Arial"/>
            </a:endParaRPr>
          </a:p>
        </p:txBody>
      </p:sp>
      <p:sp>
        <p:nvSpPr>
          <p:cNvPr id="3" name="object 3"/>
          <p:cNvSpPr txBox="1"/>
          <p:nvPr/>
        </p:nvSpPr>
        <p:spPr>
          <a:xfrm>
            <a:off x="691387" y="1617929"/>
            <a:ext cx="7997825" cy="2327275"/>
          </a:xfrm>
          <a:prstGeom prst="rect">
            <a:avLst/>
          </a:prstGeom>
        </p:spPr>
        <p:txBody>
          <a:bodyPr vert="horz" wrap="square" lIns="0" tIns="13335" rIns="0" bIns="0" rtlCol="0">
            <a:spAutoFit/>
          </a:bodyPr>
          <a:lstStyle/>
          <a:p>
            <a:pPr marL="332740" marR="5080" indent="-320675" algn="just">
              <a:lnSpc>
                <a:spcPct val="100000"/>
              </a:lnSpc>
              <a:spcBef>
                <a:spcPts val="105"/>
              </a:spcBef>
              <a:buClr>
                <a:srgbClr val="DD8046"/>
              </a:buClr>
              <a:buSzPct val="58620"/>
              <a:buFont typeface="DejaVu Sans"/>
              <a:buChar char="◻"/>
              <a:tabLst>
                <a:tab pos="333375" algn="l"/>
              </a:tabLst>
            </a:pPr>
            <a:r>
              <a:rPr sz="2900" spc="85" dirty="0">
                <a:latin typeface="Arial"/>
                <a:cs typeface="Arial"/>
              </a:rPr>
              <a:t>finally </a:t>
            </a:r>
            <a:r>
              <a:rPr sz="2900" spc="130" dirty="0">
                <a:latin typeface="Arial"/>
                <a:cs typeface="Arial"/>
              </a:rPr>
              <a:t>block </a:t>
            </a:r>
            <a:r>
              <a:rPr sz="2900" spc="60" dirty="0">
                <a:latin typeface="Arial"/>
                <a:cs typeface="Arial"/>
              </a:rPr>
              <a:t>in </a:t>
            </a:r>
            <a:r>
              <a:rPr sz="2900" spc="80" dirty="0">
                <a:latin typeface="Arial"/>
                <a:cs typeface="Arial"/>
              </a:rPr>
              <a:t>Java </a:t>
            </a:r>
            <a:r>
              <a:rPr sz="2900" spc="90" dirty="0">
                <a:latin typeface="Arial"/>
                <a:cs typeface="Arial"/>
              </a:rPr>
              <a:t>can </a:t>
            </a:r>
            <a:r>
              <a:rPr sz="2900" spc="130" dirty="0">
                <a:latin typeface="Arial"/>
                <a:cs typeface="Arial"/>
              </a:rPr>
              <a:t>be </a:t>
            </a:r>
            <a:r>
              <a:rPr sz="2900" spc="100" dirty="0">
                <a:latin typeface="Arial"/>
                <a:cs typeface="Arial"/>
              </a:rPr>
              <a:t>used </a:t>
            </a:r>
            <a:r>
              <a:rPr sz="2900" spc="180" dirty="0">
                <a:latin typeface="Arial"/>
                <a:cs typeface="Arial"/>
              </a:rPr>
              <a:t>to </a:t>
            </a:r>
            <a:r>
              <a:rPr sz="2900" spc="150" dirty="0">
                <a:latin typeface="Arial"/>
                <a:cs typeface="Arial"/>
              </a:rPr>
              <a:t>put  </a:t>
            </a:r>
            <a:r>
              <a:rPr sz="2900" spc="-125" dirty="0">
                <a:latin typeface="Arial"/>
                <a:cs typeface="Arial"/>
              </a:rPr>
              <a:t>"</a:t>
            </a:r>
            <a:r>
              <a:rPr sz="2900" b="1" spc="-125" dirty="0">
                <a:latin typeface="Verdana"/>
                <a:cs typeface="Verdana"/>
              </a:rPr>
              <a:t>cleanup</a:t>
            </a:r>
            <a:r>
              <a:rPr sz="2900" spc="-125" dirty="0">
                <a:latin typeface="Arial"/>
                <a:cs typeface="Arial"/>
              </a:rPr>
              <a:t>" </a:t>
            </a:r>
            <a:r>
              <a:rPr sz="2900" spc="130" dirty="0">
                <a:latin typeface="Arial"/>
                <a:cs typeface="Arial"/>
              </a:rPr>
              <a:t>code </a:t>
            </a:r>
            <a:r>
              <a:rPr sz="2900" spc="100" dirty="0">
                <a:latin typeface="Arial"/>
                <a:cs typeface="Arial"/>
              </a:rPr>
              <a:t>such </a:t>
            </a:r>
            <a:r>
              <a:rPr sz="2900" spc="40" dirty="0">
                <a:latin typeface="Arial"/>
                <a:cs typeface="Arial"/>
              </a:rPr>
              <a:t>as </a:t>
            </a:r>
            <a:r>
              <a:rPr sz="2900" spc="90" dirty="0">
                <a:latin typeface="Arial"/>
                <a:cs typeface="Arial"/>
              </a:rPr>
              <a:t>closing </a:t>
            </a:r>
            <a:r>
              <a:rPr sz="2900" spc="20" dirty="0">
                <a:latin typeface="Arial"/>
                <a:cs typeface="Arial"/>
              </a:rPr>
              <a:t>a </a:t>
            </a:r>
            <a:r>
              <a:rPr sz="2900" spc="80" dirty="0">
                <a:latin typeface="Arial"/>
                <a:cs typeface="Arial"/>
              </a:rPr>
              <a:t>file,  </a:t>
            </a:r>
            <a:r>
              <a:rPr sz="2900" spc="95" dirty="0">
                <a:latin typeface="Arial"/>
                <a:cs typeface="Arial"/>
              </a:rPr>
              <a:t>closing </a:t>
            </a:r>
            <a:r>
              <a:rPr sz="2900" spc="105" dirty="0">
                <a:latin typeface="Arial"/>
                <a:cs typeface="Arial"/>
              </a:rPr>
              <a:t>connection,</a:t>
            </a:r>
            <a:r>
              <a:rPr sz="2900" spc="-110" dirty="0">
                <a:latin typeface="Arial"/>
                <a:cs typeface="Arial"/>
              </a:rPr>
              <a:t> </a:t>
            </a:r>
            <a:r>
              <a:rPr sz="2900" spc="120" dirty="0">
                <a:latin typeface="Arial"/>
                <a:cs typeface="Arial"/>
              </a:rPr>
              <a:t>etc.</a:t>
            </a:r>
            <a:endParaRPr sz="2900">
              <a:latin typeface="Arial"/>
              <a:cs typeface="Arial"/>
            </a:endParaRPr>
          </a:p>
          <a:p>
            <a:pPr marL="332740" marR="6350" indent="-320675" algn="just">
              <a:lnSpc>
                <a:spcPct val="100299"/>
              </a:lnSpc>
              <a:spcBef>
                <a:spcPts val="690"/>
              </a:spcBef>
              <a:buClr>
                <a:srgbClr val="DD8046"/>
              </a:buClr>
              <a:buSzPct val="58620"/>
              <a:buFont typeface="DejaVu Sans"/>
              <a:buChar char="◻"/>
              <a:tabLst>
                <a:tab pos="333375" algn="l"/>
              </a:tabLst>
            </a:pPr>
            <a:r>
              <a:rPr sz="2900" spc="85" dirty="0">
                <a:latin typeface="Arial"/>
                <a:cs typeface="Arial"/>
              </a:rPr>
              <a:t>The </a:t>
            </a:r>
            <a:r>
              <a:rPr sz="2900" spc="120" dirty="0">
                <a:latin typeface="Arial"/>
                <a:cs typeface="Arial"/>
              </a:rPr>
              <a:t>important statements </a:t>
            </a:r>
            <a:r>
              <a:rPr sz="2900" spc="185" dirty="0">
                <a:latin typeface="Arial"/>
                <a:cs typeface="Arial"/>
              </a:rPr>
              <a:t>to </a:t>
            </a:r>
            <a:r>
              <a:rPr sz="2900" spc="130" dirty="0">
                <a:latin typeface="Arial"/>
                <a:cs typeface="Arial"/>
              </a:rPr>
              <a:t>be </a:t>
            </a:r>
            <a:r>
              <a:rPr sz="2900" spc="125" dirty="0">
                <a:latin typeface="Arial"/>
                <a:cs typeface="Arial"/>
              </a:rPr>
              <a:t>printed</a:t>
            </a:r>
            <a:r>
              <a:rPr sz="2900" spc="-180" dirty="0">
                <a:latin typeface="Arial"/>
                <a:cs typeface="Arial"/>
              </a:rPr>
              <a:t> </a:t>
            </a:r>
            <a:r>
              <a:rPr sz="2900" spc="85" dirty="0">
                <a:latin typeface="Arial"/>
                <a:cs typeface="Arial"/>
              </a:rPr>
              <a:t>can  </a:t>
            </a:r>
            <a:r>
              <a:rPr sz="2900" spc="130" dirty="0">
                <a:latin typeface="Arial"/>
                <a:cs typeface="Arial"/>
              </a:rPr>
              <a:t>be </a:t>
            </a:r>
            <a:r>
              <a:rPr sz="2900" spc="105" dirty="0">
                <a:latin typeface="Arial"/>
                <a:cs typeface="Arial"/>
              </a:rPr>
              <a:t>placed </a:t>
            </a:r>
            <a:r>
              <a:rPr sz="2900" spc="60" dirty="0">
                <a:latin typeface="Arial"/>
                <a:cs typeface="Arial"/>
              </a:rPr>
              <a:t>in </a:t>
            </a:r>
            <a:r>
              <a:rPr sz="2900" spc="140" dirty="0">
                <a:latin typeface="Arial"/>
                <a:cs typeface="Arial"/>
              </a:rPr>
              <a:t>the </a:t>
            </a:r>
            <a:r>
              <a:rPr sz="2900" spc="90" dirty="0">
                <a:latin typeface="Arial"/>
                <a:cs typeface="Arial"/>
              </a:rPr>
              <a:t>finally</a:t>
            </a:r>
            <a:r>
              <a:rPr sz="2900" spc="-425" dirty="0">
                <a:latin typeface="Arial"/>
                <a:cs typeface="Arial"/>
              </a:rPr>
              <a:t> </a:t>
            </a:r>
            <a:r>
              <a:rPr sz="2900" spc="100" dirty="0">
                <a:latin typeface="Arial"/>
                <a:cs typeface="Arial"/>
              </a:rPr>
              <a:t>block.</a:t>
            </a:r>
            <a:endParaRPr sz="2900">
              <a:latin typeface="Arial"/>
              <a:cs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140" y="0"/>
            <a:ext cx="8353425" cy="635000"/>
          </a:xfrm>
          <a:prstGeom prst="rect">
            <a:avLst/>
          </a:prstGeom>
        </p:spPr>
        <p:txBody>
          <a:bodyPr vert="horz" wrap="square" lIns="0" tIns="12065" rIns="0" bIns="0" rtlCol="0">
            <a:spAutoFit/>
          </a:bodyPr>
          <a:lstStyle/>
          <a:p>
            <a:pPr marL="12700">
              <a:lnSpc>
                <a:spcPct val="100000"/>
              </a:lnSpc>
              <a:spcBef>
                <a:spcPts val="95"/>
              </a:spcBef>
            </a:pPr>
            <a:r>
              <a:rPr sz="4000" b="0" spc="-5" dirty="0">
                <a:solidFill>
                  <a:srgbClr val="600A4A"/>
                </a:solidFill>
                <a:latin typeface="Arial"/>
                <a:cs typeface="Arial"/>
              </a:rPr>
              <a:t>Case 1: When an exception does</a:t>
            </a:r>
            <a:r>
              <a:rPr sz="4000" b="0" spc="20" dirty="0">
                <a:solidFill>
                  <a:srgbClr val="600A4A"/>
                </a:solidFill>
                <a:latin typeface="Arial"/>
                <a:cs typeface="Arial"/>
              </a:rPr>
              <a:t> </a:t>
            </a:r>
            <a:r>
              <a:rPr sz="4000" b="0" spc="-5" dirty="0">
                <a:solidFill>
                  <a:srgbClr val="600A4A"/>
                </a:solidFill>
                <a:latin typeface="Arial"/>
                <a:cs typeface="Arial"/>
              </a:rPr>
              <a:t>not</a:t>
            </a:r>
            <a:endParaRPr sz="4000">
              <a:latin typeface="Arial"/>
              <a:cs typeface="Arial"/>
            </a:endParaRPr>
          </a:p>
        </p:txBody>
      </p:sp>
      <p:sp>
        <p:nvSpPr>
          <p:cNvPr id="3" name="object 3"/>
          <p:cNvSpPr txBox="1"/>
          <p:nvPr/>
        </p:nvSpPr>
        <p:spPr>
          <a:xfrm>
            <a:off x="231140" y="402462"/>
            <a:ext cx="126682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600A4A"/>
                </a:solidFill>
                <a:latin typeface="Arial"/>
                <a:cs typeface="Arial"/>
              </a:rPr>
              <a:t>occur</a:t>
            </a:r>
            <a:endParaRPr sz="4000">
              <a:latin typeface="Arial"/>
              <a:cs typeface="Arial"/>
            </a:endParaRPr>
          </a:p>
        </p:txBody>
      </p:sp>
      <p:sp>
        <p:nvSpPr>
          <p:cNvPr id="4" name="object 4"/>
          <p:cNvSpPr txBox="1"/>
          <p:nvPr/>
        </p:nvSpPr>
        <p:spPr>
          <a:xfrm>
            <a:off x="307340" y="1534947"/>
            <a:ext cx="5160010" cy="5140325"/>
          </a:xfrm>
          <a:prstGeom prst="rect">
            <a:avLst/>
          </a:prstGeom>
        </p:spPr>
        <p:txBody>
          <a:bodyPr vert="horz" wrap="square" lIns="0" tIns="53975" rIns="0" bIns="0" rtlCol="0">
            <a:spAutoFit/>
          </a:bodyPr>
          <a:lstStyle/>
          <a:p>
            <a:pPr marL="12700">
              <a:lnSpc>
                <a:spcPct val="100000"/>
              </a:lnSpc>
              <a:spcBef>
                <a:spcPts val="425"/>
              </a:spcBef>
            </a:pPr>
            <a:r>
              <a:rPr sz="1600" b="1" spc="-80" dirty="0">
                <a:solidFill>
                  <a:srgbClr val="006699"/>
                </a:solidFill>
                <a:latin typeface="Verdana"/>
                <a:cs typeface="Verdana"/>
              </a:rPr>
              <a:t>class </a:t>
            </a:r>
            <a:r>
              <a:rPr sz="1600" spc="35" dirty="0">
                <a:latin typeface="Arial"/>
                <a:cs typeface="Arial"/>
              </a:rPr>
              <a:t>TestFinallyBlock</a:t>
            </a:r>
            <a:r>
              <a:rPr sz="1600" spc="-30" dirty="0">
                <a:latin typeface="Arial"/>
                <a:cs typeface="Arial"/>
              </a:rPr>
              <a:t> </a:t>
            </a:r>
            <a:r>
              <a:rPr sz="1600" spc="40" dirty="0">
                <a:latin typeface="Arial"/>
                <a:cs typeface="Arial"/>
              </a:rPr>
              <a:t>{</a:t>
            </a:r>
            <a:endParaRPr sz="1600">
              <a:latin typeface="Arial"/>
              <a:cs typeface="Arial"/>
            </a:endParaRPr>
          </a:p>
          <a:p>
            <a:pPr marL="127000">
              <a:lnSpc>
                <a:spcPct val="100000"/>
              </a:lnSpc>
              <a:spcBef>
                <a:spcPts val="330"/>
              </a:spcBef>
            </a:pPr>
            <a:r>
              <a:rPr sz="1600" b="1" spc="-100" dirty="0">
                <a:solidFill>
                  <a:srgbClr val="006699"/>
                </a:solidFill>
                <a:latin typeface="Verdana"/>
                <a:cs typeface="Verdana"/>
              </a:rPr>
              <a:t>public </a:t>
            </a:r>
            <a:r>
              <a:rPr sz="1600" b="1" spc="-90" dirty="0">
                <a:solidFill>
                  <a:srgbClr val="006699"/>
                </a:solidFill>
                <a:latin typeface="Verdana"/>
                <a:cs typeface="Verdana"/>
              </a:rPr>
              <a:t>static </a:t>
            </a:r>
            <a:r>
              <a:rPr sz="1600" b="1" spc="-114" dirty="0">
                <a:solidFill>
                  <a:srgbClr val="006699"/>
                </a:solidFill>
                <a:latin typeface="Verdana"/>
                <a:cs typeface="Verdana"/>
              </a:rPr>
              <a:t>void </a:t>
            </a:r>
            <a:r>
              <a:rPr sz="1600" spc="40" dirty="0">
                <a:latin typeface="Arial"/>
                <a:cs typeface="Arial"/>
              </a:rPr>
              <a:t>main(String</a:t>
            </a:r>
            <a:r>
              <a:rPr sz="1600" spc="50" dirty="0">
                <a:latin typeface="Arial"/>
                <a:cs typeface="Arial"/>
              </a:rPr>
              <a:t> </a:t>
            </a:r>
            <a:r>
              <a:rPr sz="1600" spc="60" dirty="0">
                <a:latin typeface="Arial"/>
                <a:cs typeface="Arial"/>
              </a:rPr>
              <a:t>args[]){</a:t>
            </a:r>
            <a:endParaRPr sz="1600">
              <a:latin typeface="Arial"/>
              <a:cs typeface="Arial"/>
            </a:endParaRPr>
          </a:p>
          <a:p>
            <a:pPr marL="127000">
              <a:lnSpc>
                <a:spcPct val="100000"/>
              </a:lnSpc>
              <a:spcBef>
                <a:spcPts val="310"/>
              </a:spcBef>
            </a:pPr>
            <a:r>
              <a:rPr sz="1600" b="1" spc="-80" dirty="0">
                <a:solidFill>
                  <a:srgbClr val="006699"/>
                </a:solidFill>
                <a:latin typeface="Verdana"/>
                <a:cs typeface="Verdana"/>
              </a:rPr>
              <a:t>try</a:t>
            </a:r>
            <a:r>
              <a:rPr sz="1600" spc="-80" dirty="0">
                <a:latin typeface="Arial"/>
                <a:cs typeface="Arial"/>
              </a:rPr>
              <a:t>{</a:t>
            </a:r>
            <a:endParaRPr sz="1600">
              <a:latin typeface="Arial"/>
              <a:cs typeface="Arial"/>
            </a:endParaRPr>
          </a:p>
          <a:p>
            <a:pPr marL="584200">
              <a:lnSpc>
                <a:spcPct val="100000"/>
              </a:lnSpc>
              <a:spcBef>
                <a:spcPts val="310"/>
              </a:spcBef>
            </a:pPr>
            <a:r>
              <a:rPr sz="1600" spc="85" dirty="0">
                <a:solidFill>
                  <a:srgbClr val="008200"/>
                </a:solidFill>
                <a:latin typeface="Arial"/>
                <a:cs typeface="Arial"/>
              </a:rPr>
              <a:t>//below </a:t>
            </a:r>
            <a:r>
              <a:rPr sz="1600" spc="65" dirty="0">
                <a:solidFill>
                  <a:srgbClr val="008200"/>
                </a:solidFill>
                <a:latin typeface="Arial"/>
                <a:cs typeface="Arial"/>
              </a:rPr>
              <a:t>code </a:t>
            </a:r>
            <a:r>
              <a:rPr sz="1600" spc="80" dirty="0">
                <a:solidFill>
                  <a:srgbClr val="008200"/>
                </a:solidFill>
                <a:latin typeface="Arial"/>
                <a:cs typeface="Arial"/>
              </a:rPr>
              <a:t>do </a:t>
            </a:r>
            <a:r>
              <a:rPr sz="1600" spc="75" dirty="0">
                <a:solidFill>
                  <a:srgbClr val="008200"/>
                </a:solidFill>
                <a:latin typeface="Arial"/>
                <a:cs typeface="Arial"/>
              </a:rPr>
              <a:t>not </a:t>
            </a:r>
            <a:r>
              <a:rPr sz="1600" spc="85" dirty="0">
                <a:solidFill>
                  <a:srgbClr val="008200"/>
                </a:solidFill>
                <a:latin typeface="Arial"/>
                <a:cs typeface="Arial"/>
              </a:rPr>
              <a:t>throw</a:t>
            </a:r>
            <a:r>
              <a:rPr sz="1600" spc="-295" dirty="0">
                <a:solidFill>
                  <a:srgbClr val="008200"/>
                </a:solidFill>
                <a:latin typeface="Arial"/>
                <a:cs typeface="Arial"/>
              </a:rPr>
              <a:t> </a:t>
            </a:r>
            <a:r>
              <a:rPr sz="1600" spc="45" dirty="0">
                <a:solidFill>
                  <a:srgbClr val="008200"/>
                </a:solidFill>
                <a:latin typeface="Arial"/>
                <a:cs typeface="Arial"/>
              </a:rPr>
              <a:t>any </a:t>
            </a:r>
            <a:r>
              <a:rPr sz="1600" spc="60" dirty="0">
                <a:solidFill>
                  <a:srgbClr val="008200"/>
                </a:solidFill>
                <a:latin typeface="Arial"/>
                <a:cs typeface="Arial"/>
              </a:rPr>
              <a:t>exception</a:t>
            </a:r>
            <a:endParaRPr sz="1600">
              <a:latin typeface="Arial"/>
              <a:cs typeface="Arial"/>
            </a:endParaRPr>
          </a:p>
          <a:p>
            <a:pPr marL="584200" marR="2187575">
              <a:lnSpc>
                <a:spcPct val="116300"/>
              </a:lnSpc>
              <a:spcBef>
                <a:spcPts val="15"/>
              </a:spcBef>
            </a:pPr>
            <a:r>
              <a:rPr sz="1600" b="1" spc="-125" dirty="0">
                <a:solidFill>
                  <a:srgbClr val="006699"/>
                </a:solidFill>
                <a:latin typeface="Verdana"/>
                <a:cs typeface="Verdana"/>
              </a:rPr>
              <a:t>int </a:t>
            </a:r>
            <a:r>
              <a:rPr sz="1600" spc="70" dirty="0">
                <a:latin typeface="Arial"/>
                <a:cs typeface="Arial"/>
              </a:rPr>
              <a:t>data=</a:t>
            </a:r>
            <a:r>
              <a:rPr sz="1600" spc="70" dirty="0">
                <a:solidFill>
                  <a:srgbClr val="C00000"/>
                </a:solidFill>
                <a:latin typeface="Arial"/>
                <a:cs typeface="Arial"/>
              </a:rPr>
              <a:t>25</a:t>
            </a:r>
            <a:r>
              <a:rPr sz="1600" spc="70" dirty="0">
                <a:latin typeface="Arial"/>
                <a:cs typeface="Arial"/>
              </a:rPr>
              <a:t>/</a:t>
            </a:r>
            <a:r>
              <a:rPr sz="1600" spc="70" dirty="0">
                <a:solidFill>
                  <a:srgbClr val="C00000"/>
                </a:solidFill>
                <a:latin typeface="Arial"/>
                <a:cs typeface="Arial"/>
              </a:rPr>
              <a:t>5</a:t>
            </a:r>
            <a:r>
              <a:rPr sz="1600" spc="70" dirty="0">
                <a:latin typeface="Arial"/>
                <a:cs typeface="Arial"/>
              </a:rPr>
              <a:t>;  </a:t>
            </a:r>
            <a:r>
              <a:rPr sz="1600" spc="45" dirty="0">
                <a:latin typeface="Arial"/>
                <a:cs typeface="Arial"/>
              </a:rPr>
              <a:t>System.out.println(data);</a:t>
            </a:r>
            <a:endParaRPr sz="1600">
              <a:latin typeface="Arial"/>
              <a:cs typeface="Arial"/>
            </a:endParaRPr>
          </a:p>
          <a:p>
            <a:pPr marL="469900">
              <a:lnSpc>
                <a:spcPct val="100000"/>
              </a:lnSpc>
              <a:spcBef>
                <a:spcPts val="310"/>
              </a:spcBef>
            </a:pPr>
            <a:r>
              <a:rPr sz="1600" spc="40" dirty="0">
                <a:latin typeface="Arial"/>
                <a:cs typeface="Arial"/>
              </a:rPr>
              <a:t>}</a:t>
            </a:r>
            <a:endParaRPr sz="1600">
              <a:latin typeface="Arial"/>
              <a:cs typeface="Arial"/>
            </a:endParaRPr>
          </a:p>
          <a:p>
            <a:pPr marL="469900">
              <a:lnSpc>
                <a:spcPct val="100000"/>
              </a:lnSpc>
              <a:spcBef>
                <a:spcPts val="325"/>
              </a:spcBef>
            </a:pPr>
            <a:r>
              <a:rPr sz="1600" spc="80" dirty="0">
                <a:solidFill>
                  <a:srgbClr val="008200"/>
                </a:solidFill>
                <a:latin typeface="Arial"/>
                <a:cs typeface="Arial"/>
              </a:rPr>
              <a:t>//catch won't </a:t>
            </a:r>
            <a:r>
              <a:rPr sz="1600" spc="70" dirty="0">
                <a:solidFill>
                  <a:srgbClr val="008200"/>
                </a:solidFill>
                <a:latin typeface="Arial"/>
                <a:cs typeface="Arial"/>
              </a:rPr>
              <a:t>be</a:t>
            </a:r>
            <a:r>
              <a:rPr sz="1600" spc="-120" dirty="0">
                <a:solidFill>
                  <a:srgbClr val="008200"/>
                </a:solidFill>
                <a:latin typeface="Arial"/>
                <a:cs typeface="Arial"/>
              </a:rPr>
              <a:t> </a:t>
            </a:r>
            <a:r>
              <a:rPr sz="1600" spc="60" dirty="0">
                <a:solidFill>
                  <a:srgbClr val="008200"/>
                </a:solidFill>
                <a:latin typeface="Arial"/>
                <a:cs typeface="Arial"/>
              </a:rPr>
              <a:t>executed</a:t>
            </a:r>
            <a:endParaRPr sz="1600">
              <a:latin typeface="Arial"/>
              <a:cs typeface="Arial"/>
            </a:endParaRPr>
          </a:p>
          <a:p>
            <a:pPr marL="1212215" marR="1724025" indent="-742950">
              <a:lnSpc>
                <a:spcPct val="116199"/>
              </a:lnSpc>
            </a:pPr>
            <a:r>
              <a:rPr sz="1600" b="1" spc="15" dirty="0">
                <a:solidFill>
                  <a:srgbClr val="006699"/>
                </a:solidFill>
                <a:latin typeface="Verdana"/>
                <a:cs typeface="Verdana"/>
              </a:rPr>
              <a:t>catch</a:t>
            </a:r>
            <a:r>
              <a:rPr sz="1600" spc="15" dirty="0">
                <a:latin typeface="Arial"/>
                <a:cs typeface="Arial"/>
              </a:rPr>
              <a:t>(NullPointerException </a:t>
            </a:r>
            <a:r>
              <a:rPr sz="1600" spc="35" dirty="0">
                <a:latin typeface="Arial"/>
                <a:cs typeface="Arial"/>
              </a:rPr>
              <a:t>e){  </a:t>
            </a:r>
            <a:r>
              <a:rPr sz="1600" spc="45" dirty="0">
                <a:latin typeface="Arial"/>
                <a:cs typeface="Arial"/>
              </a:rPr>
              <a:t>System.out.println(e);</a:t>
            </a:r>
            <a:endParaRPr sz="1600">
              <a:latin typeface="Arial"/>
              <a:cs typeface="Arial"/>
            </a:endParaRPr>
          </a:p>
          <a:p>
            <a:pPr marL="525780">
              <a:lnSpc>
                <a:spcPct val="100000"/>
              </a:lnSpc>
              <a:spcBef>
                <a:spcPts val="325"/>
              </a:spcBef>
            </a:pPr>
            <a:r>
              <a:rPr sz="1600" spc="40" dirty="0">
                <a:latin typeface="Arial"/>
                <a:cs typeface="Arial"/>
              </a:rPr>
              <a:t>}</a:t>
            </a:r>
            <a:endParaRPr sz="1600">
              <a:latin typeface="Arial"/>
              <a:cs typeface="Arial"/>
            </a:endParaRPr>
          </a:p>
          <a:p>
            <a:pPr marL="12700">
              <a:lnSpc>
                <a:spcPct val="100000"/>
              </a:lnSpc>
              <a:spcBef>
                <a:spcPts val="315"/>
              </a:spcBef>
            </a:pPr>
            <a:r>
              <a:rPr sz="1600" spc="75" dirty="0">
                <a:solidFill>
                  <a:srgbClr val="008200"/>
                </a:solidFill>
                <a:latin typeface="Arial"/>
                <a:cs typeface="Arial"/>
              </a:rPr>
              <a:t>//executed </a:t>
            </a:r>
            <a:r>
              <a:rPr sz="1600" spc="45" dirty="0">
                <a:solidFill>
                  <a:srgbClr val="008200"/>
                </a:solidFill>
                <a:latin typeface="Arial"/>
                <a:cs typeface="Arial"/>
              </a:rPr>
              <a:t>regardless </a:t>
            </a:r>
            <a:r>
              <a:rPr sz="1600" spc="90" dirty="0">
                <a:solidFill>
                  <a:srgbClr val="008200"/>
                </a:solidFill>
                <a:latin typeface="Arial"/>
                <a:cs typeface="Arial"/>
              </a:rPr>
              <a:t>of </a:t>
            </a:r>
            <a:r>
              <a:rPr sz="1600" spc="60" dirty="0">
                <a:solidFill>
                  <a:srgbClr val="008200"/>
                </a:solidFill>
                <a:latin typeface="Arial"/>
                <a:cs typeface="Arial"/>
              </a:rPr>
              <a:t>exception occurred </a:t>
            </a:r>
            <a:r>
              <a:rPr sz="1600" spc="55" dirty="0">
                <a:solidFill>
                  <a:srgbClr val="008200"/>
                </a:solidFill>
                <a:latin typeface="Arial"/>
                <a:cs typeface="Arial"/>
              </a:rPr>
              <a:t>or</a:t>
            </a:r>
            <a:r>
              <a:rPr sz="1600" spc="-180" dirty="0">
                <a:solidFill>
                  <a:srgbClr val="008200"/>
                </a:solidFill>
                <a:latin typeface="Arial"/>
                <a:cs typeface="Arial"/>
              </a:rPr>
              <a:t> </a:t>
            </a:r>
            <a:r>
              <a:rPr sz="1600" spc="75" dirty="0">
                <a:solidFill>
                  <a:srgbClr val="008200"/>
                </a:solidFill>
                <a:latin typeface="Arial"/>
                <a:cs typeface="Arial"/>
              </a:rPr>
              <a:t>not</a:t>
            </a:r>
            <a:endParaRPr sz="1600">
              <a:latin typeface="Arial"/>
              <a:cs typeface="Arial"/>
            </a:endParaRPr>
          </a:p>
          <a:p>
            <a:pPr marL="68580">
              <a:lnSpc>
                <a:spcPct val="100000"/>
              </a:lnSpc>
              <a:spcBef>
                <a:spcPts val="315"/>
              </a:spcBef>
            </a:pPr>
            <a:r>
              <a:rPr sz="1600" b="1" spc="-114" dirty="0">
                <a:solidFill>
                  <a:srgbClr val="006699"/>
                </a:solidFill>
                <a:latin typeface="Verdana"/>
                <a:cs typeface="Verdana"/>
              </a:rPr>
              <a:t>finally</a:t>
            </a:r>
            <a:r>
              <a:rPr sz="1600" b="1" spc="-75" dirty="0">
                <a:solidFill>
                  <a:srgbClr val="006699"/>
                </a:solidFill>
                <a:latin typeface="Verdana"/>
                <a:cs typeface="Verdana"/>
              </a:rPr>
              <a:t> </a:t>
            </a:r>
            <a:r>
              <a:rPr sz="1600" spc="40" dirty="0">
                <a:latin typeface="Arial"/>
                <a:cs typeface="Arial"/>
              </a:rPr>
              <a:t>{</a:t>
            </a:r>
            <a:endParaRPr sz="1600">
              <a:latin typeface="Arial"/>
              <a:cs typeface="Arial"/>
            </a:endParaRPr>
          </a:p>
          <a:p>
            <a:pPr marL="12700">
              <a:lnSpc>
                <a:spcPct val="100000"/>
              </a:lnSpc>
              <a:spcBef>
                <a:spcPts val="320"/>
              </a:spcBef>
            </a:pPr>
            <a:r>
              <a:rPr sz="1600" spc="50" dirty="0">
                <a:latin typeface="Arial"/>
                <a:cs typeface="Arial"/>
              </a:rPr>
              <a:t>System.out.println(</a:t>
            </a:r>
            <a:r>
              <a:rPr sz="1600" spc="50" dirty="0">
                <a:solidFill>
                  <a:srgbClr val="0000FF"/>
                </a:solidFill>
                <a:latin typeface="Arial"/>
                <a:cs typeface="Arial"/>
              </a:rPr>
              <a:t>"finally </a:t>
            </a:r>
            <a:r>
              <a:rPr sz="1600" spc="70" dirty="0">
                <a:solidFill>
                  <a:srgbClr val="0000FF"/>
                </a:solidFill>
                <a:latin typeface="Arial"/>
                <a:cs typeface="Arial"/>
              </a:rPr>
              <a:t>block </a:t>
            </a:r>
            <a:r>
              <a:rPr sz="1600" spc="30" dirty="0">
                <a:solidFill>
                  <a:srgbClr val="0000FF"/>
                </a:solidFill>
                <a:latin typeface="Arial"/>
                <a:cs typeface="Arial"/>
              </a:rPr>
              <a:t>is </a:t>
            </a:r>
            <a:r>
              <a:rPr sz="1600" spc="50" dirty="0">
                <a:solidFill>
                  <a:srgbClr val="0000FF"/>
                </a:solidFill>
                <a:latin typeface="Arial"/>
                <a:cs typeface="Arial"/>
              </a:rPr>
              <a:t>always</a:t>
            </a:r>
            <a:r>
              <a:rPr sz="1600" spc="-200" dirty="0">
                <a:solidFill>
                  <a:srgbClr val="0000FF"/>
                </a:solidFill>
                <a:latin typeface="Arial"/>
                <a:cs typeface="Arial"/>
              </a:rPr>
              <a:t> </a:t>
            </a:r>
            <a:r>
              <a:rPr sz="1600" spc="55" dirty="0">
                <a:solidFill>
                  <a:srgbClr val="0000FF"/>
                </a:solidFill>
                <a:latin typeface="Arial"/>
                <a:cs typeface="Arial"/>
              </a:rPr>
              <a:t>executed"</a:t>
            </a:r>
            <a:r>
              <a:rPr sz="1600" spc="55" dirty="0">
                <a:latin typeface="Arial"/>
                <a:cs typeface="Arial"/>
              </a:rPr>
              <a:t>);</a:t>
            </a:r>
            <a:endParaRPr sz="1600">
              <a:latin typeface="Arial"/>
              <a:cs typeface="Arial"/>
            </a:endParaRPr>
          </a:p>
          <a:p>
            <a:pPr marL="12700">
              <a:lnSpc>
                <a:spcPct val="100000"/>
              </a:lnSpc>
              <a:spcBef>
                <a:spcPts val="315"/>
              </a:spcBef>
            </a:pPr>
            <a:r>
              <a:rPr sz="1600" spc="40" dirty="0">
                <a:latin typeface="Arial"/>
                <a:cs typeface="Arial"/>
              </a:rPr>
              <a:t>}</a:t>
            </a:r>
            <a:endParaRPr sz="1600">
              <a:latin typeface="Arial"/>
              <a:cs typeface="Arial"/>
            </a:endParaRPr>
          </a:p>
          <a:p>
            <a:pPr marL="182880">
              <a:lnSpc>
                <a:spcPct val="100000"/>
              </a:lnSpc>
              <a:spcBef>
                <a:spcPts val="310"/>
              </a:spcBef>
            </a:pPr>
            <a:r>
              <a:rPr sz="1600" spc="50" dirty="0">
                <a:latin typeface="Arial"/>
                <a:cs typeface="Arial"/>
              </a:rPr>
              <a:t>System.out.println(</a:t>
            </a:r>
            <a:r>
              <a:rPr sz="1600" spc="50" dirty="0">
                <a:solidFill>
                  <a:srgbClr val="0000FF"/>
                </a:solidFill>
                <a:latin typeface="Arial"/>
                <a:cs typeface="Arial"/>
              </a:rPr>
              <a:t>"rest </a:t>
            </a:r>
            <a:r>
              <a:rPr sz="1600" spc="95" dirty="0">
                <a:solidFill>
                  <a:srgbClr val="0000FF"/>
                </a:solidFill>
                <a:latin typeface="Arial"/>
                <a:cs typeface="Arial"/>
              </a:rPr>
              <a:t>of </a:t>
            </a:r>
            <a:r>
              <a:rPr sz="1600" spc="70" dirty="0">
                <a:solidFill>
                  <a:srgbClr val="0000FF"/>
                </a:solidFill>
                <a:latin typeface="Arial"/>
                <a:cs typeface="Arial"/>
              </a:rPr>
              <a:t>the</a:t>
            </a:r>
            <a:r>
              <a:rPr sz="1600" spc="-50" dirty="0">
                <a:solidFill>
                  <a:srgbClr val="0000FF"/>
                </a:solidFill>
                <a:latin typeface="Arial"/>
                <a:cs typeface="Arial"/>
              </a:rPr>
              <a:t> </a:t>
            </a:r>
            <a:r>
              <a:rPr sz="1600" spc="35" dirty="0">
                <a:solidFill>
                  <a:srgbClr val="0000FF"/>
                </a:solidFill>
                <a:latin typeface="Arial"/>
                <a:cs typeface="Arial"/>
              </a:rPr>
              <a:t>code..."</a:t>
            </a:r>
            <a:r>
              <a:rPr sz="1600" spc="35" dirty="0">
                <a:latin typeface="Arial"/>
                <a:cs typeface="Arial"/>
              </a:rPr>
              <a:t>);</a:t>
            </a:r>
            <a:endParaRPr sz="1600">
              <a:latin typeface="Arial"/>
              <a:cs typeface="Arial"/>
            </a:endParaRPr>
          </a:p>
          <a:p>
            <a:pPr marL="127000">
              <a:lnSpc>
                <a:spcPct val="100000"/>
              </a:lnSpc>
              <a:spcBef>
                <a:spcPts val="325"/>
              </a:spcBef>
            </a:pPr>
            <a:r>
              <a:rPr sz="1600" spc="40" dirty="0">
                <a:latin typeface="Arial"/>
                <a:cs typeface="Arial"/>
              </a:rPr>
              <a:t>}</a:t>
            </a:r>
            <a:endParaRPr sz="1600">
              <a:latin typeface="Arial"/>
              <a:cs typeface="Arial"/>
            </a:endParaRPr>
          </a:p>
          <a:p>
            <a:pPr marL="12700">
              <a:lnSpc>
                <a:spcPct val="100000"/>
              </a:lnSpc>
              <a:spcBef>
                <a:spcPts val="315"/>
              </a:spcBef>
            </a:pPr>
            <a:r>
              <a:rPr sz="1600" spc="40" dirty="0">
                <a:latin typeface="Arial"/>
                <a:cs typeface="Arial"/>
              </a:rPr>
              <a:t>}</a:t>
            </a:r>
            <a:endParaRPr sz="1600">
              <a:latin typeface="Arial"/>
              <a:cs typeface="Arial"/>
            </a:endParaRPr>
          </a:p>
        </p:txBody>
      </p:sp>
      <p:sp>
        <p:nvSpPr>
          <p:cNvPr id="5" name="object 5"/>
          <p:cNvSpPr/>
          <p:nvPr/>
        </p:nvSpPr>
        <p:spPr>
          <a:xfrm>
            <a:off x="5097974" y="5896355"/>
            <a:ext cx="3649785" cy="7239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939" y="0"/>
            <a:ext cx="8835390" cy="330835"/>
          </a:xfrm>
          <a:prstGeom prst="rect">
            <a:avLst/>
          </a:prstGeom>
        </p:spPr>
        <p:txBody>
          <a:bodyPr vert="horz" wrap="square" lIns="0" tIns="12700" rIns="0" bIns="0" rtlCol="0">
            <a:spAutoFit/>
          </a:bodyPr>
          <a:lstStyle/>
          <a:p>
            <a:pPr marL="12700">
              <a:lnSpc>
                <a:spcPct val="100000"/>
              </a:lnSpc>
              <a:spcBef>
                <a:spcPts val="100"/>
              </a:spcBef>
              <a:tabLst>
                <a:tab pos="1390015" algn="l"/>
              </a:tabLst>
            </a:pPr>
            <a:r>
              <a:rPr sz="2000" b="0" dirty="0">
                <a:solidFill>
                  <a:srgbClr val="600A4A"/>
                </a:solidFill>
                <a:latin typeface="Arial"/>
                <a:cs typeface="Arial"/>
              </a:rPr>
              <a:t>Case</a:t>
            </a:r>
            <a:r>
              <a:rPr sz="2000" b="0" spc="345" dirty="0">
                <a:solidFill>
                  <a:srgbClr val="600A4A"/>
                </a:solidFill>
                <a:latin typeface="Arial"/>
                <a:cs typeface="Arial"/>
              </a:rPr>
              <a:t> </a:t>
            </a:r>
            <a:r>
              <a:rPr sz="2000" b="0" dirty="0">
                <a:solidFill>
                  <a:srgbClr val="600A4A"/>
                </a:solidFill>
                <a:latin typeface="Arial"/>
                <a:cs typeface="Arial"/>
              </a:rPr>
              <a:t>2:	When an </a:t>
            </a:r>
            <a:r>
              <a:rPr sz="2000" b="0" spc="-5" dirty="0">
                <a:solidFill>
                  <a:srgbClr val="600A4A"/>
                </a:solidFill>
                <a:latin typeface="Arial"/>
                <a:cs typeface="Arial"/>
              </a:rPr>
              <a:t>exception occur </a:t>
            </a:r>
            <a:r>
              <a:rPr sz="2000" b="0" dirty="0">
                <a:solidFill>
                  <a:srgbClr val="600A4A"/>
                </a:solidFill>
                <a:latin typeface="Arial"/>
                <a:cs typeface="Arial"/>
              </a:rPr>
              <a:t>but not </a:t>
            </a:r>
            <a:r>
              <a:rPr sz="2000" b="0" spc="-5" dirty="0">
                <a:solidFill>
                  <a:srgbClr val="600A4A"/>
                </a:solidFill>
                <a:latin typeface="Arial"/>
                <a:cs typeface="Arial"/>
              </a:rPr>
              <a:t>handled </a:t>
            </a:r>
            <a:r>
              <a:rPr sz="2000" b="0" dirty="0">
                <a:solidFill>
                  <a:srgbClr val="600A4A"/>
                </a:solidFill>
                <a:latin typeface="Arial"/>
                <a:cs typeface="Arial"/>
              </a:rPr>
              <a:t>by the </a:t>
            </a:r>
            <a:r>
              <a:rPr sz="2000" b="0" spc="-5" dirty="0">
                <a:solidFill>
                  <a:srgbClr val="600A4A"/>
                </a:solidFill>
                <a:latin typeface="Arial"/>
                <a:cs typeface="Arial"/>
              </a:rPr>
              <a:t>catch block</a:t>
            </a:r>
            <a:r>
              <a:rPr sz="2000" b="0" spc="525" dirty="0">
                <a:solidFill>
                  <a:srgbClr val="600A4A"/>
                </a:solidFill>
                <a:latin typeface="Arial"/>
                <a:cs typeface="Arial"/>
              </a:rPr>
              <a:t> </a:t>
            </a:r>
            <a:r>
              <a:rPr sz="2000" b="0" dirty="0">
                <a:solidFill>
                  <a:srgbClr val="600A4A"/>
                </a:solidFill>
                <a:latin typeface="Arial"/>
                <a:cs typeface="Arial"/>
              </a:rPr>
              <a:t>-</a:t>
            </a:r>
            <a:endParaRPr sz="2000">
              <a:latin typeface="Arial"/>
              <a:cs typeface="Arial"/>
            </a:endParaRPr>
          </a:p>
        </p:txBody>
      </p:sp>
      <p:sp>
        <p:nvSpPr>
          <p:cNvPr id="3" name="object 3"/>
          <p:cNvSpPr txBox="1"/>
          <p:nvPr/>
        </p:nvSpPr>
        <p:spPr>
          <a:xfrm>
            <a:off x="205524" y="339029"/>
            <a:ext cx="8836025" cy="5436235"/>
          </a:xfrm>
          <a:prstGeom prst="rect">
            <a:avLst/>
          </a:prstGeom>
        </p:spPr>
        <p:txBody>
          <a:bodyPr vert="horz" wrap="square" lIns="0" tIns="13335" rIns="0" bIns="0" rtlCol="0">
            <a:spAutoFit/>
          </a:bodyPr>
          <a:lstStyle/>
          <a:p>
            <a:pPr marL="12700" marR="5080" algn="just">
              <a:lnSpc>
                <a:spcPct val="100000"/>
              </a:lnSpc>
              <a:spcBef>
                <a:spcPts val="105"/>
              </a:spcBef>
            </a:pPr>
            <a:r>
              <a:rPr sz="2000" spc="40" dirty="0">
                <a:solidFill>
                  <a:srgbClr val="333333"/>
                </a:solidFill>
                <a:latin typeface="Arial"/>
                <a:cs typeface="Arial"/>
              </a:rPr>
              <a:t>Here, </a:t>
            </a:r>
            <a:r>
              <a:rPr sz="2000" spc="100" dirty="0">
                <a:solidFill>
                  <a:srgbClr val="333333"/>
                </a:solidFill>
                <a:latin typeface="Arial"/>
                <a:cs typeface="Arial"/>
              </a:rPr>
              <a:t>the </a:t>
            </a:r>
            <a:r>
              <a:rPr sz="2000" spc="90" dirty="0">
                <a:solidFill>
                  <a:srgbClr val="333333"/>
                </a:solidFill>
                <a:latin typeface="Arial"/>
                <a:cs typeface="Arial"/>
              </a:rPr>
              <a:t>code </a:t>
            </a:r>
            <a:r>
              <a:rPr sz="2000" spc="105" dirty="0">
                <a:solidFill>
                  <a:srgbClr val="333333"/>
                </a:solidFill>
                <a:latin typeface="Arial"/>
                <a:cs typeface="Arial"/>
              </a:rPr>
              <a:t>throws </a:t>
            </a:r>
            <a:r>
              <a:rPr sz="2000" spc="35" dirty="0">
                <a:solidFill>
                  <a:srgbClr val="333333"/>
                </a:solidFill>
                <a:latin typeface="Arial"/>
                <a:cs typeface="Arial"/>
              </a:rPr>
              <a:t>an </a:t>
            </a:r>
            <a:r>
              <a:rPr sz="2000" spc="75" dirty="0">
                <a:solidFill>
                  <a:srgbClr val="333333"/>
                </a:solidFill>
                <a:latin typeface="Arial"/>
                <a:cs typeface="Arial"/>
              </a:rPr>
              <a:t>exception </a:t>
            </a:r>
            <a:r>
              <a:rPr sz="2000" spc="90" dirty="0">
                <a:solidFill>
                  <a:srgbClr val="333333"/>
                </a:solidFill>
                <a:latin typeface="Arial"/>
                <a:cs typeface="Arial"/>
              </a:rPr>
              <a:t>however </a:t>
            </a:r>
            <a:r>
              <a:rPr sz="2000" spc="95" dirty="0">
                <a:solidFill>
                  <a:srgbClr val="333333"/>
                </a:solidFill>
                <a:latin typeface="Arial"/>
                <a:cs typeface="Arial"/>
              </a:rPr>
              <a:t>the catch </a:t>
            </a:r>
            <a:r>
              <a:rPr sz="2000" spc="85" dirty="0">
                <a:solidFill>
                  <a:srgbClr val="333333"/>
                </a:solidFill>
                <a:latin typeface="Arial"/>
                <a:cs typeface="Arial"/>
              </a:rPr>
              <a:t>block </a:t>
            </a:r>
            <a:r>
              <a:rPr sz="2000" spc="80" dirty="0">
                <a:solidFill>
                  <a:srgbClr val="333333"/>
                </a:solidFill>
                <a:latin typeface="Arial"/>
                <a:cs typeface="Arial"/>
              </a:rPr>
              <a:t>cannot  </a:t>
            </a:r>
            <a:r>
              <a:rPr sz="2000" spc="60" dirty="0">
                <a:solidFill>
                  <a:srgbClr val="333333"/>
                </a:solidFill>
                <a:latin typeface="Arial"/>
                <a:cs typeface="Arial"/>
              </a:rPr>
              <a:t>handle it. Despite </a:t>
            </a:r>
            <a:r>
              <a:rPr sz="2000" spc="65" dirty="0">
                <a:solidFill>
                  <a:srgbClr val="333333"/>
                </a:solidFill>
                <a:latin typeface="Arial"/>
                <a:cs typeface="Arial"/>
              </a:rPr>
              <a:t>this, </a:t>
            </a:r>
            <a:r>
              <a:rPr sz="2000" spc="95" dirty="0">
                <a:solidFill>
                  <a:srgbClr val="333333"/>
                </a:solidFill>
                <a:latin typeface="Arial"/>
                <a:cs typeface="Arial"/>
              </a:rPr>
              <a:t>the </a:t>
            </a:r>
            <a:r>
              <a:rPr sz="2000" spc="65" dirty="0">
                <a:solidFill>
                  <a:srgbClr val="333333"/>
                </a:solidFill>
                <a:latin typeface="Arial"/>
                <a:cs typeface="Arial"/>
              </a:rPr>
              <a:t>finally </a:t>
            </a:r>
            <a:r>
              <a:rPr sz="2000" spc="85" dirty="0">
                <a:solidFill>
                  <a:srgbClr val="333333"/>
                </a:solidFill>
                <a:latin typeface="Arial"/>
                <a:cs typeface="Arial"/>
              </a:rPr>
              <a:t>block </a:t>
            </a:r>
            <a:r>
              <a:rPr sz="2000" spc="35" dirty="0">
                <a:solidFill>
                  <a:srgbClr val="333333"/>
                </a:solidFill>
                <a:latin typeface="Arial"/>
                <a:cs typeface="Arial"/>
              </a:rPr>
              <a:t>is </a:t>
            </a:r>
            <a:r>
              <a:rPr sz="2000" spc="80" dirty="0">
                <a:solidFill>
                  <a:srgbClr val="333333"/>
                </a:solidFill>
                <a:latin typeface="Arial"/>
                <a:cs typeface="Arial"/>
              </a:rPr>
              <a:t>executed </a:t>
            </a:r>
            <a:r>
              <a:rPr sz="2000" spc="95" dirty="0">
                <a:solidFill>
                  <a:srgbClr val="333333"/>
                </a:solidFill>
                <a:latin typeface="Arial"/>
                <a:cs typeface="Arial"/>
              </a:rPr>
              <a:t>after the </a:t>
            </a:r>
            <a:r>
              <a:rPr sz="2000" spc="120" dirty="0">
                <a:solidFill>
                  <a:srgbClr val="333333"/>
                </a:solidFill>
                <a:latin typeface="Arial"/>
                <a:cs typeface="Arial"/>
              </a:rPr>
              <a:t>try </a:t>
            </a:r>
            <a:r>
              <a:rPr sz="2000" spc="85" dirty="0">
                <a:solidFill>
                  <a:srgbClr val="333333"/>
                </a:solidFill>
                <a:latin typeface="Arial"/>
                <a:cs typeface="Arial"/>
              </a:rPr>
              <a:t>block  </a:t>
            </a:r>
            <a:r>
              <a:rPr sz="2000" spc="70" dirty="0">
                <a:solidFill>
                  <a:srgbClr val="333333"/>
                </a:solidFill>
                <a:latin typeface="Arial"/>
                <a:cs typeface="Arial"/>
              </a:rPr>
              <a:t>and </a:t>
            </a:r>
            <a:r>
              <a:rPr sz="2000" spc="85" dirty="0">
                <a:solidFill>
                  <a:srgbClr val="333333"/>
                </a:solidFill>
                <a:latin typeface="Arial"/>
                <a:cs typeface="Arial"/>
              </a:rPr>
              <a:t>then </a:t>
            </a:r>
            <a:r>
              <a:rPr sz="2000" spc="95" dirty="0">
                <a:solidFill>
                  <a:srgbClr val="333333"/>
                </a:solidFill>
                <a:latin typeface="Arial"/>
                <a:cs typeface="Arial"/>
              </a:rPr>
              <a:t>the </a:t>
            </a:r>
            <a:r>
              <a:rPr sz="2000" spc="75" dirty="0">
                <a:solidFill>
                  <a:srgbClr val="333333"/>
                </a:solidFill>
                <a:latin typeface="Arial"/>
                <a:cs typeface="Arial"/>
              </a:rPr>
              <a:t>program terminates</a:t>
            </a:r>
            <a:r>
              <a:rPr sz="2000" spc="-370" dirty="0">
                <a:solidFill>
                  <a:srgbClr val="333333"/>
                </a:solidFill>
                <a:latin typeface="Arial"/>
                <a:cs typeface="Arial"/>
              </a:rPr>
              <a:t> </a:t>
            </a:r>
            <a:r>
              <a:rPr sz="2000" spc="55" dirty="0">
                <a:solidFill>
                  <a:srgbClr val="333333"/>
                </a:solidFill>
                <a:latin typeface="Arial"/>
                <a:cs typeface="Arial"/>
              </a:rPr>
              <a:t>abnormally.</a:t>
            </a:r>
            <a:endParaRPr sz="2000">
              <a:latin typeface="Arial"/>
              <a:cs typeface="Arial"/>
            </a:endParaRPr>
          </a:p>
          <a:p>
            <a:pPr>
              <a:lnSpc>
                <a:spcPct val="100000"/>
              </a:lnSpc>
            </a:pPr>
            <a:endParaRPr sz="2650">
              <a:latin typeface="Arial"/>
              <a:cs typeface="Arial"/>
            </a:endParaRPr>
          </a:p>
          <a:p>
            <a:pPr marL="41275" algn="just">
              <a:lnSpc>
                <a:spcPct val="100000"/>
              </a:lnSpc>
              <a:spcBef>
                <a:spcPts val="5"/>
              </a:spcBef>
            </a:pPr>
            <a:r>
              <a:rPr sz="1400" b="1" spc="-90" dirty="0">
                <a:solidFill>
                  <a:srgbClr val="006699"/>
                </a:solidFill>
                <a:latin typeface="Verdana"/>
                <a:cs typeface="Verdana"/>
              </a:rPr>
              <a:t>public </a:t>
            </a:r>
            <a:r>
              <a:rPr sz="1400" b="1" spc="-65" dirty="0">
                <a:solidFill>
                  <a:srgbClr val="006699"/>
                </a:solidFill>
                <a:latin typeface="Verdana"/>
                <a:cs typeface="Verdana"/>
              </a:rPr>
              <a:t>class</a:t>
            </a:r>
            <a:r>
              <a:rPr sz="1400" b="1" spc="-100" dirty="0">
                <a:solidFill>
                  <a:srgbClr val="006699"/>
                </a:solidFill>
                <a:latin typeface="Verdana"/>
                <a:cs typeface="Verdana"/>
              </a:rPr>
              <a:t> </a:t>
            </a:r>
            <a:r>
              <a:rPr sz="1400" spc="25" dirty="0">
                <a:latin typeface="Arial"/>
                <a:cs typeface="Arial"/>
              </a:rPr>
              <a:t>TestFinallyBlock1{</a:t>
            </a:r>
            <a:endParaRPr sz="1400">
              <a:latin typeface="Arial"/>
              <a:cs typeface="Arial"/>
            </a:endParaRPr>
          </a:p>
          <a:p>
            <a:pPr marL="346075">
              <a:lnSpc>
                <a:spcPct val="100000"/>
              </a:lnSpc>
              <a:spcBef>
                <a:spcPts val="370"/>
              </a:spcBef>
            </a:pPr>
            <a:r>
              <a:rPr sz="1400" b="1" spc="-85" dirty="0">
                <a:solidFill>
                  <a:srgbClr val="006699"/>
                </a:solidFill>
                <a:latin typeface="Verdana"/>
                <a:cs typeface="Verdana"/>
              </a:rPr>
              <a:t>public </a:t>
            </a:r>
            <a:r>
              <a:rPr sz="1400" b="1" spc="-80" dirty="0">
                <a:solidFill>
                  <a:srgbClr val="006699"/>
                </a:solidFill>
                <a:latin typeface="Verdana"/>
                <a:cs typeface="Verdana"/>
              </a:rPr>
              <a:t>static </a:t>
            </a:r>
            <a:r>
              <a:rPr sz="1400" b="1" spc="-95" dirty="0">
                <a:solidFill>
                  <a:srgbClr val="006699"/>
                </a:solidFill>
                <a:latin typeface="Verdana"/>
                <a:cs typeface="Verdana"/>
              </a:rPr>
              <a:t>void </a:t>
            </a:r>
            <a:r>
              <a:rPr sz="1400" spc="35" dirty="0">
                <a:latin typeface="Arial"/>
                <a:cs typeface="Arial"/>
              </a:rPr>
              <a:t>main(String</a:t>
            </a:r>
            <a:r>
              <a:rPr sz="1400" spc="-10" dirty="0">
                <a:latin typeface="Arial"/>
                <a:cs typeface="Arial"/>
              </a:rPr>
              <a:t> </a:t>
            </a:r>
            <a:r>
              <a:rPr sz="1400" spc="55" dirty="0">
                <a:latin typeface="Arial"/>
                <a:cs typeface="Arial"/>
              </a:rPr>
              <a:t>args[]){</a:t>
            </a:r>
            <a:endParaRPr sz="1400">
              <a:latin typeface="Arial"/>
              <a:cs typeface="Arial"/>
            </a:endParaRPr>
          </a:p>
          <a:p>
            <a:pPr marL="447675">
              <a:lnSpc>
                <a:spcPct val="100000"/>
              </a:lnSpc>
              <a:spcBef>
                <a:spcPts val="365"/>
              </a:spcBef>
            </a:pPr>
            <a:r>
              <a:rPr sz="1400" b="1" spc="-105" dirty="0">
                <a:solidFill>
                  <a:srgbClr val="006699"/>
                </a:solidFill>
                <a:latin typeface="Verdana"/>
                <a:cs typeface="Verdana"/>
              </a:rPr>
              <a:t>try</a:t>
            </a:r>
            <a:r>
              <a:rPr sz="1400" b="1" spc="-85" dirty="0">
                <a:solidFill>
                  <a:srgbClr val="006699"/>
                </a:solidFill>
                <a:latin typeface="Verdana"/>
                <a:cs typeface="Verdana"/>
              </a:rPr>
              <a:t> </a:t>
            </a:r>
            <a:r>
              <a:rPr sz="1400" spc="40" dirty="0">
                <a:latin typeface="Arial"/>
                <a:cs typeface="Arial"/>
              </a:rPr>
              <a:t>{</a:t>
            </a:r>
            <a:endParaRPr sz="1400">
              <a:latin typeface="Arial"/>
              <a:cs typeface="Arial"/>
            </a:endParaRPr>
          </a:p>
          <a:p>
            <a:pPr marL="904875">
              <a:lnSpc>
                <a:spcPct val="100000"/>
              </a:lnSpc>
              <a:spcBef>
                <a:spcPts val="359"/>
              </a:spcBef>
            </a:pPr>
            <a:r>
              <a:rPr sz="1400" spc="40" dirty="0">
                <a:latin typeface="Arial"/>
                <a:cs typeface="Arial"/>
              </a:rPr>
              <a:t>System.out.println(</a:t>
            </a:r>
            <a:r>
              <a:rPr sz="1400" spc="40" dirty="0">
                <a:solidFill>
                  <a:srgbClr val="0000FF"/>
                </a:solidFill>
                <a:latin typeface="Arial"/>
                <a:cs typeface="Arial"/>
              </a:rPr>
              <a:t>"Inside </a:t>
            </a:r>
            <a:r>
              <a:rPr sz="1400" spc="70" dirty="0">
                <a:solidFill>
                  <a:srgbClr val="0000FF"/>
                </a:solidFill>
                <a:latin typeface="Arial"/>
                <a:cs typeface="Arial"/>
              </a:rPr>
              <a:t>the </a:t>
            </a:r>
            <a:r>
              <a:rPr sz="1400" spc="85" dirty="0">
                <a:solidFill>
                  <a:srgbClr val="0000FF"/>
                </a:solidFill>
                <a:latin typeface="Arial"/>
                <a:cs typeface="Arial"/>
              </a:rPr>
              <a:t>try</a:t>
            </a:r>
            <a:r>
              <a:rPr sz="1400" spc="-114" dirty="0">
                <a:solidFill>
                  <a:srgbClr val="0000FF"/>
                </a:solidFill>
                <a:latin typeface="Arial"/>
                <a:cs typeface="Arial"/>
              </a:rPr>
              <a:t> </a:t>
            </a:r>
            <a:r>
              <a:rPr sz="1400" spc="50" dirty="0">
                <a:solidFill>
                  <a:srgbClr val="0000FF"/>
                </a:solidFill>
                <a:latin typeface="Arial"/>
                <a:cs typeface="Arial"/>
              </a:rPr>
              <a:t>block"</a:t>
            </a:r>
            <a:r>
              <a:rPr sz="1400" spc="50" dirty="0">
                <a:latin typeface="Arial"/>
                <a:cs typeface="Arial"/>
              </a:rPr>
              <a:t>);</a:t>
            </a:r>
            <a:endParaRPr sz="1400">
              <a:latin typeface="Arial"/>
              <a:cs typeface="Arial"/>
            </a:endParaRPr>
          </a:p>
          <a:p>
            <a:pPr marL="1005840">
              <a:lnSpc>
                <a:spcPct val="100000"/>
              </a:lnSpc>
              <a:spcBef>
                <a:spcPts val="370"/>
              </a:spcBef>
            </a:pPr>
            <a:r>
              <a:rPr sz="1400" spc="80" dirty="0">
                <a:solidFill>
                  <a:srgbClr val="008200"/>
                </a:solidFill>
                <a:latin typeface="Arial"/>
                <a:cs typeface="Arial"/>
              </a:rPr>
              <a:t>//below</a:t>
            </a:r>
            <a:r>
              <a:rPr sz="1400" spc="-5" dirty="0">
                <a:solidFill>
                  <a:srgbClr val="008200"/>
                </a:solidFill>
                <a:latin typeface="Arial"/>
                <a:cs typeface="Arial"/>
              </a:rPr>
              <a:t> </a:t>
            </a:r>
            <a:r>
              <a:rPr sz="1400" spc="60" dirty="0">
                <a:solidFill>
                  <a:srgbClr val="008200"/>
                </a:solidFill>
                <a:latin typeface="Arial"/>
                <a:cs typeface="Arial"/>
              </a:rPr>
              <a:t>code</a:t>
            </a:r>
            <a:r>
              <a:rPr sz="1400" spc="20" dirty="0">
                <a:solidFill>
                  <a:srgbClr val="008200"/>
                </a:solidFill>
                <a:latin typeface="Arial"/>
                <a:cs typeface="Arial"/>
              </a:rPr>
              <a:t> </a:t>
            </a:r>
            <a:r>
              <a:rPr sz="1400" spc="75" dirty="0">
                <a:solidFill>
                  <a:srgbClr val="008200"/>
                </a:solidFill>
                <a:latin typeface="Arial"/>
                <a:cs typeface="Arial"/>
              </a:rPr>
              <a:t>throws</a:t>
            </a:r>
            <a:r>
              <a:rPr sz="1400" spc="-10" dirty="0">
                <a:solidFill>
                  <a:srgbClr val="008200"/>
                </a:solidFill>
                <a:latin typeface="Arial"/>
                <a:cs typeface="Arial"/>
              </a:rPr>
              <a:t> </a:t>
            </a:r>
            <a:r>
              <a:rPr sz="1400" spc="55" dirty="0">
                <a:solidFill>
                  <a:srgbClr val="008200"/>
                </a:solidFill>
                <a:latin typeface="Arial"/>
                <a:cs typeface="Arial"/>
              </a:rPr>
              <a:t>divide</a:t>
            </a:r>
            <a:r>
              <a:rPr sz="1400" spc="5" dirty="0">
                <a:solidFill>
                  <a:srgbClr val="008200"/>
                </a:solidFill>
                <a:latin typeface="Arial"/>
                <a:cs typeface="Arial"/>
              </a:rPr>
              <a:t> </a:t>
            </a:r>
            <a:r>
              <a:rPr sz="1400" spc="85" dirty="0">
                <a:solidFill>
                  <a:srgbClr val="008200"/>
                </a:solidFill>
                <a:latin typeface="Arial"/>
                <a:cs typeface="Arial"/>
              </a:rPr>
              <a:t>by</a:t>
            </a:r>
            <a:r>
              <a:rPr sz="1400" spc="5" dirty="0">
                <a:solidFill>
                  <a:srgbClr val="008200"/>
                </a:solidFill>
                <a:latin typeface="Arial"/>
                <a:cs typeface="Arial"/>
              </a:rPr>
              <a:t> </a:t>
            </a:r>
            <a:r>
              <a:rPr sz="1400" spc="50" dirty="0">
                <a:solidFill>
                  <a:srgbClr val="008200"/>
                </a:solidFill>
                <a:latin typeface="Arial"/>
                <a:cs typeface="Arial"/>
              </a:rPr>
              <a:t>zero</a:t>
            </a:r>
            <a:r>
              <a:rPr sz="1400" spc="10" dirty="0">
                <a:solidFill>
                  <a:srgbClr val="008200"/>
                </a:solidFill>
                <a:latin typeface="Arial"/>
                <a:cs typeface="Arial"/>
              </a:rPr>
              <a:t> </a:t>
            </a:r>
            <a:r>
              <a:rPr sz="1400" spc="55" dirty="0">
                <a:solidFill>
                  <a:srgbClr val="008200"/>
                </a:solidFill>
                <a:latin typeface="Arial"/>
                <a:cs typeface="Arial"/>
              </a:rPr>
              <a:t>exception</a:t>
            </a:r>
            <a:endParaRPr sz="1400">
              <a:latin typeface="Arial"/>
              <a:cs typeface="Arial"/>
            </a:endParaRPr>
          </a:p>
          <a:p>
            <a:pPr marL="955675">
              <a:lnSpc>
                <a:spcPct val="100000"/>
              </a:lnSpc>
              <a:spcBef>
                <a:spcPts val="360"/>
              </a:spcBef>
            </a:pPr>
            <a:r>
              <a:rPr sz="1400" b="1" spc="-105" dirty="0">
                <a:solidFill>
                  <a:srgbClr val="006699"/>
                </a:solidFill>
                <a:latin typeface="Verdana"/>
                <a:cs typeface="Verdana"/>
              </a:rPr>
              <a:t>int</a:t>
            </a:r>
            <a:r>
              <a:rPr sz="1400" b="1" spc="-95" dirty="0">
                <a:solidFill>
                  <a:srgbClr val="006699"/>
                </a:solidFill>
                <a:latin typeface="Verdana"/>
                <a:cs typeface="Verdana"/>
              </a:rPr>
              <a:t> </a:t>
            </a:r>
            <a:r>
              <a:rPr sz="1400" spc="70" dirty="0">
                <a:latin typeface="Arial"/>
                <a:cs typeface="Arial"/>
              </a:rPr>
              <a:t>data=</a:t>
            </a:r>
            <a:r>
              <a:rPr sz="1400" spc="70" dirty="0">
                <a:solidFill>
                  <a:srgbClr val="C00000"/>
                </a:solidFill>
                <a:latin typeface="Arial"/>
                <a:cs typeface="Arial"/>
              </a:rPr>
              <a:t>25</a:t>
            </a:r>
            <a:r>
              <a:rPr sz="1400" spc="70" dirty="0">
                <a:latin typeface="Arial"/>
                <a:cs typeface="Arial"/>
              </a:rPr>
              <a:t>/</a:t>
            </a:r>
            <a:r>
              <a:rPr sz="1400" spc="70" dirty="0">
                <a:solidFill>
                  <a:srgbClr val="C00000"/>
                </a:solidFill>
                <a:latin typeface="Arial"/>
                <a:cs typeface="Arial"/>
              </a:rPr>
              <a:t>0</a:t>
            </a:r>
            <a:r>
              <a:rPr sz="1400" spc="70" dirty="0">
                <a:latin typeface="Arial"/>
                <a:cs typeface="Arial"/>
              </a:rPr>
              <a:t>;</a:t>
            </a:r>
            <a:endParaRPr sz="1400">
              <a:latin typeface="Arial"/>
              <a:cs typeface="Arial"/>
            </a:endParaRPr>
          </a:p>
          <a:p>
            <a:pPr marL="1005840">
              <a:lnSpc>
                <a:spcPct val="100000"/>
              </a:lnSpc>
              <a:spcBef>
                <a:spcPts val="360"/>
              </a:spcBef>
            </a:pPr>
            <a:r>
              <a:rPr sz="1400" spc="45" dirty="0">
                <a:latin typeface="Arial"/>
                <a:cs typeface="Arial"/>
              </a:rPr>
              <a:t>System.out.println(data);</a:t>
            </a:r>
            <a:endParaRPr sz="1400">
              <a:latin typeface="Arial"/>
              <a:cs typeface="Arial"/>
            </a:endParaRPr>
          </a:p>
          <a:p>
            <a:pPr marL="955675">
              <a:lnSpc>
                <a:spcPct val="100000"/>
              </a:lnSpc>
              <a:spcBef>
                <a:spcPts val="375"/>
              </a:spcBef>
            </a:pPr>
            <a:r>
              <a:rPr sz="1400" spc="40" dirty="0">
                <a:latin typeface="Arial"/>
                <a:cs typeface="Arial"/>
              </a:rPr>
              <a:t>}</a:t>
            </a:r>
            <a:endParaRPr sz="1400">
              <a:latin typeface="Arial"/>
              <a:cs typeface="Arial"/>
            </a:endParaRPr>
          </a:p>
          <a:p>
            <a:pPr marL="955675">
              <a:lnSpc>
                <a:spcPct val="100000"/>
              </a:lnSpc>
              <a:spcBef>
                <a:spcPts val="360"/>
              </a:spcBef>
            </a:pPr>
            <a:r>
              <a:rPr sz="1400" spc="65" dirty="0">
                <a:solidFill>
                  <a:srgbClr val="008200"/>
                </a:solidFill>
                <a:latin typeface="Arial"/>
                <a:cs typeface="Arial"/>
              </a:rPr>
              <a:t>//cannot </a:t>
            </a:r>
            <a:r>
              <a:rPr sz="1400" spc="40" dirty="0">
                <a:solidFill>
                  <a:srgbClr val="008200"/>
                </a:solidFill>
                <a:latin typeface="Arial"/>
                <a:cs typeface="Arial"/>
              </a:rPr>
              <a:t>handle </a:t>
            </a:r>
            <a:r>
              <a:rPr sz="1400" spc="55" dirty="0">
                <a:solidFill>
                  <a:srgbClr val="008200"/>
                </a:solidFill>
                <a:latin typeface="Arial"/>
                <a:cs typeface="Arial"/>
              </a:rPr>
              <a:t>Arithmetic </a:t>
            </a:r>
            <a:r>
              <a:rPr sz="1400" spc="75" dirty="0">
                <a:solidFill>
                  <a:srgbClr val="008200"/>
                </a:solidFill>
                <a:latin typeface="Arial"/>
                <a:cs typeface="Arial"/>
              </a:rPr>
              <a:t>type </a:t>
            </a:r>
            <a:r>
              <a:rPr sz="1400" spc="55" dirty="0">
                <a:solidFill>
                  <a:srgbClr val="008200"/>
                </a:solidFill>
                <a:latin typeface="Arial"/>
                <a:cs typeface="Arial"/>
              </a:rPr>
              <a:t>exception </a:t>
            </a:r>
            <a:r>
              <a:rPr sz="1400" dirty="0">
                <a:latin typeface="Arial"/>
                <a:cs typeface="Arial"/>
              </a:rPr>
              <a:t>, </a:t>
            </a:r>
            <a:r>
              <a:rPr sz="1400" spc="40" dirty="0">
                <a:solidFill>
                  <a:srgbClr val="008200"/>
                </a:solidFill>
                <a:latin typeface="Arial"/>
                <a:cs typeface="Arial"/>
              </a:rPr>
              <a:t>can </a:t>
            </a:r>
            <a:r>
              <a:rPr sz="1400" spc="45" dirty="0">
                <a:solidFill>
                  <a:srgbClr val="008200"/>
                </a:solidFill>
                <a:latin typeface="Arial"/>
                <a:cs typeface="Arial"/>
              </a:rPr>
              <a:t>only </a:t>
            </a:r>
            <a:r>
              <a:rPr sz="1400" spc="65" dirty="0">
                <a:solidFill>
                  <a:srgbClr val="008200"/>
                </a:solidFill>
                <a:latin typeface="Arial"/>
                <a:cs typeface="Arial"/>
              </a:rPr>
              <a:t>accept </a:t>
            </a:r>
            <a:r>
              <a:rPr sz="1400" spc="30" dirty="0">
                <a:solidFill>
                  <a:srgbClr val="008200"/>
                </a:solidFill>
                <a:latin typeface="Arial"/>
                <a:cs typeface="Arial"/>
              </a:rPr>
              <a:t>Null </a:t>
            </a:r>
            <a:r>
              <a:rPr sz="1400" spc="40" dirty="0">
                <a:solidFill>
                  <a:srgbClr val="008200"/>
                </a:solidFill>
                <a:latin typeface="Arial"/>
                <a:cs typeface="Arial"/>
              </a:rPr>
              <a:t>Pointer </a:t>
            </a:r>
            <a:r>
              <a:rPr sz="1400" spc="75" dirty="0">
                <a:solidFill>
                  <a:srgbClr val="008200"/>
                </a:solidFill>
                <a:latin typeface="Arial"/>
                <a:cs typeface="Arial"/>
              </a:rPr>
              <a:t>type</a:t>
            </a:r>
            <a:r>
              <a:rPr sz="1400" spc="15" dirty="0">
                <a:solidFill>
                  <a:srgbClr val="008200"/>
                </a:solidFill>
                <a:latin typeface="Arial"/>
                <a:cs typeface="Arial"/>
              </a:rPr>
              <a:t> </a:t>
            </a:r>
            <a:r>
              <a:rPr sz="1400" spc="55" dirty="0">
                <a:solidFill>
                  <a:srgbClr val="008200"/>
                </a:solidFill>
                <a:latin typeface="Arial"/>
                <a:cs typeface="Arial"/>
              </a:rPr>
              <a:t>exception</a:t>
            </a:r>
            <a:endParaRPr sz="1400">
              <a:latin typeface="Arial"/>
              <a:cs typeface="Arial"/>
            </a:endParaRPr>
          </a:p>
          <a:p>
            <a:pPr marL="1210310" marR="5223510" indent="-204470">
              <a:lnSpc>
                <a:spcPts val="2050"/>
              </a:lnSpc>
              <a:spcBef>
                <a:spcPts val="120"/>
              </a:spcBef>
            </a:pPr>
            <a:r>
              <a:rPr sz="1400" b="1" spc="15" dirty="0">
                <a:solidFill>
                  <a:srgbClr val="006699"/>
                </a:solidFill>
                <a:latin typeface="Verdana"/>
                <a:cs typeface="Verdana"/>
              </a:rPr>
              <a:t>catch</a:t>
            </a:r>
            <a:r>
              <a:rPr sz="1400" spc="15" dirty="0">
                <a:latin typeface="Arial"/>
                <a:cs typeface="Arial"/>
              </a:rPr>
              <a:t>(NullPointerException </a:t>
            </a:r>
            <a:r>
              <a:rPr sz="1400" spc="35" dirty="0">
                <a:latin typeface="Arial"/>
                <a:cs typeface="Arial"/>
              </a:rPr>
              <a:t>e){  </a:t>
            </a:r>
            <a:r>
              <a:rPr sz="1400" spc="40" dirty="0">
                <a:latin typeface="Arial"/>
                <a:cs typeface="Arial"/>
              </a:rPr>
              <a:t>System.out.println(“Error”);</a:t>
            </a:r>
            <a:endParaRPr sz="1400">
              <a:latin typeface="Arial"/>
              <a:cs typeface="Arial"/>
            </a:endParaRPr>
          </a:p>
          <a:p>
            <a:pPr marL="955675">
              <a:lnSpc>
                <a:spcPct val="100000"/>
              </a:lnSpc>
              <a:spcBef>
                <a:spcPts val="229"/>
              </a:spcBef>
            </a:pPr>
            <a:r>
              <a:rPr sz="1400" spc="40" dirty="0">
                <a:latin typeface="Arial"/>
                <a:cs typeface="Arial"/>
              </a:rPr>
              <a:t>}</a:t>
            </a:r>
            <a:endParaRPr sz="1400">
              <a:latin typeface="Arial"/>
              <a:cs typeface="Arial"/>
            </a:endParaRPr>
          </a:p>
          <a:p>
            <a:pPr marL="853440">
              <a:lnSpc>
                <a:spcPct val="100000"/>
              </a:lnSpc>
              <a:spcBef>
                <a:spcPts val="365"/>
              </a:spcBef>
            </a:pPr>
            <a:r>
              <a:rPr sz="1400" spc="60" dirty="0">
                <a:solidFill>
                  <a:srgbClr val="008200"/>
                </a:solidFill>
                <a:latin typeface="Arial"/>
                <a:cs typeface="Arial"/>
              </a:rPr>
              <a:t>//executes </a:t>
            </a:r>
            <a:r>
              <a:rPr sz="1400" spc="40" dirty="0">
                <a:solidFill>
                  <a:srgbClr val="008200"/>
                </a:solidFill>
                <a:latin typeface="Arial"/>
                <a:cs typeface="Arial"/>
              </a:rPr>
              <a:t>regardless </a:t>
            </a:r>
            <a:r>
              <a:rPr sz="1400" spc="85" dirty="0">
                <a:solidFill>
                  <a:srgbClr val="008200"/>
                </a:solidFill>
                <a:latin typeface="Arial"/>
                <a:cs typeface="Arial"/>
              </a:rPr>
              <a:t>of </a:t>
            </a:r>
            <a:r>
              <a:rPr sz="1400" spc="55" dirty="0">
                <a:solidFill>
                  <a:srgbClr val="008200"/>
                </a:solidFill>
                <a:latin typeface="Arial"/>
                <a:cs typeface="Arial"/>
              </a:rPr>
              <a:t>exception </a:t>
            </a:r>
            <a:r>
              <a:rPr sz="1400" spc="60" dirty="0">
                <a:solidFill>
                  <a:srgbClr val="008200"/>
                </a:solidFill>
                <a:latin typeface="Arial"/>
                <a:cs typeface="Arial"/>
              </a:rPr>
              <a:t>occurred</a:t>
            </a:r>
            <a:r>
              <a:rPr sz="1400" spc="-265" dirty="0">
                <a:solidFill>
                  <a:srgbClr val="008200"/>
                </a:solidFill>
                <a:latin typeface="Arial"/>
                <a:cs typeface="Arial"/>
              </a:rPr>
              <a:t> </a:t>
            </a:r>
            <a:r>
              <a:rPr sz="1400" spc="55" dirty="0">
                <a:solidFill>
                  <a:srgbClr val="008200"/>
                </a:solidFill>
                <a:latin typeface="Arial"/>
                <a:cs typeface="Arial"/>
              </a:rPr>
              <a:t>or </a:t>
            </a:r>
            <a:r>
              <a:rPr sz="1400" spc="70" dirty="0">
                <a:solidFill>
                  <a:srgbClr val="008200"/>
                </a:solidFill>
                <a:latin typeface="Arial"/>
                <a:cs typeface="Arial"/>
              </a:rPr>
              <a:t>not</a:t>
            </a:r>
            <a:endParaRPr sz="1400">
              <a:latin typeface="Arial"/>
              <a:cs typeface="Arial"/>
            </a:endParaRPr>
          </a:p>
          <a:p>
            <a:pPr marL="752475">
              <a:lnSpc>
                <a:spcPct val="100000"/>
              </a:lnSpc>
              <a:spcBef>
                <a:spcPts val="370"/>
              </a:spcBef>
            </a:pPr>
            <a:r>
              <a:rPr sz="1400" b="1" spc="-100" dirty="0">
                <a:solidFill>
                  <a:srgbClr val="006699"/>
                </a:solidFill>
                <a:latin typeface="Verdana"/>
                <a:cs typeface="Verdana"/>
              </a:rPr>
              <a:t>finally</a:t>
            </a:r>
            <a:r>
              <a:rPr sz="1400" b="1" spc="-114" dirty="0">
                <a:solidFill>
                  <a:srgbClr val="006699"/>
                </a:solidFill>
                <a:latin typeface="Verdana"/>
                <a:cs typeface="Verdana"/>
              </a:rPr>
              <a:t> </a:t>
            </a:r>
            <a:r>
              <a:rPr sz="1400" spc="40" dirty="0">
                <a:latin typeface="Arial"/>
                <a:cs typeface="Arial"/>
              </a:rPr>
              <a:t>{</a:t>
            </a:r>
            <a:endParaRPr sz="1400">
              <a:latin typeface="Arial"/>
              <a:cs typeface="Arial"/>
            </a:endParaRPr>
          </a:p>
          <a:p>
            <a:pPr marL="1615440">
              <a:lnSpc>
                <a:spcPct val="100000"/>
              </a:lnSpc>
              <a:spcBef>
                <a:spcPts val="360"/>
              </a:spcBef>
            </a:pPr>
            <a:r>
              <a:rPr sz="1400" spc="40" dirty="0">
                <a:latin typeface="Arial"/>
                <a:cs typeface="Arial"/>
              </a:rPr>
              <a:t>System.out.println(</a:t>
            </a:r>
            <a:r>
              <a:rPr sz="1400" spc="40" dirty="0">
                <a:solidFill>
                  <a:srgbClr val="0000FF"/>
                </a:solidFill>
                <a:latin typeface="Arial"/>
                <a:cs typeface="Arial"/>
              </a:rPr>
              <a:t>“Finally </a:t>
            </a:r>
            <a:r>
              <a:rPr sz="1400" spc="65" dirty="0">
                <a:solidFill>
                  <a:srgbClr val="0000FF"/>
                </a:solidFill>
                <a:latin typeface="Arial"/>
                <a:cs typeface="Arial"/>
              </a:rPr>
              <a:t>block</a:t>
            </a:r>
            <a:r>
              <a:rPr sz="1400" spc="-35" dirty="0">
                <a:solidFill>
                  <a:srgbClr val="0000FF"/>
                </a:solidFill>
                <a:latin typeface="Arial"/>
                <a:cs typeface="Arial"/>
              </a:rPr>
              <a:t> </a:t>
            </a:r>
            <a:r>
              <a:rPr sz="1400" spc="35" dirty="0">
                <a:solidFill>
                  <a:srgbClr val="0000FF"/>
                </a:solidFill>
                <a:latin typeface="Arial"/>
                <a:cs typeface="Arial"/>
              </a:rPr>
              <a:t>"</a:t>
            </a:r>
            <a:r>
              <a:rPr sz="1400" spc="35" dirty="0">
                <a:latin typeface="Arial"/>
                <a:cs typeface="Arial"/>
              </a:rPr>
              <a:t>);</a:t>
            </a:r>
            <a:endParaRPr sz="1400">
              <a:latin typeface="Arial"/>
              <a:cs typeface="Arial"/>
            </a:endParaRPr>
          </a:p>
          <a:p>
            <a:pPr marL="1158240">
              <a:lnSpc>
                <a:spcPct val="100000"/>
              </a:lnSpc>
              <a:spcBef>
                <a:spcPts val="360"/>
              </a:spcBef>
            </a:pPr>
            <a:r>
              <a:rPr sz="1400" spc="40" dirty="0">
                <a:latin typeface="Arial"/>
                <a:cs typeface="Arial"/>
              </a:rPr>
              <a:t>}</a:t>
            </a:r>
            <a:endParaRPr sz="1400">
              <a:latin typeface="Arial"/>
              <a:cs typeface="Arial"/>
            </a:endParaRPr>
          </a:p>
        </p:txBody>
      </p:sp>
      <p:sp>
        <p:nvSpPr>
          <p:cNvPr id="4" name="object 4"/>
          <p:cNvSpPr txBox="1"/>
          <p:nvPr/>
        </p:nvSpPr>
        <p:spPr>
          <a:xfrm>
            <a:off x="691083" y="5738266"/>
            <a:ext cx="3374390" cy="240029"/>
          </a:xfrm>
          <a:prstGeom prst="rect">
            <a:avLst/>
          </a:prstGeom>
        </p:spPr>
        <p:txBody>
          <a:bodyPr vert="horz" wrap="square" lIns="0" tIns="13335" rIns="0" bIns="0" rtlCol="0">
            <a:spAutoFit/>
          </a:bodyPr>
          <a:lstStyle/>
          <a:p>
            <a:pPr marL="12700">
              <a:lnSpc>
                <a:spcPct val="100000"/>
              </a:lnSpc>
              <a:spcBef>
                <a:spcPts val="105"/>
              </a:spcBef>
            </a:pPr>
            <a:r>
              <a:rPr sz="1400" spc="50" dirty="0">
                <a:latin typeface="Arial"/>
                <a:cs typeface="Arial"/>
              </a:rPr>
              <a:t>System.out.println(</a:t>
            </a:r>
            <a:r>
              <a:rPr sz="1400" spc="50" dirty="0">
                <a:solidFill>
                  <a:srgbClr val="0000FF"/>
                </a:solidFill>
                <a:latin typeface="Arial"/>
                <a:cs typeface="Arial"/>
              </a:rPr>
              <a:t>"rest </a:t>
            </a:r>
            <a:r>
              <a:rPr sz="1400" spc="85" dirty="0">
                <a:solidFill>
                  <a:srgbClr val="0000FF"/>
                </a:solidFill>
                <a:latin typeface="Arial"/>
                <a:cs typeface="Arial"/>
              </a:rPr>
              <a:t>of </a:t>
            </a:r>
            <a:r>
              <a:rPr sz="1400" spc="70" dirty="0">
                <a:solidFill>
                  <a:srgbClr val="0000FF"/>
                </a:solidFill>
                <a:latin typeface="Arial"/>
                <a:cs typeface="Arial"/>
              </a:rPr>
              <a:t>the</a:t>
            </a:r>
            <a:r>
              <a:rPr sz="1400" spc="-180" dirty="0">
                <a:solidFill>
                  <a:srgbClr val="0000FF"/>
                </a:solidFill>
                <a:latin typeface="Arial"/>
                <a:cs typeface="Arial"/>
              </a:rPr>
              <a:t> </a:t>
            </a:r>
            <a:r>
              <a:rPr sz="1400" spc="30" dirty="0">
                <a:solidFill>
                  <a:srgbClr val="0000FF"/>
                </a:solidFill>
                <a:latin typeface="Arial"/>
                <a:cs typeface="Arial"/>
              </a:rPr>
              <a:t>code..."</a:t>
            </a:r>
            <a:r>
              <a:rPr sz="1400" spc="30" dirty="0">
                <a:latin typeface="Arial"/>
                <a:cs typeface="Arial"/>
              </a:rPr>
              <a:t>);</a:t>
            </a:r>
            <a:endParaRPr sz="1400">
              <a:latin typeface="Arial"/>
              <a:cs typeface="Arial"/>
            </a:endParaRPr>
          </a:p>
        </p:txBody>
      </p:sp>
      <p:sp>
        <p:nvSpPr>
          <p:cNvPr id="5" name="object 5"/>
          <p:cNvSpPr txBox="1"/>
          <p:nvPr/>
        </p:nvSpPr>
        <p:spPr>
          <a:xfrm>
            <a:off x="488391" y="5997955"/>
            <a:ext cx="90170" cy="239395"/>
          </a:xfrm>
          <a:prstGeom prst="rect">
            <a:avLst/>
          </a:prstGeom>
        </p:spPr>
        <p:txBody>
          <a:bodyPr vert="horz" wrap="square" lIns="0" tIns="12700" rIns="0" bIns="0" rtlCol="0">
            <a:spAutoFit/>
          </a:bodyPr>
          <a:lstStyle/>
          <a:p>
            <a:pPr marL="12700">
              <a:lnSpc>
                <a:spcPct val="100000"/>
              </a:lnSpc>
              <a:spcBef>
                <a:spcPts val="100"/>
              </a:spcBef>
            </a:pPr>
            <a:r>
              <a:rPr sz="1400" spc="40" dirty="0">
                <a:latin typeface="Arial"/>
                <a:cs typeface="Arial"/>
              </a:rPr>
              <a:t>}</a:t>
            </a:r>
            <a:endParaRPr sz="1400">
              <a:latin typeface="Arial"/>
              <a:cs typeface="Arial"/>
            </a:endParaRPr>
          </a:p>
        </p:txBody>
      </p:sp>
      <p:sp>
        <p:nvSpPr>
          <p:cNvPr id="6" name="object 6"/>
          <p:cNvSpPr txBox="1"/>
          <p:nvPr/>
        </p:nvSpPr>
        <p:spPr>
          <a:xfrm>
            <a:off x="386283" y="6257035"/>
            <a:ext cx="90170" cy="239395"/>
          </a:xfrm>
          <a:prstGeom prst="rect">
            <a:avLst/>
          </a:prstGeom>
        </p:spPr>
        <p:txBody>
          <a:bodyPr vert="horz" wrap="square" lIns="0" tIns="12700" rIns="0" bIns="0" rtlCol="0">
            <a:spAutoFit/>
          </a:bodyPr>
          <a:lstStyle/>
          <a:p>
            <a:pPr marL="12700">
              <a:lnSpc>
                <a:spcPct val="100000"/>
              </a:lnSpc>
              <a:spcBef>
                <a:spcPts val="100"/>
              </a:spcBef>
            </a:pPr>
            <a:r>
              <a:rPr sz="1400" spc="40" dirty="0">
                <a:latin typeface="Arial"/>
                <a:cs typeface="Arial"/>
              </a:rPr>
              <a:t>}</a:t>
            </a:r>
            <a:endParaRPr sz="1400">
              <a:latin typeface="Arial"/>
              <a:cs typeface="Arial"/>
            </a:endParaRPr>
          </a:p>
        </p:txBody>
      </p:sp>
      <p:sp>
        <p:nvSpPr>
          <p:cNvPr id="7" name="object 7"/>
          <p:cNvSpPr txBox="1"/>
          <p:nvPr/>
        </p:nvSpPr>
        <p:spPr>
          <a:xfrm>
            <a:off x="5140629" y="5125825"/>
            <a:ext cx="3914775" cy="1521570"/>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FF0000"/>
                </a:solidFill>
                <a:latin typeface="Times New Roman"/>
                <a:cs typeface="Times New Roman"/>
              </a:rPr>
              <a:t>Inside the try</a:t>
            </a:r>
            <a:r>
              <a:rPr sz="1400" spc="-80" dirty="0">
                <a:solidFill>
                  <a:srgbClr val="FF0000"/>
                </a:solidFill>
                <a:latin typeface="Times New Roman"/>
                <a:cs typeface="Times New Roman"/>
              </a:rPr>
              <a:t> </a:t>
            </a:r>
            <a:r>
              <a:rPr sz="1400" dirty="0">
                <a:solidFill>
                  <a:srgbClr val="FF0000"/>
                </a:solidFill>
                <a:latin typeface="Times New Roman"/>
                <a:cs typeface="Times New Roman"/>
              </a:rPr>
              <a:t>block</a:t>
            </a:r>
            <a:endParaRPr sz="1400" dirty="0">
              <a:latin typeface="Times New Roman"/>
              <a:cs typeface="Times New Roman"/>
            </a:endParaRPr>
          </a:p>
          <a:p>
            <a:pPr marL="12700">
              <a:lnSpc>
                <a:spcPct val="100000"/>
              </a:lnSpc>
            </a:pPr>
            <a:r>
              <a:rPr sz="1400" dirty="0">
                <a:solidFill>
                  <a:srgbClr val="FF0000"/>
                </a:solidFill>
                <a:latin typeface="Times New Roman"/>
                <a:cs typeface="Times New Roman"/>
              </a:rPr>
              <a:t>finally</a:t>
            </a:r>
            <a:r>
              <a:rPr sz="1400" spc="-50" dirty="0">
                <a:solidFill>
                  <a:srgbClr val="FF0000"/>
                </a:solidFill>
                <a:latin typeface="Times New Roman"/>
                <a:cs typeface="Times New Roman"/>
              </a:rPr>
              <a:t> </a:t>
            </a:r>
            <a:r>
              <a:rPr sz="1400" dirty="0">
                <a:solidFill>
                  <a:srgbClr val="FF0000"/>
                </a:solidFill>
                <a:latin typeface="Times New Roman"/>
                <a:cs typeface="Times New Roman"/>
              </a:rPr>
              <a:t>block</a:t>
            </a:r>
            <a:endParaRPr sz="1400" dirty="0">
              <a:latin typeface="Times New Roman"/>
              <a:cs typeface="Times New Roman"/>
            </a:endParaRPr>
          </a:p>
          <a:p>
            <a:pPr marL="927100" marR="5080" indent="-915035">
              <a:lnSpc>
                <a:spcPct val="100000"/>
              </a:lnSpc>
            </a:pPr>
            <a:r>
              <a:rPr sz="1400" dirty="0">
                <a:solidFill>
                  <a:srgbClr val="FF0000"/>
                </a:solidFill>
                <a:latin typeface="Times New Roman"/>
                <a:cs typeface="Times New Roman"/>
              </a:rPr>
              <a:t>Exception in thread </a:t>
            </a:r>
            <a:r>
              <a:rPr sz="1400" spc="-5" dirty="0">
                <a:solidFill>
                  <a:srgbClr val="FF0000"/>
                </a:solidFill>
                <a:latin typeface="Times New Roman"/>
                <a:cs typeface="Times New Roman"/>
              </a:rPr>
              <a:t>"main" java.lang.ArithmeticException: </a:t>
            </a:r>
            <a:r>
              <a:rPr sz="1400" dirty="0">
                <a:solidFill>
                  <a:srgbClr val="FF0000"/>
                </a:solidFill>
                <a:latin typeface="Times New Roman"/>
                <a:cs typeface="Times New Roman"/>
              </a:rPr>
              <a:t>/ by zero  at</a:t>
            </a:r>
            <a:r>
              <a:rPr sz="1400" spc="15" dirty="0">
                <a:solidFill>
                  <a:srgbClr val="FF0000"/>
                </a:solidFill>
                <a:latin typeface="Times New Roman"/>
                <a:cs typeface="Times New Roman"/>
              </a:rPr>
              <a:t> </a:t>
            </a:r>
            <a:r>
              <a:rPr sz="1400" spc="-5" dirty="0">
                <a:solidFill>
                  <a:srgbClr val="FF0000"/>
                </a:solidFill>
                <a:latin typeface="Times New Roman"/>
                <a:cs typeface="Times New Roman"/>
              </a:rPr>
              <a:t>TestFinallyBlock1.main(TestFinallyBlock1.java:9)</a:t>
            </a:r>
            <a:endParaRPr sz="1400" dirty="0">
              <a:latin typeface="Times New Roman"/>
              <a:cs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939" y="93980"/>
            <a:ext cx="8837295" cy="1242695"/>
          </a:xfrm>
          <a:prstGeom prst="rect">
            <a:avLst/>
          </a:prstGeom>
        </p:spPr>
        <p:txBody>
          <a:bodyPr vert="horz" wrap="square" lIns="0" tIns="13970" rIns="0" bIns="0" rtlCol="0">
            <a:spAutoFit/>
          </a:bodyPr>
          <a:lstStyle/>
          <a:p>
            <a:pPr marL="12700" marR="5080" algn="just">
              <a:lnSpc>
                <a:spcPct val="99700"/>
              </a:lnSpc>
              <a:spcBef>
                <a:spcPts val="110"/>
              </a:spcBef>
            </a:pPr>
            <a:r>
              <a:rPr sz="2000" b="0" dirty="0">
                <a:solidFill>
                  <a:srgbClr val="600A4A"/>
                </a:solidFill>
                <a:latin typeface="Arial"/>
                <a:cs typeface="Arial"/>
              </a:rPr>
              <a:t>Case 3: When </a:t>
            </a:r>
            <a:r>
              <a:rPr sz="2000" b="0" spc="-10" dirty="0">
                <a:solidFill>
                  <a:srgbClr val="600A4A"/>
                </a:solidFill>
                <a:latin typeface="Arial"/>
                <a:cs typeface="Arial"/>
              </a:rPr>
              <a:t>an </a:t>
            </a:r>
            <a:r>
              <a:rPr sz="2000" b="0" spc="-5" dirty="0">
                <a:solidFill>
                  <a:srgbClr val="600A4A"/>
                </a:solidFill>
                <a:latin typeface="Arial"/>
                <a:cs typeface="Arial"/>
              </a:rPr>
              <a:t>exception occurs </a:t>
            </a:r>
            <a:r>
              <a:rPr sz="2000" b="0" dirty="0">
                <a:solidFill>
                  <a:srgbClr val="600A4A"/>
                </a:solidFill>
                <a:latin typeface="Arial"/>
                <a:cs typeface="Arial"/>
              </a:rPr>
              <a:t>and </a:t>
            </a:r>
            <a:r>
              <a:rPr sz="2000" b="0" spc="-5" dirty="0">
                <a:solidFill>
                  <a:srgbClr val="600A4A"/>
                </a:solidFill>
                <a:latin typeface="Arial"/>
                <a:cs typeface="Arial"/>
              </a:rPr>
              <a:t>is </a:t>
            </a:r>
            <a:r>
              <a:rPr sz="2000" b="0" dirty="0">
                <a:solidFill>
                  <a:srgbClr val="600A4A"/>
                </a:solidFill>
                <a:latin typeface="Arial"/>
                <a:cs typeface="Arial"/>
              </a:rPr>
              <a:t>handled by </a:t>
            </a:r>
            <a:r>
              <a:rPr sz="2000" b="0" spc="-5" dirty="0">
                <a:solidFill>
                  <a:srgbClr val="600A4A"/>
                </a:solidFill>
                <a:latin typeface="Arial"/>
                <a:cs typeface="Arial"/>
              </a:rPr>
              <a:t>the catch </a:t>
            </a:r>
            <a:r>
              <a:rPr sz="2000" b="0" dirty="0">
                <a:solidFill>
                  <a:srgbClr val="600A4A"/>
                </a:solidFill>
                <a:latin typeface="Arial"/>
                <a:cs typeface="Arial"/>
              </a:rPr>
              <a:t>block.  </a:t>
            </a:r>
            <a:r>
              <a:rPr sz="2000" b="0" spc="40" dirty="0">
                <a:solidFill>
                  <a:srgbClr val="600A4A"/>
                </a:solidFill>
                <a:latin typeface="Arial"/>
                <a:cs typeface="Arial"/>
              </a:rPr>
              <a:t>T</a:t>
            </a:r>
            <a:r>
              <a:rPr sz="2000" b="0" spc="40" dirty="0">
                <a:solidFill>
                  <a:srgbClr val="333333"/>
                </a:solidFill>
                <a:latin typeface="Arial"/>
                <a:cs typeface="Arial"/>
              </a:rPr>
              <a:t>he </a:t>
            </a:r>
            <a:r>
              <a:rPr sz="2000" b="0" spc="55" dirty="0">
                <a:solidFill>
                  <a:srgbClr val="333333"/>
                </a:solidFill>
                <a:latin typeface="Arial"/>
                <a:cs typeface="Arial"/>
              </a:rPr>
              <a:t>Java </a:t>
            </a:r>
            <a:r>
              <a:rPr sz="2000" b="0" spc="90" dirty="0">
                <a:solidFill>
                  <a:srgbClr val="333333"/>
                </a:solidFill>
                <a:latin typeface="Arial"/>
                <a:cs typeface="Arial"/>
              </a:rPr>
              <a:t>code </a:t>
            </a:r>
            <a:r>
              <a:rPr sz="2000" b="0" spc="100" dirty="0">
                <a:solidFill>
                  <a:srgbClr val="333333"/>
                </a:solidFill>
                <a:latin typeface="Arial"/>
                <a:cs typeface="Arial"/>
              </a:rPr>
              <a:t>throws </a:t>
            </a:r>
            <a:r>
              <a:rPr sz="2000" b="0" spc="35" dirty="0">
                <a:solidFill>
                  <a:srgbClr val="333333"/>
                </a:solidFill>
                <a:latin typeface="Arial"/>
                <a:cs typeface="Arial"/>
              </a:rPr>
              <a:t>an </a:t>
            </a:r>
            <a:r>
              <a:rPr sz="2000" b="0" spc="75" dirty="0">
                <a:solidFill>
                  <a:srgbClr val="333333"/>
                </a:solidFill>
                <a:latin typeface="Arial"/>
                <a:cs typeface="Arial"/>
              </a:rPr>
              <a:t>exception </a:t>
            </a:r>
            <a:r>
              <a:rPr sz="2000" b="0" spc="65" dirty="0">
                <a:solidFill>
                  <a:srgbClr val="333333"/>
                </a:solidFill>
                <a:latin typeface="Arial"/>
                <a:cs typeface="Arial"/>
              </a:rPr>
              <a:t>and </a:t>
            </a:r>
            <a:r>
              <a:rPr sz="2000" b="0" spc="95" dirty="0">
                <a:solidFill>
                  <a:srgbClr val="333333"/>
                </a:solidFill>
                <a:latin typeface="Arial"/>
                <a:cs typeface="Arial"/>
              </a:rPr>
              <a:t>the catch </a:t>
            </a:r>
            <a:r>
              <a:rPr sz="2000" b="0" spc="85" dirty="0">
                <a:solidFill>
                  <a:srgbClr val="333333"/>
                </a:solidFill>
                <a:latin typeface="Arial"/>
                <a:cs typeface="Arial"/>
              </a:rPr>
              <a:t>block </a:t>
            </a:r>
            <a:r>
              <a:rPr sz="2000" b="0" spc="55" dirty="0">
                <a:solidFill>
                  <a:srgbClr val="333333"/>
                </a:solidFill>
                <a:latin typeface="Arial"/>
                <a:cs typeface="Arial"/>
              </a:rPr>
              <a:t>handles </a:t>
            </a:r>
            <a:r>
              <a:rPr sz="2000" b="0" spc="95" dirty="0">
                <a:solidFill>
                  <a:srgbClr val="333333"/>
                </a:solidFill>
                <a:latin typeface="Arial"/>
                <a:cs typeface="Arial"/>
              </a:rPr>
              <a:t>the  </a:t>
            </a:r>
            <a:r>
              <a:rPr sz="2000" b="0" spc="70" dirty="0">
                <a:solidFill>
                  <a:srgbClr val="333333"/>
                </a:solidFill>
                <a:latin typeface="Arial"/>
                <a:cs typeface="Arial"/>
              </a:rPr>
              <a:t>exception. </a:t>
            </a:r>
            <a:r>
              <a:rPr sz="2000" b="0" spc="65" dirty="0">
                <a:solidFill>
                  <a:srgbClr val="333333"/>
                </a:solidFill>
                <a:latin typeface="Arial"/>
                <a:cs typeface="Arial"/>
              </a:rPr>
              <a:t>Later </a:t>
            </a:r>
            <a:r>
              <a:rPr sz="2000" b="0" spc="95" dirty="0">
                <a:solidFill>
                  <a:srgbClr val="333333"/>
                </a:solidFill>
                <a:latin typeface="Arial"/>
                <a:cs typeface="Arial"/>
              </a:rPr>
              <a:t>the </a:t>
            </a:r>
            <a:r>
              <a:rPr sz="2000" b="0" spc="60" dirty="0">
                <a:solidFill>
                  <a:srgbClr val="333333"/>
                </a:solidFill>
                <a:latin typeface="Arial"/>
                <a:cs typeface="Arial"/>
              </a:rPr>
              <a:t>finally </a:t>
            </a:r>
            <a:r>
              <a:rPr sz="2000" b="0" spc="85" dirty="0">
                <a:solidFill>
                  <a:srgbClr val="333333"/>
                </a:solidFill>
                <a:latin typeface="Arial"/>
                <a:cs typeface="Arial"/>
              </a:rPr>
              <a:t>block </a:t>
            </a:r>
            <a:r>
              <a:rPr sz="2000" b="0" spc="35" dirty="0">
                <a:solidFill>
                  <a:srgbClr val="333333"/>
                </a:solidFill>
                <a:latin typeface="Arial"/>
                <a:cs typeface="Arial"/>
              </a:rPr>
              <a:t>is </a:t>
            </a:r>
            <a:r>
              <a:rPr sz="2000" b="0" spc="80" dirty="0">
                <a:solidFill>
                  <a:srgbClr val="333333"/>
                </a:solidFill>
                <a:latin typeface="Arial"/>
                <a:cs typeface="Arial"/>
              </a:rPr>
              <a:t>executed </a:t>
            </a:r>
            <a:r>
              <a:rPr sz="2000" b="0" spc="90" dirty="0">
                <a:solidFill>
                  <a:srgbClr val="333333"/>
                </a:solidFill>
                <a:latin typeface="Arial"/>
                <a:cs typeface="Arial"/>
              </a:rPr>
              <a:t>after </a:t>
            </a:r>
            <a:r>
              <a:rPr sz="2000" b="0" spc="100" dirty="0">
                <a:solidFill>
                  <a:srgbClr val="333333"/>
                </a:solidFill>
                <a:latin typeface="Arial"/>
                <a:cs typeface="Arial"/>
              </a:rPr>
              <a:t>the </a:t>
            </a:r>
            <a:r>
              <a:rPr sz="2000" b="0" spc="120" dirty="0">
                <a:solidFill>
                  <a:srgbClr val="333333"/>
                </a:solidFill>
                <a:latin typeface="Arial"/>
                <a:cs typeface="Arial"/>
              </a:rPr>
              <a:t>try-catch </a:t>
            </a:r>
            <a:r>
              <a:rPr sz="2000" b="0" spc="70" dirty="0">
                <a:solidFill>
                  <a:srgbClr val="333333"/>
                </a:solidFill>
                <a:latin typeface="Arial"/>
                <a:cs typeface="Arial"/>
              </a:rPr>
              <a:t>block.  </a:t>
            </a:r>
            <a:r>
              <a:rPr sz="2000" b="0" spc="55" dirty="0">
                <a:solidFill>
                  <a:srgbClr val="333333"/>
                </a:solidFill>
                <a:latin typeface="Arial"/>
                <a:cs typeface="Arial"/>
              </a:rPr>
              <a:t>Further,</a:t>
            </a:r>
            <a:r>
              <a:rPr sz="2000" b="0" spc="5" dirty="0">
                <a:solidFill>
                  <a:srgbClr val="333333"/>
                </a:solidFill>
                <a:latin typeface="Arial"/>
                <a:cs typeface="Arial"/>
              </a:rPr>
              <a:t> </a:t>
            </a:r>
            <a:r>
              <a:rPr sz="2000" b="0" spc="95" dirty="0">
                <a:solidFill>
                  <a:srgbClr val="333333"/>
                </a:solidFill>
                <a:latin typeface="Arial"/>
                <a:cs typeface="Arial"/>
              </a:rPr>
              <a:t>the</a:t>
            </a:r>
            <a:r>
              <a:rPr sz="2000" b="0" spc="-10" dirty="0">
                <a:solidFill>
                  <a:srgbClr val="333333"/>
                </a:solidFill>
                <a:latin typeface="Arial"/>
                <a:cs typeface="Arial"/>
              </a:rPr>
              <a:t> </a:t>
            </a:r>
            <a:r>
              <a:rPr sz="2000" b="0" spc="80" dirty="0">
                <a:solidFill>
                  <a:srgbClr val="333333"/>
                </a:solidFill>
                <a:latin typeface="Arial"/>
                <a:cs typeface="Arial"/>
              </a:rPr>
              <a:t>rest</a:t>
            </a:r>
            <a:r>
              <a:rPr sz="2000" b="0" spc="10" dirty="0">
                <a:solidFill>
                  <a:srgbClr val="333333"/>
                </a:solidFill>
                <a:latin typeface="Arial"/>
                <a:cs typeface="Arial"/>
              </a:rPr>
              <a:t> </a:t>
            </a:r>
            <a:r>
              <a:rPr sz="2000" b="0" spc="125" dirty="0">
                <a:solidFill>
                  <a:srgbClr val="333333"/>
                </a:solidFill>
                <a:latin typeface="Arial"/>
                <a:cs typeface="Arial"/>
              </a:rPr>
              <a:t>of</a:t>
            </a:r>
            <a:r>
              <a:rPr sz="2000" b="0" spc="-10" dirty="0">
                <a:solidFill>
                  <a:srgbClr val="333333"/>
                </a:solidFill>
                <a:latin typeface="Arial"/>
                <a:cs typeface="Arial"/>
              </a:rPr>
              <a:t> </a:t>
            </a:r>
            <a:r>
              <a:rPr sz="2000" b="0" spc="95" dirty="0">
                <a:solidFill>
                  <a:srgbClr val="333333"/>
                </a:solidFill>
                <a:latin typeface="Arial"/>
                <a:cs typeface="Arial"/>
              </a:rPr>
              <a:t>the</a:t>
            </a:r>
            <a:r>
              <a:rPr sz="2000" b="0" dirty="0">
                <a:solidFill>
                  <a:srgbClr val="333333"/>
                </a:solidFill>
                <a:latin typeface="Arial"/>
                <a:cs typeface="Arial"/>
              </a:rPr>
              <a:t> </a:t>
            </a:r>
            <a:r>
              <a:rPr sz="2000" b="0" spc="90" dirty="0">
                <a:solidFill>
                  <a:srgbClr val="333333"/>
                </a:solidFill>
                <a:latin typeface="Arial"/>
                <a:cs typeface="Arial"/>
              </a:rPr>
              <a:t>code</a:t>
            </a:r>
            <a:r>
              <a:rPr sz="2000" b="0" spc="-15" dirty="0">
                <a:solidFill>
                  <a:srgbClr val="333333"/>
                </a:solidFill>
                <a:latin typeface="Arial"/>
                <a:cs typeface="Arial"/>
              </a:rPr>
              <a:t> </a:t>
            </a:r>
            <a:r>
              <a:rPr sz="2000" b="0" spc="35" dirty="0">
                <a:solidFill>
                  <a:srgbClr val="333333"/>
                </a:solidFill>
                <a:latin typeface="Arial"/>
                <a:cs typeface="Arial"/>
              </a:rPr>
              <a:t>is</a:t>
            </a:r>
            <a:r>
              <a:rPr sz="2000" b="0" dirty="0">
                <a:solidFill>
                  <a:srgbClr val="333333"/>
                </a:solidFill>
                <a:latin typeface="Arial"/>
                <a:cs typeface="Arial"/>
              </a:rPr>
              <a:t> </a:t>
            </a:r>
            <a:r>
              <a:rPr sz="2000" b="0" spc="40" dirty="0">
                <a:solidFill>
                  <a:srgbClr val="333333"/>
                </a:solidFill>
                <a:latin typeface="Arial"/>
                <a:cs typeface="Arial"/>
              </a:rPr>
              <a:t>also</a:t>
            </a:r>
            <a:r>
              <a:rPr sz="2000" b="0" spc="-5" dirty="0">
                <a:solidFill>
                  <a:srgbClr val="333333"/>
                </a:solidFill>
                <a:latin typeface="Arial"/>
                <a:cs typeface="Arial"/>
              </a:rPr>
              <a:t> </a:t>
            </a:r>
            <a:r>
              <a:rPr sz="2000" b="0" spc="85" dirty="0">
                <a:solidFill>
                  <a:srgbClr val="333333"/>
                </a:solidFill>
                <a:latin typeface="Arial"/>
                <a:cs typeface="Arial"/>
              </a:rPr>
              <a:t>executed</a:t>
            </a:r>
            <a:r>
              <a:rPr sz="2000" b="0" spc="-20" dirty="0">
                <a:solidFill>
                  <a:srgbClr val="333333"/>
                </a:solidFill>
                <a:latin typeface="Arial"/>
                <a:cs typeface="Arial"/>
              </a:rPr>
              <a:t> </a:t>
            </a:r>
            <a:r>
              <a:rPr sz="2000" b="0" spc="50" dirty="0">
                <a:solidFill>
                  <a:srgbClr val="333333"/>
                </a:solidFill>
                <a:latin typeface="Arial"/>
                <a:cs typeface="Arial"/>
              </a:rPr>
              <a:t>normally.</a:t>
            </a:r>
            <a:endParaRPr sz="2000">
              <a:latin typeface="Arial"/>
              <a:cs typeface="Arial"/>
            </a:endParaRPr>
          </a:p>
        </p:txBody>
      </p:sp>
      <p:sp>
        <p:nvSpPr>
          <p:cNvPr id="3" name="object 3"/>
          <p:cNvSpPr txBox="1"/>
          <p:nvPr/>
        </p:nvSpPr>
        <p:spPr>
          <a:xfrm>
            <a:off x="154939" y="1537873"/>
            <a:ext cx="4785995" cy="4732655"/>
          </a:xfrm>
          <a:prstGeom prst="rect">
            <a:avLst/>
          </a:prstGeom>
        </p:spPr>
        <p:txBody>
          <a:bodyPr vert="horz" wrap="square" lIns="0" tIns="65405" rIns="0" bIns="0" rtlCol="0">
            <a:spAutoFit/>
          </a:bodyPr>
          <a:lstStyle/>
          <a:p>
            <a:pPr marL="12700">
              <a:lnSpc>
                <a:spcPct val="100000"/>
              </a:lnSpc>
              <a:spcBef>
                <a:spcPts val="515"/>
              </a:spcBef>
            </a:pPr>
            <a:r>
              <a:rPr sz="1200" b="1" spc="-80" dirty="0">
                <a:solidFill>
                  <a:srgbClr val="006699"/>
                </a:solidFill>
                <a:latin typeface="Verdana"/>
                <a:cs typeface="Verdana"/>
              </a:rPr>
              <a:t>public </a:t>
            </a:r>
            <a:r>
              <a:rPr sz="1200" b="1" spc="-55" dirty="0">
                <a:solidFill>
                  <a:srgbClr val="006699"/>
                </a:solidFill>
                <a:latin typeface="Verdana"/>
                <a:cs typeface="Verdana"/>
              </a:rPr>
              <a:t>class</a:t>
            </a:r>
            <a:r>
              <a:rPr sz="1200" b="1" spc="-60" dirty="0">
                <a:solidFill>
                  <a:srgbClr val="006699"/>
                </a:solidFill>
                <a:latin typeface="Verdana"/>
                <a:cs typeface="Verdana"/>
              </a:rPr>
              <a:t> </a:t>
            </a:r>
            <a:r>
              <a:rPr sz="1200" spc="30" dirty="0">
                <a:latin typeface="Arial"/>
                <a:cs typeface="Arial"/>
              </a:rPr>
              <a:t>TestFinallyBlock2{</a:t>
            </a:r>
            <a:endParaRPr sz="1200" dirty="0">
              <a:latin typeface="Arial"/>
              <a:cs typeface="Arial"/>
            </a:endParaRPr>
          </a:p>
          <a:p>
            <a:pPr marL="269875">
              <a:lnSpc>
                <a:spcPct val="100000"/>
              </a:lnSpc>
              <a:spcBef>
                <a:spcPts val="420"/>
              </a:spcBef>
            </a:pPr>
            <a:r>
              <a:rPr sz="1200" b="1" spc="-75" dirty="0">
                <a:solidFill>
                  <a:srgbClr val="006699"/>
                </a:solidFill>
                <a:latin typeface="Verdana"/>
                <a:cs typeface="Verdana"/>
              </a:rPr>
              <a:t>public </a:t>
            </a:r>
            <a:r>
              <a:rPr sz="1200" b="1" spc="-65" dirty="0">
                <a:solidFill>
                  <a:srgbClr val="006699"/>
                </a:solidFill>
                <a:latin typeface="Verdana"/>
                <a:cs typeface="Verdana"/>
              </a:rPr>
              <a:t>static </a:t>
            </a:r>
            <a:r>
              <a:rPr sz="1200" b="1" spc="-85" dirty="0">
                <a:solidFill>
                  <a:srgbClr val="006699"/>
                </a:solidFill>
                <a:latin typeface="Verdana"/>
                <a:cs typeface="Verdana"/>
              </a:rPr>
              <a:t>void </a:t>
            </a:r>
            <a:r>
              <a:rPr sz="1200" spc="30" dirty="0">
                <a:latin typeface="Arial"/>
                <a:cs typeface="Arial"/>
              </a:rPr>
              <a:t>main(String</a:t>
            </a:r>
            <a:r>
              <a:rPr sz="1200" spc="-15" dirty="0">
                <a:latin typeface="Arial"/>
                <a:cs typeface="Arial"/>
              </a:rPr>
              <a:t> </a:t>
            </a:r>
            <a:r>
              <a:rPr sz="1200" spc="45" dirty="0">
                <a:latin typeface="Arial"/>
                <a:cs typeface="Arial"/>
              </a:rPr>
              <a:t>args[]){</a:t>
            </a:r>
            <a:endParaRPr sz="1200" dirty="0">
              <a:latin typeface="Arial"/>
              <a:cs typeface="Arial"/>
            </a:endParaRPr>
          </a:p>
          <a:p>
            <a:pPr marL="355600">
              <a:lnSpc>
                <a:spcPct val="100000"/>
              </a:lnSpc>
              <a:spcBef>
                <a:spcPts val="409"/>
              </a:spcBef>
            </a:pPr>
            <a:r>
              <a:rPr sz="1200" b="1" spc="-90" dirty="0">
                <a:solidFill>
                  <a:srgbClr val="006699"/>
                </a:solidFill>
                <a:latin typeface="Verdana"/>
                <a:cs typeface="Verdana"/>
              </a:rPr>
              <a:t>try </a:t>
            </a:r>
            <a:r>
              <a:rPr sz="1200" spc="30" dirty="0">
                <a:latin typeface="Arial"/>
                <a:cs typeface="Arial"/>
              </a:rPr>
              <a:t>{</a:t>
            </a:r>
            <a:endParaRPr sz="1200" dirty="0">
              <a:latin typeface="Arial"/>
              <a:cs typeface="Arial"/>
            </a:endParaRPr>
          </a:p>
          <a:p>
            <a:pPr marL="698500">
              <a:lnSpc>
                <a:spcPct val="100000"/>
              </a:lnSpc>
              <a:spcBef>
                <a:spcPts val="409"/>
              </a:spcBef>
            </a:pPr>
            <a:r>
              <a:rPr sz="1200" spc="35" dirty="0">
                <a:latin typeface="Arial"/>
                <a:cs typeface="Arial"/>
              </a:rPr>
              <a:t>System.out.println(</a:t>
            </a:r>
            <a:r>
              <a:rPr sz="1200" spc="35" dirty="0">
                <a:solidFill>
                  <a:srgbClr val="0000FF"/>
                </a:solidFill>
                <a:latin typeface="Arial"/>
                <a:cs typeface="Arial"/>
              </a:rPr>
              <a:t>"Inside </a:t>
            </a:r>
            <a:r>
              <a:rPr sz="1200" spc="65" dirty="0">
                <a:solidFill>
                  <a:srgbClr val="0000FF"/>
                </a:solidFill>
                <a:latin typeface="Arial"/>
                <a:cs typeface="Arial"/>
              </a:rPr>
              <a:t>try</a:t>
            </a:r>
            <a:r>
              <a:rPr sz="1200" spc="-45" dirty="0">
                <a:solidFill>
                  <a:srgbClr val="0000FF"/>
                </a:solidFill>
                <a:latin typeface="Arial"/>
                <a:cs typeface="Arial"/>
              </a:rPr>
              <a:t> </a:t>
            </a:r>
            <a:r>
              <a:rPr sz="1200" spc="40" dirty="0">
                <a:solidFill>
                  <a:srgbClr val="0000FF"/>
                </a:solidFill>
                <a:latin typeface="Arial"/>
                <a:cs typeface="Arial"/>
              </a:rPr>
              <a:t>block"</a:t>
            </a:r>
            <a:r>
              <a:rPr sz="1200" spc="40" dirty="0">
                <a:latin typeface="Arial"/>
                <a:cs typeface="Arial"/>
              </a:rPr>
              <a:t>);</a:t>
            </a:r>
            <a:endParaRPr sz="1200" dirty="0">
              <a:latin typeface="Arial"/>
              <a:cs typeface="Arial"/>
            </a:endParaRPr>
          </a:p>
          <a:p>
            <a:pPr marL="698500">
              <a:lnSpc>
                <a:spcPct val="100000"/>
              </a:lnSpc>
              <a:spcBef>
                <a:spcPts val="420"/>
              </a:spcBef>
            </a:pPr>
            <a:r>
              <a:rPr sz="1200" spc="65" dirty="0">
                <a:solidFill>
                  <a:srgbClr val="008200"/>
                </a:solidFill>
                <a:latin typeface="Arial"/>
                <a:cs typeface="Arial"/>
              </a:rPr>
              <a:t>//below</a:t>
            </a:r>
            <a:r>
              <a:rPr sz="1200" spc="-15" dirty="0">
                <a:solidFill>
                  <a:srgbClr val="008200"/>
                </a:solidFill>
                <a:latin typeface="Arial"/>
                <a:cs typeface="Arial"/>
              </a:rPr>
              <a:t> </a:t>
            </a:r>
            <a:r>
              <a:rPr sz="1200" spc="55" dirty="0">
                <a:solidFill>
                  <a:srgbClr val="008200"/>
                </a:solidFill>
                <a:latin typeface="Arial"/>
                <a:cs typeface="Arial"/>
              </a:rPr>
              <a:t>code</a:t>
            </a:r>
            <a:r>
              <a:rPr sz="1200" spc="10" dirty="0">
                <a:solidFill>
                  <a:srgbClr val="008200"/>
                </a:solidFill>
                <a:latin typeface="Arial"/>
                <a:cs typeface="Arial"/>
              </a:rPr>
              <a:t> </a:t>
            </a:r>
            <a:r>
              <a:rPr sz="1200" spc="60" dirty="0">
                <a:solidFill>
                  <a:srgbClr val="008200"/>
                </a:solidFill>
                <a:latin typeface="Arial"/>
                <a:cs typeface="Arial"/>
              </a:rPr>
              <a:t>throws</a:t>
            </a:r>
            <a:r>
              <a:rPr sz="1200" spc="5" dirty="0">
                <a:solidFill>
                  <a:srgbClr val="008200"/>
                </a:solidFill>
                <a:latin typeface="Arial"/>
                <a:cs typeface="Arial"/>
              </a:rPr>
              <a:t> </a:t>
            </a:r>
            <a:r>
              <a:rPr sz="1200" spc="45" dirty="0">
                <a:solidFill>
                  <a:srgbClr val="008200"/>
                </a:solidFill>
                <a:latin typeface="Arial"/>
                <a:cs typeface="Arial"/>
              </a:rPr>
              <a:t>divide</a:t>
            </a:r>
            <a:r>
              <a:rPr sz="1200" spc="15" dirty="0">
                <a:solidFill>
                  <a:srgbClr val="008200"/>
                </a:solidFill>
                <a:latin typeface="Arial"/>
                <a:cs typeface="Arial"/>
              </a:rPr>
              <a:t> </a:t>
            </a:r>
            <a:r>
              <a:rPr sz="1200" spc="70" dirty="0">
                <a:solidFill>
                  <a:srgbClr val="008200"/>
                </a:solidFill>
                <a:latin typeface="Arial"/>
                <a:cs typeface="Arial"/>
              </a:rPr>
              <a:t>by</a:t>
            </a:r>
            <a:r>
              <a:rPr sz="1200" dirty="0">
                <a:solidFill>
                  <a:srgbClr val="008200"/>
                </a:solidFill>
                <a:latin typeface="Arial"/>
                <a:cs typeface="Arial"/>
              </a:rPr>
              <a:t> </a:t>
            </a:r>
            <a:r>
              <a:rPr sz="1200" spc="40" dirty="0">
                <a:solidFill>
                  <a:srgbClr val="008200"/>
                </a:solidFill>
                <a:latin typeface="Arial"/>
                <a:cs typeface="Arial"/>
              </a:rPr>
              <a:t>zero</a:t>
            </a:r>
            <a:r>
              <a:rPr sz="1200" dirty="0">
                <a:solidFill>
                  <a:srgbClr val="008200"/>
                </a:solidFill>
                <a:latin typeface="Arial"/>
                <a:cs typeface="Arial"/>
              </a:rPr>
              <a:t> </a:t>
            </a:r>
            <a:r>
              <a:rPr sz="1200" spc="45" dirty="0">
                <a:solidFill>
                  <a:srgbClr val="008200"/>
                </a:solidFill>
                <a:latin typeface="Arial"/>
                <a:cs typeface="Arial"/>
              </a:rPr>
              <a:t>exception</a:t>
            </a:r>
            <a:endParaRPr sz="1200" dirty="0">
              <a:latin typeface="Arial"/>
              <a:cs typeface="Arial"/>
            </a:endParaRPr>
          </a:p>
          <a:p>
            <a:pPr marL="698500" marR="2291715" indent="42545">
              <a:lnSpc>
                <a:spcPct val="128299"/>
              </a:lnSpc>
            </a:pPr>
            <a:r>
              <a:rPr sz="1200" b="1" spc="-95" dirty="0">
                <a:solidFill>
                  <a:srgbClr val="006699"/>
                </a:solidFill>
                <a:latin typeface="Verdana"/>
                <a:cs typeface="Verdana"/>
              </a:rPr>
              <a:t>int </a:t>
            </a:r>
            <a:r>
              <a:rPr sz="1200" spc="55" dirty="0">
                <a:latin typeface="Arial"/>
                <a:cs typeface="Arial"/>
              </a:rPr>
              <a:t>data=</a:t>
            </a:r>
            <a:r>
              <a:rPr sz="1200" spc="55" dirty="0">
                <a:solidFill>
                  <a:srgbClr val="C00000"/>
                </a:solidFill>
                <a:latin typeface="Arial"/>
                <a:cs typeface="Arial"/>
              </a:rPr>
              <a:t>25</a:t>
            </a:r>
            <a:r>
              <a:rPr sz="1200" spc="55" dirty="0">
                <a:latin typeface="Arial"/>
                <a:cs typeface="Arial"/>
              </a:rPr>
              <a:t>/</a:t>
            </a:r>
            <a:r>
              <a:rPr sz="1200" spc="55" dirty="0">
                <a:solidFill>
                  <a:srgbClr val="C00000"/>
                </a:solidFill>
                <a:latin typeface="Arial"/>
                <a:cs typeface="Arial"/>
              </a:rPr>
              <a:t>0</a:t>
            </a:r>
            <a:r>
              <a:rPr sz="1200" spc="55" dirty="0">
                <a:latin typeface="Arial"/>
                <a:cs typeface="Arial"/>
              </a:rPr>
              <a:t>;  </a:t>
            </a:r>
            <a:r>
              <a:rPr sz="1200" spc="35" dirty="0">
                <a:latin typeface="Arial"/>
                <a:cs typeface="Arial"/>
              </a:rPr>
              <a:t>System.out.println(data);</a:t>
            </a:r>
            <a:endParaRPr sz="1200" dirty="0">
              <a:latin typeface="Arial"/>
              <a:cs typeface="Arial"/>
            </a:endParaRPr>
          </a:p>
          <a:p>
            <a:pPr marL="570230">
              <a:lnSpc>
                <a:spcPct val="100000"/>
              </a:lnSpc>
              <a:spcBef>
                <a:spcPts val="420"/>
              </a:spcBef>
            </a:pPr>
            <a:r>
              <a:rPr sz="1200" spc="30" dirty="0">
                <a:latin typeface="Arial"/>
                <a:cs typeface="Arial"/>
              </a:rPr>
              <a:t>}</a:t>
            </a:r>
            <a:endParaRPr sz="1200" dirty="0">
              <a:latin typeface="Arial"/>
              <a:cs typeface="Arial"/>
            </a:endParaRPr>
          </a:p>
          <a:p>
            <a:pPr marL="355600">
              <a:lnSpc>
                <a:spcPct val="100000"/>
              </a:lnSpc>
              <a:spcBef>
                <a:spcPts val="409"/>
              </a:spcBef>
            </a:pPr>
            <a:r>
              <a:rPr sz="1200" spc="45" dirty="0">
                <a:solidFill>
                  <a:srgbClr val="008200"/>
                </a:solidFill>
                <a:latin typeface="Arial"/>
                <a:cs typeface="Arial"/>
              </a:rPr>
              <a:t>//handles</a:t>
            </a:r>
            <a:r>
              <a:rPr sz="1200" spc="-5" dirty="0">
                <a:solidFill>
                  <a:srgbClr val="008200"/>
                </a:solidFill>
                <a:latin typeface="Arial"/>
                <a:cs typeface="Arial"/>
              </a:rPr>
              <a:t> </a:t>
            </a:r>
            <a:r>
              <a:rPr sz="1200" spc="55" dirty="0">
                <a:solidFill>
                  <a:srgbClr val="008200"/>
                </a:solidFill>
                <a:latin typeface="Arial"/>
                <a:cs typeface="Arial"/>
              </a:rPr>
              <a:t>the</a:t>
            </a:r>
            <a:r>
              <a:rPr sz="1200" spc="5" dirty="0">
                <a:solidFill>
                  <a:srgbClr val="008200"/>
                </a:solidFill>
                <a:latin typeface="Arial"/>
                <a:cs typeface="Arial"/>
              </a:rPr>
              <a:t> </a:t>
            </a:r>
            <a:r>
              <a:rPr sz="1200" spc="45" dirty="0">
                <a:solidFill>
                  <a:srgbClr val="008200"/>
                </a:solidFill>
                <a:latin typeface="Arial"/>
                <a:cs typeface="Arial"/>
              </a:rPr>
              <a:t>Arithmetic</a:t>
            </a:r>
            <a:r>
              <a:rPr sz="1200" spc="25" dirty="0">
                <a:solidFill>
                  <a:srgbClr val="008200"/>
                </a:solidFill>
                <a:latin typeface="Arial"/>
                <a:cs typeface="Arial"/>
              </a:rPr>
              <a:t> </a:t>
            </a:r>
            <a:r>
              <a:rPr sz="1200" spc="35" dirty="0">
                <a:solidFill>
                  <a:srgbClr val="008200"/>
                </a:solidFill>
                <a:latin typeface="Arial"/>
                <a:cs typeface="Arial"/>
              </a:rPr>
              <a:t>Exception</a:t>
            </a:r>
            <a:r>
              <a:rPr sz="1200" spc="10" dirty="0">
                <a:solidFill>
                  <a:srgbClr val="008200"/>
                </a:solidFill>
                <a:latin typeface="Arial"/>
                <a:cs typeface="Arial"/>
              </a:rPr>
              <a:t> </a:t>
            </a:r>
            <a:r>
              <a:rPr sz="1200" spc="90" dirty="0">
                <a:solidFill>
                  <a:srgbClr val="008200"/>
                </a:solidFill>
                <a:latin typeface="Arial"/>
                <a:cs typeface="Arial"/>
              </a:rPr>
              <a:t>/</a:t>
            </a:r>
            <a:r>
              <a:rPr sz="1200" spc="-10" dirty="0">
                <a:solidFill>
                  <a:srgbClr val="008200"/>
                </a:solidFill>
                <a:latin typeface="Arial"/>
                <a:cs typeface="Arial"/>
              </a:rPr>
              <a:t> </a:t>
            </a:r>
            <a:r>
              <a:rPr sz="1200" spc="30" dirty="0">
                <a:solidFill>
                  <a:srgbClr val="008200"/>
                </a:solidFill>
                <a:latin typeface="Arial"/>
                <a:cs typeface="Arial"/>
              </a:rPr>
              <a:t>Divide</a:t>
            </a:r>
            <a:r>
              <a:rPr sz="1200" spc="-5" dirty="0">
                <a:solidFill>
                  <a:srgbClr val="008200"/>
                </a:solidFill>
                <a:latin typeface="Arial"/>
                <a:cs typeface="Arial"/>
              </a:rPr>
              <a:t> </a:t>
            </a:r>
            <a:r>
              <a:rPr sz="1200" spc="70" dirty="0">
                <a:solidFill>
                  <a:srgbClr val="008200"/>
                </a:solidFill>
                <a:latin typeface="Arial"/>
                <a:cs typeface="Arial"/>
              </a:rPr>
              <a:t>by</a:t>
            </a:r>
            <a:r>
              <a:rPr sz="1200" dirty="0">
                <a:solidFill>
                  <a:srgbClr val="008200"/>
                </a:solidFill>
                <a:latin typeface="Arial"/>
                <a:cs typeface="Arial"/>
              </a:rPr>
              <a:t> </a:t>
            </a:r>
            <a:r>
              <a:rPr sz="1200" spc="40" dirty="0">
                <a:solidFill>
                  <a:srgbClr val="008200"/>
                </a:solidFill>
                <a:latin typeface="Arial"/>
                <a:cs typeface="Arial"/>
              </a:rPr>
              <a:t>zero</a:t>
            </a:r>
            <a:r>
              <a:rPr sz="1200" spc="-5" dirty="0">
                <a:solidFill>
                  <a:srgbClr val="008200"/>
                </a:solidFill>
                <a:latin typeface="Arial"/>
                <a:cs typeface="Arial"/>
              </a:rPr>
              <a:t> </a:t>
            </a:r>
            <a:r>
              <a:rPr sz="1200" spc="45" dirty="0">
                <a:solidFill>
                  <a:srgbClr val="008200"/>
                </a:solidFill>
                <a:latin typeface="Arial"/>
                <a:cs typeface="Arial"/>
              </a:rPr>
              <a:t>exception</a:t>
            </a:r>
            <a:endParaRPr sz="1200" dirty="0">
              <a:latin typeface="Arial"/>
              <a:cs typeface="Arial"/>
            </a:endParaRPr>
          </a:p>
          <a:p>
            <a:pPr marL="269875">
              <a:lnSpc>
                <a:spcPct val="100000"/>
              </a:lnSpc>
              <a:spcBef>
                <a:spcPts val="409"/>
              </a:spcBef>
            </a:pPr>
            <a:r>
              <a:rPr sz="1200" b="1" spc="15" dirty="0">
                <a:solidFill>
                  <a:srgbClr val="006699"/>
                </a:solidFill>
                <a:latin typeface="Verdana"/>
                <a:cs typeface="Verdana"/>
              </a:rPr>
              <a:t>catch</a:t>
            </a:r>
            <a:r>
              <a:rPr sz="1200" spc="15" dirty="0">
                <a:latin typeface="Arial"/>
                <a:cs typeface="Arial"/>
              </a:rPr>
              <a:t>(ArithmeticException</a:t>
            </a:r>
            <a:r>
              <a:rPr sz="1200" spc="25" dirty="0">
                <a:latin typeface="Arial"/>
                <a:cs typeface="Arial"/>
              </a:rPr>
              <a:t> e){</a:t>
            </a:r>
            <a:endParaRPr sz="1200" dirty="0">
              <a:latin typeface="Arial"/>
              <a:cs typeface="Arial"/>
            </a:endParaRPr>
          </a:p>
          <a:p>
            <a:pPr marL="355600" marR="1499870">
              <a:lnSpc>
                <a:spcPct val="128299"/>
              </a:lnSpc>
              <a:spcBef>
                <a:spcPts val="10"/>
              </a:spcBef>
            </a:pPr>
            <a:r>
              <a:rPr sz="1200" spc="35" dirty="0">
                <a:latin typeface="Arial"/>
                <a:cs typeface="Arial"/>
              </a:rPr>
              <a:t>System.out.println(</a:t>
            </a:r>
            <a:r>
              <a:rPr sz="1200" spc="35" dirty="0">
                <a:solidFill>
                  <a:srgbClr val="0000FF"/>
                </a:solidFill>
                <a:latin typeface="Arial"/>
                <a:cs typeface="Arial"/>
              </a:rPr>
              <a:t>"Exception handled"</a:t>
            </a:r>
            <a:r>
              <a:rPr sz="1200" spc="35" dirty="0">
                <a:latin typeface="Arial"/>
                <a:cs typeface="Arial"/>
              </a:rPr>
              <a:t>);  System.out.println(e);</a:t>
            </a:r>
            <a:endParaRPr sz="1200" dirty="0">
              <a:latin typeface="Arial"/>
              <a:cs typeface="Arial"/>
            </a:endParaRPr>
          </a:p>
          <a:p>
            <a:pPr marL="312420">
              <a:lnSpc>
                <a:spcPct val="100000"/>
              </a:lnSpc>
              <a:spcBef>
                <a:spcPts val="409"/>
              </a:spcBef>
            </a:pPr>
            <a:r>
              <a:rPr sz="1200" spc="30" dirty="0">
                <a:latin typeface="Arial"/>
                <a:cs typeface="Arial"/>
              </a:rPr>
              <a:t>}</a:t>
            </a:r>
            <a:endParaRPr sz="1200" dirty="0">
              <a:latin typeface="Arial"/>
              <a:cs typeface="Arial"/>
            </a:endParaRPr>
          </a:p>
          <a:p>
            <a:pPr marL="355600">
              <a:lnSpc>
                <a:spcPct val="100000"/>
              </a:lnSpc>
              <a:spcBef>
                <a:spcPts val="420"/>
              </a:spcBef>
            </a:pPr>
            <a:r>
              <a:rPr sz="1200" spc="50" dirty="0">
                <a:solidFill>
                  <a:srgbClr val="008200"/>
                </a:solidFill>
                <a:latin typeface="Arial"/>
                <a:cs typeface="Arial"/>
              </a:rPr>
              <a:t>//executes </a:t>
            </a:r>
            <a:r>
              <a:rPr sz="1200" spc="30" dirty="0">
                <a:solidFill>
                  <a:srgbClr val="008200"/>
                </a:solidFill>
                <a:latin typeface="Arial"/>
                <a:cs typeface="Arial"/>
              </a:rPr>
              <a:t>regardless </a:t>
            </a:r>
            <a:r>
              <a:rPr sz="1200" spc="70" dirty="0">
                <a:solidFill>
                  <a:srgbClr val="008200"/>
                </a:solidFill>
                <a:latin typeface="Arial"/>
                <a:cs typeface="Arial"/>
              </a:rPr>
              <a:t>of </a:t>
            </a:r>
            <a:r>
              <a:rPr sz="1200" spc="45" dirty="0">
                <a:solidFill>
                  <a:srgbClr val="008200"/>
                </a:solidFill>
                <a:latin typeface="Arial"/>
                <a:cs typeface="Arial"/>
              </a:rPr>
              <a:t>exception </a:t>
            </a:r>
            <a:r>
              <a:rPr sz="1200" spc="50" dirty="0">
                <a:solidFill>
                  <a:srgbClr val="008200"/>
                </a:solidFill>
                <a:latin typeface="Arial"/>
                <a:cs typeface="Arial"/>
              </a:rPr>
              <a:t>occured </a:t>
            </a:r>
            <a:r>
              <a:rPr sz="1200" spc="45" dirty="0">
                <a:solidFill>
                  <a:srgbClr val="008200"/>
                </a:solidFill>
                <a:latin typeface="Arial"/>
                <a:cs typeface="Arial"/>
              </a:rPr>
              <a:t>or</a:t>
            </a:r>
            <a:r>
              <a:rPr sz="1200" spc="-155" dirty="0">
                <a:solidFill>
                  <a:srgbClr val="008200"/>
                </a:solidFill>
                <a:latin typeface="Arial"/>
                <a:cs typeface="Arial"/>
              </a:rPr>
              <a:t> </a:t>
            </a:r>
            <a:r>
              <a:rPr sz="1200" spc="60" dirty="0">
                <a:solidFill>
                  <a:srgbClr val="008200"/>
                </a:solidFill>
                <a:latin typeface="Arial"/>
                <a:cs typeface="Arial"/>
              </a:rPr>
              <a:t>not</a:t>
            </a:r>
            <a:endParaRPr sz="1200" dirty="0">
              <a:latin typeface="Arial"/>
              <a:cs typeface="Arial"/>
            </a:endParaRPr>
          </a:p>
          <a:p>
            <a:pPr marL="269875">
              <a:lnSpc>
                <a:spcPct val="100000"/>
              </a:lnSpc>
              <a:spcBef>
                <a:spcPts val="409"/>
              </a:spcBef>
            </a:pPr>
            <a:r>
              <a:rPr sz="1200" b="1" spc="-90" dirty="0">
                <a:solidFill>
                  <a:srgbClr val="006699"/>
                </a:solidFill>
                <a:latin typeface="Verdana"/>
                <a:cs typeface="Verdana"/>
              </a:rPr>
              <a:t>finally</a:t>
            </a:r>
            <a:r>
              <a:rPr sz="1200" b="1" spc="-75" dirty="0">
                <a:solidFill>
                  <a:srgbClr val="006699"/>
                </a:solidFill>
                <a:latin typeface="Verdana"/>
                <a:cs typeface="Verdana"/>
              </a:rPr>
              <a:t> </a:t>
            </a:r>
            <a:r>
              <a:rPr sz="1200" spc="30" dirty="0">
                <a:latin typeface="Arial"/>
                <a:cs typeface="Arial"/>
              </a:rPr>
              <a:t>{</a:t>
            </a:r>
            <a:endParaRPr sz="1200" dirty="0">
              <a:latin typeface="Arial"/>
              <a:cs typeface="Arial"/>
            </a:endParaRPr>
          </a:p>
          <a:p>
            <a:pPr marL="783590">
              <a:lnSpc>
                <a:spcPct val="100000"/>
              </a:lnSpc>
              <a:spcBef>
                <a:spcPts val="405"/>
              </a:spcBef>
            </a:pPr>
            <a:r>
              <a:rPr sz="1200" spc="35" dirty="0">
                <a:latin typeface="Arial"/>
                <a:cs typeface="Arial"/>
              </a:rPr>
              <a:t>System.out.println(</a:t>
            </a:r>
            <a:r>
              <a:rPr sz="1200" spc="35" dirty="0">
                <a:solidFill>
                  <a:srgbClr val="0000FF"/>
                </a:solidFill>
                <a:latin typeface="Arial"/>
                <a:cs typeface="Arial"/>
              </a:rPr>
              <a:t>"finally </a:t>
            </a:r>
            <a:r>
              <a:rPr sz="1200" spc="50" dirty="0">
                <a:solidFill>
                  <a:srgbClr val="0000FF"/>
                </a:solidFill>
                <a:latin typeface="Arial"/>
                <a:cs typeface="Arial"/>
              </a:rPr>
              <a:t>block </a:t>
            </a:r>
            <a:r>
              <a:rPr sz="1200" spc="20" dirty="0">
                <a:solidFill>
                  <a:srgbClr val="0000FF"/>
                </a:solidFill>
                <a:latin typeface="Arial"/>
                <a:cs typeface="Arial"/>
              </a:rPr>
              <a:t>is </a:t>
            </a:r>
            <a:r>
              <a:rPr sz="1200" spc="35" dirty="0">
                <a:solidFill>
                  <a:srgbClr val="0000FF"/>
                </a:solidFill>
                <a:latin typeface="Arial"/>
                <a:cs typeface="Arial"/>
              </a:rPr>
              <a:t>always</a:t>
            </a:r>
            <a:r>
              <a:rPr sz="1200" spc="-90" dirty="0">
                <a:solidFill>
                  <a:srgbClr val="0000FF"/>
                </a:solidFill>
                <a:latin typeface="Arial"/>
                <a:cs typeface="Arial"/>
              </a:rPr>
              <a:t> </a:t>
            </a:r>
            <a:r>
              <a:rPr sz="1200" spc="40" dirty="0">
                <a:solidFill>
                  <a:srgbClr val="0000FF"/>
                </a:solidFill>
                <a:latin typeface="Arial"/>
                <a:cs typeface="Arial"/>
              </a:rPr>
              <a:t>executed"</a:t>
            </a:r>
            <a:r>
              <a:rPr sz="1200" spc="40" dirty="0">
                <a:latin typeface="Arial"/>
                <a:cs typeface="Arial"/>
              </a:rPr>
              <a:t>);</a:t>
            </a:r>
            <a:endParaRPr sz="1200" dirty="0">
              <a:latin typeface="Arial"/>
              <a:cs typeface="Arial"/>
            </a:endParaRPr>
          </a:p>
          <a:p>
            <a:pPr marL="269875">
              <a:lnSpc>
                <a:spcPct val="100000"/>
              </a:lnSpc>
              <a:spcBef>
                <a:spcPts val="420"/>
              </a:spcBef>
            </a:pPr>
            <a:r>
              <a:rPr sz="1200" spc="30" dirty="0">
                <a:latin typeface="Arial"/>
                <a:cs typeface="Arial"/>
              </a:rPr>
              <a:t>}</a:t>
            </a:r>
            <a:endParaRPr sz="1200" dirty="0">
              <a:latin typeface="Arial"/>
              <a:cs typeface="Arial"/>
            </a:endParaRPr>
          </a:p>
          <a:p>
            <a:pPr marL="355600">
              <a:lnSpc>
                <a:spcPct val="100000"/>
              </a:lnSpc>
              <a:spcBef>
                <a:spcPts val="409"/>
              </a:spcBef>
            </a:pPr>
            <a:r>
              <a:rPr sz="1200" spc="40" dirty="0">
                <a:latin typeface="Arial"/>
                <a:cs typeface="Arial"/>
              </a:rPr>
              <a:t>System.out.println(</a:t>
            </a:r>
            <a:r>
              <a:rPr sz="1200" spc="40" dirty="0">
                <a:solidFill>
                  <a:srgbClr val="0000FF"/>
                </a:solidFill>
                <a:latin typeface="Arial"/>
                <a:cs typeface="Arial"/>
              </a:rPr>
              <a:t>"rest </a:t>
            </a:r>
            <a:r>
              <a:rPr sz="1200" spc="70" dirty="0">
                <a:solidFill>
                  <a:srgbClr val="0000FF"/>
                </a:solidFill>
                <a:latin typeface="Arial"/>
                <a:cs typeface="Arial"/>
              </a:rPr>
              <a:t>of </a:t>
            </a:r>
            <a:r>
              <a:rPr sz="1200" spc="55" dirty="0">
                <a:solidFill>
                  <a:srgbClr val="0000FF"/>
                </a:solidFill>
                <a:latin typeface="Arial"/>
                <a:cs typeface="Arial"/>
              </a:rPr>
              <a:t>the</a:t>
            </a:r>
            <a:r>
              <a:rPr sz="1200" spc="-110" dirty="0">
                <a:solidFill>
                  <a:srgbClr val="0000FF"/>
                </a:solidFill>
                <a:latin typeface="Arial"/>
                <a:cs typeface="Arial"/>
              </a:rPr>
              <a:t> </a:t>
            </a:r>
            <a:r>
              <a:rPr sz="1200" spc="30" dirty="0">
                <a:solidFill>
                  <a:srgbClr val="0000FF"/>
                </a:solidFill>
                <a:latin typeface="Arial"/>
                <a:cs typeface="Arial"/>
              </a:rPr>
              <a:t>code..."</a:t>
            </a:r>
            <a:r>
              <a:rPr sz="1200" spc="30" dirty="0">
                <a:latin typeface="Arial"/>
                <a:cs typeface="Arial"/>
              </a:rPr>
              <a:t>);</a:t>
            </a:r>
            <a:endParaRPr sz="1200" dirty="0">
              <a:latin typeface="Arial"/>
              <a:cs typeface="Arial"/>
            </a:endParaRPr>
          </a:p>
          <a:p>
            <a:pPr marL="140335">
              <a:lnSpc>
                <a:spcPct val="100000"/>
              </a:lnSpc>
              <a:spcBef>
                <a:spcPts val="409"/>
              </a:spcBef>
            </a:pPr>
            <a:r>
              <a:rPr sz="1200" spc="30" dirty="0">
                <a:latin typeface="Arial"/>
                <a:cs typeface="Arial"/>
              </a:rPr>
              <a:t>}</a:t>
            </a:r>
            <a:endParaRPr sz="1200" dirty="0">
              <a:latin typeface="Arial"/>
              <a:cs typeface="Arial"/>
            </a:endParaRPr>
          </a:p>
          <a:p>
            <a:pPr marL="55244">
              <a:lnSpc>
                <a:spcPct val="100000"/>
              </a:lnSpc>
              <a:spcBef>
                <a:spcPts val="420"/>
              </a:spcBef>
            </a:pPr>
            <a:r>
              <a:rPr sz="1200" spc="30" dirty="0">
                <a:latin typeface="Arial"/>
                <a:cs typeface="Arial"/>
              </a:rPr>
              <a:t>}</a:t>
            </a:r>
            <a:endParaRPr sz="1200" dirty="0">
              <a:latin typeface="Arial"/>
              <a:cs typeface="Arial"/>
            </a:endParaRPr>
          </a:p>
        </p:txBody>
      </p:sp>
      <p:sp>
        <p:nvSpPr>
          <p:cNvPr id="4" name="object 4"/>
          <p:cNvSpPr/>
          <p:nvPr/>
        </p:nvSpPr>
        <p:spPr>
          <a:xfrm>
            <a:off x="4430031" y="5410200"/>
            <a:ext cx="4235431" cy="1095756"/>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64312"/>
            <a:ext cx="1684655" cy="757555"/>
          </a:xfrm>
          <a:prstGeom prst="rect">
            <a:avLst/>
          </a:prstGeom>
        </p:spPr>
        <p:txBody>
          <a:bodyPr vert="horz" wrap="square" lIns="0" tIns="12700" rIns="0" bIns="0" rtlCol="0">
            <a:spAutoFit/>
          </a:bodyPr>
          <a:lstStyle/>
          <a:p>
            <a:pPr marL="12700">
              <a:lnSpc>
                <a:spcPct val="100000"/>
              </a:lnSpc>
              <a:spcBef>
                <a:spcPts val="100"/>
              </a:spcBef>
            </a:pPr>
            <a:r>
              <a:rPr sz="4800" dirty="0"/>
              <a:t>fina</a:t>
            </a:r>
            <a:r>
              <a:rPr sz="4800" spc="-15" dirty="0"/>
              <a:t>l</a:t>
            </a:r>
            <a:r>
              <a:rPr sz="4800" dirty="0"/>
              <a:t>ly</a:t>
            </a:r>
            <a:endParaRPr sz="4800"/>
          </a:p>
        </p:txBody>
      </p:sp>
      <p:sp>
        <p:nvSpPr>
          <p:cNvPr id="3" name="object 3"/>
          <p:cNvSpPr/>
          <p:nvPr/>
        </p:nvSpPr>
        <p:spPr>
          <a:xfrm>
            <a:off x="152400" y="1663784"/>
            <a:ext cx="8780606" cy="5055083"/>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64312"/>
            <a:ext cx="1684655" cy="757555"/>
          </a:xfrm>
          <a:prstGeom prst="rect">
            <a:avLst/>
          </a:prstGeom>
        </p:spPr>
        <p:txBody>
          <a:bodyPr vert="horz" wrap="square" lIns="0" tIns="12700" rIns="0" bIns="0" rtlCol="0">
            <a:spAutoFit/>
          </a:bodyPr>
          <a:lstStyle/>
          <a:p>
            <a:pPr marL="12700">
              <a:lnSpc>
                <a:spcPct val="100000"/>
              </a:lnSpc>
              <a:spcBef>
                <a:spcPts val="100"/>
              </a:spcBef>
            </a:pPr>
            <a:r>
              <a:rPr sz="4800" dirty="0"/>
              <a:t>fina</a:t>
            </a:r>
            <a:r>
              <a:rPr sz="4800" spc="-15" dirty="0"/>
              <a:t>l</a:t>
            </a:r>
            <a:r>
              <a:rPr sz="4800" dirty="0"/>
              <a:t>ly</a:t>
            </a:r>
            <a:endParaRPr sz="4800"/>
          </a:p>
        </p:txBody>
      </p:sp>
      <p:sp>
        <p:nvSpPr>
          <p:cNvPr id="3" name="object 3"/>
          <p:cNvSpPr/>
          <p:nvPr/>
        </p:nvSpPr>
        <p:spPr>
          <a:xfrm>
            <a:off x="185697" y="1616981"/>
            <a:ext cx="8857129" cy="5084782"/>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1752600"/>
            <a:ext cx="4572000" cy="2339102"/>
          </a:xfrm>
          <a:prstGeom prst="rect">
            <a:avLst/>
          </a:prstGeom>
        </p:spPr>
        <p:txBody>
          <a:bodyPr>
            <a:spAutoFit/>
          </a:bodyPr>
          <a:lstStyle/>
          <a:p>
            <a:r>
              <a:rPr lang="en-IN" sz="2000" b="1" dirty="0" smtClean="0"/>
              <a:t>OUTPUT:</a:t>
            </a:r>
          </a:p>
          <a:p>
            <a:r>
              <a:rPr lang="en-IN" dirty="0" smtClean="0"/>
              <a:t>	inside </a:t>
            </a:r>
            <a:r>
              <a:rPr lang="en-IN" dirty="0" err="1" smtClean="0"/>
              <a:t>procA</a:t>
            </a:r>
            <a:endParaRPr lang="en-IN" dirty="0" smtClean="0"/>
          </a:p>
          <a:p>
            <a:r>
              <a:rPr lang="en-IN" dirty="0" smtClean="0"/>
              <a:t>	</a:t>
            </a:r>
            <a:r>
              <a:rPr lang="en-IN" dirty="0" err="1" smtClean="0"/>
              <a:t>procA’s</a:t>
            </a:r>
            <a:r>
              <a:rPr lang="en-IN" dirty="0" smtClean="0"/>
              <a:t> finally</a:t>
            </a:r>
          </a:p>
          <a:p>
            <a:r>
              <a:rPr lang="en-IN" dirty="0" smtClean="0"/>
              <a:t>	 Exception caught </a:t>
            </a:r>
          </a:p>
          <a:p>
            <a:r>
              <a:rPr lang="en-IN" dirty="0" smtClean="0"/>
              <a:t>	 inside </a:t>
            </a:r>
            <a:r>
              <a:rPr lang="en-IN" dirty="0" err="1" smtClean="0"/>
              <a:t>procB</a:t>
            </a:r>
            <a:r>
              <a:rPr lang="en-IN" dirty="0" smtClean="0"/>
              <a:t>  </a:t>
            </a:r>
          </a:p>
          <a:p>
            <a:r>
              <a:rPr lang="en-IN" dirty="0" smtClean="0"/>
              <a:t>	</a:t>
            </a:r>
            <a:r>
              <a:rPr lang="en-IN" dirty="0" err="1" smtClean="0"/>
              <a:t>procB’s</a:t>
            </a:r>
            <a:r>
              <a:rPr lang="en-IN" dirty="0" smtClean="0"/>
              <a:t> finally </a:t>
            </a:r>
          </a:p>
          <a:p>
            <a:r>
              <a:rPr lang="en-IN" dirty="0" smtClean="0"/>
              <a:t>	inside </a:t>
            </a:r>
            <a:r>
              <a:rPr lang="en-IN" dirty="0" err="1" smtClean="0"/>
              <a:t>procC</a:t>
            </a:r>
            <a:endParaRPr lang="en-IN" dirty="0" smtClean="0"/>
          </a:p>
          <a:p>
            <a:r>
              <a:rPr lang="en-IN" dirty="0" smtClean="0"/>
              <a:t>	</a:t>
            </a:r>
            <a:r>
              <a:rPr lang="en-IN" dirty="0" err="1" smtClean="0"/>
              <a:t>procC’s</a:t>
            </a:r>
            <a:r>
              <a:rPr lang="en-IN" dirty="0" smtClean="0"/>
              <a:t> finally</a:t>
            </a:r>
            <a:endParaRPr lang="en-IN" dirty="0"/>
          </a:p>
        </p:txBody>
      </p:sp>
    </p:spTree>
    <p:extLst>
      <p:ext uri="{BB962C8B-B14F-4D97-AF65-F5344CB8AC3E}">
        <p14:creationId xmlns:p14="http://schemas.microsoft.com/office/powerpoint/2010/main" val="12345749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 y="1828800"/>
            <a:ext cx="8684260" cy="3706143"/>
          </a:xfrm>
          <a:prstGeom prst="rect">
            <a:avLst/>
          </a:prstGeom>
        </p:spPr>
        <p:txBody>
          <a:bodyPr vert="horz" wrap="square" lIns="0" tIns="12700" rIns="0" bIns="0" rtlCol="0">
            <a:spAutoFit/>
          </a:bodyPr>
          <a:lstStyle/>
          <a:p>
            <a:pPr marL="355600" indent="-342900">
              <a:lnSpc>
                <a:spcPct val="100000"/>
              </a:lnSpc>
              <a:spcBef>
                <a:spcPts val="100"/>
              </a:spcBef>
              <a:buFont typeface="Arial"/>
              <a:buChar char="•"/>
              <a:tabLst>
                <a:tab pos="354965" algn="l"/>
                <a:tab pos="355600" algn="l"/>
              </a:tabLst>
            </a:pPr>
            <a:r>
              <a:rPr sz="2400" dirty="0">
                <a:latin typeface="Times New Roman"/>
                <a:cs typeface="Times New Roman"/>
              </a:rPr>
              <a:t>In the above </a:t>
            </a:r>
            <a:r>
              <a:rPr sz="2400" spc="-5" dirty="0">
                <a:latin typeface="Times New Roman"/>
                <a:cs typeface="Times New Roman"/>
              </a:rPr>
              <a:t>example, procA( </a:t>
            </a:r>
            <a:r>
              <a:rPr sz="2400" dirty="0">
                <a:latin typeface="Times New Roman"/>
                <a:cs typeface="Times New Roman"/>
              </a:rPr>
              <a:t>) </a:t>
            </a:r>
            <a:r>
              <a:rPr sz="2400" spc="-5" dirty="0">
                <a:latin typeface="Times New Roman"/>
                <a:cs typeface="Times New Roman"/>
              </a:rPr>
              <a:t>prematurely breaks out of the </a:t>
            </a:r>
            <a:r>
              <a:rPr sz="2400" dirty="0">
                <a:latin typeface="Times New Roman"/>
                <a:cs typeface="Times New Roman"/>
              </a:rPr>
              <a:t>try</a:t>
            </a:r>
            <a:r>
              <a:rPr sz="2400" spc="425" dirty="0">
                <a:latin typeface="Times New Roman"/>
                <a:cs typeface="Times New Roman"/>
              </a:rPr>
              <a:t> </a:t>
            </a:r>
            <a:r>
              <a:rPr sz="2400" spc="-5" dirty="0">
                <a:latin typeface="Times New Roman"/>
                <a:cs typeface="Times New Roman"/>
              </a:rPr>
              <a:t>by</a:t>
            </a:r>
            <a:endParaRPr sz="2400" dirty="0">
              <a:latin typeface="Times New Roman"/>
              <a:cs typeface="Times New Roman"/>
            </a:endParaRPr>
          </a:p>
          <a:p>
            <a:pPr marL="355600">
              <a:lnSpc>
                <a:spcPct val="100000"/>
              </a:lnSpc>
              <a:spcBef>
                <a:spcPts val="5"/>
              </a:spcBef>
            </a:pPr>
            <a:r>
              <a:rPr sz="2400" dirty="0">
                <a:latin typeface="Times New Roman"/>
                <a:cs typeface="Times New Roman"/>
              </a:rPr>
              <a:t>throwing an</a:t>
            </a:r>
            <a:r>
              <a:rPr sz="2400" spc="-30" dirty="0">
                <a:latin typeface="Times New Roman"/>
                <a:cs typeface="Times New Roman"/>
              </a:rPr>
              <a:t> </a:t>
            </a:r>
            <a:r>
              <a:rPr sz="2400" dirty="0">
                <a:latin typeface="Times New Roman"/>
                <a:cs typeface="Times New Roman"/>
              </a:rPr>
              <a:t>exception.</a:t>
            </a:r>
          </a:p>
          <a:p>
            <a:pPr marL="355600" marR="8255" indent="-342900">
              <a:lnSpc>
                <a:spcPct val="100000"/>
              </a:lnSpc>
              <a:buFont typeface="Arial"/>
              <a:buChar char="•"/>
              <a:tabLst>
                <a:tab pos="354965" algn="l"/>
                <a:tab pos="355600" algn="l"/>
                <a:tab pos="996950" algn="l"/>
                <a:tab pos="1957070" algn="l"/>
                <a:tab pos="2885440" algn="l"/>
                <a:tab pos="3256279" algn="l"/>
                <a:tab pos="4505960" algn="l"/>
                <a:tab pos="4977130" algn="l"/>
                <a:tab pos="5518150" algn="l"/>
                <a:tab pos="6193155" algn="l"/>
                <a:tab pos="6825615" algn="l"/>
                <a:tab pos="7837805" algn="l"/>
                <a:tab pos="8328659" algn="l"/>
              </a:tabLst>
            </a:pPr>
            <a:r>
              <a:rPr sz="2400" dirty="0">
                <a:latin typeface="Times New Roman"/>
                <a:cs typeface="Times New Roman"/>
              </a:rPr>
              <a:t>The	fin</a:t>
            </a:r>
            <a:r>
              <a:rPr sz="2400" spc="-15" dirty="0">
                <a:latin typeface="Times New Roman"/>
                <a:cs typeface="Times New Roman"/>
              </a:rPr>
              <a:t>a</a:t>
            </a:r>
            <a:r>
              <a:rPr sz="2400" dirty="0">
                <a:latin typeface="Times New Roman"/>
                <a:cs typeface="Times New Roman"/>
              </a:rPr>
              <a:t>lly	clause	i</a:t>
            </a:r>
            <a:r>
              <a:rPr sz="2400" spc="-5" dirty="0">
                <a:latin typeface="Times New Roman"/>
                <a:cs typeface="Times New Roman"/>
              </a:rPr>
              <a:t>s</a:t>
            </a:r>
            <a:r>
              <a:rPr sz="2400" dirty="0">
                <a:latin typeface="Times New Roman"/>
                <a:cs typeface="Times New Roman"/>
              </a:rPr>
              <a:t>	execu</a:t>
            </a:r>
            <a:r>
              <a:rPr sz="2400" spc="-15" dirty="0">
                <a:latin typeface="Times New Roman"/>
                <a:cs typeface="Times New Roman"/>
              </a:rPr>
              <a:t>t</a:t>
            </a:r>
            <a:r>
              <a:rPr sz="2400" dirty="0">
                <a:latin typeface="Times New Roman"/>
                <a:cs typeface="Times New Roman"/>
              </a:rPr>
              <a:t>ed	on	the	</a:t>
            </a:r>
            <a:r>
              <a:rPr sz="2400" spc="-5" dirty="0">
                <a:latin typeface="Times New Roman"/>
                <a:cs typeface="Times New Roman"/>
              </a:rPr>
              <a:t>way</a:t>
            </a:r>
            <a:r>
              <a:rPr sz="2400" dirty="0">
                <a:latin typeface="Times New Roman"/>
                <a:cs typeface="Times New Roman"/>
              </a:rPr>
              <a:t>	</a:t>
            </a:r>
            <a:r>
              <a:rPr sz="2400" spc="-15" dirty="0">
                <a:latin typeface="Times New Roman"/>
                <a:cs typeface="Times New Roman"/>
              </a:rPr>
              <a:t>o</a:t>
            </a:r>
            <a:r>
              <a:rPr sz="2400" dirty="0">
                <a:latin typeface="Times New Roman"/>
                <a:cs typeface="Times New Roman"/>
              </a:rPr>
              <a:t>u</a:t>
            </a:r>
            <a:r>
              <a:rPr sz="2400" spc="5" dirty="0">
                <a:latin typeface="Times New Roman"/>
                <a:cs typeface="Times New Roman"/>
              </a:rPr>
              <a:t>t</a:t>
            </a:r>
            <a:r>
              <a:rPr sz="2400" dirty="0">
                <a:latin typeface="Times New Roman"/>
                <a:cs typeface="Times New Roman"/>
              </a:rPr>
              <a:t>.	proc</a:t>
            </a:r>
            <a:r>
              <a:rPr sz="2400" spc="-10" dirty="0">
                <a:latin typeface="Times New Roman"/>
                <a:cs typeface="Times New Roman"/>
              </a:rPr>
              <a:t>B</a:t>
            </a:r>
            <a:r>
              <a:rPr sz="2400" dirty="0">
                <a:latin typeface="Times New Roman"/>
                <a:cs typeface="Times New Roman"/>
              </a:rPr>
              <a:t>(	)’s	try  </a:t>
            </a:r>
            <a:r>
              <a:rPr sz="2400" spc="-5" dirty="0">
                <a:latin typeface="Times New Roman"/>
                <a:cs typeface="Times New Roman"/>
              </a:rPr>
              <a:t>statement </a:t>
            </a:r>
            <a:r>
              <a:rPr sz="2400" dirty="0">
                <a:latin typeface="Times New Roman"/>
                <a:cs typeface="Times New Roman"/>
              </a:rPr>
              <a:t>is exited via a return</a:t>
            </a:r>
            <a:r>
              <a:rPr sz="2400" spc="-85" dirty="0">
                <a:latin typeface="Times New Roman"/>
                <a:cs typeface="Times New Roman"/>
              </a:rPr>
              <a:t> </a:t>
            </a:r>
            <a:r>
              <a:rPr sz="2400" dirty="0">
                <a:latin typeface="Times New Roman"/>
                <a:cs typeface="Times New Roman"/>
              </a:rPr>
              <a:t>statement.</a:t>
            </a:r>
          </a:p>
          <a:p>
            <a:pPr marL="355600" indent="-342900">
              <a:lnSpc>
                <a:spcPct val="100000"/>
              </a:lnSpc>
              <a:buFont typeface="Arial"/>
              <a:buChar char="•"/>
              <a:tabLst>
                <a:tab pos="354965" algn="l"/>
                <a:tab pos="355600" algn="l"/>
              </a:tabLst>
            </a:pPr>
            <a:r>
              <a:rPr sz="2400" dirty="0">
                <a:latin typeface="Times New Roman"/>
                <a:cs typeface="Times New Roman"/>
              </a:rPr>
              <a:t>The finally clause is executed </a:t>
            </a:r>
            <a:r>
              <a:rPr sz="2400" spc="-5" dirty="0">
                <a:latin typeface="Times New Roman"/>
                <a:cs typeface="Times New Roman"/>
              </a:rPr>
              <a:t>before </a:t>
            </a:r>
            <a:r>
              <a:rPr sz="2400" dirty="0">
                <a:latin typeface="Times New Roman"/>
                <a:cs typeface="Times New Roman"/>
              </a:rPr>
              <a:t>procB( )</a:t>
            </a:r>
            <a:r>
              <a:rPr sz="2400" spc="-105" dirty="0">
                <a:latin typeface="Times New Roman"/>
                <a:cs typeface="Times New Roman"/>
              </a:rPr>
              <a:t> </a:t>
            </a:r>
            <a:r>
              <a:rPr sz="2400" dirty="0">
                <a:latin typeface="Times New Roman"/>
                <a:cs typeface="Times New Roman"/>
              </a:rPr>
              <a:t>returns.</a:t>
            </a:r>
          </a:p>
          <a:p>
            <a:pPr marL="355600" indent="-342900">
              <a:lnSpc>
                <a:spcPct val="100000"/>
              </a:lnSpc>
              <a:buFont typeface="Arial"/>
              <a:buChar char="•"/>
              <a:tabLst>
                <a:tab pos="354965" algn="l"/>
                <a:tab pos="355600" algn="l"/>
              </a:tabLst>
            </a:pPr>
            <a:r>
              <a:rPr sz="2400" dirty="0">
                <a:latin typeface="Times New Roman"/>
                <a:cs typeface="Times New Roman"/>
              </a:rPr>
              <a:t>In procC( ), the try </a:t>
            </a:r>
            <a:r>
              <a:rPr sz="2400" spc="-5" dirty="0">
                <a:latin typeface="Times New Roman"/>
                <a:cs typeface="Times New Roman"/>
              </a:rPr>
              <a:t>statement </a:t>
            </a:r>
            <a:r>
              <a:rPr sz="2400" dirty="0">
                <a:latin typeface="Times New Roman"/>
                <a:cs typeface="Times New Roman"/>
              </a:rPr>
              <a:t>executes </a:t>
            </a:r>
            <a:r>
              <a:rPr sz="2400" spc="-5" dirty="0">
                <a:latin typeface="Times New Roman"/>
                <a:cs typeface="Times New Roman"/>
              </a:rPr>
              <a:t>normally, </a:t>
            </a:r>
            <a:r>
              <a:rPr sz="2400" dirty="0">
                <a:latin typeface="Times New Roman"/>
                <a:cs typeface="Times New Roman"/>
              </a:rPr>
              <a:t>without</a:t>
            </a:r>
            <a:r>
              <a:rPr sz="2400" spc="-100" dirty="0">
                <a:latin typeface="Times New Roman"/>
                <a:cs typeface="Times New Roman"/>
              </a:rPr>
              <a:t> </a:t>
            </a:r>
            <a:r>
              <a:rPr sz="2400" dirty="0">
                <a:latin typeface="Times New Roman"/>
                <a:cs typeface="Times New Roman"/>
              </a:rPr>
              <a:t>error.</a:t>
            </a:r>
          </a:p>
          <a:p>
            <a:pPr marL="355600" indent="-342900">
              <a:lnSpc>
                <a:spcPct val="100000"/>
              </a:lnSpc>
              <a:buFont typeface="Arial"/>
              <a:buChar char="•"/>
              <a:tabLst>
                <a:tab pos="354965" algn="l"/>
                <a:tab pos="355600" algn="l"/>
              </a:tabLst>
            </a:pPr>
            <a:r>
              <a:rPr sz="2400" spc="-5" dirty="0">
                <a:latin typeface="Times New Roman"/>
                <a:cs typeface="Times New Roman"/>
              </a:rPr>
              <a:t>However, </a:t>
            </a:r>
            <a:r>
              <a:rPr sz="2400" dirty="0">
                <a:latin typeface="Times New Roman"/>
                <a:cs typeface="Times New Roman"/>
              </a:rPr>
              <a:t>the finally block is still</a:t>
            </a:r>
            <a:r>
              <a:rPr sz="2400" spc="-70" dirty="0">
                <a:latin typeface="Times New Roman"/>
                <a:cs typeface="Times New Roman"/>
              </a:rPr>
              <a:t> </a:t>
            </a:r>
            <a:r>
              <a:rPr sz="2400" dirty="0">
                <a:latin typeface="Times New Roman"/>
                <a:cs typeface="Times New Roman"/>
              </a:rPr>
              <a:t>executed.</a:t>
            </a:r>
          </a:p>
          <a:p>
            <a:pPr marL="355600" marR="5080" indent="-342900">
              <a:lnSpc>
                <a:spcPct val="100000"/>
              </a:lnSpc>
              <a:buFont typeface="Arial"/>
              <a:buChar char="•"/>
              <a:tabLst>
                <a:tab pos="354965" algn="l"/>
                <a:tab pos="355600" algn="l"/>
              </a:tabLst>
            </a:pPr>
            <a:r>
              <a:rPr sz="2400" spc="-5" dirty="0">
                <a:latin typeface="Times New Roman"/>
                <a:cs typeface="Times New Roman"/>
              </a:rPr>
              <a:t>REMEMBER </a:t>
            </a:r>
            <a:r>
              <a:rPr sz="2400" dirty="0">
                <a:latin typeface="Times New Roman"/>
                <a:cs typeface="Times New Roman"/>
              </a:rPr>
              <a:t>If a </a:t>
            </a:r>
            <a:r>
              <a:rPr sz="2400" spc="-5" dirty="0">
                <a:latin typeface="Times New Roman"/>
                <a:cs typeface="Times New Roman"/>
              </a:rPr>
              <a:t>finally block </a:t>
            </a:r>
            <a:r>
              <a:rPr sz="2400" dirty="0">
                <a:latin typeface="Times New Roman"/>
                <a:cs typeface="Times New Roman"/>
              </a:rPr>
              <a:t>is </a:t>
            </a:r>
            <a:r>
              <a:rPr sz="2400" spc="-5" dirty="0">
                <a:latin typeface="Times New Roman"/>
                <a:cs typeface="Times New Roman"/>
              </a:rPr>
              <a:t>associated with </a:t>
            </a:r>
            <a:r>
              <a:rPr sz="2400" dirty="0">
                <a:latin typeface="Times New Roman"/>
                <a:cs typeface="Times New Roman"/>
              </a:rPr>
              <a:t>a try, </a:t>
            </a:r>
            <a:r>
              <a:rPr sz="2400" spc="-5" dirty="0">
                <a:latin typeface="Times New Roman"/>
                <a:cs typeface="Times New Roman"/>
              </a:rPr>
              <a:t>the finally  </a:t>
            </a:r>
            <a:r>
              <a:rPr sz="2400" dirty="0">
                <a:latin typeface="Times New Roman"/>
                <a:cs typeface="Times New Roman"/>
              </a:rPr>
              <a:t>block </a:t>
            </a:r>
            <a:r>
              <a:rPr sz="2400" spc="-5" dirty="0">
                <a:latin typeface="Times New Roman"/>
                <a:cs typeface="Times New Roman"/>
              </a:rPr>
              <a:t>will </a:t>
            </a:r>
            <a:r>
              <a:rPr sz="2400" dirty="0">
                <a:latin typeface="Times New Roman"/>
                <a:cs typeface="Times New Roman"/>
              </a:rPr>
              <a:t>be executed upon conclusion of the</a:t>
            </a:r>
            <a:r>
              <a:rPr sz="2400" spc="-90" dirty="0">
                <a:latin typeface="Times New Roman"/>
                <a:cs typeface="Times New Roman"/>
              </a:rPr>
              <a:t> </a:t>
            </a:r>
            <a:r>
              <a:rPr sz="2400" dirty="0">
                <a:latin typeface="Times New Roman"/>
                <a:cs typeface="Times New Roman"/>
              </a:rPr>
              <a:t>try.</a:t>
            </a:r>
          </a:p>
          <a:p>
            <a:pPr marL="354965" marR="1589405" indent="-354965">
              <a:lnSpc>
                <a:spcPct val="100000"/>
              </a:lnSpc>
              <a:spcBef>
                <a:spcPts val="5"/>
              </a:spcBef>
              <a:buFont typeface="Arial"/>
              <a:buChar char="•"/>
              <a:tabLst>
                <a:tab pos="354965" algn="l"/>
                <a:tab pos="355600" algn="l"/>
              </a:tabLst>
            </a:pPr>
            <a:r>
              <a:rPr sz="2400" dirty="0">
                <a:latin typeface="Times New Roman"/>
                <a:cs typeface="Times New Roman"/>
              </a:rPr>
              <a:t>Here is the output generated by the preceding</a:t>
            </a:r>
            <a:r>
              <a:rPr sz="2400" spc="-150" dirty="0">
                <a:latin typeface="Times New Roman"/>
                <a:cs typeface="Times New Roman"/>
              </a:rPr>
              <a:t> </a:t>
            </a:r>
            <a:r>
              <a:rPr sz="2400" spc="-5" dirty="0">
                <a:latin typeface="Times New Roman"/>
                <a:cs typeface="Times New Roman"/>
              </a:rPr>
              <a:t>program</a:t>
            </a:r>
            <a:r>
              <a:rPr sz="2400" spc="-5" dirty="0" smtClean="0">
                <a:latin typeface="Times New Roman"/>
                <a:cs typeface="Times New Roman"/>
              </a:rPr>
              <a:t>:</a:t>
            </a:r>
            <a:endParaRPr sz="2400" dirty="0">
              <a:latin typeface="Times New Roman"/>
              <a:cs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64312"/>
            <a:ext cx="6837045" cy="757555"/>
          </a:xfrm>
          <a:prstGeom prst="rect">
            <a:avLst/>
          </a:prstGeom>
        </p:spPr>
        <p:txBody>
          <a:bodyPr vert="horz" wrap="square" lIns="0" tIns="12700" rIns="0" bIns="0" rtlCol="0">
            <a:spAutoFit/>
          </a:bodyPr>
          <a:lstStyle/>
          <a:p>
            <a:pPr marL="12700">
              <a:lnSpc>
                <a:spcPct val="100000"/>
              </a:lnSpc>
              <a:spcBef>
                <a:spcPts val="100"/>
              </a:spcBef>
            </a:pPr>
            <a:r>
              <a:rPr sz="4800" dirty="0"/>
              <a:t>Java’s </a:t>
            </a:r>
            <a:r>
              <a:rPr sz="4800" spc="-5" dirty="0"/>
              <a:t>Built-in</a:t>
            </a:r>
            <a:r>
              <a:rPr sz="4800" spc="-40" dirty="0"/>
              <a:t> </a:t>
            </a:r>
            <a:r>
              <a:rPr sz="4800" dirty="0"/>
              <a:t>Exceptions</a:t>
            </a:r>
            <a:endParaRPr sz="4800"/>
          </a:p>
        </p:txBody>
      </p:sp>
      <p:sp>
        <p:nvSpPr>
          <p:cNvPr id="3" name="object 3"/>
          <p:cNvSpPr txBox="1"/>
          <p:nvPr/>
        </p:nvSpPr>
        <p:spPr>
          <a:xfrm>
            <a:off x="78739" y="1619452"/>
            <a:ext cx="8606790" cy="4105910"/>
          </a:xfrm>
          <a:prstGeom prst="rect">
            <a:avLst/>
          </a:prstGeom>
        </p:spPr>
        <p:txBody>
          <a:bodyPr vert="horz" wrap="square" lIns="0" tIns="13335" rIns="0" bIns="0" rtlCol="0">
            <a:spAutoFit/>
          </a:bodyPr>
          <a:lstStyle/>
          <a:p>
            <a:pPr marL="332740" marR="6985" indent="-320040" algn="just">
              <a:lnSpc>
                <a:spcPct val="100000"/>
              </a:lnSpc>
              <a:spcBef>
                <a:spcPts val="105"/>
              </a:spcBef>
              <a:buClr>
                <a:srgbClr val="DD8046"/>
              </a:buClr>
              <a:buSzPct val="59375"/>
              <a:buFont typeface="DejaVu Sans"/>
              <a:buChar char="◻"/>
              <a:tabLst>
                <a:tab pos="332740" algn="l"/>
              </a:tabLst>
            </a:pPr>
            <a:r>
              <a:rPr sz="3200" dirty="0">
                <a:latin typeface="Times New Roman"/>
                <a:cs typeface="Times New Roman"/>
              </a:rPr>
              <a:t>Java </a:t>
            </a:r>
            <a:r>
              <a:rPr sz="3200" spc="-5" dirty="0">
                <a:latin typeface="Times New Roman"/>
                <a:cs typeface="Times New Roman"/>
              </a:rPr>
              <a:t>defines </a:t>
            </a:r>
            <a:r>
              <a:rPr sz="3200" dirty="0">
                <a:latin typeface="Times New Roman"/>
                <a:cs typeface="Times New Roman"/>
              </a:rPr>
              <a:t>several exception classes inside </a:t>
            </a:r>
            <a:r>
              <a:rPr sz="3200" spc="-5" dirty="0">
                <a:latin typeface="Times New Roman"/>
                <a:cs typeface="Times New Roman"/>
              </a:rPr>
              <a:t>the  </a:t>
            </a:r>
            <a:r>
              <a:rPr sz="3200" dirty="0">
                <a:latin typeface="Times New Roman"/>
                <a:cs typeface="Times New Roman"/>
              </a:rPr>
              <a:t>standard </a:t>
            </a:r>
            <a:r>
              <a:rPr sz="3200" spc="5" dirty="0">
                <a:latin typeface="Times New Roman"/>
                <a:cs typeface="Times New Roman"/>
              </a:rPr>
              <a:t>package</a:t>
            </a:r>
            <a:r>
              <a:rPr sz="3200" spc="-50" dirty="0">
                <a:latin typeface="Times New Roman"/>
                <a:cs typeface="Times New Roman"/>
              </a:rPr>
              <a:t> </a:t>
            </a:r>
            <a:r>
              <a:rPr sz="3200" b="1" dirty="0">
                <a:solidFill>
                  <a:srgbClr val="006FC0"/>
                </a:solidFill>
                <a:latin typeface="Times New Roman"/>
                <a:cs typeface="Times New Roman"/>
              </a:rPr>
              <a:t>java.lang</a:t>
            </a:r>
            <a:r>
              <a:rPr sz="3200" dirty="0">
                <a:solidFill>
                  <a:srgbClr val="006FC0"/>
                </a:solidFill>
                <a:latin typeface="Times New Roman"/>
                <a:cs typeface="Times New Roman"/>
              </a:rPr>
              <a:t>.</a:t>
            </a:r>
            <a:endParaRPr sz="3200">
              <a:latin typeface="Times New Roman"/>
              <a:cs typeface="Times New Roman"/>
            </a:endParaRPr>
          </a:p>
          <a:p>
            <a:pPr marL="332740" marR="5080" indent="-320040" algn="just">
              <a:lnSpc>
                <a:spcPct val="100000"/>
              </a:lnSpc>
              <a:spcBef>
                <a:spcPts val="700"/>
              </a:spcBef>
              <a:buClr>
                <a:srgbClr val="DD8046"/>
              </a:buClr>
              <a:buSzPct val="59375"/>
              <a:buFont typeface="DejaVu Sans"/>
              <a:buChar char="◻"/>
              <a:tabLst>
                <a:tab pos="332740" algn="l"/>
              </a:tabLst>
            </a:pPr>
            <a:r>
              <a:rPr sz="3200" dirty="0">
                <a:solidFill>
                  <a:srgbClr val="006FC0"/>
                </a:solidFill>
                <a:latin typeface="Times New Roman"/>
                <a:cs typeface="Times New Roman"/>
              </a:rPr>
              <a:t>Unchecked exception </a:t>
            </a:r>
            <a:r>
              <a:rPr sz="3200" spc="-5" dirty="0">
                <a:latin typeface="Times New Roman"/>
                <a:cs typeface="Times New Roman"/>
              </a:rPr>
              <a:t>or </a:t>
            </a:r>
            <a:r>
              <a:rPr sz="3200" dirty="0">
                <a:latin typeface="Times New Roman"/>
                <a:cs typeface="Times New Roman"/>
              </a:rPr>
              <a:t>RuntimeException need  </a:t>
            </a:r>
            <a:r>
              <a:rPr sz="3200" spc="5" dirty="0">
                <a:latin typeface="Times New Roman"/>
                <a:cs typeface="Times New Roman"/>
              </a:rPr>
              <a:t>not </a:t>
            </a:r>
            <a:r>
              <a:rPr sz="3200" dirty="0">
                <a:latin typeface="Times New Roman"/>
                <a:cs typeface="Times New Roman"/>
              </a:rPr>
              <a:t>be </a:t>
            </a:r>
            <a:r>
              <a:rPr sz="3200" spc="-5" dirty="0">
                <a:latin typeface="Times New Roman"/>
                <a:cs typeface="Times New Roman"/>
              </a:rPr>
              <a:t>included </a:t>
            </a:r>
            <a:r>
              <a:rPr sz="3200" spc="-10" dirty="0">
                <a:latin typeface="Times New Roman"/>
                <a:cs typeface="Times New Roman"/>
              </a:rPr>
              <a:t>in </a:t>
            </a:r>
            <a:r>
              <a:rPr sz="3200" dirty="0">
                <a:latin typeface="Times New Roman"/>
                <a:cs typeface="Times New Roman"/>
              </a:rPr>
              <a:t>the method’s </a:t>
            </a:r>
            <a:r>
              <a:rPr sz="3200" b="1" spc="-5" dirty="0">
                <a:solidFill>
                  <a:srgbClr val="006FC0"/>
                </a:solidFill>
                <a:latin typeface="Times New Roman"/>
                <a:cs typeface="Times New Roman"/>
              </a:rPr>
              <a:t>throws </a:t>
            </a:r>
            <a:r>
              <a:rPr sz="3200" spc="-5" dirty="0">
                <a:latin typeface="Times New Roman"/>
                <a:cs typeface="Times New Roman"/>
              </a:rPr>
              <a:t>list. </a:t>
            </a:r>
            <a:r>
              <a:rPr sz="3200" dirty="0">
                <a:latin typeface="Times New Roman"/>
                <a:cs typeface="Times New Roman"/>
              </a:rPr>
              <a:t>Bcz  Compiler does not check </a:t>
            </a:r>
            <a:r>
              <a:rPr sz="3200" spc="-5" dirty="0">
                <a:latin typeface="Times New Roman"/>
                <a:cs typeface="Times New Roman"/>
              </a:rPr>
              <a:t>to </a:t>
            </a:r>
            <a:r>
              <a:rPr sz="3200" dirty="0">
                <a:latin typeface="Times New Roman"/>
                <a:cs typeface="Times New Roman"/>
              </a:rPr>
              <a:t>see if a </a:t>
            </a:r>
            <a:r>
              <a:rPr sz="3200" spc="-5" dirty="0">
                <a:latin typeface="Times New Roman"/>
                <a:cs typeface="Times New Roman"/>
              </a:rPr>
              <a:t>method  </a:t>
            </a:r>
            <a:r>
              <a:rPr sz="3200" dirty="0">
                <a:latin typeface="Times New Roman"/>
                <a:cs typeface="Times New Roman"/>
              </a:rPr>
              <a:t>handles or throws these</a:t>
            </a:r>
            <a:r>
              <a:rPr sz="3200" spc="-50" dirty="0">
                <a:latin typeface="Times New Roman"/>
                <a:cs typeface="Times New Roman"/>
              </a:rPr>
              <a:t> </a:t>
            </a:r>
            <a:r>
              <a:rPr sz="3200" dirty="0">
                <a:latin typeface="Times New Roman"/>
                <a:cs typeface="Times New Roman"/>
              </a:rPr>
              <a:t>exceptions.</a:t>
            </a:r>
            <a:endParaRPr sz="3200">
              <a:latin typeface="Times New Roman"/>
              <a:cs typeface="Times New Roman"/>
            </a:endParaRPr>
          </a:p>
          <a:p>
            <a:pPr marL="332740" marR="6985" indent="-320040" algn="just">
              <a:lnSpc>
                <a:spcPct val="100000"/>
              </a:lnSpc>
              <a:spcBef>
                <a:spcPts val="700"/>
              </a:spcBef>
              <a:buClr>
                <a:srgbClr val="DD8046"/>
              </a:buClr>
              <a:buSzPct val="59375"/>
              <a:buFont typeface="DejaVu Sans"/>
              <a:buChar char="◻"/>
              <a:tabLst>
                <a:tab pos="332740" algn="l"/>
              </a:tabLst>
            </a:pPr>
            <a:r>
              <a:rPr sz="3200" dirty="0">
                <a:solidFill>
                  <a:srgbClr val="006FC0"/>
                </a:solidFill>
                <a:latin typeface="Times New Roman"/>
                <a:cs typeface="Times New Roman"/>
              </a:rPr>
              <a:t>Checked exception </a:t>
            </a:r>
            <a:r>
              <a:rPr sz="3200" dirty="0">
                <a:latin typeface="Times New Roman"/>
                <a:cs typeface="Times New Roman"/>
              </a:rPr>
              <a:t>must be </a:t>
            </a:r>
            <a:r>
              <a:rPr sz="3200" spc="-5" dirty="0">
                <a:latin typeface="Times New Roman"/>
                <a:cs typeface="Times New Roman"/>
              </a:rPr>
              <a:t>included </a:t>
            </a:r>
            <a:r>
              <a:rPr sz="3200" spc="-10" dirty="0">
                <a:latin typeface="Times New Roman"/>
                <a:cs typeface="Times New Roman"/>
              </a:rPr>
              <a:t>in </a:t>
            </a:r>
            <a:r>
              <a:rPr sz="3200" dirty="0">
                <a:latin typeface="Times New Roman"/>
                <a:cs typeface="Times New Roman"/>
              </a:rPr>
              <a:t>the  method’s </a:t>
            </a:r>
            <a:r>
              <a:rPr sz="3200" b="1" dirty="0">
                <a:latin typeface="Times New Roman"/>
                <a:cs typeface="Times New Roman"/>
              </a:rPr>
              <a:t>throws</a:t>
            </a:r>
            <a:r>
              <a:rPr sz="3200" b="1" spc="-60" dirty="0">
                <a:latin typeface="Times New Roman"/>
                <a:cs typeface="Times New Roman"/>
              </a:rPr>
              <a:t> </a:t>
            </a:r>
            <a:r>
              <a:rPr sz="3200" spc="-5" dirty="0">
                <a:latin typeface="Times New Roman"/>
                <a:cs typeface="Times New Roman"/>
              </a:rPr>
              <a:t>list.</a:t>
            </a:r>
            <a:endParaRPr sz="3200">
              <a:latin typeface="Times New Roman"/>
              <a:cs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900" marR="5080">
              <a:lnSpc>
                <a:spcPct val="100000"/>
              </a:lnSpc>
              <a:spcBef>
                <a:spcPts val="100"/>
              </a:spcBef>
            </a:pPr>
            <a:r>
              <a:rPr dirty="0"/>
              <a:t>Unchecked Runtime Exception </a:t>
            </a:r>
            <a:r>
              <a:rPr dirty="0" smtClean="0"/>
              <a:t>Subclasses</a:t>
            </a:r>
            <a:r>
              <a:rPr lang="en-US" dirty="0" smtClean="0"/>
              <a:t> defined</a:t>
            </a:r>
            <a:r>
              <a:rPr spc="-135" dirty="0" smtClean="0"/>
              <a:t> </a:t>
            </a:r>
            <a:r>
              <a:rPr dirty="0"/>
              <a:t>in  java.lang</a:t>
            </a:r>
          </a:p>
        </p:txBody>
      </p:sp>
      <p:sp>
        <p:nvSpPr>
          <p:cNvPr id="3" name="object 3"/>
          <p:cNvSpPr/>
          <p:nvPr/>
        </p:nvSpPr>
        <p:spPr>
          <a:xfrm>
            <a:off x="81177" y="1617219"/>
            <a:ext cx="8986622" cy="501218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42976"/>
            <a:ext cx="8522024" cy="1120820"/>
          </a:xfrm>
          <a:prstGeom prst="rect">
            <a:avLst/>
          </a:prstGeom>
        </p:spPr>
        <p:txBody>
          <a:bodyPr vert="horz" wrap="square" lIns="0" tIns="12700" rIns="0" bIns="0" rtlCol="0">
            <a:spAutoFit/>
          </a:bodyPr>
          <a:lstStyle/>
          <a:p>
            <a:pPr marL="12700">
              <a:lnSpc>
                <a:spcPct val="100000"/>
              </a:lnSpc>
              <a:spcBef>
                <a:spcPts val="100"/>
              </a:spcBef>
            </a:pPr>
            <a:r>
              <a:rPr sz="3600" dirty="0"/>
              <a:t>Java’s </a:t>
            </a:r>
            <a:r>
              <a:rPr sz="3600" spc="-5" dirty="0"/>
              <a:t>Checked Exceptions </a:t>
            </a:r>
            <a:r>
              <a:rPr lang="en-US" sz="3600" spc="-5" dirty="0" smtClean="0"/>
              <a:t>Defined </a:t>
            </a:r>
            <a:r>
              <a:rPr sz="3600" dirty="0" smtClean="0"/>
              <a:t>in</a:t>
            </a:r>
            <a:r>
              <a:rPr sz="3600" spc="-35" dirty="0" smtClean="0"/>
              <a:t> </a:t>
            </a:r>
            <a:r>
              <a:rPr sz="3600" spc="-5" dirty="0"/>
              <a:t>java.lang</a:t>
            </a:r>
            <a:endParaRPr sz="3600" dirty="0"/>
          </a:p>
        </p:txBody>
      </p:sp>
      <p:sp>
        <p:nvSpPr>
          <p:cNvPr id="3" name="object 3"/>
          <p:cNvSpPr/>
          <p:nvPr/>
        </p:nvSpPr>
        <p:spPr>
          <a:xfrm>
            <a:off x="162235" y="1852538"/>
            <a:ext cx="8743329" cy="3774392"/>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0" y="0"/>
              <a:ext cx="9144000" cy="68580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0" y="1524000"/>
              <a:ext cx="9144000" cy="1143000"/>
            </a:xfrm>
            <a:custGeom>
              <a:avLst/>
              <a:gdLst/>
              <a:ahLst/>
              <a:cxnLst/>
              <a:rect l="l" t="t" r="r" b="b"/>
              <a:pathLst>
                <a:path w="9144000" h="1143000">
                  <a:moveTo>
                    <a:pt x="9144000" y="0"/>
                  </a:moveTo>
                  <a:lnTo>
                    <a:pt x="0" y="0"/>
                  </a:lnTo>
                  <a:lnTo>
                    <a:pt x="0" y="1143000"/>
                  </a:lnTo>
                  <a:lnTo>
                    <a:pt x="9144000" y="1143000"/>
                  </a:lnTo>
                  <a:lnTo>
                    <a:pt x="9144000" y="0"/>
                  </a:lnTo>
                  <a:close/>
                </a:path>
              </a:pathLst>
            </a:custGeom>
            <a:solidFill>
              <a:srgbClr val="FFFFFF"/>
            </a:solidFill>
          </p:spPr>
          <p:txBody>
            <a:bodyPr wrap="square" lIns="0" tIns="0" rIns="0" bIns="0" rtlCol="0"/>
            <a:lstStyle/>
            <a:p>
              <a:endParaRPr/>
            </a:p>
          </p:txBody>
        </p:sp>
        <p:sp>
          <p:nvSpPr>
            <p:cNvPr id="5" name="object 5"/>
            <p:cNvSpPr/>
            <p:nvPr/>
          </p:nvSpPr>
          <p:spPr>
            <a:xfrm>
              <a:off x="0" y="1600200"/>
              <a:ext cx="1295400" cy="990600"/>
            </a:xfrm>
            <a:custGeom>
              <a:avLst/>
              <a:gdLst/>
              <a:ahLst/>
              <a:cxnLst/>
              <a:rect l="l" t="t" r="r" b="b"/>
              <a:pathLst>
                <a:path w="1295400" h="990600">
                  <a:moveTo>
                    <a:pt x="1295400" y="0"/>
                  </a:moveTo>
                  <a:lnTo>
                    <a:pt x="0" y="0"/>
                  </a:lnTo>
                  <a:lnTo>
                    <a:pt x="0" y="990600"/>
                  </a:lnTo>
                  <a:lnTo>
                    <a:pt x="1295400" y="990600"/>
                  </a:lnTo>
                  <a:lnTo>
                    <a:pt x="1295400" y="0"/>
                  </a:lnTo>
                  <a:close/>
                </a:path>
              </a:pathLst>
            </a:custGeom>
            <a:solidFill>
              <a:srgbClr val="DD8046"/>
            </a:solidFill>
          </p:spPr>
          <p:txBody>
            <a:bodyPr wrap="square" lIns="0" tIns="0" rIns="0" bIns="0" rtlCol="0"/>
            <a:lstStyle/>
            <a:p>
              <a:endParaRPr/>
            </a:p>
          </p:txBody>
        </p:sp>
      </p:grpSp>
      <p:sp>
        <p:nvSpPr>
          <p:cNvPr id="6" name="object 6"/>
          <p:cNvSpPr txBox="1">
            <a:spLocks noGrp="1"/>
          </p:cNvSpPr>
          <p:nvPr>
            <p:ph type="title"/>
          </p:nvPr>
        </p:nvSpPr>
        <p:spPr>
          <a:xfrm>
            <a:off x="1371600" y="1600200"/>
            <a:ext cx="7772400" cy="990600"/>
          </a:xfrm>
          <a:prstGeom prst="rect">
            <a:avLst/>
          </a:prstGeom>
          <a:solidFill>
            <a:srgbClr val="93B6D2"/>
          </a:solidFill>
        </p:spPr>
        <p:txBody>
          <a:bodyPr vert="horz" wrap="square" lIns="0" tIns="61594" rIns="0" bIns="0" rtlCol="0">
            <a:spAutoFit/>
          </a:bodyPr>
          <a:lstStyle/>
          <a:p>
            <a:pPr marL="91440">
              <a:lnSpc>
                <a:spcPct val="100000"/>
              </a:lnSpc>
              <a:spcBef>
                <a:spcPts val="484"/>
              </a:spcBef>
              <a:tabLst>
                <a:tab pos="2948940" algn="l"/>
              </a:tabLst>
            </a:pPr>
            <a:r>
              <a:rPr sz="5400" spc="-5" dirty="0">
                <a:solidFill>
                  <a:srgbClr val="000000"/>
                </a:solidFill>
              </a:rPr>
              <a:t>THANK	YOU</a:t>
            </a:r>
            <a:endParaRPr sz="5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658</TotalTime>
  <Words>3616</Words>
  <Application>Microsoft Office PowerPoint</Application>
  <PresentationFormat>On-screen Show (4:3)</PresentationFormat>
  <Paragraphs>529</Paragraphs>
  <Slides>61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Calibri</vt:lpstr>
      <vt:lpstr>DejaVu Sans</vt:lpstr>
      <vt:lpstr>Times New Roman</vt:lpstr>
      <vt:lpstr>Verdana</vt:lpstr>
      <vt:lpstr>Office Theme</vt:lpstr>
      <vt:lpstr>PowerPoint Presentation</vt:lpstr>
      <vt:lpstr>Syllabus</vt:lpstr>
      <vt:lpstr>Exception Handling - Introduction</vt:lpstr>
      <vt:lpstr>Exception Handling - Fundamentals</vt:lpstr>
      <vt:lpstr>…</vt:lpstr>
      <vt:lpstr>…</vt:lpstr>
      <vt:lpstr>General form of an exception-handling block:</vt:lpstr>
      <vt:lpstr>…</vt:lpstr>
      <vt:lpstr>Exception Types</vt:lpstr>
      <vt:lpstr>…</vt:lpstr>
      <vt:lpstr>…</vt:lpstr>
      <vt:lpstr>Error is another subclass of Throwable.</vt:lpstr>
      <vt:lpstr>Three Categories of Exceptions</vt:lpstr>
      <vt:lpstr>Three Categories of Exceptions</vt:lpstr>
      <vt:lpstr>Three Categories of Exceptions</vt:lpstr>
      <vt:lpstr>Uncaught Exceptions</vt:lpstr>
      <vt:lpstr>…</vt:lpstr>
      <vt:lpstr>Using try and catch</vt:lpstr>
      <vt:lpstr>…</vt:lpstr>
      <vt:lpstr>…</vt:lpstr>
      <vt:lpstr>ExceptionPin thrreoad "mbainl" ejavam.lang.AriwthmetiictExhcepotion:u/ bytzereo</vt:lpstr>
      <vt:lpstr>Solution by exception handling</vt:lpstr>
      <vt:lpstr>Example 3</vt:lpstr>
      <vt:lpstr>Example 4 - example to print a  custom message on exception.</vt:lpstr>
      <vt:lpstr>Example to resolve the exception  in a catch block.</vt:lpstr>
      <vt:lpstr>Example - example to handle unchecked  exception.</vt:lpstr>
      <vt:lpstr>Multiple catch Clauses</vt:lpstr>
      <vt:lpstr>Example</vt:lpstr>
      <vt:lpstr>Nested try Statements:</vt:lpstr>
      <vt:lpstr>// An example of nested try statements.</vt:lpstr>
      <vt:lpstr>PowerPoint Presentation</vt:lpstr>
      <vt:lpstr>PowerPoint Presentation</vt:lpstr>
      <vt:lpstr>Enclose a call to a method within a try block. Inside that method is another try statement.</vt:lpstr>
      <vt:lpstr>PowerPoint Presentation</vt:lpstr>
      <vt:lpstr>Throw - used to throw an exception explicitly.</vt:lpstr>
      <vt:lpstr>Throw..</vt:lpstr>
      <vt:lpstr>Throw..</vt:lpstr>
      <vt:lpstr>Example 1: Throwing Unchecked  Exception</vt:lpstr>
      <vt:lpstr>Java throw Example</vt:lpstr>
      <vt:lpstr>A sample program that creates and throws an exception. The  handler that catches the exception rethrows it to the outer  handler.</vt:lpstr>
      <vt:lpstr>PowerPoint Presentation</vt:lpstr>
      <vt:lpstr>PowerPoint Presentation</vt:lpstr>
      <vt:lpstr>Throws - is used to declare an exception.</vt:lpstr>
      <vt:lpstr>throws Example</vt:lpstr>
      <vt:lpstr>Throws</vt:lpstr>
      <vt:lpstr>throw and throws Example</vt:lpstr>
      <vt:lpstr>Difference between throw and throws</vt:lpstr>
      <vt:lpstr>finally</vt:lpstr>
      <vt:lpstr>Flowchart of finally block</vt:lpstr>
      <vt:lpstr>Why use Java finally block?</vt:lpstr>
      <vt:lpstr>Case 1: When an exception does not</vt:lpstr>
      <vt:lpstr>Case 2: When an exception occur but not handled by the catch block -</vt:lpstr>
      <vt:lpstr>Case 3: When an exception occurs and is handled by the catch block.  The Java code throws an exception and the catch block handles the  exception. Later the finally block is executed after the try-catch block.  Further, the rest of the code is also executed normally.</vt:lpstr>
      <vt:lpstr>finally</vt:lpstr>
      <vt:lpstr>finally</vt:lpstr>
      <vt:lpstr>PowerPoint Presentation</vt:lpstr>
      <vt:lpstr>PowerPoint Presentation</vt:lpstr>
      <vt:lpstr>Java’s Built-in Exceptions</vt:lpstr>
      <vt:lpstr>Unchecked Runtime Exception Subclasses defined in  java.lang</vt:lpstr>
      <vt:lpstr>Java’s Checked Exceptions Defined in java.lang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PROGRAMMING  UNIT - V</dc:title>
  <dc:creator>Dr Yogish</dc:creator>
  <cp:lastModifiedBy>Admin</cp:lastModifiedBy>
  <cp:revision>23</cp:revision>
  <dcterms:created xsi:type="dcterms:W3CDTF">2023-08-29T07:31:34Z</dcterms:created>
  <dcterms:modified xsi:type="dcterms:W3CDTF">2023-09-01T11:39:52Z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2023-03-11T00:00:00Z</vt:filetime>
  </property>
  <property fmtid="{D5CDD505-2E9C-101B-9397-08002B2CF9AE}" pid="3" name="Creator">
    <vt:lpwstr>Microsoft® PowerPoint® 2019</vt:lpwstr>
  </property>
  <property fmtid="{D5CDD505-2E9C-101B-9397-08002B2CF9AE}" pid="4" name="LastSaved">
    <vt:filetime>2023-08-29T00:00:00Z</vt:filetime>
  </property>
</Properties>
</file>