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3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9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2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13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0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5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9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4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57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76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9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Communicative English  </a:t>
            </a: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Faculty – Dr. Kiran Magavi</a:t>
            </a: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Department – Humanities and Social Sciences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Forms of communication and Body language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699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of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Media / means of communication </a:t>
            </a:r>
          </a:p>
          <a:p>
            <a:endParaRPr lang="en-US" dirty="0"/>
          </a:p>
          <a:p>
            <a:r>
              <a:rPr lang="en-US" dirty="0"/>
              <a:t>1. Verbal – oral and written </a:t>
            </a:r>
          </a:p>
          <a:p>
            <a:r>
              <a:rPr lang="en-US" dirty="0"/>
              <a:t>2. non verbal – sign language and body language </a:t>
            </a:r>
          </a:p>
        </p:txBody>
      </p:sp>
    </p:spTree>
    <p:extLst>
      <p:ext uri="{BB962C8B-B14F-4D97-AF65-F5344CB8AC3E}">
        <p14:creationId xmlns:p14="http://schemas.microsoft.com/office/powerpoint/2010/main" val="296775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Oral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Face to Face </a:t>
            </a:r>
          </a:p>
          <a:p>
            <a:r>
              <a:rPr lang="en-US" dirty="0"/>
              <a:t>Telephone talk</a:t>
            </a:r>
          </a:p>
          <a:p>
            <a:r>
              <a:rPr lang="en-US" dirty="0"/>
              <a:t>Presentation </a:t>
            </a:r>
          </a:p>
          <a:p>
            <a:r>
              <a:rPr lang="en-US" dirty="0"/>
              <a:t>Public speech</a:t>
            </a:r>
          </a:p>
          <a:p>
            <a:r>
              <a:rPr lang="en-US" dirty="0"/>
              <a:t>Interviews </a:t>
            </a:r>
          </a:p>
          <a:p>
            <a:r>
              <a:rPr lang="en-US" dirty="0"/>
              <a:t>Meetings </a:t>
            </a:r>
          </a:p>
        </p:txBody>
      </p:sp>
    </p:spTree>
    <p:extLst>
      <p:ext uri="{BB962C8B-B14F-4D97-AF65-F5344CB8AC3E}">
        <p14:creationId xmlns:p14="http://schemas.microsoft.com/office/powerpoint/2010/main" val="426049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3564"/>
          </a:xfrm>
        </p:spPr>
        <p:txBody>
          <a:bodyPr>
            <a:normAutofit/>
          </a:bodyPr>
          <a:lstStyle/>
          <a:p>
            <a:r>
              <a:rPr lang="en-US" dirty="0"/>
              <a:t>Advantages of oral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527" y="762001"/>
            <a:ext cx="11707091" cy="6096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Time saving </a:t>
            </a:r>
          </a:p>
          <a:p>
            <a:r>
              <a:rPr lang="en-US" dirty="0"/>
              <a:t>Cost saving</a:t>
            </a:r>
          </a:p>
          <a:p>
            <a:r>
              <a:rPr lang="en-US" dirty="0"/>
              <a:t>More effective </a:t>
            </a:r>
          </a:p>
          <a:p>
            <a:r>
              <a:rPr lang="en-US" dirty="0"/>
              <a:t> powerful – </a:t>
            </a:r>
            <a:r>
              <a:rPr lang="en-US" dirty="0" err="1"/>
              <a:t>esp</a:t>
            </a:r>
            <a:r>
              <a:rPr lang="en-US" dirty="0"/>
              <a:t> in persuasion</a:t>
            </a:r>
          </a:p>
          <a:p>
            <a:r>
              <a:rPr lang="en-US" dirty="0"/>
              <a:t>Immediate feedback</a:t>
            </a:r>
          </a:p>
          <a:p>
            <a:r>
              <a:rPr lang="en-US" dirty="0"/>
              <a:t>More suitable – </a:t>
            </a:r>
            <a:r>
              <a:rPr lang="en-US" dirty="0" err="1"/>
              <a:t>esp</a:t>
            </a:r>
            <a:r>
              <a:rPr lang="en-US" dirty="0"/>
              <a:t> to seek clarification </a:t>
            </a:r>
          </a:p>
          <a:p>
            <a:r>
              <a:rPr lang="en-US" dirty="0"/>
              <a:t>Relationship and rapport – PR skills </a:t>
            </a:r>
          </a:p>
          <a:p>
            <a:r>
              <a:rPr lang="en-US" dirty="0"/>
              <a:t>Flexibility</a:t>
            </a:r>
          </a:p>
          <a:p>
            <a:r>
              <a:rPr lang="en-US" dirty="0"/>
              <a:t>Easiness </a:t>
            </a:r>
          </a:p>
          <a:p>
            <a:r>
              <a:rPr lang="en-US" dirty="0"/>
              <a:t>Correction of errors on the spot</a:t>
            </a:r>
          </a:p>
          <a:p>
            <a:r>
              <a:rPr lang="en-US" dirty="0"/>
              <a:t>Can be mixed with informality </a:t>
            </a:r>
          </a:p>
          <a:p>
            <a:r>
              <a:rPr lang="en-US" dirty="0"/>
              <a:t>Helpful in motivation </a:t>
            </a:r>
          </a:p>
          <a:p>
            <a:r>
              <a:rPr lang="en-US" dirty="0"/>
              <a:t>Secrecy </a:t>
            </a:r>
            <a:r>
              <a:rPr lang="en-US" dirty="0" err="1"/>
              <a:t>esp</a:t>
            </a:r>
            <a:r>
              <a:rPr lang="en-US" dirty="0"/>
              <a:t> if parties have common interests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94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983"/>
            <a:ext cx="10515600" cy="651162"/>
          </a:xfrm>
        </p:spPr>
        <p:txBody>
          <a:bodyPr>
            <a:normAutofit fontScale="90000"/>
          </a:bodyPr>
          <a:lstStyle/>
          <a:p>
            <a:r>
              <a:rPr lang="en-US" dirty="0"/>
              <a:t>Disadvantages of oral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3" y="748145"/>
            <a:ext cx="11679381" cy="5943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 record </a:t>
            </a:r>
          </a:p>
          <a:p>
            <a:r>
              <a:rPr lang="en-US" dirty="0"/>
              <a:t>Sometimes expensive </a:t>
            </a:r>
            <a:r>
              <a:rPr lang="en-US" dirty="0" err="1"/>
              <a:t>esp</a:t>
            </a:r>
            <a:r>
              <a:rPr lang="en-US" dirty="0"/>
              <a:t> if the speakers / audience have to travel </a:t>
            </a:r>
          </a:p>
          <a:p>
            <a:r>
              <a:rPr lang="en-US" dirty="0"/>
              <a:t>Distortions of words</a:t>
            </a:r>
          </a:p>
          <a:p>
            <a:r>
              <a:rPr lang="en-US" dirty="0"/>
              <a:t>Inaccuracy of diction and tone</a:t>
            </a:r>
          </a:p>
          <a:p>
            <a:r>
              <a:rPr lang="en-US" dirty="0"/>
              <a:t>Confused speech</a:t>
            </a:r>
          </a:p>
          <a:p>
            <a:r>
              <a:rPr lang="en-US" dirty="0"/>
              <a:t>Not suitable for lengthy messages </a:t>
            </a:r>
          </a:p>
          <a:p>
            <a:r>
              <a:rPr lang="en-US" dirty="0"/>
              <a:t>Omission of points – if main focus is shifted – beating round the bush</a:t>
            </a:r>
          </a:p>
          <a:p>
            <a:r>
              <a:rPr lang="en-US" dirty="0"/>
              <a:t>Confusion based on the perception of the listener </a:t>
            </a:r>
          </a:p>
          <a:p>
            <a:r>
              <a:rPr lang="en-US" dirty="0"/>
              <a:t>No legal validity , even if recorded, oral promise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  <a:p>
            <a:r>
              <a:rPr lang="en-US" dirty="0"/>
              <a:t>Possibility of irrelevant discussions </a:t>
            </a:r>
          </a:p>
          <a:p>
            <a:r>
              <a:rPr lang="en-US" dirty="0"/>
              <a:t>Not taken seriously vis a vis written communication </a:t>
            </a:r>
          </a:p>
          <a:p>
            <a:r>
              <a:rPr lang="en-US" dirty="0"/>
              <a:t>Disorganized speech </a:t>
            </a:r>
          </a:p>
          <a:p>
            <a:r>
              <a:rPr lang="en-US" dirty="0"/>
              <a:t>Not accepted in policy making </a:t>
            </a:r>
            <a:r>
              <a:rPr lang="en-US" dirty="0" err="1"/>
              <a:t>etc</a:t>
            </a:r>
            <a:r>
              <a:rPr lang="en-US" dirty="0"/>
              <a:t> for organizations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85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Written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Letters – most common – formal – informal </a:t>
            </a:r>
          </a:p>
          <a:p>
            <a:r>
              <a:rPr lang="en-US" dirty="0"/>
              <a:t>Memos – memorandum</a:t>
            </a:r>
          </a:p>
          <a:p>
            <a:r>
              <a:rPr lang="en-US" dirty="0"/>
              <a:t>Notices</a:t>
            </a:r>
          </a:p>
          <a:p>
            <a:r>
              <a:rPr lang="en-US" dirty="0"/>
              <a:t>Circulars </a:t>
            </a:r>
          </a:p>
          <a:p>
            <a:r>
              <a:rPr lang="en-US" dirty="0"/>
              <a:t>Report</a:t>
            </a:r>
          </a:p>
          <a:p>
            <a:r>
              <a:rPr lang="en-US" dirty="0"/>
              <a:t>Minutes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552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38546"/>
            <a:ext cx="11540836" cy="997528"/>
          </a:xfrm>
        </p:spPr>
        <p:txBody>
          <a:bodyPr>
            <a:normAutofit fontScale="90000"/>
          </a:bodyPr>
          <a:lstStyle/>
          <a:p>
            <a:r>
              <a:rPr lang="en-US" dirty="0"/>
              <a:t>Advantages &amp; disadvantages of written communication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136074"/>
            <a:ext cx="11804073" cy="5500253"/>
          </a:xfrm>
        </p:spPr>
        <p:txBody>
          <a:bodyPr/>
          <a:lstStyle/>
          <a:p>
            <a:r>
              <a:rPr lang="en-US" dirty="0"/>
              <a:t>No requirement of personal contact</a:t>
            </a:r>
          </a:p>
          <a:p>
            <a:r>
              <a:rPr lang="en-US" dirty="0"/>
              <a:t>Saves money </a:t>
            </a:r>
          </a:p>
          <a:p>
            <a:r>
              <a:rPr lang="en-US" dirty="0"/>
              <a:t>Written proof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Disadvantages </a:t>
            </a:r>
          </a:p>
          <a:p>
            <a:pPr marL="0" indent="0">
              <a:buNone/>
            </a:pPr>
            <a:r>
              <a:rPr lang="en-US" dirty="0"/>
              <a:t>Possibility of delay </a:t>
            </a:r>
          </a:p>
          <a:p>
            <a:pPr marL="0" indent="0">
              <a:buNone/>
            </a:pPr>
            <a:r>
              <a:rPr lang="en-US" dirty="0"/>
              <a:t>Lack of secrecy – once on paper anyone can access</a:t>
            </a:r>
          </a:p>
          <a:p>
            <a:pPr marL="0" indent="0">
              <a:buNone/>
            </a:pPr>
            <a:r>
              <a:rPr lang="en-US" dirty="0"/>
              <a:t>Cost – </a:t>
            </a:r>
            <a:r>
              <a:rPr lang="en-US" dirty="0" err="1"/>
              <a:t>esp</a:t>
            </a:r>
            <a:r>
              <a:rPr lang="en-US" dirty="0"/>
              <a:t> for technology based written communication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648691"/>
          </a:xfrm>
        </p:spPr>
        <p:txBody>
          <a:bodyPr/>
          <a:lstStyle/>
          <a:p>
            <a:r>
              <a:rPr lang="en-US" dirty="0"/>
              <a:t>Features of Non verbal communication – sign language  and body language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3382"/>
            <a:ext cx="10515600" cy="4862945"/>
          </a:xfrm>
        </p:spPr>
        <p:txBody>
          <a:bodyPr/>
          <a:lstStyle/>
          <a:p>
            <a:r>
              <a:rPr lang="en-US" dirty="0"/>
              <a:t>Uses both written and oral communication</a:t>
            </a:r>
          </a:p>
          <a:p>
            <a:r>
              <a:rPr lang="en-US" dirty="0"/>
              <a:t>Pictures , maps and other graphics enrich speech and documents </a:t>
            </a:r>
          </a:p>
          <a:p>
            <a:r>
              <a:rPr lang="en-US" dirty="0"/>
              <a:t>Pictures and symbols used to give instructions – no parking  signs</a:t>
            </a:r>
          </a:p>
          <a:p>
            <a:r>
              <a:rPr lang="en-US" dirty="0"/>
              <a:t>Facial expressions, gestures, eye contact tone of voice speak loudest</a:t>
            </a:r>
          </a:p>
          <a:p>
            <a:r>
              <a:rPr lang="en-US" dirty="0"/>
              <a:t>Non verbal behaviors </a:t>
            </a:r>
          </a:p>
          <a:p>
            <a:r>
              <a:rPr lang="en-US" dirty="0"/>
              <a:t>Silence also depicts a message </a:t>
            </a:r>
          </a:p>
          <a:p>
            <a:r>
              <a:rPr lang="en-US" dirty="0"/>
              <a:t>Natural , unconscious language </a:t>
            </a:r>
          </a:p>
          <a:p>
            <a:r>
              <a:rPr lang="en-US" dirty="0"/>
              <a:t>Has to coordinate speech and body language </a:t>
            </a:r>
          </a:p>
          <a:p>
            <a:r>
              <a:rPr lang="en-US" dirty="0"/>
              <a:t>Non verbal communication matters – reflects ones nature </a:t>
            </a:r>
          </a:p>
        </p:txBody>
      </p:sp>
    </p:spTree>
    <p:extLst>
      <p:ext uri="{BB962C8B-B14F-4D97-AF65-F5344CB8AC3E}">
        <p14:creationId xmlns:p14="http://schemas.microsoft.com/office/powerpoint/2010/main" val="3081078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03563"/>
          </a:xfrm>
        </p:spPr>
        <p:txBody>
          <a:bodyPr/>
          <a:lstStyle/>
          <a:p>
            <a:r>
              <a:rPr lang="en-US" dirty="0"/>
              <a:t>Sign language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5345"/>
            <a:ext cx="10515600" cy="5278582"/>
          </a:xfrm>
        </p:spPr>
        <p:txBody>
          <a:bodyPr/>
          <a:lstStyle/>
          <a:p>
            <a:r>
              <a:rPr lang="en-US" dirty="0"/>
              <a:t>Facial expressions </a:t>
            </a:r>
          </a:p>
          <a:p>
            <a:r>
              <a:rPr lang="en-US" dirty="0"/>
              <a:t>Oculesics – eye contact</a:t>
            </a:r>
          </a:p>
          <a:p>
            <a:r>
              <a:rPr lang="en-US" dirty="0"/>
              <a:t>Personal appearance – effects non verbal stimuli</a:t>
            </a:r>
          </a:p>
          <a:p>
            <a:r>
              <a:rPr lang="en-US" dirty="0"/>
              <a:t>Haptic communication – touch</a:t>
            </a:r>
          </a:p>
          <a:p>
            <a:r>
              <a:rPr lang="en-US" dirty="0"/>
              <a:t>Proxemics – distance – zone / </a:t>
            </a:r>
            <a:r>
              <a:rPr lang="en-US" dirty="0" err="1"/>
              <a:t>spatials</a:t>
            </a:r>
            <a:r>
              <a:rPr lang="en-US" dirty="0"/>
              <a:t> during verbal communication </a:t>
            </a:r>
          </a:p>
          <a:p>
            <a:r>
              <a:rPr lang="en-US" dirty="0"/>
              <a:t>a. intimate distance – 0 - 2ft</a:t>
            </a:r>
          </a:p>
          <a:p>
            <a:r>
              <a:rPr lang="en-US" dirty="0"/>
              <a:t>b. personal distance – 2 – 4 </a:t>
            </a:r>
            <a:r>
              <a:rPr lang="en-US" dirty="0" err="1"/>
              <a:t>ft</a:t>
            </a:r>
            <a:endParaRPr lang="en-US" dirty="0"/>
          </a:p>
          <a:p>
            <a:r>
              <a:rPr lang="en-US" dirty="0"/>
              <a:t>c. social distance – 4 -12 </a:t>
            </a:r>
            <a:r>
              <a:rPr lang="en-US" dirty="0" err="1"/>
              <a:t>ft</a:t>
            </a:r>
            <a:r>
              <a:rPr lang="en-US" dirty="0"/>
              <a:t> </a:t>
            </a:r>
          </a:p>
          <a:p>
            <a:r>
              <a:rPr lang="en-US" dirty="0"/>
              <a:t>d. public distance - &gt; 12 </a:t>
            </a:r>
            <a:r>
              <a:rPr lang="en-US" dirty="0" err="1"/>
              <a:t>ft</a:t>
            </a:r>
            <a:r>
              <a:rPr lang="en-US" dirty="0"/>
              <a:t>  </a:t>
            </a:r>
          </a:p>
          <a:p>
            <a:r>
              <a:rPr lang="en-US" dirty="0"/>
              <a:t>Adornments – dress, tattoos, jewelry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924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3563"/>
          </a:xfrm>
        </p:spPr>
        <p:txBody>
          <a:bodyPr/>
          <a:lstStyle/>
          <a:p>
            <a:r>
              <a:rPr lang="en-US" dirty="0"/>
              <a:t>Body language – types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03564"/>
            <a:ext cx="11540836" cy="59574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</a:rPr>
              <a:t>1. Kinesics – body movement/ gestures  – shrugs, winking, tap,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</a:rPr>
              <a:t>2. Posture – gait, stance, subtle movement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</a:rPr>
              <a:t>3. Gesture – point , beckon , use of hands </a:t>
            </a:r>
            <a:r>
              <a:rPr lang="en-US" b="1" dirty="0" err="1">
                <a:solidFill>
                  <a:schemeClr val="accent5"/>
                </a:solidFill>
              </a:rPr>
              <a:t>etc</a:t>
            </a:r>
            <a:r>
              <a:rPr lang="en-US" b="1" dirty="0">
                <a:solidFill>
                  <a:schemeClr val="accent5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</a:rPr>
              <a:t>4. Paralinguistic – that do not involve words in oral communication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accent2"/>
                </a:solidFill>
              </a:rPr>
              <a:t>a. Voice – uh </a:t>
            </a:r>
            <a:r>
              <a:rPr lang="en-US" b="1" i="1" dirty="0" err="1">
                <a:solidFill>
                  <a:schemeClr val="accent2"/>
                </a:solidFill>
              </a:rPr>
              <a:t>uh</a:t>
            </a:r>
            <a:r>
              <a:rPr lang="en-US" b="1" i="1" dirty="0">
                <a:solidFill>
                  <a:schemeClr val="accent2"/>
                </a:solidFill>
              </a:rPr>
              <a:t>, , hmm – indicates feelings , sarcasm, anger, affection 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accent2"/>
                </a:solidFill>
              </a:rPr>
              <a:t>b. Pitch – vibration per sec of the vocal chords 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accent2"/>
                </a:solidFill>
              </a:rPr>
              <a:t>c. Intonation 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accent2"/>
                </a:solidFill>
              </a:rPr>
              <a:t>d. Articulation 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accent2"/>
                </a:solidFill>
              </a:rPr>
              <a:t>e. Pauses 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accent2"/>
                </a:solidFill>
              </a:rPr>
              <a:t>f. Chronemics – use of time , waiting , speeding up </a:t>
            </a:r>
            <a:r>
              <a:rPr lang="en-US" b="1" i="1" dirty="0" err="1">
                <a:solidFill>
                  <a:schemeClr val="accent2"/>
                </a:solidFill>
              </a:rPr>
              <a:t>etc</a:t>
            </a:r>
            <a:r>
              <a:rPr lang="en-US" b="1" i="1" dirty="0">
                <a:solidFill>
                  <a:schemeClr val="accent2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accent2"/>
                </a:solidFill>
              </a:rPr>
              <a:t>g. Silence 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accent2"/>
                </a:solidFill>
              </a:rPr>
              <a:t>h. Vocalic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</a:rPr>
              <a:t>5. Locomotion – walking, jumping , swaying , wheel chairs </a:t>
            </a:r>
          </a:p>
        </p:txBody>
      </p:sp>
    </p:spTree>
    <p:extLst>
      <p:ext uri="{BB962C8B-B14F-4D97-AF65-F5344CB8AC3E}">
        <p14:creationId xmlns:p14="http://schemas.microsoft.com/office/powerpoint/2010/main" val="1713827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Body Language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Invest in refining Body Language. </a:t>
            </a:r>
          </a:p>
          <a:p>
            <a:r>
              <a:rPr lang="en-US" dirty="0"/>
              <a:t>Upgrading your communication – not just improving your own, but learn to identify general BL features </a:t>
            </a:r>
          </a:p>
          <a:p>
            <a:r>
              <a:rPr lang="en-US" dirty="0"/>
              <a:t>In case there is an oddity in your BL, practice the right method </a:t>
            </a:r>
          </a:p>
          <a:p>
            <a:r>
              <a:rPr lang="en-US" dirty="0"/>
              <a:t>Do not be unnatural and artificial </a:t>
            </a:r>
          </a:p>
          <a:p>
            <a:r>
              <a:rPr lang="en-US" dirty="0"/>
              <a:t>Avoid being misunderstood and sometimes manipulated too – do not be ignorant</a:t>
            </a:r>
          </a:p>
          <a:p>
            <a:r>
              <a:rPr lang="en-US" dirty="0"/>
              <a:t>First impression is a big impression </a:t>
            </a:r>
          </a:p>
          <a:p>
            <a:r>
              <a:rPr lang="en-US" dirty="0"/>
              <a:t>Standardized / acceptable universally </a:t>
            </a:r>
          </a:p>
        </p:txBody>
      </p:sp>
    </p:spTree>
    <p:extLst>
      <p:ext uri="{BB962C8B-B14F-4D97-AF65-F5344CB8AC3E}">
        <p14:creationId xmlns:p14="http://schemas.microsoft.com/office/powerpoint/2010/main" val="2471516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 language features across cultures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8582"/>
            <a:ext cx="10515600" cy="47083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are the parameters used to study or recognize </a:t>
            </a:r>
          </a:p>
          <a:p>
            <a:pPr marL="514350" indent="-514350">
              <a:buAutoNum type="arabicPeriod"/>
            </a:pPr>
            <a:r>
              <a:rPr lang="en-US" dirty="0"/>
              <a:t>Cultural background – regions and cultures , historical </a:t>
            </a:r>
          </a:p>
          <a:p>
            <a:pPr marL="514350" indent="-514350">
              <a:buAutoNum type="arabicPeriod"/>
            </a:pPr>
            <a:r>
              <a:rPr lang="en-US" dirty="0"/>
              <a:t>Haptics – touch</a:t>
            </a:r>
          </a:p>
          <a:p>
            <a:pPr marL="514350" indent="-514350">
              <a:buAutoNum type="arabicPeriod"/>
            </a:pPr>
            <a:r>
              <a:rPr lang="en-US" dirty="0"/>
              <a:t>Oculesics – eye contact </a:t>
            </a:r>
          </a:p>
          <a:p>
            <a:pPr marL="514350" indent="-514350">
              <a:buAutoNum type="arabicPeriod"/>
            </a:pPr>
            <a:r>
              <a:rPr lang="en-US" dirty="0"/>
              <a:t>Kinesics – body motion and gestures</a:t>
            </a:r>
          </a:p>
          <a:p>
            <a:pPr marL="514350" indent="-514350">
              <a:buAutoNum type="arabicPeriod"/>
            </a:pPr>
            <a:r>
              <a:rPr lang="en-US" dirty="0"/>
              <a:t>Vocalic – tone volume of speech</a:t>
            </a:r>
          </a:p>
          <a:p>
            <a:pPr marL="514350" indent="-514350">
              <a:buAutoNum type="arabicPeriod"/>
            </a:pPr>
            <a:r>
              <a:rPr lang="en-US" dirty="0"/>
              <a:t>Posture – stance, gait </a:t>
            </a:r>
          </a:p>
          <a:p>
            <a:pPr marL="514350" indent="-514350">
              <a:buAutoNum type="arabicPeriod"/>
            </a:pPr>
            <a:r>
              <a:rPr lang="en-US" dirty="0"/>
              <a:t>Proxemics – use of space</a:t>
            </a:r>
          </a:p>
          <a:p>
            <a:pPr marL="514350" indent="-514350">
              <a:buAutoNum type="arabicPeriod"/>
            </a:pPr>
            <a:r>
              <a:rPr lang="en-US" dirty="0"/>
              <a:t>Chronemics – time, speed , waiting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8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of greetings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Handshakes </a:t>
            </a:r>
          </a:p>
          <a:p>
            <a:pPr marL="514350" indent="-514350">
              <a:buAutoNum type="arabicPeriod"/>
            </a:pPr>
            <a:r>
              <a:rPr lang="en-US" dirty="0"/>
              <a:t>Hugging and kissing </a:t>
            </a:r>
          </a:p>
          <a:p>
            <a:pPr marL="514350" indent="-514350">
              <a:buAutoNum type="arabicPeriod"/>
            </a:pPr>
            <a:r>
              <a:rPr lang="en-US" dirty="0"/>
              <a:t>Bowing</a:t>
            </a:r>
          </a:p>
          <a:p>
            <a:pPr marL="514350" indent="-514350">
              <a:buAutoNum type="arabicPeriod"/>
            </a:pPr>
            <a:r>
              <a:rPr lang="en-US" dirty="0"/>
              <a:t>Eye contact </a:t>
            </a:r>
          </a:p>
          <a:p>
            <a:pPr marL="514350" indent="-514350">
              <a:buAutoNum type="arabicPeriod"/>
            </a:pPr>
            <a:r>
              <a:rPr lang="en-US"/>
              <a:t>Smiling </a:t>
            </a:r>
          </a:p>
        </p:txBody>
      </p:sp>
    </p:spTree>
    <p:extLst>
      <p:ext uri="{BB962C8B-B14F-4D97-AF65-F5344CB8AC3E}">
        <p14:creationId xmlns:p14="http://schemas.microsoft.com/office/powerpoint/2010/main" val="36570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663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Communicative English   Faculty – Dr. Kiran Magavi Department – Humanities and Social Sciences</vt:lpstr>
      <vt:lpstr>Forms of communication </vt:lpstr>
      <vt:lpstr>Oral communication </vt:lpstr>
      <vt:lpstr>Advantages of oral communication </vt:lpstr>
      <vt:lpstr>Disadvantages of oral Communication </vt:lpstr>
      <vt:lpstr>Written communication </vt:lpstr>
      <vt:lpstr>Advantages &amp; disadvantages of written communication </vt:lpstr>
      <vt:lpstr>Features of Non verbal communication – sign language  and body language  </vt:lpstr>
      <vt:lpstr>Sign language </vt:lpstr>
      <vt:lpstr>Body language – types  </vt:lpstr>
      <vt:lpstr>Importance of Body Language </vt:lpstr>
      <vt:lpstr>Body language features across cultures </vt:lpstr>
      <vt:lpstr>Forms of greetings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course – schedule 2</dc:title>
  <dc:creator>kiraaan</dc:creator>
  <cp:lastModifiedBy>Rishi Magavi</cp:lastModifiedBy>
  <cp:revision>22</cp:revision>
  <dcterms:created xsi:type="dcterms:W3CDTF">2020-11-18T07:23:57Z</dcterms:created>
  <dcterms:modified xsi:type="dcterms:W3CDTF">2022-02-07T16:28:41Z</dcterms:modified>
</cp:coreProperties>
</file>