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4E71-F6C2-40BF-9D61-5C3947597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ECFC9-376C-480D-90F9-5C308FC3C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F0D8-7B9B-4276-934D-87B9D09D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BB269-CCDB-493E-8619-6C6B08F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5DC8A-1928-4932-963D-A706183D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80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7444-4AAE-4462-AB66-25C094F0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D3E1-7358-4969-9FF7-EEFEAE6F2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C1376-46C0-4635-ACEE-CF7ABB91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9E7AD-699A-4135-A1AE-7D8271AE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8F30-ABDC-4C6A-AFD0-1A67799DA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87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AB6D-7D5E-4EE2-9AE4-23067FE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7B875-3ED8-4A38-B38D-6EA65B49F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AF0-2FB9-46EE-9F1C-9F6487B1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693BE-D823-4CB8-8BA0-B230A9B49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53123-C69B-45BD-A4F5-8C108417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73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7344-33BB-4DCF-BC9E-43C8F751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6A48-4E97-4A48-AF23-311B070A8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F4EDD-9E46-4F3D-8186-FA2F39E2B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6664-58B3-411D-A4B3-E4BD1B93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D8967-2F0A-4307-B714-007334A5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A2223-CD46-456C-8CDD-DE7A3C63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61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9AB7-7C89-4B33-9C49-D7592C7E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0AE1-BE4F-4A9B-A359-DC42F330B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AEB29-89CE-4099-A42E-FF3640549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5253A-E51E-4C52-AE58-DB9829B1C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934B2-0C3E-47F0-8C41-5DDDF23BF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05162-25EE-4854-91A6-BB49248BE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93D46-A7E9-4119-AE57-64833D35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B2FD9-1A6B-4334-9BF5-7A9E014E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67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CF65-4E30-40C8-908F-E460D9E33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C46C6-EED0-4E6C-8A50-BF72A260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9AB61-10D7-4FB0-B230-26CBA28B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80050-C9D1-446C-B96C-BBB78D56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26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19C7C-9BA2-4591-8310-5B059318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B4E65-DFD9-4A74-9790-6103EF39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3946A-E8E0-4B13-895E-1E56BD3D1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98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E31E-1C3C-4874-8F70-64F13584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28AE-3481-41BF-90F8-2809E612B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AF268-2C93-41E2-9619-C5D925CA7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E6AE3-A603-4495-BAA2-8B351248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16CCC-02D1-4823-B3E1-09E96BF7E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17A30-3A35-454B-9876-31ACDD27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97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21FA-7BD9-4E17-8D55-C17588C22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517859-D9B9-41FE-81DC-83D5670C6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267D9-0EA1-4729-A8F2-BA3B81485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BD21-0C79-40D1-9EE0-984CBC46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F9D72-6EA4-4683-ABCB-5C18724C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7E9BC-78FB-46CC-8969-EACCCE1F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23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A1E1-CD0A-467A-84EC-465A266A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E38E6-4DA0-401F-BFDD-CFC811795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6F6F5-71A4-4E46-AB1E-F7B1443B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5F836-8B07-41F6-987E-AF2F32EB8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70E88-8366-46EB-AC53-20D891FE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55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EC953-95BD-4B69-9834-33C24313D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85073-DC6D-4582-89E3-F69CDA764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A98BB-098F-4953-85E4-E6B59752D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E4804-31BC-4F69-87EF-1CB744A2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2601-8818-45B1-895B-2ED4DF07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05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B18F9-D654-4EFA-8F60-6DCA3A15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9BF2A-B6EB-4A75-920F-1C016C289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E5417-2AD6-4795-9C37-6E7951541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0FAD4-411F-4DA1-9D76-28E0E02C6F1E}" type="datetimeFigureOut">
              <a:rPr lang="en-IN" smtClean="0"/>
              <a:t>07-02-2022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99698-7407-4A72-93A2-70605EEBB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0E70A-7A14-43CD-8DB0-EA746E79A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7C3FE-DE1E-41EC-A3F1-67E909A871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06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934C-62AE-4D4F-89EB-4F197FBBF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4A9B5-0B1D-4716-B9F4-EC8AE1714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n-US" dirty="0"/>
              <a:t> Patterns and levels of communication 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25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797C-EB2F-4DC8-8C4C-AB40D98A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of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DE02-D3D2-4CCB-896C-3E90839A8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way </a:t>
            </a:r>
          </a:p>
          <a:p>
            <a:r>
              <a:rPr lang="en-US" dirty="0"/>
              <a:t>Two way </a:t>
            </a:r>
          </a:p>
          <a:p>
            <a:r>
              <a:rPr lang="en-US" dirty="0"/>
              <a:t>One to one </a:t>
            </a:r>
          </a:p>
          <a:p>
            <a:r>
              <a:rPr lang="en-US" dirty="0"/>
              <a:t>One to many</a:t>
            </a:r>
          </a:p>
          <a:p>
            <a:r>
              <a:rPr lang="en-US" dirty="0"/>
              <a:t>Many to one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3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5FBB-F169-4420-83A3-14D4EBC7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way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A5F9-3827-4833-B0FE-1C673B310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person instructing another </a:t>
            </a:r>
          </a:p>
          <a:p>
            <a:r>
              <a:rPr lang="en-US" dirty="0"/>
              <a:t>One person continuously speaking without the other getting a chance to speak</a:t>
            </a:r>
          </a:p>
          <a:p>
            <a:r>
              <a:rPr lang="en-US" dirty="0"/>
              <a:t>One giving  directions to the other to do something</a:t>
            </a:r>
          </a:p>
          <a:p>
            <a:r>
              <a:rPr lang="en-US" dirty="0"/>
              <a:t>One passing on information/ messages </a:t>
            </a:r>
            <a:r>
              <a:rPr lang="en-US" dirty="0" err="1"/>
              <a:t>etc</a:t>
            </a:r>
            <a:r>
              <a:rPr lang="en-US" dirty="0"/>
              <a:t> to the other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16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B6F1-E46C-41FC-BA51-A1852D066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2313-C1B5-415D-B08C-8BF4F203A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person X instructs to Y</a:t>
            </a:r>
          </a:p>
          <a:p>
            <a:r>
              <a:rPr lang="en-US" dirty="0"/>
              <a:t>Y replies to X</a:t>
            </a:r>
          </a:p>
          <a:p>
            <a:r>
              <a:rPr lang="en-US" dirty="0"/>
              <a:t>X exchanges notes/ opinion on the same to Y</a:t>
            </a:r>
          </a:p>
          <a:p>
            <a:r>
              <a:rPr lang="en-US" dirty="0"/>
              <a:t>Y again responds to X ……..</a:t>
            </a:r>
          </a:p>
          <a:p>
            <a:r>
              <a:rPr lang="en-US" dirty="0"/>
              <a:t>Two way communication can be classified into two </a:t>
            </a:r>
          </a:p>
          <a:p>
            <a:r>
              <a:rPr lang="en-US" dirty="0"/>
              <a:t>one to many </a:t>
            </a:r>
          </a:p>
          <a:p>
            <a:r>
              <a:rPr lang="en-US" dirty="0"/>
              <a:t>many to one </a:t>
            </a:r>
          </a:p>
          <a:p>
            <a:r>
              <a:rPr lang="en-US" dirty="0"/>
              <a:t> they however , must respond to one another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991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F5C9-B7D6-4B52-8D64-04B64DF6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to one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F4DA-703F-4F12-9D20-201BB46F3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one sender and receiver exchanging messages – one to one in two way communication </a:t>
            </a:r>
          </a:p>
          <a:p>
            <a:r>
              <a:rPr lang="en-US" dirty="0"/>
              <a:t>One to many – there is only one sender and many receivers. All receivers send replies to the sender – one to many in a two way communication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33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1086-F8B4-4218-87A5-146010F1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to one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ADD4-9BE9-4286-9A24-3040D5C54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Several senders and one receiver </a:t>
            </a:r>
          </a:p>
          <a:p>
            <a:r>
              <a:rPr lang="en-US" dirty="0"/>
              <a:t>Receiver should reply to all</a:t>
            </a:r>
          </a:p>
          <a:p>
            <a:r>
              <a:rPr lang="en-US" dirty="0"/>
              <a:t>Above is many to one in a two way communication pattern</a:t>
            </a:r>
          </a:p>
          <a:p>
            <a:r>
              <a:rPr lang="en-US" dirty="0"/>
              <a:t>Important points for the communication system to function properly</a:t>
            </a:r>
          </a:p>
          <a:p>
            <a:pPr marL="514350" indent="-514350">
              <a:buAutoNum type="alphaLcPeriod"/>
            </a:pPr>
            <a:r>
              <a:rPr lang="en-US" dirty="0"/>
              <a:t>What is the information to be conveyed? </a:t>
            </a:r>
          </a:p>
          <a:p>
            <a:pPr marL="514350" indent="-514350">
              <a:buAutoNum type="alphaLcPeriod"/>
            </a:pPr>
            <a:r>
              <a:rPr lang="en-US" dirty="0"/>
              <a:t>Who requires it?</a:t>
            </a:r>
          </a:p>
          <a:p>
            <a:pPr marL="514350" indent="-514350">
              <a:buAutoNum type="alphaLcPeriod"/>
            </a:pPr>
            <a:r>
              <a:rPr lang="en-US" dirty="0"/>
              <a:t>What should be it’s form?</a:t>
            </a:r>
          </a:p>
          <a:p>
            <a:pPr marL="514350" indent="-514350">
              <a:buAutoNum type="alphaLcPeriod"/>
            </a:pPr>
            <a:r>
              <a:rPr lang="en-US" dirty="0"/>
              <a:t>What are the techniques of dissemination/ method to broadcast or send the message?</a:t>
            </a:r>
          </a:p>
          <a:p>
            <a:pPr marL="514350" indent="-514350">
              <a:buAutoNum type="alphaLcPeriod"/>
            </a:pPr>
            <a:r>
              <a:rPr lang="en-US" dirty="0"/>
              <a:t>What are the technological aids that can be used?</a:t>
            </a:r>
          </a:p>
          <a:p>
            <a:pPr marL="514350" indent="-514350">
              <a:buAutoNum type="alphaL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18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8655-5058-4B5D-AE05-54393A14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87058-2231-4E1D-8D5D-442EE830F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1. Extra personal – communication between human and non –human living beings </a:t>
            </a:r>
          </a:p>
          <a:p>
            <a:pPr marL="0" indent="0">
              <a:buNone/>
            </a:pPr>
            <a:r>
              <a:rPr lang="en-US" dirty="0"/>
              <a:t>2. Intrapersonal – thinking, talking to oneself, auto suggestion </a:t>
            </a:r>
          </a:p>
          <a:p>
            <a:pPr marL="0" indent="0">
              <a:buNone/>
            </a:pPr>
            <a:r>
              <a:rPr lang="en-US" dirty="0"/>
              <a:t>3. Interpersonal – sharing information among people </a:t>
            </a:r>
          </a:p>
          <a:p>
            <a:pPr marL="0" indent="0">
              <a:buNone/>
            </a:pPr>
            <a:r>
              <a:rPr lang="en-US" dirty="0"/>
              <a:t>4. Organizational – hierarchy / protocol is followed. </a:t>
            </a:r>
          </a:p>
          <a:p>
            <a:pPr marL="0" indent="0">
              <a:buNone/>
            </a:pPr>
            <a:r>
              <a:rPr lang="en-US" dirty="0"/>
              <a:t>There are 3 types/ classification  </a:t>
            </a:r>
          </a:p>
          <a:p>
            <a:pPr marL="514350" indent="-514350">
              <a:buAutoNum type="alphaLcPeriod"/>
            </a:pPr>
            <a:r>
              <a:rPr lang="en-US" dirty="0"/>
              <a:t>Internal operational – for work conducted within the organization</a:t>
            </a:r>
          </a:p>
          <a:p>
            <a:pPr marL="514350" indent="-514350">
              <a:buAutoNum type="alphaLcPeriod"/>
            </a:pPr>
            <a:r>
              <a:rPr lang="en-US" dirty="0"/>
              <a:t>External operational – for work conducted outside </a:t>
            </a:r>
          </a:p>
          <a:p>
            <a:pPr marL="514350" indent="-514350">
              <a:buAutoNum type="alphaLcPeriod"/>
            </a:pPr>
            <a:r>
              <a:rPr lang="en-US" dirty="0"/>
              <a:t>Personal – any communication that occurs without a business purpose – gossip, chatter, talk – grapevine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5. Mass communication – requires a media to transmit the message – for a large audience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768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D926-6FF4-47F9-84F6-3836E7DD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communication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69052-177A-446A-9A13-15ABD6CE9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Listening barriers </a:t>
            </a:r>
          </a:p>
          <a:p>
            <a:pPr marL="514350" indent="-514350">
              <a:buAutoNum type="arabicPeriod"/>
            </a:pPr>
            <a:r>
              <a:rPr lang="en-US" dirty="0"/>
              <a:t>Interrupting the speaker</a:t>
            </a:r>
          </a:p>
          <a:p>
            <a:pPr marL="514350" indent="-514350">
              <a:buAutoNum type="arabicPeriod"/>
            </a:pPr>
            <a:r>
              <a:rPr lang="en-US" dirty="0"/>
              <a:t>Not maintaining eye contact with the speaker </a:t>
            </a:r>
          </a:p>
          <a:p>
            <a:pPr marL="514350" indent="-514350">
              <a:buAutoNum type="arabicPeriod"/>
            </a:pPr>
            <a:r>
              <a:rPr lang="en-US" dirty="0"/>
              <a:t>Rushing the speaker –impatient listener</a:t>
            </a:r>
          </a:p>
          <a:p>
            <a:pPr marL="514350" indent="-514350">
              <a:buAutoNum type="arabicPeriod"/>
            </a:pPr>
            <a:r>
              <a:rPr lang="en-US" dirty="0"/>
              <a:t>Being distracted always</a:t>
            </a:r>
          </a:p>
          <a:p>
            <a:pPr marL="514350" indent="-514350">
              <a:buAutoNum type="arabicPeriod"/>
            </a:pPr>
            <a:r>
              <a:rPr lang="en-US" dirty="0"/>
              <a:t>Getting ahead of the speaker</a:t>
            </a:r>
          </a:p>
          <a:p>
            <a:pPr marL="514350" indent="-514350">
              <a:buAutoNum type="arabicPeriod"/>
            </a:pPr>
            <a:r>
              <a:rPr lang="en-US" dirty="0"/>
              <a:t>Ignoring decency , decorum and requests</a:t>
            </a:r>
          </a:p>
          <a:p>
            <a:pPr marL="514350" indent="-514350">
              <a:buAutoNum type="arabicPeriod"/>
            </a:pPr>
            <a:r>
              <a:rPr lang="en-US" dirty="0"/>
              <a:t>Interrupting the speaker with one’s own examples </a:t>
            </a:r>
          </a:p>
          <a:p>
            <a:pPr marL="514350" indent="-514350">
              <a:buAutoNum type="arabicPeriod"/>
            </a:pPr>
            <a:r>
              <a:rPr lang="en-IN" dirty="0"/>
              <a:t>Deviation due to lack of listening and hence forgetting</a:t>
            </a:r>
          </a:p>
          <a:p>
            <a:pPr marL="514350" indent="-514350">
              <a:buAutoNum type="arabicPeriod"/>
            </a:pPr>
            <a:r>
              <a:rPr lang="en-IN" dirty="0"/>
              <a:t>Probing to test by asking too many questions without listening carefully</a:t>
            </a:r>
          </a:p>
        </p:txBody>
      </p:sp>
    </p:spTree>
    <p:extLst>
      <p:ext uri="{BB962C8B-B14F-4D97-AF65-F5344CB8AC3E}">
        <p14:creationId xmlns:p14="http://schemas.microsoft.com/office/powerpoint/2010/main" val="264507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E362-6C29-4E38-A86E-9F261B977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2.Barriers while speaking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86D50-25CE-454C-B074-FFC741B8E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Unclear messages</a:t>
            </a:r>
          </a:p>
          <a:p>
            <a:r>
              <a:rPr lang="en-US" dirty="0"/>
              <a:t>Lack of consistency in talk/ communication process</a:t>
            </a:r>
          </a:p>
          <a:p>
            <a:r>
              <a:rPr lang="en-US" dirty="0"/>
              <a:t>Incomplete sentences</a:t>
            </a:r>
          </a:p>
          <a:p>
            <a:r>
              <a:rPr lang="en-US" dirty="0"/>
              <a:t>Not understanding the receiver’s language, thoughts</a:t>
            </a:r>
          </a:p>
          <a:p>
            <a:r>
              <a:rPr lang="en-US" dirty="0"/>
              <a:t>Not seeking clarifications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7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C84A-D653-4F37-B9E4-9279216C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929"/>
          </a:xfrm>
        </p:spPr>
        <p:txBody>
          <a:bodyPr>
            <a:normAutofit fontScale="90000"/>
          </a:bodyPr>
          <a:lstStyle/>
          <a:p>
            <a:r>
              <a:rPr lang="en-US" dirty="0"/>
              <a:t>Environmental barriers – noise as a main pollutant and barrier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45086-9F85-4023-8C70-462148680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10515600" cy="52138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Noise does not mean sound but a break/ disturbance in the communication process</a:t>
            </a:r>
          </a:p>
          <a:p>
            <a:pPr marL="0" indent="0">
              <a:buNone/>
            </a:pPr>
            <a:r>
              <a:rPr lang="en-US" dirty="0"/>
              <a:t>It is an unplanned interference in the communication process or environment </a:t>
            </a:r>
          </a:p>
          <a:p>
            <a:pPr marL="0" indent="0">
              <a:buNone/>
            </a:pPr>
            <a:r>
              <a:rPr lang="en-US" dirty="0"/>
              <a:t>It affects the transmission of message </a:t>
            </a:r>
          </a:p>
          <a:p>
            <a:pPr marL="0" indent="0">
              <a:buNone/>
            </a:pPr>
            <a:r>
              <a:rPr lang="en-US" dirty="0"/>
              <a:t>Noise can be classified as  </a:t>
            </a:r>
          </a:p>
          <a:p>
            <a:pPr marL="0" indent="0">
              <a:buNone/>
            </a:pPr>
            <a:r>
              <a:rPr lang="en-US" dirty="0"/>
              <a:t>Channel – mechanics of the medium – telephone lines </a:t>
            </a:r>
            <a:r>
              <a:rPr lang="en-US" dirty="0" err="1"/>
              <a:t>etc</a:t>
            </a:r>
            <a:r>
              <a:rPr lang="en-US" dirty="0"/>
              <a:t>, it erupts externally , in written illegible writing is channel barrier</a:t>
            </a:r>
          </a:p>
          <a:p>
            <a:pPr marL="0" indent="0">
              <a:buNone/>
            </a:pPr>
            <a:r>
              <a:rPr lang="en-US" dirty="0"/>
              <a:t>Semantic – internal – resulting from the errors in the message itself</a:t>
            </a:r>
          </a:p>
          <a:p>
            <a:pPr marL="0" indent="0">
              <a:buNone/>
            </a:pPr>
            <a:r>
              <a:rPr lang="en-US" dirty="0"/>
              <a:t>Implied meanings, connotations interpreted differently by the receiver , ambiguous sentence structure, faulty spellings, incorrect diction </a:t>
            </a:r>
            <a:r>
              <a:rPr lang="en-US" dirty="0" err="1"/>
              <a:t>etc</a:t>
            </a:r>
            <a:r>
              <a:rPr lang="en-US" dirty="0"/>
              <a:t>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945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65EA-B377-4B09-A65A-71651F5B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barriers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A1BDC-7459-4CE7-ADD3-7F6EF9AE0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Socio economic conditions – status and hierarchy</a:t>
            </a:r>
          </a:p>
          <a:p>
            <a:r>
              <a:rPr lang="en-US" dirty="0"/>
              <a:t>Cultural background – views , beliefs, norms, taboos and practices </a:t>
            </a:r>
          </a:p>
          <a:p>
            <a:r>
              <a:rPr lang="en-US" dirty="0"/>
              <a:t>Language and accent – influence of mother tongue , hesitation  </a:t>
            </a:r>
          </a:p>
          <a:p>
            <a:r>
              <a:rPr lang="en-US" dirty="0"/>
              <a:t>Behavior and nature – ego, complexes , introverted, extroverted</a:t>
            </a:r>
          </a:p>
          <a:p>
            <a:r>
              <a:rPr lang="en-US" dirty="0"/>
              <a:t>Religion – differences in beliefs, dogmatic, strict adherence to religion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25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894D-1CA4-4609-804E-2EB8D0BD6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/psychological behaviors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19D42-4A63-47A5-8054-E4A439DC2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Mind set , perceptions </a:t>
            </a:r>
          </a:p>
          <a:p>
            <a:r>
              <a:rPr lang="en-US" dirty="0"/>
              <a:t>Wave length of individuals</a:t>
            </a:r>
          </a:p>
          <a:p>
            <a:r>
              <a:rPr lang="en-US" dirty="0"/>
              <a:t>Sense of humor</a:t>
            </a:r>
          </a:p>
          <a:p>
            <a:r>
              <a:rPr lang="en-US" dirty="0"/>
              <a:t>Sense of explanation – some prefer brief, some detailed</a:t>
            </a:r>
          </a:p>
          <a:p>
            <a:r>
              <a:rPr lang="en-US" dirty="0"/>
              <a:t>Poor retention </a:t>
            </a:r>
          </a:p>
          <a:p>
            <a:r>
              <a:rPr lang="en-US" dirty="0"/>
              <a:t>Closed and rigid mindset</a:t>
            </a:r>
          </a:p>
          <a:p>
            <a:r>
              <a:rPr lang="en-US" dirty="0"/>
              <a:t>Lack of knowledge</a:t>
            </a:r>
          </a:p>
          <a:p>
            <a:r>
              <a:rPr lang="en-US" dirty="0"/>
              <a:t>Lack of ability to filter information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339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7DDEB-8637-466D-9674-21D91EE5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13609"/>
          </a:xfrm>
        </p:spPr>
        <p:txBody>
          <a:bodyPr/>
          <a:lstStyle/>
          <a:p>
            <a:r>
              <a:rPr lang="en-US" dirty="0"/>
              <a:t>Interpersonal communication and skills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563B5-31A9-4701-859F-58E28190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61" y="1325216"/>
            <a:ext cx="11396869" cy="522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Simply put, “interpersonal” is most frequently defined as something “between people.” In this case, it’s communication but it’s more than mere “talk.” </a:t>
            </a:r>
          </a:p>
          <a:p>
            <a:pPr marL="0" indent="0">
              <a:buNone/>
            </a:pPr>
            <a:r>
              <a:rPr lang="en-US" dirty="0"/>
              <a:t>Refers to the entire process and practice of exchanging ideas, information, and even emotional experiences that can be shared between people. It is a potent and vital force that isn't just all about words</a:t>
            </a:r>
          </a:p>
          <a:p>
            <a:pPr marL="0" indent="0">
              <a:buNone/>
            </a:pPr>
            <a:r>
              <a:rPr lang="en-US" dirty="0"/>
              <a:t>It’s an array of cues that come from the voice, body language, facial expressions, and gestures.</a:t>
            </a:r>
          </a:p>
          <a:p>
            <a:pPr marL="0" indent="0">
              <a:buNone/>
            </a:pPr>
            <a:r>
              <a:rPr lang="en-US" dirty="0"/>
              <a:t>Effective interpersonal communication is the bedrock upon which relationships in business (and beyond) are built.</a:t>
            </a:r>
          </a:p>
          <a:p>
            <a:pPr marL="0" indent="0">
              <a:buNone/>
            </a:pPr>
            <a:r>
              <a:rPr lang="en-US" dirty="0"/>
              <a:t> Good interpersonal communication is the catalyst for action. When it’s done right, it can truly turn ideas into action.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3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772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Communicative English   Faculty – Dr. Kiran Magavi Department – Humanities and Social Sciences</vt:lpstr>
      <vt:lpstr>Patterns of communication </vt:lpstr>
      <vt:lpstr>One way communication </vt:lpstr>
      <vt:lpstr>Two way communication </vt:lpstr>
      <vt:lpstr>One to one </vt:lpstr>
      <vt:lpstr>Many to one communication </vt:lpstr>
      <vt:lpstr>Levels of communication </vt:lpstr>
      <vt:lpstr>Barriers to communication </vt:lpstr>
      <vt:lpstr>2.Barriers while speaking</vt:lpstr>
      <vt:lpstr>Environmental barriers – noise as a main pollutant and barrier</vt:lpstr>
      <vt:lpstr>Cultural barriers </vt:lpstr>
      <vt:lpstr>Individual /psychological behaviors </vt:lpstr>
      <vt:lpstr>Interpersonal communication and skills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–schedule 2 </dc:title>
  <dc:creator>Rishi Magavi</dc:creator>
  <cp:lastModifiedBy>Rishi Magavi</cp:lastModifiedBy>
  <cp:revision>19</cp:revision>
  <dcterms:created xsi:type="dcterms:W3CDTF">2020-11-25T08:36:47Z</dcterms:created>
  <dcterms:modified xsi:type="dcterms:W3CDTF">2022-02-07T16:38:46Z</dcterms:modified>
</cp:coreProperties>
</file>