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1122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6/20/2023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6/20/2023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6/20/2023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58468" y="191846"/>
            <a:ext cx="6827062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6300" y="2484437"/>
            <a:ext cx="4876800" cy="1554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10540" y="6465214"/>
            <a:ext cx="2317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718" y="2146173"/>
            <a:ext cx="7197725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23185" marR="5080" indent="-261112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Counting </a:t>
            </a:r>
            <a:r>
              <a:rPr sz="4400" spc="-20" dirty="0"/>
              <a:t>Inversions- </a:t>
            </a:r>
            <a:r>
              <a:rPr sz="4400" spc="-5" dirty="0"/>
              <a:t>Divide </a:t>
            </a:r>
            <a:r>
              <a:rPr sz="4400" dirty="0"/>
              <a:t>and </a:t>
            </a:r>
            <a:r>
              <a:rPr sz="4400" spc="-980" dirty="0"/>
              <a:t> </a:t>
            </a:r>
            <a:r>
              <a:rPr sz="4400" spc="-5" dirty="0"/>
              <a:t>Conquer</a:t>
            </a:r>
            <a:endParaRPr sz="4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6427114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3240" y="1334770"/>
            <a:ext cx="6592570" cy="266001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06045" indent="-81280">
              <a:lnSpc>
                <a:spcPct val="100000"/>
              </a:lnSpc>
              <a:spcBef>
                <a:spcPts val="530"/>
              </a:spcBef>
              <a:buSzPct val="94444"/>
              <a:buFont typeface="Arial MT"/>
              <a:buChar char="•"/>
              <a:tabLst>
                <a:tab pos="106680" algn="l"/>
              </a:tabLst>
            </a:pPr>
            <a:r>
              <a:rPr sz="1800" dirty="0">
                <a:latin typeface="Calibri"/>
                <a:cs typeface="Calibri"/>
              </a:rPr>
              <a:t>Music</a:t>
            </a:r>
            <a:r>
              <a:rPr sz="1800" spc="-10" dirty="0">
                <a:latin typeface="Calibri"/>
                <a:cs typeface="Calibri"/>
              </a:rPr>
              <a:t> site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tries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match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your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song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preferences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with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others.</a:t>
            </a:r>
            <a:endParaRPr sz="1800">
              <a:latin typeface="Calibri"/>
              <a:cs typeface="Calibri"/>
            </a:endParaRPr>
          </a:p>
          <a:p>
            <a:pPr marL="768985" lvl="1" indent="-287020">
              <a:lnSpc>
                <a:spcPct val="100000"/>
              </a:lnSpc>
              <a:spcBef>
                <a:spcPts val="430"/>
              </a:spcBef>
              <a:buFont typeface="Arial MT"/>
              <a:buChar char="–"/>
              <a:tabLst>
                <a:tab pos="768985" algn="l"/>
                <a:tab pos="769620" algn="l"/>
              </a:tabLst>
            </a:pPr>
            <a:r>
              <a:rPr sz="1800" spc="-50" dirty="0">
                <a:latin typeface="Calibri"/>
                <a:cs typeface="Calibri"/>
              </a:rPr>
              <a:t>You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rank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songs.</a:t>
            </a:r>
            <a:endParaRPr sz="1800">
              <a:latin typeface="Calibri"/>
              <a:cs typeface="Calibri"/>
            </a:endParaRPr>
          </a:p>
          <a:p>
            <a:pPr marL="768985" lvl="1" indent="-287020">
              <a:lnSpc>
                <a:spcPct val="100000"/>
              </a:lnSpc>
              <a:spcBef>
                <a:spcPts val="434"/>
              </a:spcBef>
              <a:buFont typeface="Arial MT"/>
              <a:buChar char="–"/>
              <a:tabLst>
                <a:tab pos="768985" algn="l"/>
                <a:tab pos="769620" algn="l"/>
              </a:tabLst>
            </a:pPr>
            <a:r>
              <a:rPr sz="1800" dirty="0">
                <a:latin typeface="Calibri"/>
                <a:cs typeface="Calibri"/>
              </a:rPr>
              <a:t>Music</a:t>
            </a:r>
            <a:r>
              <a:rPr sz="1800" spc="-10" dirty="0">
                <a:latin typeface="Calibri"/>
                <a:cs typeface="Calibri"/>
              </a:rPr>
              <a:t> site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consults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database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</a:t>
            </a:r>
            <a:r>
              <a:rPr sz="1800" spc="-5" dirty="0">
                <a:latin typeface="Calibri"/>
                <a:cs typeface="Calibri"/>
              </a:rPr>
              <a:t> find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people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with</a:t>
            </a:r>
            <a:r>
              <a:rPr sz="1800" spc="55" dirty="0"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4F81BC"/>
                </a:solidFill>
                <a:latin typeface="Calibri"/>
                <a:cs typeface="Calibri"/>
              </a:rPr>
              <a:t>similar</a:t>
            </a:r>
            <a:r>
              <a:rPr sz="1800" spc="5" dirty="0">
                <a:solidFill>
                  <a:srgbClr val="4F81B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tastes.</a:t>
            </a:r>
            <a:endParaRPr sz="1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Arial MT"/>
              <a:buChar char="–"/>
            </a:pPr>
            <a:endParaRPr sz="2450">
              <a:latin typeface="Calibri"/>
              <a:cs typeface="Calibri"/>
            </a:endParaRPr>
          </a:p>
          <a:p>
            <a:pPr marL="106045" indent="-81280">
              <a:lnSpc>
                <a:spcPct val="100000"/>
              </a:lnSpc>
              <a:buSzPct val="94444"/>
              <a:buFont typeface="Arial MT"/>
              <a:buChar char="•"/>
              <a:tabLst>
                <a:tab pos="106680" algn="l"/>
              </a:tabLst>
            </a:pPr>
            <a:r>
              <a:rPr sz="1800" spc="-5" dirty="0">
                <a:latin typeface="Calibri"/>
                <a:cs typeface="Calibri"/>
              </a:rPr>
              <a:t>Similarity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metric: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number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inversions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between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two </a:t>
            </a:r>
            <a:r>
              <a:rPr sz="1800" spc="-5" dirty="0">
                <a:latin typeface="Calibri"/>
                <a:cs typeface="Calibri"/>
              </a:rPr>
              <a:t>rankings.</a:t>
            </a:r>
            <a:endParaRPr sz="1800">
              <a:latin typeface="Calibri"/>
              <a:cs typeface="Calibri"/>
            </a:endParaRPr>
          </a:p>
          <a:p>
            <a:pPr marL="482600">
              <a:lnSpc>
                <a:spcPct val="100000"/>
              </a:lnSpc>
              <a:spcBef>
                <a:spcPts val="434"/>
              </a:spcBef>
              <a:tabLst>
                <a:tab pos="768985" algn="l"/>
              </a:tabLst>
            </a:pPr>
            <a:r>
              <a:rPr sz="1800" dirty="0">
                <a:latin typeface="Arial MT"/>
                <a:cs typeface="Arial MT"/>
              </a:rPr>
              <a:t>–	</a:t>
            </a:r>
            <a:r>
              <a:rPr sz="1800" dirty="0">
                <a:latin typeface="Calibri"/>
                <a:cs typeface="Calibri"/>
              </a:rPr>
              <a:t>My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rank:</a:t>
            </a:r>
            <a:r>
              <a:rPr sz="1800" dirty="0">
                <a:latin typeface="Calibri"/>
                <a:cs typeface="Calibri"/>
              </a:rPr>
              <a:t> 1,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…,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n.</a:t>
            </a:r>
            <a:endParaRPr sz="1800">
              <a:latin typeface="Calibri"/>
              <a:cs typeface="Calibri"/>
            </a:endParaRPr>
          </a:p>
          <a:p>
            <a:pPr marL="768985" lvl="1" indent="-287020">
              <a:lnSpc>
                <a:spcPct val="100000"/>
              </a:lnSpc>
              <a:spcBef>
                <a:spcPts val="430"/>
              </a:spcBef>
              <a:buFont typeface="Arial MT"/>
              <a:buChar char="–"/>
              <a:tabLst>
                <a:tab pos="768985" algn="l"/>
                <a:tab pos="769620" algn="l"/>
              </a:tabLst>
            </a:pPr>
            <a:r>
              <a:rPr sz="1800" spc="-40" dirty="0">
                <a:latin typeface="Calibri"/>
                <a:cs typeface="Calibri"/>
              </a:rPr>
              <a:t>Your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rank: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baseline="-20833" dirty="0">
                <a:latin typeface="Calibri"/>
                <a:cs typeface="Calibri"/>
              </a:rPr>
              <a:t>1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baseline="-20833" dirty="0">
                <a:latin typeface="Calibri"/>
                <a:cs typeface="Calibri"/>
              </a:rPr>
              <a:t>2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…,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baseline="-20833" dirty="0">
                <a:latin typeface="Calibri"/>
                <a:cs typeface="Calibri"/>
              </a:rPr>
              <a:t>n</a:t>
            </a:r>
            <a:r>
              <a:rPr sz="180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768985" lvl="1" indent="-287020">
              <a:lnSpc>
                <a:spcPct val="100000"/>
              </a:lnSpc>
              <a:spcBef>
                <a:spcPts val="434"/>
              </a:spcBef>
              <a:buFont typeface="Arial MT"/>
              <a:buChar char="–"/>
              <a:tabLst>
                <a:tab pos="768985" algn="l"/>
                <a:tab pos="769620" algn="l"/>
              </a:tabLst>
            </a:pPr>
            <a:r>
              <a:rPr sz="1800" spc="-5" dirty="0">
                <a:latin typeface="Calibri"/>
                <a:cs typeface="Calibri"/>
              </a:rPr>
              <a:t>Songs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j </a:t>
            </a:r>
            <a:r>
              <a:rPr sz="1800" spc="-10" dirty="0">
                <a:solidFill>
                  <a:srgbClr val="4F81BC"/>
                </a:solidFill>
                <a:latin typeface="Calibri"/>
                <a:cs typeface="Calibri"/>
              </a:rPr>
              <a:t>inverted</a:t>
            </a:r>
            <a:r>
              <a:rPr sz="1800" dirty="0">
                <a:solidFill>
                  <a:srgbClr val="4F81B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if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&lt;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j,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but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baseline="-20833" dirty="0">
                <a:latin typeface="Calibri"/>
                <a:cs typeface="Calibri"/>
              </a:rPr>
              <a:t>i</a:t>
            </a:r>
            <a:r>
              <a:rPr sz="1800" spc="195" baseline="-20833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&gt;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baseline="-20833" dirty="0">
                <a:latin typeface="Calibri"/>
                <a:cs typeface="Calibri"/>
              </a:rPr>
              <a:t>j</a:t>
            </a:r>
            <a:r>
              <a:rPr sz="180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79650" y="4598987"/>
            <a:ext cx="3105150" cy="1092200"/>
            <a:chOff x="2279650" y="4598987"/>
            <a:chExt cx="3105150" cy="1092200"/>
          </a:xfrm>
        </p:grpSpPr>
        <p:sp>
          <p:nvSpPr>
            <p:cNvPr id="5" name="object 5"/>
            <p:cNvSpPr/>
            <p:nvPr/>
          </p:nvSpPr>
          <p:spPr>
            <a:xfrm>
              <a:off x="3935348" y="5325998"/>
              <a:ext cx="1430655" cy="365125"/>
            </a:xfrm>
            <a:custGeom>
              <a:avLst/>
              <a:gdLst/>
              <a:ahLst/>
              <a:cxnLst/>
              <a:rect l="l" t="t" r="r" b="b"/>
              <a:pathLst>
                <a:path w="1430654" h="365125">
                  <a:moveTo>
                    <a:pt x="31750" y="38100"/>
                  </a:moveTo>
                  <a:lnTo>
                    <a:pt x="19050" y="38100"/>
                  </a:lnTo>
                  <a:lnTo>
                    <a:pt x="19050" y="365074"/>
                  </a:lnTo>
                  <a:lnTo>
                    <a:pt x="1411351" y="365074"/>
                  </a:lnTo>
                  <a:lnTo>
                    <a:pt x="1411351" y="358724"/>
                  </a:lnTo>
                  <a:lnTo>
                    <a:pt x="31750" y="358724"/>
                  </a:lnTo>
                  <a:lnTo>
                    <a:pt x="25400" y="352374"/>
                  </a:lnTo>
                  <a:lnTo>
                    <a:pt x="31750" y="352374"/>
                  </a:lnTo>
                  <a:lnTo>
                    <a:pt x="31750" y="38100"/>
                  </a:lnTo>
                  <a:close/>
                </a:path>
                <a:path w="1430654" h="365125">
                  <a:moveTo>
                    <a:pt x="31750" y="352374"/>
                  </a:moveTo>
                  <a:lnTo>
                    <a:pt x="25400" y="352374"/>
                  </a:lnTo>
                  <a:lnTo>
                    <a:pt x="31750" y="358724"/>
                  </a:lnTo>
                  <a:lnTo>
                    <a:pt x="31750" y="352374"/>
                  </a:lnTo>
                  <a:close/>
                </a:path>
                <a:path w="1430654" h="365125">
                  <a:moveTo>
                    <a:pt x="1398651" y="352374"/>
                  </a:moveTo>
                  <a:lnTo>
                    <a:pt x="31750" y="352374"/>
                  </a:lnTo>
                  <a:lnTo>
                    <a:pt x="31750" y="358724"/>
                  </a:lnTo>
                  <a:lnTo>
                    <a:pt x="1398651" y="358724"/>
                  </a:lnTo>
                  <a:lnTo>
                    <a:pt x="1398651" y="352374"/>
                  </a:lnTo>
                  <a:close/>
                </a:path>
                <a:path w="1430654" h="365125">
                  <a:moveTo>
                    <a:pt x="1411351" y="39750"/>
                  </a:moveTo>
                  <a:lnTo>
                    <a:pt x="1398651" y="39750"/>
                  </a:lnTo>
                  <a:lnTo>
                    <a:pt x="1398651" y="358724"/>
                  </a:lnTo>
                  <a:lnTo>
                    <a:pt x="1405001" y="352374"/>
                  </a:lnTo>
                  <a:lnTo>
                    <a:pt x="1411351" y="352374"/>
                  </a:lnTo>
                  <a:lnTo>
                    <a:pt x="1411351" y="39750"/>
                  </a:lnTo>
                  <a:close/>
                </a:path>
                <a:path w="1430654" h="365125">
                  <a:moveTo>
                    <a:pt x="1411351" y="352374"/>
                  </a:moveTo>
                  <a:lnTo>
                    <a:pt x="1405001" y="352374"/>
                  </a:lnTo>
                  <a:lnTo>
                    <a:pt x="1398651" y="358724"/>
                  </a:lnTo>
                  <a:lnTo>
                    <a:pt x="1411351" y="358724"/>
                  </a:lnTo>
                  <a:lnTo>
                    <a:pt x="1411351" y="352374"/>
                  </a:lnTo>
                  <a:close/>
                </a:path>
                <a:path w="1430654" h="365125">
                  <a:moveTo>
                    <a:pt x="1405001" y="1650"/>
                  </a:moveTo>
                  <a:lnTo>
                    <a:pt x="1379601" y="52450"/>
                  </a:lnTo>
                  <a:lnTo>
                    <a:pt x="1398651" y="52450"/>
                  </a:lnTo>
                  <a:lnTo>
                    <a:pt x="1398651" y="39750"/>
                  </a:lnTo>
                  <a:lnTo>
                    <a:pt x="1424051" y="39750"/>
                  </a:lnTo>
                  <a:lnTo>
                    <a:pt x="1405001" y="1650"/>
                  </a:lnTo>
                  <a:close/>
                </a:path>
                <a:path w="1430654" h="365125">
                  <a:moveTo>
                    <a:pt x="1424051" y="39750"/>
                  </a:moveTo>
                  <a:lnTo>
                    <a:pt x="1411351" y="39750"/>
                  </a:lnTo>
                  <a:lnTo>
                    <a:pt x="1411351" y="52450"/>
                  </a:lnTo>
                  <a:lnTo>
                    <a:pt x="1430401" y="52450"/>
                  </a:lnTo>
                  <a:lnTo>
                    <a:pt x="1424051" y="39750"/>
                  </a:lnTo>
                  <a:close/>
                </a:path>
                <a:path w="1430654" h="365125">
                  <a:moveTo>
                    <a:pt x="25400" y="0"/>
                  </a:moveTo>
                  <a:lnTo>
                    <a:pt x="0" y="50800"/>
                  </a:lnTo>
                  <a:lnTo>
                    <a:pt x="19050" y="50800"/>
                  </a:lnTo>
                  <a:lnTo>
                    <a:pt x="19050" y="38100"/>
                  </a:lnTo>
                  <a:lnTo>
                    <a:pt x="44450" y="38100"/>
                  </a:lnTo>
                  <a:lnTo>
                    <a:pt x="25400" y="0"/>
                  </a:lnTo>
                  <a:close/>
                </a:path>
                <a:path w="1430654" h="365125">
                  <a:moveTo>
                    <a:pt x="44450" y="38100"/>
                  </a:moveTo>
                  <a:lnTo>
                    <a:pt x="31750" y="38100"/>
                  </a:lnTo>
                  <a:lnTo>
                    <a:pt x="31750" y="50800"/>
                  </a:lnTo>
                  <a:lnTo>
                    <a:pt x="50800" y="50800"/>
                  </a:lnTo>
                  <a:lnTo>
                    <a:pt x="44450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922776" y="5249926"/>
              <a:ext cx="1456055" cy="76200"/>
            </a:xfrm>
            <a:custGeom>
              <a:avLst/>
              <a:gdLst/>
              <a:ahLst/>
              <a:cxnLst/>
              <a:rect l="l" t="t" r="r" b="b"/>
              <a:pathLst>
                <a:path w="1456054" h="76200">
                  <a:moveTo>
                    <a:pt x="649224" y="38100"/>
                  </a:moveTo>
                  <a:lnTo>
                    <a:pt x="652212" y="23252"/>
                  </a:lnTo>
                  <a:lnTo>
                    <a:pt x="660368" y="11144"/>
                  </a:lnTo>
                  <a:lnTo>
                    <a:pt x="672476" y="2988"/>
                  </a:lnTo>
                  <a:lnTo>
                    <a:pt x="687324" y="0"/>
                  </a:lnTo>
                  <a:lnTo>
                    <a:pt x="702171" y="2988"/>
                  </a:lnTo>
                  <a:lnTo>
                    <a:pt x="714279" y="11144"/>
                  </a:lnTo>
                  <a:lnTo>
                    <a:pt x="722435" y="23252"/>
                  </a:lnTo>
                  <a:lnTo>
                    <a:pt x="725424" y="38100"/>
                  </a:lnTo>
                  <a:lnTo>
                    <a:pt x="722435" y="52893"/>
                  </a:lnTo>
                  <a:lnTo>
                    <a:pt x="714279" y="65008"/>
                  </a:lnTo>
                  <a:lnTo>
                    <a:pt x="702171" y="73193"/>
                  </a:lnTo>
                  <a:lnTo>
                    <a:pt x="687324" y="76200"/>
                  </a:lnTo>
                  <a:lnTo>
                    <a:pt x="672476" y="73193"/>
                  </a:lnTo>
                  <a:lnTo>
                    <a:pt x="660368" y="65008"/>
                  </a:lnTo>
                  <a:lnTo>
                    <a:pt x="652212" y="52893"/>
                  </a:lnTo>
                  <a:lnTo>
                    <a:pt x="649224" y="38100"/>
                  </a:lnTo>
                  <a:close/>
                </a:path>
                <a:path w="1456054" h="76200">
                  <a:moveTo>
                    <a:pt x="1379474" y="38100"/>
                  </a:moveTo>
                  <a:lnTo>
                    <a:pt x="1382462" y="23252"/>
                  </a:lnTo>
                  <a:lnTo>
                    <a:pt x="1390618" y="11144"/>
                  </a:lnTo>
                  <a:lnTo>
                    <a:pt x="1402726" y="2988"/>
                  </a:lnTo>
                  <a:lnTo>
                    <a:pt x="1417574" y="0"/>
                  </a:lnTo>
                  <a:lnTo>
                    <a:pt x="1432421" y="2988"/>
                  </a:lnTo>
                  <a:lnTo>
                    <a:pt x="1444529" y="11144"/>
                  </a:lnTo>
                  <a:lnTo>
                    <a:pt x="1452685" y="23252"/>
                  </a:lnTo>
                  <a:lnTo>
                    <a:pt x="1455674" y="38100"/>
                  </a:lnTo>
                  <a:lnTo>
                    <a:pt x="1452685" y="52893"/>
                  </a:lnTo>
                  <a:lnTo>
                    <a:pt x="1444529" y="65008"/>
                  </a:lnTo>
                  <a:lnTo>
                    <a:pt x="1432421" y="73193"/>
                  </a:lnTo>
                  <a:lnTo>
                    <a:pt x="1417574" y="76200"/>
                  </a:lnTo>
                  <a:lnTo>
                    <a:pt x="1402726" y="73193"/>
                  </a:lnTo>
                  <a:lnTo>
                    <a:pt x="1390618" y="65008"/>
                  </a:lnTo>
                  <a:lnTo>
                    <a:pt x="1382462" y="52893"/>
                  </a:lnTo>
                  <a:lnTo>
                    <a:pt x="1379474" y="38100"/>
                  </a:lnTo>
                  <a:close/>
                </a:path>
                <a:path w="1456054" h="76200">
                  <a:moveTo>
                    <a:pt x="1190625" y="38100"/>
                  </a:moveTo>
                  <a:lnTo>
                    <a:pt x="1193613" y="23252"/>
                  </a:lnTo>
                  <a:lnTo>
                    <a:pt x="1201769" y="11144"/>
                  </a:lnTo>
                  <a:lnTo>
                    <a:pt x="1213877" y="2988"/>
                  </a:lnTo>
                  <a:lnTo>
                    <a:pt x="1228725" y="0"/>
                  </a:lnTo>
                  <a:lnTo>
                    <a:pt x="1243518" y="2988"/>
                  </a:lnTo>
                  <a:lnTo>
                    <a:pt x="1255633" y="11144"/>
                  </a:lnTo>
                  <a:lnTo>
                    <a:pt x="1263818" y="23252"/>
                  </a:lnTo>
                  <a:lnTo>
                    <a:pt x="1266825" y="38100"/>
                  </a:lnTo>
                  <a:lnTo>
                    <a:pt x="1263818" y="52893"/>
                  </a:lnTo>
                  <a:lnTo>
                    <a:pt x="1255633" y="65008"/>
                  </a:lnTo>
                  <a:lnTo>
                    <a:pt x="1243518" y="73193"/>
                  </a:lnTo>
                  <a:lnTo>
                    <a:pt x="1228725" y="76200"/>
                  </a:lnTo>
                  <a:lnTo>
                    <a:pt x="1213877" y="73193"/>
                  </a:lnTo>
                  <a:lnTo>
                    <a:pt x="1201769" y="65008"/>
                  </a:lnTo>
                  <a:lnTo>
                    <a:pt x="1193613" y="52893"/>
                  </a:lnTo>
                  <a:lnTo>
                    <a:pt x="1190625" y="38100"/>
                  </a:lnTo>
                  <a:close/>
                </a:path>
                <a:path w="1456054" h="76200">
                  <a:moveTo>
                    <a:pt x="0" y="38100"/>
                  </a:moveTo>
                  <a:lnTo>
                    <a:pt x="2988" y="23252"/>
                  </a:lnTo>
                  <a:lnTo>
                    <a:pt x="11144" y="11144"/>
                  </a:lnTo>
                  <a:lnTo>
                    <a:pt x="23252" y="2988"/>
                  </a:lnTo>
                  <a:lnTo>
                    <a:pt x="38100" y="0"/>
                  </a:lnTo>
                  <a:lnTo>
                    <a:pt x="52893" y="2988"/>
                  </a:lnTo>
                  <a:lnTo>
                    <a:pt x="65008" y="11144"/>
                  </a:lnTo>
                  <a:lnTo>
                    <a:pt x="73193" y="23252"/>
                  </a:lnTo>
                  <a:lnTo>
                    <a:pt x="76200" y="38100"/>
                  </a:lnTo>
                  <a:lnTo>
                    <a:pt x="73193" y="52893"/>
                  </a:lnTo>
                  <a:lnTo>
                    <a:pt x="65008" y="65008"/>
                  </a:lnTo>
                  <a:lnTo>
                    <a:pt x="52893" y="73193"/>
                  </a:lnTo>
                  <a:lnTo>
                    <a:pt x="38100" y="76200"/>
                  </a:lnTo>
                  <a:lnTo>
                    <a:pt x="23252" y="73193"/>
                  </a:lnTo>
                  <a:lnTo>
                    <a:pt x="11144" y="65008"/>
                  </a:lnTo>
                  <a:lnTo>
                    <a:pt x="2988" y="52893"/>
                  </a:lnTo>
                  <a:lnTo>
                    <a:pt x="0" y="381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84700" y="5325998"/>
              <a:ext cx="592455" cy="211454"/>
            </a:xfrm>
            <a:custGeom>
              <a:avLst/>
              <a:gdLst/>
              <a:ahLst/>
              <a:cxnLst/>
              <a:rect l="l" t="t" r="r" b="b"/>
              <a:pathLst>
                <a:path w="592454" h="211454">
                  <a:moveTo>
                    <a:pt x="31750" y="38100"/>
                  </a:moveTo>
                  <a:lnTo>
                    <a:pt x="19050" y="38100"/>
                  </a:lnTo>
                  <a:lnTo>
                    <a:pt x="19050" y="211073"/>
                  </a:lnTo>
                  <a:lnTo>
                    <a:pt x="573024" y="211073"/>
                  </a:lnTo>
                  <a:lnTo>
                    <a:pt x="573024" y="204723"/>
                  </a:lnTo>
                  <a:lnTo>
                    <a:pt x="31750" y="204723"/>
                  </a:lnTo>
                  <a:lnTo>
                    <a:pt x="25400" y="198373"/>
                  </a:lnTo>
                  <a:lnTo>
                    <a:pt x="31750" y="198373"/>
                  </a:lnTo>
                  <a:lnTo>
                    <a:pt x="31750" y="38100"/>
                  </a:lnTo>
                  <a:close/>
                </a:path>
                <a:path w="592454" h="211454">
                  <a:moveTo>
                    <a:pt x="31750" y="198373"/>
                  </a:moveTo>
                  <a:lnTo>
                    <a:pt x="25400" y="198373"/>
                  </a:lnTo>
                  <a:lnTo>
                    <a:pt x="31750" y="204723"/>
                  </a:lnTo>
                  <a:lnTo>
                    <a:pt x="31750" y="198373"/>
                  </a:lnTo>
                  <a:close/>
                </a:path>
                <a:path w="592454" h="211454">
                  <a:moveTo>
                    <a:pt x="560324" y="198373"/>
                  </a:moveTo>
                  <a:lnTo>
                    <a:pt x="31750" y="198373"/>
                  </a:lnTo>
                  <a:lnTo>
                    <a:pt x="31750" y="204723"/>
                  </a:lnTo>
                  <a:lnTo>
                    <a:pt x="560324" y="204723"/>
                  </a:lnTo>
                  <a:lnTo>
                    <a:pt x="560324" y="198373"/>
                  </a:lnTo>
                  <a:close/>
                </a:path>
                <a:path w="592454" h="211454">
                  <a:moveTo>
                    <a:pt x="573024" y="39750"/>
                  </a:moveTo>
                  <a:lnTo>
                    <a:pt x="560324" y="39750"/>
                  </a:lnTo>
                  <a:lnTo>
                    <a:pt x="560324" y="204723"/>
                  </a:lnTo>
                  <a:lnTo>
                    <a:pt x="566674" y="198373"/>
                  </a:lnTo>
                  <a:lnTo>
                    <a:pt x="573024" y="198373"/>
                  </a:lnTo>
                  <a:lnTo>
                    <a:pt x="573024" y="39750"/>
                  </a:lnTo>
                  <a:close/>
                </a:path>
                <a:path w="592454" h="211454">
                  <a:moveTo>
                    <a:pt x="573024" y="198373"/>
                  </a:moveTo>
                  <a:lnTo>
                    <a:pt x="566674" y="198373"/>
                  </a:lnTo>
                  <a:lnTo>
                    <a:pt x="560324" y="204723"/>
                  </a:lnTo>
                  <a:lnTo>
                    <a:pt x="573024" y="204723"/>
                  </a:lnTo>
                  <a:lnTo>
                    <a:pt x="573024" y="198373"/>
                  </a:lnTo>
                  <a:close/>
                </a:path>
                <a:path w="592454" h="211454">
                  <a:moveTo>
                    <a:pt x="566674" y="1650"/>
                  </a:moveTo>
                  <a:lnTo>
                    <a:pt x="541274" y="52450"/>
                  </a:lnTo>
                  <a:lnTo>
                    <a:pt x="560324" y="52450"/>
                  </a:lnTo>
                  <a:lnTo>
                    <a:pt x="560324" y="39750"/>
                  </a:lnTo>
                  <a:lnTo>
                    <a:pt x="585724" y="39750"/>
                  </a:lnTo>
                  <a:lnTo>
                    <a:pt x="566674" y="1650"/>
                  </a:lnTo>
                  <a:close/>
                </a:path>
                <a:path w="592454" h="211454">
                  <a:moveTo>
                    <a:pt x="585724" y="39750"/>
                  </a:moveTo>
                  <a:lnTo>
                    <a:pt x="573024" y="39750"/>
                  </a:lnTo>
                  <a:lnTo>
                    <a:pt x="573024" y="52450"/>
                  </a:lnTo>
                  <a:lnTo>
                    <a:pt x="592074" y="52450"/>
                  </a:lnTo>
                  <a:lnTo>
                    <a:pt x="585724" y="39750"/>
                  </a:lnTo>
                  <a:close/>
                </a:path>
                <a:path w="592454" h="211454">
                  <a:moveTo>
                    <a:pt x="25400" y="0"/>
                  </a:moveTo>
                  <a:lnTo>
                    <a:pt x="0" y="50800"/>
                  </a:lnTo>
                  <a:lnTo>
                    <a:pt x="19050" y="50800"/>
                  </a:lnTo>
                  <a:lnTo>
                    <a:pt x="19050" y="38100"/>
                  </a:lnTo>
                  <a:lnTo>
                    <a:pt x="44450" y="38100"/>
                  </a:lnTo>
                  <a:lnTo>
                    <a:pt x="25400" y="0"/>
                  </a:lnTo>
                  <a:close/>
                </a:path>
                <a:path w="592454" h="211454">
                  <a:moveTo>
                    <a:pt x="44450" y="38100"/>
                  </a:moveTo>
                  <a:lnTo>
                    <a:pt x="31750" y="38100"/>
                  </a:lnTo>
                  <a:lnTo>
                    <a:pt x="31750" y="50800"/>
                  </a:lnTo>
                  <a:lnTo>
                    <a:pt x="50800" y="50800"/>
                  </a:lnTo>
                  <a:lnTo>
                    <a:pt x="44450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86000" y="4965763"/>
              <a:ext cx="748030" cy="360680"/>
            </a:xfrm>
            <a:custGeom>
              <a:avLst/>
              <a:gdLst/>
              <a:ahLst/>
              <a:cxnLst/>
              <a:rect l="l" t="t" r="r" b="b"/>
              <a:pathLst>
                <a:path w="748030" h="360679">
                  <a:moveTo>
                    <a:pt x="747712" y="0"/>
                  </a:moveTo>
                  <a:lnTo>
                    <a:pt x="0" y="0"/>
                  </a:lnTo>
                  <a:lnTo>
                    <a:pt x="0" y="360362"/>
                  </a:lnTo>
                  <a:lnTo>
                    <a:pt x="747712" y="360362"/>
                  </a:lnTo>
                  <a:lnTo>
                    <a:pt x="747712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86000" y="4605337"/>
              <a:ext cx="748030" cy="360680"/>
            </a:xfrm>
            <a:custGeom>
              <a:avLst/>
              <a:gdLst/>
              <a:ahLst/>
              <a:cxnLst/>
              <a:rect l="l" t="t" r="r" b="b"/>
              <a:pathLst>
                <a:path w="748030" h="360679">
                  <a:moveTo>
                    <a:pt x="747712" y="0"/>
                  </a:moveTo>
                  <a:lnTo>
                    <a:pt x="0" y="0"/>
                  </a:lnTo>
                  <a:lnTo>
                    <a:pt x="0" y="360362"/>
                  </a:lnTo>
                  <a:lnTo>
                    <a:pt x="747712" y="360362"/>
                  </a:lnTo>
                  <a:lnTo>
                    <a:pt x="747712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86000" y="4605337"/>
              <a:ext cx="748030" cy="360680"/>
            </a:xfrm>
            <a:custGeom>
              <a:avLst/>
              <a:gdLst/>
              <a:ahLst/>
              <a:cxnLst/>
              <a:rect l="l" t="t" r="r" b="b"/>
              <a:pathLst>
                <a:path w="748030" h="360679">
                  <a:moveTo>
                    <a:pt x="0" y="360362"/>
                  </a:moveTo>
                  <a:lnTo>
                    <a:pt x="747712" y="360362"/>
                  </a:lnTo>
                  <a:lnTo>
                    <a:pt x="747712" y="0"/>
                  </a:lnTo>
                  <a:lnTo>
                    <a:pt x="0" y="0"/>
                  </a:lnTo>
                  <a:lnTo>
                    <a:pt x="0" y="3603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479929" y="4535296"/>
            <a:ext cx="360680" cy="746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065">
              <a:lnSpc>
                <a:spcPct val="1314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Me  </a:t>
            </a:r>
            <a:r>
              <a:rPr sz="1800" spc="-135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ou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027426" y="4598987"/>
            <a:ext cx="3151505" cy="734060"/>
            <a:chOff x="3027426" y="4598987"/>
            <a:chExt cx="3151505" cy="734060"/>
          </a:xfrm>
        </p:grpSpPr>
        <p:sp>
          <p:nvSpPr>
            <p:cNvPr id="13" name="object 13"/>
            <p:cNvSpPr/>
            <p:nvPr/>
          </p:nvSpPr>
          <p:spPr>
            <a:xfrm>
              <a:off x="4289425" y="4965763"/>
              <a:ext cx="627380" cy="360680"/>
            </a:xfrm>
            <a:custGeom>
              <a:avLst/>
              <a:gdLst/>
              <a:ahLst/>
              <a:cxnLst/>
              <a:rect l="l" t="t" r="r" b="b"/>
              <a:pathLst>
                <a:path w="627379" h="360679">
                  <a:moveTo>
                    <a:pt x="627062" y="0"/>
                  </a:moveTo>
                  <a:lnTo>
                    <a:pt x="0" y="0"/>
                  </a:lnTo>
                  <a:lnTo>
                    <a:pt x="0" y="360362"/>
                  </a:lnTo>
                  <a:lnTo>
                    <a:pt x="627062" y="360362"/>
                  </a:lnTo>
                  <a:lnTo>
                    <a:pt x="627062" y="0"/>
                  </a:lnTo>
                  <a:close/>
                </a:path>
              </a:pathLst>
            </a:custGeom>
            <a:solidFill>
              <a:srgbClr val="C4BC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89425" y="4965763"/>
              <a:ext cx="627380" cy="360680"/>
            </a:xfrm>
            <a:custGeom>
              <a:avLst/>
              <a:gdLst/>
              <a:ahLst/>
              <a:cxnLst/>
              <a:rect l="l" t="t" r="r" b="b"/>
              <a:pathLst>
                <a:path w="627379" h="360679">
                  <a:moveTo>
                    <a:pt x="0" y="360362"/>
                  </a:moveTo>
                  <a:lnTo>
                    <a:pt x="627062" y="360362"/>
                  </a:lnTo>
                  <a:lnTo>
                    <a:pt x="627062" y="0"/>
                  </a:lnTo>
                  <a:lnTo>
                    <a:pt x="0" y="0"/>
                  </a:lnTo>
                  <a:lnTo>
                    <a:pt x="0" y="3603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33776" y="4965763"/>
              <a:ext cx="628650" cy="360680"/>
            </a:xfrm>
            <a:custGeom>
              <a:avLst/>
              <a:gdLst/>
              <a:ahLst/>
              <a:cxnLst/>
              <a:rect l="l" t="t" r="r" b="b"/>
              <a:pathLst>
                <a:path w="628650" h="360679">
                  <a:moveTo>
                    <a:pt x="628650" y="0"/>
                  </a:moveTo>
                  <a:lnTo>
                    <a:pt x="0" y="0"/>
                  </a:lnTo>
                  <a:lnTo>
                    <a:pt x="0" y="360362"/>
                  </a:lnTo>
                  <a:lnTo>
                    <a:pt x="628650" y="360362"/>
                  </a:lnTo>
                  <a:lnTo>
                    <a:pt x="628650" y="0"/>
                  </a:lnTo>
                  <a:close/>
                </a:path>
              </a:pathLst>
            </a:custGeom>
            <a:solidFill>
              <a:srgbClr val="C4BC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33776" y="4965763"/>
              <a:ext cx="628650" cy="360680"/>
            </a:xfrm>
            <a:custGeom>
              <a:avLst/>
              <a:gdLst/>
              <a:ahLst/>
              <a:cxnLst/>
              <a:rect l="l" t="t" r="r" b="b"/>
              <a:pathLst>
                <a:path w="628650" h="360679">
                  <a:moveTo>
                    <a:pt x="0" y="360362"/>
                  </a:moveTo>
                  <a:lnTo>
                    <a:pt x="628650" y="360362"/>
                  </a:lnTo>
                  <a:lnTo>
                    <a:pt x="628650" y="0"/>
                  </a:lnTo>
                  <a:lnTo>
                    <a:pt x="0" y="0"/>
                  </a:lnTo>
                  <a:lnTo>
                    <a:pt x="0" y="3603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662426" y="4965763"/>
              <a:ext cx="627380" cy="360680"/>
            </a:xfrm>
            <a:custGeom>
              <a:avLst/>
              <a:gdLst/>
              <a:ahLst/>
              <a:cxnLst/>
              <a:rect l="l" t="t" r="r" b="b"/>
              <a:pathLst>
                <a:path w="627379" h="360679">
                  <a:moveTo>
                    <a:pt x="627062" y="0"/>
                  </a:moveTo>
                  <a:lnTo>
                    <a:pt x="0" y="0"/>
                  </a:lnTo>
                  <a:lnTo>
                    <a:pt x="0" y="360362"/>
                  </a:lnTo>
                  <a:lnTo>
                    <a:pt x="627062" y="360362"/>
                  </a:lnTo>
                  <a:lnTo>
                    <a:pt x="627062" y="0"/>
                  </a:lnTo>
                  <a:close/>
                </a:path>
              </a:pathLst>
            </a:custGeom>
            <a:solidFill>
              <a:srgbClr val="C4BC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62426" y="4965763"/>
              <a:ext cx="627380" cy="360680"/>
            </a:xfrm>
            <a:custGeom>
              <a:avLst/>
              <a:gdLst/>
              <a:ahLst/>
              <a:cxnLst/>
              <a:rect l="l" t="t" r="r" b="b"/>
              <a:pathLst>
                <a:path w="627379" h="360679">
                  <a:moveTo>
                    <a:pt x="0" y="360362"/>
                  </a:moveTo>
                  <a:lnTo>
                    <a:pt x="627062" y="360362"/>
                  </a:lnTo>
                  <a:lnTo>
                    <a:pt x="627062" y="0"/>
                  </a:lnTo>
                  <a:lnTo>
                    <a:pt x="0" y="0"/>
                  </a:lnTo>
                  <a:lnTo>
                    <a:pt x="0" y="3603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916551" y="4965763"/>
              <a:ext cx="627380" cy="360680"/>
            </a:xfrm>
            <a:custGeom>
              <a:avLst/>
              <a:gdLst/>
              <a:ahLst/>
              <a:cxnLst/>
              <a:rect l="l" t="t" r="r" b="b"/>
              <a:pathLst>
                <a:path w="627379" h="360679">
                  <a:moveTo>
                    <a:pt x="627062" y="0"/>
                  </a:moveTo>
                  <a:lnTo>
                    <a:pt x="0" y="0"/>
                  </a:lnTo>
                  <a:lnTo>
                    <a:pt x="0" y="360362"/>
                  </a:lnTo>
                  <a:lnTo>
                    <a:pt x="627062" y="360362"/>
                  </a:lnTo>
                  <a:lnTo>
                    <a:pt x="627062" y="0"/>
                  </a:lnTo>
                  <a:close/>
                </a:path>
              </a:pathLst>
            </a:custGeom>
            <a:solidFill>
              <a:srgbClr val="C4BC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916551" y="4965763"/>
              <a:ext cx="627380" cy="360680"/>
            </a:xfrm>
            <a:custGeom>
              <a:avLst/>
              <a:gdLst/>
              <a:ahLst/>
              <a:cxnLst/>
              <a:rect l="l" t="t" r="r" b="b"/>
              <a:pathLst>
                <a:path w="627379" h="360679">
                  <a:moveTo>
                    <a:pt x="0" y="360362"/>
                  </a:moveTo>
                  <a:lnTo>
                    <a:pt x="627062" y="360362"/>
                  </a:lnTo>
                  <a:lnTo>
                    <a:pt x="627062" y="0"/>
                  </a:lnTo>
                  <a:lnTo>
                    <a:pt x="0" y="0"/>
                  </a:lnTo>
                  <a:lnTo>
                    <a:pt x="0" y="3603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543550" y="4965763"/>
              <a:ext cx="628650" cy="360680"/>
            </a:xfrm>
            <a:custGeom>
              <a:avLst/>
              <a:gdLst/>
              <a:ahLst/>
              <a:cxnLst/>
              <a:rect l="l" t="t" r="r" b="b"/>
              <a:pathLst>
                <a:path w="628650" h="360679">
                  <a:moveTo>
                    <a:pt x="628650" y="0"/>
                  </a:moveTo>
                  <a:lnTo>
                    <a:pt x="0" y="0"/>
                  </a:lnTo>
                  <a:lnTo>
                    <a:pt x="0" y="360362"/>
                  </a:lnTo>
                  <a:lnTo>
                    <a:pt x="628650" y="360362"/>
                  </a:lnTo>
                  <a:lnTo>
                    <a:pt x="628650" y="0"/>
                  </a:lnTo>
                  <a:close/>
                </a:path>
              </a:pathLst>
            </a:custGeom>
            <a:solidFill>
              <a:srgbClr val="C4BC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543550" y="4965763"/>
              <a:ext cx="628650" cy="360680"/>
            </a:xfrm>
            <a:custGeom>
              <a:avLst/>
              <a:gdLst/>
              <a:ahLst/>
              <a:cxnLst/>
              <a:rect l="l" t="t" r="r" b="b"/>
              <a:pathLst>
                <a:path w="628650" h="360679">
                  <a:moveTo>
                    <a:pt x="0" y="360362"/>
                  </a:moveTo>
                  <a:lnTo>
                    <a:pt x="628650" y="360362"/>
                  </a:lnTo>
                  <a:lnTo>
                    <a:pt x="628650" y="0"/>
                  </a:lnTo>
                  <a:lnTo>
                    <a:pt x="0" y="0"/>
                  </a:lnTo>
                  <a:lnTo>
                    <a:pt x="0" y="3603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033776" y="4605337"/>
              <a:ext cx="628650" cy="360680"/>
            </a:xfrm>
            <a:custGeom>
              <a:avLst/>
              <a:gdLst/>
              <a:ahLst/>
              <a:cxnLst/>
              <a:rect l="l" t="t" r="r" b="b"/>
              <a:pathLst>
                <a:path w="628650" h="360679">
                  <a:moveTo>
                    <a:pt x="628650" y="0"/>
                  </a:moveTo>
                  <a:lnTo>
                    <a:pt x="0" y="0"/>
                  </a:lnTo>
                  <a:lnTo>
                    <a:pt x="0" y="360362"/>
                  </a:lnTo>
                  <a:lnTo>
                    <a:pt x="628650" y="360362"/>
                  </a:lnTo>
                  <a:lnTo>
                    <a:pt x="628650" y="0"/>
                  </a:lnTo>
                  <a:close/>
                </a:path>
              </a:pathLst>
            </a:custGeom>
            <a:solidFill>
              <a:srgbClr val="C4BC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033776" y="4605337"/>
              <a:ext cx="628650" cy="360680"/>
            </a:xfrm>
            <a:custGeom>
              <a:avLst/>
              <a:gdLst/>
              <a:ahLst/>
              <a:cxnLst/>
              <a:rect l="l" t="t" r="r" b="b"/>
              <a:pathLst>
                <a:path w="628650" h="360679">
                  <a:moveTo>
                    <a:pt x="0" y="360362"/>
                  </a:moveTo>
                  <a:lnTo>
                    <a:pt x="628650" y="360362"/>
                  </a:lnTo>
                  <a:lnTo>
                    <a:pt x="628650" y="0"/>
                  </a:lnTo>
                  <a:lnTo>
                    <a:pt x="0" y="0"/>
                  </a:lnTo>
                  <a:lnTo>
                    <a:pt x="0" y="3603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278251" y="4535296"/>
            <a:ext cx="141605" cy="74676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283075" y="4598987"/>
            <a:ext cx="640080" cy="373380"/>
            <a:chOff x="4283075" y="4598987"/>
            <a:chExt cx="640080" cy="373380"/>
          </a:xfrm>
        </p:grpSpPr>
        <p:sp>
          <p:nvSpPr>
            <p:cNvPr id="27" name="object 27"/>
            <p:cNvSpPr/>
            <p:nvPr/>
          </p:nvSpPr>
          <p:spPr>
            <a:xfrm>
              <a:off x="4289425" y="4605337"/>
              <a:ext cx="627380" cy="360680"/>
            </a:xfrm>
            <a:custGeom>
              <a:avLst/>
              <a:gdLst/>
              <a:ahLst/>
              <a:cxnLst/>
              <a:rect l="l" t="t" r="r" b="b"/>
              <a:pathLst>
                <a:path w="627379" h="360679">
                  <a:moveTo>
                    <a:pt x="627062" y="0"/>
                  </a:moveTo>
                  <a:lnTo>
                    <a:pt x="0" y="0"/>
                  </a:lnTo>
                  <a:lnTo>
                    <a:pt x="0" y="360362"/>
                  </a:lnTo>
                  <a:lnTo>
                    <a:pt x="627062" y="360362"/>
                  </a:lnTo>
                  <a:lnTo>
                    <a:pt x="627062" y="0"/>
                  </a:lnTo>
                  <a:close/>
                </a:path>
              </a:pathLst>
            </a:custGeom>
            <a:solidFill>
              <a:srgbClr val="C4BC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289425" y="4605337"/>
              <a:ext cx="627380" cy="360680"/>
            </a:xfrm>
            <a:custGeom>
              <a:avLst/>
              <a:gdLst/>
              <a:ahLst/>
              <a:cxnLst/>
              <a:rect l="l" t="t" r="r" b="b"/>
              <a:pathLst>
                <a:path w="627379" h="360679">
                  <a:moveTo>
                    <a:pt x="0" y="360362"/>
                  </a:moveTo>
                  <a:lnTo>
                    <a:pt x="627062" y="360362"/>
                  </a:lnTo>
                  <a:lnTo>
                    <a:pt x="627062" y="0"/>
                  </a:lnTo>
                  <a:lnTo>
                    <a:pt x="0" y="0"/>
                  </a:lnTo>
                  <a:lnTo>
                    <a:pt x="0" y="3603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532503" y="4535296"/>
            <a:ext cx="141605" cy="74676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800" dirty="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80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656076" y="4598987"/>
            <a:ext cx="640080" cy="373380"/>
            <a:chOff x="3656076" y="4598987"/>
            <a:chExt cx="640080" cy="373380"/>
          </a:xfrm>
        </p:grpSpPr>
        <p:sp>
          <p:nvSpPr>
            <p:cNvPr id="31" name="object 31"/>
            <p:cNvSpPr/>
            <p:nvPr/>
          </p:nvSpPr>
          <p:spPr>
            <a:xfrm>
              <a:off x="3662426" y="4605337"/>
              <a:ext cx="627380" cy="360680"/>
            </a:xfrm>
            <a:custGeom>
              <a:avLst/>
              <a:gdLst/>
              <a:ahLst/>
              <a:cxnLst/>
              <a:rect l="l" t="t" r="r" b="b"/>
              <a:pathLst>
                <a:path w="627379" h="360679">
                  <a:moveTo>
                    <a:pt x="627062" y="0"/>
                  </a:moveTo>
                  <a:lnTo>
                    <a:pt x="0" y="0"/>
                  </a:lnTo>
                  <a:lnTo>
                    <a:pt x="0" y="360362"/>
                  </a:lnTo>
                  <a:lnTo>
                    <a:pt x="627062" y="360362"/>
                  </a:lnTo>
                  <a:lnTo>
                    <a:pt x="627062" y="0"/>
                  </a:lnTo>
                  <a:close/>
                </a:path>
              </a:pathLst>
            </a:custGeom>
            <a:solidFill>
              <a:srgbClr val="C4BC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662426" y="4605337"/>
              <a:ext cx="627380" cy="360680"/>
            </a:xfrm>
            <a:custGeom>
              <a:avLst/>
              <a:gdLst/>
              <a:ahLst/>
              <a:cxnLst/>
              <a:rect l="l" t="t" r="r" b="b"/>
              <a:pathLst>
                <a:path w="627379" h="360679">
                  <a:moveTo>
                    <a:pt x="0" y="360362"/>
                  </a:moveTo>
                  <a:lnTo>
                    <a:pt x="627062" y="360362"/>
                  </a:lnTo>
                  <a:lnTo>
                    <a:pt x="627062" y="0"/>
                  </a:lnTo>
                  <a:lnTo>
                    <a:pt x="0" y="0"/>
                  </a:lnTo>
                  <a:lnTo>
                    <a:pt x="0" y="3603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3906392" y="4535296"/>
            <a:ext cx="141605" cy="74676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80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800" dirty="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910201" y="4598987"/>
            <a:ext cx="640080" cy="373380"/>
            <a:chOff x="4910201" y="4598987"/>
            <a:chExt cx="640080" cy="373380"/>
          </a:xfrm>
        </p:grpSpPr>
        <p:sp>
          <p:nvSpPr>
            <p:cNvPr id="35" name="object 35"/>
            <p:cNvSpPr/>
            <p:nvPr/>
          </p:nvSpPr>
          <p:spPr>
            <a:xfrm>
              <a:off x="4916551" y="4605337"/>
              <a:ext cx="627380" cy="360680"/>
            </a:xfrm>
            <a:custGeom>
              <a:avLst/>
              <a:gdLst/>
              <a:ahLst/>
              <a:cxnLst/>
              <a:rect l="l" t="t" r="r" b="b"/>
              <a:pathLst>
                <a:path w="627379" h="360679">
                  <a:moveTo>
                    <a:pt x="627062" y="0"/>
                  </a:moveTo>
                  <a:lnTo>
                    <a:pt x="0" y="0"/>
                  </a:lnTo>
                  <a:lnTo>
                    <a:pt x="0" y="360362"/>
                  </a:lnTo>
                  <a:lnTo>
                    <a:pt x="627062" y="360362"/>
                  </a:lnTo>
                  <a:lnTo>
                    <a:pt x="627062" y="0"/>
                  </a:lnTo>
                  <a:close/>
                </a:path>
              </a:pathLst>
            </a:custGeom>
            <a:solidFill>
              <a:srgbClr val="C4BC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916551" y="4605337"/>
              <a:ext cx="627380" cy="360680"/>
            </a:xfrm>
            <a:custGeom>
              <a:avLst/>
              <a:gdLst/>
              <a:ahLst/>
              <a:cxnLst/>
              <a:rect l="l" t="t" r="r" b="b"/>
              <a:pathLst>
                <a:path w="627379" h="360679">
                  <a:moveTo>
                    <a:pt x="0" y="360362"/>
                  </a:moveTo>
                  <a:lnTo>
                    <a:pt x="627062" y="360362"/>
                  </a:lnTo>
                  <a:lnTo>
                    <a:pt x="627062" y="0"/>
                  </a:lnTo>
                  <a:lnTo>
                    <a:pt x="0" y="0"/>
                  </a:lnTo>
                  <a:lnTo>
                    <a:pt x="0" y="3603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160645" y="4535296"/>
            <a:ext cx="141605" cy="74676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80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80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5537200" y="4598987"/>
            <a:ext cx="641350" cy="373380"/>
            <a:chOff x="5537200" y="4598987"/>
            <a:chExt cx="641350" cy="373380"/>
          </a:xfrm>
        </p:grpSpPr>
        <p:sp>
          <p:nvSpPr>
            <p:cNvPr id="39" name="object 39"/>
            <p:cNvSpPr/>
            <p:nvPr/>
          </p:nvSpPr>
          <p:spPr>
            <a:xfrm>
              <a:off x="5543550" y="4605337"/>
              <a:ext cx="628650" cy="360680"/>
            </a:xfrm>
            <a:custGeom>
              <a:avLst/>
              <a:gdLst/>
              <a:ahLst/>
              <a:cxnLst/>
              <a:rect l="l" t="t" r="r" b="b"/>
              <a:pathLst>
                <a:path w="628650" h="360679">
                  <a:moveTo>
                    <a:pt x="628650" y="0"/>
                  </a:moveTo>
                  <a:lnTo>
                    <a:pt x="0" y="0"/>
                  </a:lnTo>
                  <a:lnTo>
                    <a:pt x="0" y="360362"/>
                  </a:lnTo>
                  <a:lnTo>
                    <a:pt x="628650" y="360362"/>
                  </a:lnTo>
                  <a:lnTo>
                    <a:pt x="628650" y="0"/>
                  </a:lnTo>
                  <a:close/>
                </a:path>
              </a:pathLst>
            </a:custGeom>
            <a:solidFill>
              <a:srgbClr val="C4BC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543550" y="4605337"/>
              <a:ext cx="628650" cy="360680"/>
            </a:xfrm>
            <a:custGeom>
              <a:avLst/>
              <a:gdLst/>
              <a:ahLst/>
              <a:cxnLst/>
              <a:rect l="l" t="t" r="r" b="b"/>
              <a:pathLst>
                <a:path w="628650" h="360679">
                  <a:moveTo>
                    <a:pt x="0" y="360362"/>
                  </a:moveTo>
                  <a:lnTo>
                    <a:pt x="628650" y="360362"/>
                  </a:lnTo>
                  <a:lnTo>
                    <a:pt x="628650" y="0"/>
                  </a:lnTo>
                  <a:lnTo>
                    <a:pt x="0" y="0"/>
                  </a:lnTo>
                  <a:lnTo>
                    <a:pt x="0" y="3603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5788533" y="4535296"/>
            <a:ext cx="141605" cy="74676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800" dirty="0">
                <a:latin typeface="Calibri"/>
                <a:cs typeface="Calibri"/>
              </a:rPr>
              <a:t>5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800" dirty="0">
                <a:latin typeface="Calibri"/>
                <a:cs typeface="Calibri"/>
              </a:rPr>
              <a:t>5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3027426" y="4240148"/>
            <a:ext cx="1895475" cy="371475"/>
            <a:chOff x="3027426" y="4240148"/>
            <a:chExt cx="1895475" cy="371475"/>
          </a:xfrm>
        </p:grpSpPr>
        <p:sp>
          <p:nvSpPr>
            <p:cNvPr id="43" name="object 43"/>
            <p:cNvSpPr/>
            <p:nvPr/>
          </p:nvSpPr>
          <p:spPr>
            <a:xfrm>
              <a:off x="3033776" y="4246498"/>
              <a:ext cx="628650" cy="358775"/>
            </a:xfrm>
            <a:custGeom>
              <a:avLst/>
              <a:gdLst/>
              <a:ahLst/>
              <a:cxnLst/>
              <a:rect l="l" t="t" r="r" b="b"/>
              <a:pathLst>
                <a:path w="628650" h="358775">
                  <a:moveTo>
                    <a:pt x="628650" y="0"/>
                  </a:moveTo>
                  <a:lnTo>
                    <a:pt x="0" y="0"/>
                  </a:lnTo>
                  <a:lnTo>
                    <a:pt x="0" y="358775"/>
                  </a:lnTo>
                  <a:lnTo>
                    <a:pt x="628650" y="358775"/>
                  </a:lnTo>
                  <a:lnTo>
                    <a:pt x="62865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033776" y="4246498"/>
              <a:ext cx="628650" cy="358775"/>
            </a:xfrm>
            <a:custGeom>
              <a:avLst/>
              <a:gdLst/>
              <a:ahLst/>
              <a:cxnLst/>
              <a:rect l="l" t="t" r="r" b="b"/>
              <a:pathLst>
                <a:path w="628650" h="358775">
                  <a:moveTo>
                    <a:pt x="0" y="358775"/>
                  </a:moveTo>
                  <a:lnTo>
                    <a:pt x="628650" y="358775"/>
                  </a:lnTo>
                  <a:lnTo>
                    <a:pt x="628650" y="0"/>
                  </a:lnTo>
                  <a:lnTo>
                    <a:pt x="0" y="0"/>
                  </a:lnTo>
                  <a:lnTo>
                    <a:pt x="0" y="35877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662426" y="4246498"/>
              <a:ext cx="627380" cy="358775"/>
            </a:xfrm>
            <a:custGeom>
              <a:avLst/>
              <a:gdLst/>
              <a:ahLst/>
              <a:cxnLst/>
              <a:rect l="l" t="t" r="r" b="b"/>
              <a:pathLst>
                <a:path w="627379" h="358775">
                  <a:moveTo>
                    <a:pt x="627062" y="0"/>
                  </a:moveTo>
                  <a:lnTo>
                    <a:pt x="0" y="0"/>
                  </a:lnTo>
                  <a:lnTo>
                    <a:pt x="0" y="358775"/>
                  </a:lnTo>
                  <a:lnTo>
                    <a:pt x="627062" y="358775"/>
                  </a:lnTo>
                  <a:lnTo>
                    <a:pt x="627062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662426" y="4246498"/>
              <a:ext cx="627380" cy="358775"/>
            </a:xfrm>
            <a:custGeom>
              <a:avLst/>
              <a:gdLst/>
              <a:ahLst/>
              <a:cxnLst/>
              <a:rect l="l" t="t" r="r" b="b"/>
              <a:pathLst>
                <a:path w="627379" h="358775">
                  <a:moveTo>
                    <a:pt x="0" y="358775"/>
                  </a:moveTo>
                  <a:lnTo>
                    <a:pt x="627062" y="358775"/>
                  </a:lnTo>
                  <a:lnTo>
                    <a:pt x="627062" y="0"/>
                  </a:lnTo>
                  <a:lnTo>
                    <a:pt x="0" y="0"/>
                  </a:lnTo>
                  <a:lnTo>
                    <a:pt x="0" y="35877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289425" y="4246498"/>
              <a:ext cx="627380" cy="358775"/>
            </a:xfrm>
            <a:custGeom>
              <a:avLst/>
              <a:gdLst/>
              <a:ahLst/>
              <a:cxnLst/>
              <a:rect l="l" t="t" r="r" b="b"/>
              <a:pathLst>
                <a:path w="627379" h="358775">
                  <a:moveTo>
                    <a:pt x="627062" y="0"/>
                  </a:moveTo>
                  <a:lnTo>
                    <a:pt x="0" y="0"/>
                  </a:lnTo>
                  <a:lnTo>
                    <a:pt x="0" y="358775"/>
                  </a:lnTo>
                  <a:lnTo>
                    <a:pt x="627062" y="358775"/>
                  </a:lnTo>
                  <a:lnTo>
                    <a:pt x="627062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289425" y="4246498"/>
              <a:ext cx="627380" cy="358775"/>
            </a:xfrm>
            <a:custGeom>
              <a:avLst/>
              <a:gdLst/>
              <a:ahLst/>
              <a:cxnLst/>
              <a:rect l="l" t="t" r="r" b="b"/>
              <a:pathLst>
                <a:path w="627379" h="358775">
                  <a:moveTo>
                    <a:pt x="0" y="358775"/>
                  </a:moveTo>
                  <a:lnTo>
                    <a:pt x="627062" y="358775"/>
                  </a:lnTo>
                  <a:lnTo>
                    <a:pt x="627062" y="0"/>
                  </a:lnTo>
                  <a:lnTo>
                    <a:pt x="0" y="0"/>
                  </a:lnTo>
                  <a:lnTo>
                    <a:pt x="0" y="35877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3269107" y="4261866"/>
            <a:ext cx="1407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44525" algn="l"/>
                <a:tab pos="1272540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	B	C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4910201" y="4240148"/>
            <a:ext cx="640080" cy="371475"/>
            <a:chOff x="4910201" y="4240148"/>
            <a:chExt cx="640080" cy="371475"/>
          </a:xfrm>
        </p:grpSpPr>
        <p:sp>
          <p:nvSpPr>
            <p:cNvPr id="51" name="object 51"/>
            <p:cNvSpPr/>
            <p:nvPr/>
          </p:nvSpPr>
          <p:spPr>
            <a:xfrm>
              <a:off x="4916551" y="4246498"/>
              <a:ext cx="627380" cy="358775"/>
            </a:xfrm>
            <a:custGeom>
              <a:avLst/>
              <a:gdLst/>
              <a:ahLst/>
              <a:cxnLst/>
              <a:rect l="l" t="t" r="r" b="b"/>
              <a:pathLst>
                <a:path w="627379" h="358775">
                  <a:moveTo>
                    <a:pt x="627062" y="0"/>
                  </a:moveTo>
                  <a:lnTo>
                    <a:pt x="0" y="0"/>
                  </a:lnTo>
                  <a:lnTo>
                    <a:pt x="0" y="358775"/>
                  </a:lnTo>
                  <a:lnTo>
                    <a:pt x="627062" y="358775"/>
                  </a:lnTo>
                  <a:lnTo>
                    <a:pt x="627062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916551" y="4246498"/>
              <a:ext cx="627380" cy="358775"/>
            </a:xfrm>
            <a:custGeom>
              <a:avLst/>
              <a:gdLst/>
              <a:ahLst/>
              <a:cxnLst/>
              <a:rect l="l" t="t" r="r" b="b"/>
              <a:pathLst>
                <a:path w="627379" h="358775">
                  <a:moveTo>
                    <a:pt x="0" y="358775"/>
                  </a:moveTo>
                  <a:lnTo>
                    <a:pt x="627062" y="358775"/>
                  </a:lnTo>
                  <a:lnTo>
                    <a:pt x="627062" y="0"/>
                  </a:lnTo>
                  <a:lnTo>
                    <a:pt x="0" y="0"/>
                  </a:lnTo>
                  <a:lnTo>
                    <a:pt x="0" y="35877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5148453" y="4261866"/>
            <a:ext cx="166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5537200" y="4240148"/>
            <a:ext cx="641350" cy="371475"/>
            <a:chOff x="5537200" y="4240148"/>
            <a:chExt cx="641350" cy="371475"/>
          </a:xfrm>
        </p:grpSpPr>
        <p:sp>
          <p:nvSpPr>
            <p:cNvPr id="55" name="object 55"/>
            <p:cNvSpPr/>
            <p:nvPr/>
          </p:nvSpPr>
          <p:spPr>
            <a:xfrm>
              <a:off x="5543550" y="4246498"/>
              <a:ext cx="628650" cy="358775"/>
            </a:xfrm>
            <a:custGeom>
              <a:avLst/>
              <a:gdLst/>
              <a:ahLst/>
              <a:cxnLst/>
              <a:rect l="l" t="t" r="r" b="b"/>
              <a:pathLst>
                <a:path w="628650" h="358775">
                  <a:moveTo>
                    <a:pt x="628650" y="0"/>
                  </a:moveTo>
                  <a:lnTo>
                    <a:pt x="0" y="0"/>
                  </a:lnTo>
                  <a:lnTo>
                    <a:pt x="0" y="358775"/>
                  </a:lnTo>
                  <a:lnTo>
                    <a:pt x="628650" y="358775"/>
                  </a:lnTo>
                  <a:lnTo>
                    <a:pt x="62865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543550" y="4246498"/>
              <a:ext cx="628650" cy="358775"/>
            </a:xfrm>
            <a:custGeom>
              <a:avLst/>
              <a:gdLst/>
              <a:ahLst/>
              <a:cxnLst/>
              <a:rect l="l" t="t" r="r" b="b"/>
              <a:pathLst>
                <a:path w="628650" h="358775">
                  <a:moveTo>
                    <a:pt x="0" y="358775"/>
                  </a:moveTo>
                  <a:lnTo>
                    <a:pt x="628650" y="358775"/>
                  </a:lnTo>
                  <a:lnTo>
                    <a:pt x="628650" y="0"/>
                  </a:lnTo>
                  <a:lnTo>
                    <a:pt x="0" y="0"/>
                  </a:lnTo>
                  <a:lnTo>
                    <a:pt x="0" y="35877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5790057" y="4261866"/>
            <a:ext cx="137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343660" y="4697984"/>
            <a:ext cx="4502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i="1" spc="-5" dirty="0">
                <a:latin typeface="Calibri"/>
                <a:cs typeface="Calibri"/>
              </a:rPr>
              <a:t>Songs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9" name="object 59"/>
          <p:cNvSpPr txBox="1">
            <a:spLocks noGrp="1"/>
          </p:cNvSpPr>
          <p:nvPr>
            <p:ph type="title"/>
          </p:nvPr>
        </p:nvSpPr>
        <p:spPr>
          <a:xfrm>
            <a:off x="2324480" y="461594"/>
            <a:ext cx="44932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Counting</a:t>
            </a:r>
            <a:r>
              <a:rPr sz="4400" spc="-90" dirty="0"/>
              <a:t> </a:t>
            </a:r>
            <a:r>
              <a:rPr sz="4400" spc="-20" dirty="0"/>
              <a:t>Inversions</a:t>
            </a:r>
            <a:endParaRPr sz="4400"/>
          </a:p>
        </p:txBody>
      </p:sp>
      <p:sp>
        <p:nvSpPr>
          <p:cNvPr id="60" name="object 60"/>
          <p:cNvSpPr txBox="1"/>
          <p:nvPr/>
        </p:nvSpPr>
        <p:spPr>
          <a:xfrm>
            <a:off x="7089393" y="4401439"/>
            <a:ext cx="963930" cy="739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sz="1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</a:t>
            </a:r>
            <a:r>
              <a:rPr sz="1800" u="heavy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</a:t>
            </a:r>
            <a:r>
              <a:rPr sz="18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v</a:t>
            </a:r>
            <a:r>
              <a:rPr sz="1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</a:t>
            </a:r>
            <a:r>
              <a:rPr sz="1800" u="heavy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</a:t>
            </a:r>
            <a:r>
              <a:rPr sz="1800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sions </a:t>
            </a:r>
            <a:r>
              <a:rPr sz="1800" spc="-5" dirty="0">
                <a:latin typeface="Calibri"/>
                <a:cs typeface="Calibri"/>
              </a:rPr>
              <a:t> 3-2,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4-2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86964" y="191846"/>
            <a:ext cx="43726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Visualizing</a:t>
            </a:r>
            <a:r>
              <a:rPr spc="-45" dirty="0"/>
              <a:t> </a:t>
            </a:r>
            <a:r>
              <a:rPr spc="-25" dirty="0"/>
              <a:t>inversions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9126" y="1209486"/>
            <a:ext cx="5818548" cy="250493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28950" y="4210050"/>
            <a:ext cx="2838450" cy="21240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22044" y="4514545"/>
            <a:ext cx="15011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Naive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algorithm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28570" marR="5080" indent="-2516505">
              <a:lnSpc>
                <a:spcPct val="100000"/>
              </a:lnSpc>
              <a:spcBef>
                <a:spcPts val="95"/>
              </a:spcBef>
              <a:tabLst>
                <a:tab pos="4434205" algn="l"/>
              </a:tabLst>
            </a:pPr>
            <a:r>
              <a:rPr spc="-10" dirty="0"/>
              <a:t>C</a:t>
            </a:r>
            <a:r>
              <a:rPr spc="5" dirty="0"/>
              <a:t>o</a:t>
            </a:r>
            <a:r>
              <a:rPr spc="-10" dirty="0"/>
              <a:t>u</a:t>
            </a:r>
            <a:r>
              <a:rPr spc="-35" dirty="0"/>
              <a:t>n</a:t>
            </a:r>
            <a:r>
              <a:rPr spc="-5" dirty="0"/>
              <a:t>ting</a:t>
            </a:r>
            <a:r>
              <a:rPr spc="-15" dirty="0"/>
              <a:t> </a:t>
            </a:r>
            <a:r>
              <a:rPr spc="-5" dirty="0"/>
              <a:t>I</a:t>
            </a:r>
            <a:r>
              <a:rPr spc="-75" dirty="0"/>
              <a:t>n</a:t>
            </a:r>
            <a:r>
              <a:rPr spc="-50" dirty="0"/>
              <a:t>v</a:t>
            </a:r>
            <a:r>
              <a:rPr spc="-5" dirty="0"/>
              <a:t>e</a:t>
            </a:r>
            <a:r>
              <a:rPr spc="-80" dirty="0"/>
              <a:t>r</a:t>
            </a:r>
            <a:r>
              <a:rPr spc="-10" dirty="0"/>
              <a:t>sions</a:t>
            </a:r>
            <a:r>
              <a:rPr spc="-5" dirty="0"/>
              <a:t>:</a:t>
            </a:r>
            <a:r>
              <a:rPr dirty="0"/>
              <a:t>	</a:t>
            </a:r>
            <a:r>
              <a:rPr spc="-10" dirty="0"/>
              <a:t>Di</a:t>
            </a:r>
            <a:r>
              <a:rPr spc="-25" dirty="0"/>
              <a:t>v</a:t>
            </a:r>
            <a:r>
              <a:rPr spc="-5" dirty="0"/>
              <a:t>id</a:t>
            </a:r>
            <a:r>
              <a:rPr spc="-20" dirty="0"/>
              <a:t>e</a:t>
            </a:r>
            <a:r>
              <a:rPr spc="-10" dirty="0"/>
              <a:t>-</a:t>
            </a:r>
            <a:r>
              <a:rPr spc="-5" dirty="0"/>
              <a:t>and-  Conquer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35064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5575" indent="-143510">
              <a:lnSpc>
                <a:spcPct val="100000"/>
              </a:lnSpc>
              <a:spcBef>
                <a:spcPts val="105"/>
              </a:spcBef>
              <a:buSzPct val="96875"/>
              <a:buFont typeface="Arial MT"/>
              <a:buChar char="•"/>
              <a:tabLst>
                <a:tab pos="156210" algn="l"/>
              </a:tabLst>
            </a:pPr>
            <a:r>
              <a:rPr sz="3200" spc="-25" dirty="0">
                <a:latin typeface="Calibri"/>
                <a:cs typeface="Calibri"/>
              </a:rPr>
              <a:t>Divide-and-conquer.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33437" y="3316287"/>
            <a:ext cx="5121910" cy="398780"/>
            <a:chOff x="833437" y="3316287"/>
            <a:chExt cx="5121910" cy="398780"/>
          </a:xfrm>
        </p:grpSpPr>
        <p:sp>
          <p:nvSpPr>
            <p:cNvPr id="5" name="object 5"/>
            <p:cNvSpPr/>
            <p:nvPr/>
          </p:nvSpPr>
          <p:spPr>
            <a:xfrm>
              <a:off x="1685925" y="3322637"/>
              <a:ext cx="852805" cy="386080"/>
            </a:xfrm>
            <a:custGeom>
              <a:avLst/>
              <a:gdLst/>
              <a:ahLst/>
              <a:cxnLst/>
              <a:rect l="l" t="t" r="r" b="b"/>
              <a:pathLst>
                <a:path w="852805" h="386079">
                  <a:moveTo>
                    <a:pt x="852487" y="0"/>
                  </a:moveTo>
                  <a:lnTo>
                    <a:pt x="425450" y="0"/>
                  </a:lnTo>
                  <a:lnTo>
                    <a:pt x="0" y="0"/>
                  </a:lnTo>
                  <a:lnTo>
                    <a:pt x="0" y="385762"/>
                  </a:lnTo>
                  <a:lnTo>
                    <a:pt x="425450" y="385762"/>
                  </a:lnTo>
                  <a:lnTo>
                    <a:pt x="852487" y="385762"/>
                  </a:lnTo>
                  <a:lnTo>
                    <a:pt x="852487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11375" y="3322637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5" h="386079">
                  <a:moveTo>
                    <a:pt x="0" y="385762"/>
                  </a:moveTo>
                  <a:lnTo>
                    <a:pt x="427037" y="385762"/>
                  </a:lnTo>
                  <a:lnTo>
                    <a:pt x="427037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38476" y="3322637"/>
              <a:ext cx="425450" cy="386080"/>
            </a:xfrm>
            <a:custGeom>
              <a:avLst/>
              <a:gdLst/>
              <a:ahLst/>
              <a:cxnLst/>
              <a:rect l="l" t="t" r="r" b="b"/>
              <a:pathLst>
                <a:path w="425450" h="386079">
                  <a:moveTo>
                    <a:pt x="425450" y="0"/>
                  </a:moveTo>
                  <a:lnTo>
                    <a:pt x="0" y="0"/>
                  </a:lnTo>
                  <a:lnTo>
                    <a:pt x="0" y="385762"/>
                  </a:lnTo>
                  <a:lnTo>
                    <a:pt x="425450" y="385762"/>
                  </a:lnTo>
                  <a:lnTo>
                    <a:pt x="42545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38476" y="3322637"/>
              <a:ext cx="425450" cy="386080"/>
            </a:xfrm>
            <a:custGeom>
              <a:avLst/>
              <a:gdLst/>
              <a:ahLst/>
              <a:cxnLst/>
              <a:rect l="l" t="t" r="r" b="b"/>
              <a:pathLst>
                <a:path w="425450" h="386079">
                  <a:moveTo>
                    <a:pt x="0" y="385762"/>
                  </a:moveTo>
                  <a:lnTo>
                    <a:pt x="425450" y="385762"/>
                  </a:lnTo>
                  <a:lnTo>
                    <a:pt x="425450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63926" y="3322637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4" h="386079">
                  <a:moveTo>
                    <a:pt x="427037" y="0"/>
                  </a:moveTo>
                  <a:lnTo>
                    <a:pt x="0" y="0"/>
                  </a:lnTo>
                  <a:lnTo>
                    <a:pt x="0" y="385762"/>
                  </a:lnTo>
                  <a:lnTo>
                    <a:pt x="427037" y="385762"/>
                  </a:lnTo>
                  <a:lnTo>
                    <a:pt x="427037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63926" y="3322637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4" h="386079">
                  <a:moveTo>
                    <a:pt x="0" y="385762"/>
                  </a:moveTo>
                  <a:lnTo>
                    <a:pt x="427037" y="385762"/>
                  </a:lnTo>
                  <a:lnTo>
                    <a:pt x="427037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33437" y="3322637"/>
              <a:ext cx="852805" cy="386080"/>
            </a:xfrm>
            <a:custGeom>
              <a:avLst/>
              <a:gdLst/>
              <a:ahLst/>
              <a:cxnLst/>
              <a:rect l="l" t="t" r="r" b="b"/>
              <a:pathLst>
                <a:path w="852805" h="386079">
                  <a:moveTo>
                    <a:pt x="852487" y="0"/>
                  </a:moveTo>
                  <a:lnTo>
                    <a:pt x="425450" y="0"/>
                  </a:lnTo>
                  <a:lnTo>
                    <a:pt x="0" y="0"/>
                  </a:lnTo>
                  <a:lnTo>
                    <a:pt x="0" y="385762"/>
                  </a:lnTo>
                  <a:lnTo>
                    <a:pt x="425450" y="385762"/>
                  </a:lnTo>
                  <a:lnTo>
                    <a:pt x="852487" y="385762"/>
                  </a:lnTo>
                  <a:lnTo>
                    <a:pt x="852487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58887" y="3322637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5" h="386079">
                  <a:moveTo>
                    <a:pt x="0" y="385762"/>
                  </a:moveTo>
                  <a:lnTo>
                    <a:pt x="427037" y="385762"/>
                  </a:lnTo>
                  <a:lnTo>
                    <a:pt x="427037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390900" y="3322637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4" h="386079">
                  <a:moveTo>
                    <a:pt x="427037" y="0"/>
                  </a:moveTo>
                  <a:lnTo>
                    <a:pt x="0" y="0"/>
                  </a:lnTo>
                  <a:lnTo>
                    <a:pt x="0" y="385762"/>
                  </a:lnTo>
                  <a:lnTo>
                    <a:pt x="427037" y="385762"/>
                  </a:lnTo>
                  <a:lnTo>
                    <a:pt x="427037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390900" y="3322637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4" h="386079">
                  <a:moveTo>
                    <a:pt x="0" y="385762"/>
                  </a:moveTo>
                  <a:lnTo>
                    <a:pt x="427037" y="385762"/>
                  </a:lnTo>
                  <a:lnTo>
                    <a:pt x="427037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43451" y="3322637"/>
              <a:ext cx="852805" cy="386080"/>
            </a:xfrm>
            <a:custGeom>
              <a:avLst/>
              <a:gdLst/>
              <a:ahLst/>
              <a:cxnLst/>
              <a:rect l="l" t="t" r="r" b="b"/>
              <a:pathLst>
                <a:path w="852804" h="386079">
                  <a:moveTo>
                    <a:pt x="852424" y="0"/>
                  </a:moveTo>
                  <a:lnTo>
                    <a:pt x="427037" y="0"/>
                  </a:lnTo>
                  <a:lnTo>
                    <a:pt x="0" y="0"/>
                  </a:lnTo>
                  <a:lnTo>
                    <a:pt x="0" y="385762"/>
                  </a:lnTo>
                  <a:lnTo>
                    <a:pt x="426974" y="385762"/>
                  </a:lnTo>
                  <a:lnTo>
                    <a:pt x="852424" y="385762"/>
                  </a:lnTo>
                  <a:lnTo>
                    <a:pt x="852424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670425" y="3322637"/>
              <a:ext cx="425450" cy="386080"/>
            </a:xfrm>
            <a:custGeom>
              <a:avLst/>
              <a:gdLst/>
              <a:ahLst/>
              <a:cxnLst/>
              <a:rect l="l" t="t" r="r" b="b"/>
              <a:pathLst>
                <a:path w="425450" h="386079">
                  <a:moveTo>
                    <a:pt x="0" y="385762"/>
                  </a:moveTo>
                  <a:lnTo>
                    <a:pt x="425450" y="385762"/>
                  </a:lnTo>
                  <a:lnTo>
                    <a:pt x="425450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095875" y="3322637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4" h="386079">
                  <a:moveTo>
                    <a:pt x="427037" y="0"/>
                  </a:moveTo>
                  <a:lnTo>
                    <a:pt x="0" y="0"/>
                  </a:lnTo>
                  <a:lnTo>
                    <a:pt x="0" y="385762"/>
                  </a:lnTo>
                  <a:lnTo>
                    <a:pt x="427037" y="385762"/>
                  </a:lnTo>
                  <a:lnTo>
                    <a:pt x="427037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95875" y="3322637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4" h="386079">
                  <a:moveTo>
                    <a:pt x="0" y="385762"/>
                  </a:moveTo>
                  <a:lnTo>
                    <a:pt x="427037" y="385762"/>
                  </a:lnTo>
                  <a:lnTo>
                    <a:pt x="427037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522976" y="3322637"/>
              <a:ext cx="425450" cy="386080"/>
            </a:xfrm>
            <a:custGeom>
              <a:avLst/>
              <a:gdLst/>
              <a:ahLst/>
              <a:cxnLst/>
              <a:rect l="l" t="t" r="r" b="b"/>
              <a:pathLst>
                <a:path w="425450" h="386079">
                  <a:moveTo>
                    <a:pt x="425450" y="0"/>
                  </a:moveTo>
                  <a:lnTo>
                    <a:pt x="0" y="0"/>
                  </a:lnTo>
                  <a:lnTo>
                    <a:pt x="0" y="385762"/>
                  </a:lnTo>
                  <a:lnTo>
                    <a:pt x="425450" y="385762"/>
                  </a:lnTo>
                  <a:lnTo>
                    <a:pt x="42545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522976" y="3322637"/>
              <a:ext cx="425450" cy="386080"/>
            </a:xfrm>
            <a:custGeom>
              <a:avLst/>
              <a:gdLst/>
              <a:ahLst/>
              <a:cxnLst/>
              <a:rect l="l" t="t" r="r" b="b"/>
              <a:pathLst>
                <a:path w="425450" h="386079">
                  <a:moveTo>
                    <a:pt x="0" y="385762"/>
                  </a:moveTo>
                  <a:lnTo>
                    <a:pt x="425450" y="385762"/>
                  </a:lnTo>
                  <a:lnTo>
                    <a:pt x="425450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18001" y="3322637"/>
              <a:ext cx="425450" cy="386080"/>
            </a:xfrm>
            <a:custGeom>
              <a:avLst/>
              <a:gdLst/>
              <a:ahLst/>
              <a:cxnLst/>
              <a:rect l="l" t="t" r="r" b="b"/>
              <a:pathLst>
                <a:path w="425450" h="386079">
                  <a:moveTo>
                    <a:pt x="425450" y="0"/>
                  </a:moveTo>
                  <a:lnTo>
                    <a:pt x="0" y="0"/>
                  </a:lnTo>
                  <a:lnTo>
                    <a:pt x="0" y="385762"/>
                  </a:lnTo>
                  <a:lnTo>
                    <a:pt x="425450" y="385762"/>
                  </a:lnTo>
                  <a:lnTo>
                    <a:pt x="42545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18001" y="3322637"/>
              <a:ext cx="425450" cy="386080"/>
            </a:xfrm>
            <a:custGeom>
              <a:avLst/>
              <a:gdLst/>
              <a:ahLst/>
              <a:cxnLst/>
              <a:rect l="l" t="t" r="r" b="b"/>
              <a:pathLst>
                <a:path w="425450" h="386079">
                  <a:moveTo>
                    <a:pt x="0" y="385762"/>
                  </a:moveTo>
                  <a:lnTo>
                    <a:pt x="425450" y="385762"/>
                  </a:lnTo>
                  <a:lnTo>
                    <a:pt x="425450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833437" y="3322637"/>
            <a:ext cx="5115560" cy="38608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325"/>
              </a:spcBef>
              <a:tabLst>
                <a:tab pos="581025" algn="l"/>
                <a:tab pos="1007110" algn="l"/>
                <a:tab pos="1433830" algn="l"/>
                <a:tab pos="1802130" algn="l"/>
                <a:tab pos="2286000" algn="l"/>
                <a:tab pos="2713990" algn="l"/>
                <a:tab pos="3139440" algn="l"/>
                <a:tab pos="3507740" algn="l"/>
                <a:tab pos="3934460" algn="l"/>
                <a:tab pos="4418965" algn="l"/>
                <a:tab pos="4844415" algn="l"/>
              </a:tabLst>
            </a:pPr>
            <a:r>
              <a:rPr sz="1800" dirty="0">
                <a:latin typeface="Calibri"/>
                <a:cs typeface="Calibri"/>
              </a:rPr>
              <a:t>1	5	4	8	</a:t>
            </a:r>
            <a:r>
              <a:rPr sz="1800" spc="-5" dirty="0">
                <a:latin typeface="Calibri"/>
                <a:cs typeface="Calibri"/>
              </a:rPr>
              <a:t>10	</a:t>
            </a:r>
            <a:r>
              <a:rPr sz="1800" dirty="0">
                <a:latin typeface="Calibri"/>
                <a:cs typeface="Calibri"/>
              </a:rPr>
              <a:t>2	6	9	</a:t>
            </a:r>
            <a:r>
              <a:rPr sz="1800" spc="-5" dirty="0">
                <a:latin typeface="Calibri"/>
                <a:cs typeface="Calibri"/>
              </a:rPr>
              <a:t>12	11	</a:t>
            </a:r>
            <a:r>
              <a:rPr sz="1800" dirty="0">
                <a:latin typeface="Calibri"/>
                <a:cs typeface="Calibri"/>
              </a:rPr>
              <a:t>3	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0540" y="6465214"/>
            <a:ext cx="1536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4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28570" marR="5080" indent="-2516505">
              <a:lnSpc>
                <a:spcPct val="100000"/>
              </a:lnSpc>
              <a:spcBef>
                <a:spcPts val="95"/>
              </a:spcBef>
              <a:tabLst>
                <a:tab pos="4434205" algn="l"/>
              </a:tabLst>
            </a:pPr>
            <a:r>
              <a:rPr spc="-10" dirty="0"/>
              <a:t>C</a:t>
            </a:r>
            <a:r>
              <a:rPr spc="5" dirty="0"/>
              <a:t>o</a:t>
            </a:r>
            <a:r>
              <a:rPr spc="-10" dirty="0"/>
              <a:t>u</a:t>
            </a:r>
            <a:r>
              <a:rPr spc="-35" dirty="0"/>
              <a:t>n</a:t>
            </a:r>
            <a:r>
              <a:rPr spc="-5" dirty="0"/>
              <a:t>ting</a:t>
            </a:r>
            <a:r>
              <a:rPr spc="-15" dirty="0"/>
              <a:t> </a:t>
            </a:r>
            <a:r>
              <a:rPr spc="-5" dirty="0"/>
              <a:t>I</a:t>
            </a:r>
            <a:r>
              <a:rPr spc="-75" dirty="0"/>
              <a:t>n</a:t>
            </a:r>
            <a:r>
              <a:rPr spc="-50" dirty="0"/>
              <a:t>v</a:t>
            </a:r>
            <a:r>
              <a:rPr spc="-5" dirty="0"/>
              <a:t>e</a:t>
            </a:r>
            <a:r>
              <a:rPr spc="-80" dirty="0"/>
              <a:t>r</a:t>
            </a:r>
            <a:r>
              <a:rPr spc="-10" dirty="0"/>
              <a:t>sions</a:t>
            </a:r>
            <a:r>
              <a:rPr spc="-5" dirty="0"/>
              <a:t>:</a:t>
            </a:r>
            <a:r>
              <a:rPr dirty="0"/>
              <a:t>	</a:t>
            </a:r>
            <a:r>
              <a:rPr spc="-10" dirty="0"/>
              <a:t>Di</a:t>
            </a:r>
            <a:r>
              <a:rPr spc="-25" dirty="0"/>
              <a:t>v</a:t>
            </a:r>
            <a:r>
              <a:rPr spc="-5" dirty="0"/>
              <a:t>id</a:t>
            </a:r>
            <a:r>
              <a:rPr spc="-20" dirty="0"/>
              <a:t>e</a:t>
            </a:r>
            <a:r>
              <a:rPr spc="-10" dirty="0"/>
              <a:t>-</a:t>
            </a:r>
            <a:r>
              <a:rPr spc="-5" dirty="0"/>
              <a:t>and-  Conquer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7044"/>
            <a:ext cx="6042660" cy="112903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55575" indent="-143510">
              <a:lnSpc>
                <a:spcPct val="100000"/>
              </a:lnSpc>
              <a:spcBef>
                <a:spcPts val="894"/>
              </a:spcBef>
              <a:buSzPct val="96875"/>
              <a:buFont typeface="Arial MT"/>
              <a:buChar char="•"/>
              <a:tabLst>
                <a:tab pos="156210" algn="l"/>
              </a:tabLst>
            </a:pPr>
            <a:r>
              <a:rPr sz="3200" spc="-25" dirty="0">
                <a:latin typeface="Calibri"/>
                <a:cs typeface="Calibri"/>
              </a:rPr>
              <a:t>Divide-and-conquer.</a:t>
            </a:r>
            <a:endParaRPr sz="32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690"/>
              </a:spcBef>
              <a:tabLst>
                <a:tab pos="1915160" algn="l"/>
              </a:tabLst>
            </a:pPr>
            <a:r>
              <a:rPr sz="2800" spc="-5" dirty="0">
                <a:solidFill>
                  <a:srgbClr val="4F81BC"/>
                </a:solidFill>
                <a:latin typeface="Arial MT"/>
                <a:cs typeface="Arial MT"/>
              </a:rPr>
              <a:t>–</a:t>
            </a:r>
            <a:r>
              <a:rPr sz="2800" spc="-75" dirty="0">
                <a:solidFill>
                  <a:srgbClr val="4F81BC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4F81BC"/>
                </a:solidFill>
                <a:latin typeface="Calibri"/>
                <a:cs typeface="Calibri"/>
              </a:rPr>
              <a:t>Divide</a:t>
            </a:r>
            <a:r>
              <a:rPr sz="2800" spc="-10" dirty="0">
                <a:latin typeface="Calibri"/>
                <a:cs typeface="Calibri"/>
              </a:rPr>
              <a:t>:	</a:t>
            </a:r>
            <a:r>
              <a:rPr sz="2800" spc="-20" dirty="0">
                <a:latin typeface="Calibri"/>
                <a:cs typeface="Calibri"/>
              </a:rPr>
              <a:t>separate</a:t>
            </a:r>
            <a:r>
              <a:rPr sz="2800" spc="-15" dirty="0">
                <a:latin typeface="Calibri"/>
                <a:cs typeface="Calibri"/>
              </a:rPr>
              <a:t> list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two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pieces.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33437" y="3316287"/>
            <a:ext cx="5121910" cy="398780"/>
            <a:chOff x="833437" y="3316287"/>
            <a:chExt cx="5121910" cy="398780"/>
          </a:xfrm>
        </p:grpSpPr>
        <p:sp>
          <p:nvSpPr>
            <p:cNvPr id="5" name="object 5"/>
            <p:cNvSpPr/>
            <p:nvPr/>
          </p:nvSpPr>
          <p:spPr>
            <a:xfrm>
              <a:off x="1685925" y="3322637"/>
              <a:ext cx="852805" cy="386080"/>
            </a:xfrm>
            <a:custGeom>
              <a:avLst/>
              <a:gdLst/>
              <a:ahLst/>
              <a:cxnLst/>
              <a:rect l="l" t="t" r="r" b="b"/>
              <a:pathLst>
                <a:path w="852805" h="386079">
                  <a:moveTo>
                    <a:pt x="852487" y="0"/>
                  </a:moveTo>
                  <a:lnTo>
                    <a:pt x="425450" y="0"/>
                  </a:lnTo>
                  <a:lnTo>
                    <a:pt x="0" y="0"/>
                  </a:lnTo>
                  <a:lnTo>
                    <a:pt x="0" y="385762"/>
                  </a:lnTo>
                  <a:lnTo>
                    <a:pt x="425450" y="385762"/>
                  </a:lnTo>
                  <a:lnTo>
                    <a:pt x="852487" y="385762"/>
                  </a:lnTo>
                  <a:lnTo>
                    <a:pt x="852487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11375" y="3322637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5" h="386079">
                  <a:moveTo>
                    <a:pt x="0" y="385762"/>
                  </a:moveTo>
                  <a:lnTo>
                    <a:pt x="427037" y="385762"/>
                  </a:lnTo>
                  <a:lnTo>
                    <a:pt x="427037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38476" y="3322637"/>
              <a:ext cx="425450" cy="386080"/>
            </a:xfrm>
            <a:custGeom>
              <a:avLst/>
              <a:gdLst/>
              <a:ahLst/>
              <a:cxnLst/>
              <a:rect l="l" t="t" r="r" b="b"/>
              <a:pathLst>
                <a:path w="425450" h="386079">
                  <a:moveTo>
                    <a:pt x="425450" y="0"/>
                  </a:moveTo>
                  <a:lnTo>
                    <a:pt x="0" y="0"/>
                  </a:lnTo>
                  <a:lnTo>
                    <a:pt x="0" y="385762"/>
                  </a:lnTo>
                  <a:lnTo>
                    <a:pt x="425450" y="385762"/>
                  </a:lnTo>
                  <a:lnTo>
                    <a:pt x="42545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38476" y="3322637"/>
              <a:ext cx="425450" cy="386080"/>
            </a:xfrm>
            <a:custGeom>
              <a:avLst/>
              <a:gdLst/>
              <a:ahLst/>
              <a:cxnLst/>
              <a:rect l="l" t="t" r="r" b="b"/>
              <a:pathLst>
                <a:path w="425450" h="386079">
                  <a:moveTo>
                    <a:pt x="0" y="385762"/>
                  </a:moveTo>
                  <a:lnTo>
                    <a:pt x="425450" y="385762"/>
                  </a:lnTo>
                  <a:lnTo>
                    <a:pt x="425450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63926" y="3322637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4" h="386079">
                  <a:moveTo>
                    <a:pt x="427037" y="0"/>
                  </a:moveTo>
                  <a:lnTo>
                    <a:pt x="0" y="0"/>
                  </a:lnTo>
                  <a:lnTo>
                    <a:pt x="0" y="385762"/>
                  </a:lnTo>
                  <a:lnTo>
                    <a:pt x="427037" y="385762"/>
                  </a:lnTo>
                  <a:lnTo>
                    <a:pt x="427037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63926" y="3322637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4" h="386079">
                  <a:moveTo>
                    <a:pt x="0" y="385762"/>
                  </a:moveTo>
                  <a:lnTo>
                    <a:pt x="427037" y="385762"/>
                  </a:lnTo>
                  <a:lnTo>
                    <a:pt x="427037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33437" y="3322637"/>
              <a:ext cx="852805" cy="386080"/>
            </a:xfrm>
            <a:custGeom>
              <a:avLst/>
              <a:gdLst/>
              <a:ahLst/>
              <a:cxnLst/>
              <a:rect l="l" t="t" r="r" b="b"/>
              <a:pathLst>
                <a:path w="852805" h="386079">
                  <a:moveTo>
                    <a:pt x="852487" y="0"/>
                  </a:moveTo>
                  <a:lnTo>
                    <a:pt x="425450" y="0"/>
                  </a:lnTo>
                  <a:lnTo>
                    <a:pt x="0" y="0"/>
                  </a:lnTo>
                  <a:lnTo>
                    <a:pt x="0" y="385762"/>
                  </a:lnTo>
                  <a:lnTo>
                    <a:pt x="425450" y="385762"/>
                  </a:lnTo>
                  <a:lnTo>
                    <a:pt x="852487" y="385762"/>
                  </a:lnTo>
                  <a:lnTo>
                    <a:pt x="852487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58887" y="3322637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5" h="386079">
                  <a:moveTo>
                    <a:pt x="0" y="385762"/>
                  </a:moveTo>
                  <a:lnTo>
                    <a:pt x="427037" y="385762"/>
                  </a:lnTo>
                  <a:lnTo>
                    <a:pt x="427037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390900" y="3322637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4" h="386079">
                  <a:moveTo>
                    <a:pt x="427037" y="0"/>
                  </a:moveTo>
                  <a:lnTo>
                    <a:pt x="0" y="0"/>
                  </a:lnTo>
                  <a:lnTo>
                    <a:pt x="0" y="385762"/>
                  </a:lnTo>
                  <a:lnTo>
                    <a:pt x="427037" y="385762"/>
                  </a:lnTo>
                  <a:lnTo>
                    <a:pt x="427037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390900" y="3322637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4" h="386079">
                  <a:moveTo>
                    <a:pt x="0" y="385762"/>
                  </a:moveTo>
                  <a:lnTo>
                    <a:pt x="427037" y="385762"/>
                  </a:lnTo>
                  <a:lnTo>
                    <a:pt x="427037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43451" y="3322637"/>
              <a:ext cx="852805" cy="386080"/>
            </a:xfrm>
            <a:custGeom>
              <a:avLst/>
              <a:gdLst/>
              <a:ahLst/>
              <a:cxnLst/>
              <a:rect l="l" t="t" r="r" b="b"/>
              <a:pathLst>
                <a:path w="852804" h="386079">
                  <a:moveTo>
                    <a:pt x="852424" y="0"/>
                  </a:moveTo>
                  <a:lnTo>
                    <a:pt x="427037" y="0"/>
                  </a:lnTo>
                  <a:lnTo>
                    <a:pt x="0" y="0"/>
                  </a:lnTo>
                  <a:lnTo>
                    <a:pt x="0" y="385762"/>
                  </a:lnTo>
                  <a:lnTo>
                    <a:pt x="426974" y="385762"/>
                  </a:lnTo>
                  <a:lnTo>
                    <a:pt x="852424" y="385762"/>
                  </a:lnTo>
                  <a:lnTo>
                    <a:pt x="852424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670425" y="3322637"/>
              <a:ext cx="425450" cy="386080"/>
            </a:xfrm>
            <a:custGeom>
              <a:avLst/>
              <a:gdLst/>
              <a:ahLst/>
              <a:cxnLst/>
              <a:rect l="l" t="t" r="r" b="b"/>
              <a:pathLst>
                <a:path w="425450" h="386079">
                  <a:moveTo>
                    <a:pt x="0" y="385762"/>
                  </a:moveTo>
                  <a:lnTo>
                    <a:pt x="425450" y="385762"/>
                  </a:lnTo>
                  <a:lnTo>
                    <a:pt x="425450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095875" y="3322637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4" h="386079">
                  <a:moveTo>
                    <a:pt x="427037" y="0"/>
                  </a:moveTo>
                  <a:lnTo>
                    <a:pt x="0" y="0"/>
                  </a:lnTo>
                  <a:lnTo>
                    <a:pt x="0" y="385762"/>
                  </a:lnTo>
                  <a:lnTo>
                    <a:pt x="427037" y="385762"/>
                  </a:lnTo>
                  <a:lnTo>
                    <a:pt x="427037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95875" y="3322637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4" h="386079">
                  <a:moveTo>
                    <a:pt x="0" y="385762"/>
                  </a:moveTo>
                  <a:lnTo>
                    <a:pt x="427037" y="385762"/>
                  </a:lnTo>
                  <a:lnTo>
                    <a:pt x="427037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522976" y="3322637"/>
              <a:ext cx="425450" cy="386080"/>
            </a:xfrm>
            <a:custGeom>
              <a:avLst/>
              <a:gdLst/>
              <a:ahLst/>
              <a:cxnLst/>
              <a:rect l="l" t="t" r="r" b="b"/>
              <a:pathLst>
                <a:path w="425450" h="386079">
                  <a:moveTo>
                    <a:pt x="425450" y="0"/>
                  </a:moveTo>
                  <a:lnTo>
                    <a:pt x="0" y="0"/>
                  </a:lnTo>
                  <a:lnTo>
                    <a:pt x="0" y="385762"/>
                  </a:lnTo>
                  <a:lnTo>
                    <a:pt x="425450" y="385762"/>
                  </a:lnTo>
                  <a:lnTo>
                    <a:pt x="42545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522976" y="3322637"/>
              <a:ext cx="425450" cy="386080"/>
            </a:xfrm>
            <a:custGeom>
              <a:avLst/>
              <a:gdLst/>
              <a:ahLst/>
              <a:cxnLst/>
              <a:rect l="l" t="t" r="r" b="b"/>
              <a:pathLst>
                <a:path w="425450" h="386079">
                  <a:moveTo>
                    <a:pt x="0" y="385762"/>
                  </a:moveTo>
                  <a:lnTo>
                    <a:pt x="425450" y="385762"/>
                  </a:lnTo>
                  <a:lnTo>
                    <a:pt x="425450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18001" y="3322637"/>
              <a:ext cx="425450" cy="386080"/>
            </a:xfrm>
            <a:custGeom>
              <a:avLst/>
              <a:gdLst/>
              <a:ahLst/>
              <a:cxnLst/>
              <a:rect l="l" t="t" r="r" b="b"/>
              <a:pathLst>
                <a:path w="425450" h="386079">
                  <a:moveTo>
                    <a:pt x="425450" y="0"/>
                  </a:moveTo>
                  <a:lnTo>
                    <a:pt x="0" y="0"/>
                  </a:lnTo>
                  <a:lnTo>
                    <a:pt x="0" y="385762"/>
                  </a:lnTo>
                  <a:lnTo>
                    <a:pt x="425450" y="385762"/>
                  </a:lnTo>
                  <a:lnTo>
                    <a:pt x="42545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18001" y="3322637"/>
              <a:ext cx="425450" cy="386080"/>
            </a:xfrm>
            <a:custGeom>
              <a:avLst/>
              <a:gdLst/>
              <a:ahLst/>
              <a:cxnLst/>
              <a:rect l="l" t="t" r="r" b="b"/>
              <a:pathLst>
                <a:path w="425450" h="386079">
                  <a:moveTo>
                    <a:pt x="0" y="385762"/>
                  </a:moveTo>
                  <a:lnTo>
                    <a:pt x="425450" y="385762"/>
                  </a:lnTo>
                  <a:lnTo>
                    <a:pt x="425450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833437" y="3322637"/>
            <a:ext cx="5115560" cy="38608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325"/>
              </a:spcBef>
              <a:tabLst>
                <a:tab pos="581025" algn="l"/>
                <a:tab pos="1007110" algn="l"/>
                <a:tab pos="1433830" algn="l"/>
                <a:tab pos="1802130" algn="l"/>
                <a:tab pos="2286000" algn="l"/>
                <a:tab pos="2713990" algn="l"/>
                <a:tab pos="3139440" algn="l"/>
                <a:tab pos="3507740" algn="l"/>
                <a:tab pos="3934460" algn="l"/>
                <a:tab pos="4418965" algn="l"/>
                <a:tab pos="4844415" algn="l"/>
              </a:tabLst>
            </a:pPr>
            <a:r>
              <a:rPr sz="1800" dirty="0">
                <a:latin typeface="Calibri"/>
                <a:cs typeface="Calibri"/>
              </a:rPr>
              <a:t>1	5	4	8	</a:t>
            </a:r>
            <a:r>
              <a:rPr sz="1800" spc="-5" dirty="0">
                <a:latin typeface="Calibri"/>
                <a:cs typeface="Calibri"/>
              </a:rPr>
              <a:t>10	</a:t>
            </a:r>
            <a:r>
              <a:rPr sz="1800" dirty="0">
                <a:latin typeface="Calibri"/>
                <a:cs typeface="Calibri"/>
              </a:rPr>
              <a:t>2	6	9	</a:t>
            </a:r>
            <a:r>
              <a:rPr sz="1800" spc="-5" dirty="0">
                <a:latin typeface="Calibri"/>
                <a:cs typeface="Calibri"/>
              </a:rPr>
              <a:t>12	11	</a:t>
            </a:r>
            <a:r>
              <a:rPr sz="1800" dirty="0">
                <a:latin typeface="Calibri"/>
                <a:cs typeface="Calibri"/>
              </a:rPr>
              <a:t>3	7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62000" y="3997261"/>
            <a:ext cx="2564130" cy="398780"/>
            <a:chOff x="762000" y="3997261"/>
            <a:chExt cx="2564130" cy="398780"/>
          </a:xfrm>
        </p:grpSpPr>
        <p:sp>
          <p:nvSpPr>
            <p:cNvPr id="25" name="object 25"/>
            <p:cNvSpPr/>
            <p:nvPr/>
          </p:nvSpPr>
          <p:spPr>
            <a:xfrm>
              <a:off x="1614551" y="4003611"/>
              <a:ext cx="852805" cy="386080"/>
            </a:xfrm>
            <a:custGeom>
              <a:avLst/>
              <a:gdLst/>
              <a:ahLst/>
              <a:cxnLst/>
              <a:rect l="l" t="t" r="r" b="b"/>
              <a:pathLst>
                <a:path w="852805" h="386079">
                  <a:moveTo>
                    <a:pt x="852424" y="0"/>
                  </a:moveTo>
                  <a:lnTo>
                    <a:pt x="427037" y="0"/>
                  </a:lnTo>
                  <a:lnTo>
                    <a:pt x="0" y="0"/>
                  </a:lnTo>
                  <a:lnTo>
                    <a:pt x="0" y="385762"/>
                  </a:lnTo>
                  <a:lnTo>
                    <a:pt x="426974" y="385762"/>
                  </a:lnTo>
                  <a:lnTo>
                    <a:pt x="852424" y="385762"/>
                  </a:lnTo>
                  <a:lnTo>
                    <a:pt x="852424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041525" y="4003611"/>
              <a:ext cx="425450" cy="386080"/>
            </a:xfrm>
            <a:custGeom>
              <a:avLst/>
              <a:gdLst/>
              <a:ahLst/>
              <a:cxnLst/>
              <a:rect l="l" t="t" r="r" b="b"/>
              <a:pathLst>
                <a:path w="425450" h="386079">
                  <a:moveTo>
                    <a:pt x="0" y="385762"/>
                  </a:moveTo>
                  <a:lnTo>
                    <a:pt x="425450" y="385762"/>
                  </a:lnTo>
                  <a:lnTo>
                    <a:pt x="425450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466975" y="4003611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5" h="386079">
                  <a:moveTo>
                    <a:pt x="427037" y="0"/>
                  </a:moveTo>
                  <a:lnTo>
                    <a:pt x="0" y="0"/>
                  </a:lnTo>
                  <a:lnTo>
                    <a:pt x="0" y="385762"/>
                  </a:lnTo>
                  <a:lnTo>
                    <a:pt x="427037" y="385762"/>
                  </a:lnTo>
                  <a:lnTo>
                    <a:pt x="427037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466975" y="4003611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5" h="386079">
                  <a:moveTo>
                    <a:pt x="0" y="385762"/>
                  </a:moveTo>
                  <a:lnTo>
                    <a:pt x="427037" y="385762"/>
                  </a:lnTo>
                  <a:lnTo>
                    <a:pt x="427037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894076" y="4003611"/>
              <a:ext cx="425450" cy="386080"/>
            </a:xfrm>
            <a:custGeom>
              <a:avLst/>
              <a:gdLst/>
              <a:ahLst/>
              <a:cxnLst/>
              <a:rect l="l" t="t" r="r" b="b"/>
              <a:pathLst>
                <a:path w="425450" h="386079">
                  <a:moveTo>
                    <a:pt x="425450" y="0"/>
                  </a:moveTo>
                  <a:lnTo>
                    <a:pt x="0" y="0"/>
                  </a:lnTo>
                  <a:lnTo>
                    <a:pt x="0" y="385762"/>
                  </a:lnTo>
                  <a:lnTo>
                    <a:pt x="425450" y="385762"/>
                  </a:lnTo>
                  <a:lnTo>
                    <a:pt x="425450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894076" y="4003611"/>
              <a:ext cx="425450" cy="386080"/>
            </a:xfrm>
            <a:custGeom>
              <a:avLst/>
              <a:gdLst/>
              <a:ahLst/>
              <a:cxnLst/>
              <a:rect l="l" t="t" r="r" b="b"/>
              <a:pathLst>
                <a:path w="425450" h="386079">
                  <a:moveTo>
                    <a:pt x="0" y="385762"/>
                  </a:moveTo>
                  <a:lnTo>
                    <a:pt x="425450" y="385762"/>
                  </a:lnTo>
                  <a:lnTo>
                    <a:pt x="425450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62000" y="4003611"/>
              <a:ext cx="852805" cy="386080"/>
            </a:xfrm>
            <a:custGeom>
              <a:avLst/>
              <a:gdLst/>
              <a:ahLst/>
              <a:cxnLst/>
              <a:rect l="l" t="t" r="r" b="b"/>
              <a:pathLst>
                <a:path w="852805" h="386079">
                  <a:moveTo>
                    <a:pt x="852487" y="0"/>
                  </a:moveTo>
                  <a:lnTo>
                    <a:pt x="427037" y="0"/>
                  </a:lnTo>
                  <a:lnTo>
                    <a:pt x="0" y="0"/>
                  </a:lnTo>
                  <a:lnTo>
                    <a:pt x="0" y="385762"/>
                  </a:lnTo>
                  <a:lnTo>
                    <a:pt x="427037" y="385762"/>
                  </a:lnTo>
                  <a:lnTo>
                    <a:pt x="852487" y="385762"/>
                  </a:lnTo>
                  <a:lnTo>
                    <a:pt x="852487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189037" y="4003611"/>
              <a:ext cx="425450" cy="386080"/>
            </a:xfrm>
            <a:custGeom>
              <a:avLst/>
              <a:gdLst/>
              <a:ahLst/>
              <a:cxnLst/>
              <a:rect l="l" t="t" r="r" b="b"/>
              <a:pathLst>
                <a:path w="425450" h="386079">
                  <a:moveTo>
                    <a:pt x="0" y="385762"/>
                  </a:moveTo>
                  <a:lnTo>
                    <a:pt x="425450" y="385762"/>
                  </a:lnTo>
                  <a:lnTo>
                    <a:pt x="425450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62000" y="4003611"/>
            <a:ext cx="2557780" cy="38608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325"/>
              </a:spcBef>
              <a:tabLst>
                <a:tab pos="581660" algn="l"/>
                <a:tab pos="1007744" algn="l"/>
                <a:tab pos="1433830" algn="l"/>
                <a:tab pos="1803400" algn="l"/>
                <a:tab pos="228663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	5	4	8	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10	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462401" y="3997261"/>
            <a:ext cx="2564130" cy="398780"/>
            <a:chOff x="3462401" y="3997261"/>
            <a:chExt cx="2564130" cy="398780"/>
          </a:xfrm>
        </p:grpSpPr>
        <p:sp>
          <p:nvSpPr>
            <p:cNvPr id="35" name="object 35"/>
            <p:cNvSpPr/>
            <p:nvPr/>
          </p:nvSpPr>
          <p:spPr>
            <a:xfrm>
              <a:off x="4314825" y="4003611"/>
              <a:ext cx="852805" cy="386080"/>
            </a:xfrm>
            <a:custGeom>
              <a:avLst/>
              <a:gdLst/>
              <a:ahLst/>
              <a:cxnLst/>
              <a:rect l="l" t="t" r="r" b="b"/>
              <a:pathLst>
                <a:path w="852804" h="386079">
                  <a:moveTo>
                    <a:pt x="852487" y="0"/>
                  </a:moveTo>
                  <a:lnTo>
                    <a:pt x="425450" y="0"/>
                  </a:lnTo>
                  <a:lnTo>
                    <a:pt x="0" y="0"/>
                  </a:lnTo>
                  <a:lnTo>
                    <a:pt x="0" y="385762"/>
                  </a:lnTo>
                  <a:lnTo>
                    <a:pt x="425450" y="385762"/>
                  </a:lnTo>
                  <a:lnTo>
                    <a:pt x="852487" y="385762"/>
                  </a:lnTo>
                  <a:lnTo>
                    <a:pt x="852487" y="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740275" y="4003611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4" h="386079">
                  <a:moveTo>
                    <a:pt x="0" y="385762"/>
                  </a:moveTo>
                  <a:lnTo>
                    <a:pt x="427037" y="385762"/>
                  </a:lnTo>
                  <a:lnTo>
                    <a:pt x="427037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167376" y="4003611"/>
              <a:ext cx="425450" cy="386080"/>
            </a:xfrm>
            <a:custGeom>
              <a:avLst/>
              <a:gdLst/>
              <a:ahLst/>
              <a:cxnLst/>
              <a:rect l="l" t="t" r="r" b="b"/>
              <a:pathLst>
                <a:path w="425450" h="386079">
                  <a:moveTo>
                    <a:pt x="425450" y="0"/>
                  </a:moveTo>
                  <a:lnTo>
                    <a:pt x="0" y="0"/>
                  </a:lnTo>
                  <a:lnTo>
                    <a:pt x="0" y="385762"/>
                  </a:lnTo>
                  <a:lnTo>
                    <a:pt x="425450" y="385762"/>
                  </a:lnTo>
                  <a:lnTo>
                    <a:pt x="425450" y="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167376" y="4003611"/>
              <a:ext cx="425450" cy="386080"/>
            </a:xfrm>
            <a:custGeom>
              <a:avLst/>
              <a:gdLst/>
              <a:ahLst/>
              <a:cxnLst/>
              <a:rect l="l" t="t" r="r" b="b"/>
              <a:pathLst>
                <a:path w="425450" h="386079">
                  <a:moveTo>
                    <a:pt x="0" y="385762"/>
                  </a:moveTo>
                  <a:lnTo>
                    <a:pt x="425450" y="385762"/>
                  </a:lnTo>
                  <a:lnTo>
                    <a:pt x="425450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592826" y="4003611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4" h="386079">
                  <a:moveTo>
                    <a:pt x="427037" y="0"/>
                  </a:moveTo>
                  <a:lnTo>
                    <a:pt x="0" y="0"/>
                  </a:lnTo>
                  <a:lnTo>
                    <a:pt x="0" y="385762"/>
                  </a:lnTo>
                  <a:lnTo>
                    <a:pt x="427037" y="385762"/>
                  </a:lnTo>
                  <a:lnTo>
                    <a:pt x="427037" y="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592826" y="4003611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4" h="386079">
                  <a:moveTo>
                    <a:pt x="0" y="385762"/>
                  </a:moveTo>
                  <a:lnTo>
                    <a:pt x="427037" y="385762"/>
                  </a:lnTo>
                  <a:lnTo>
                    <a:pt x="427037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462401" y="4003611"/>
              <a:ext cx="852805" cy="386080"/>
            </a:xfrm>
            <a:custGeom>
              <a:avLst/>
              <a:gdLst/>
              <a:ahLst/>
              <a:cxnLst/>
              <a:rect l="l" t="t" r="r" b="b"/>
              <a:pathLst>
                <a:path w="852804" h="386079">
                  <a:moveTo>
                    <a:pt x="852487" y="0"/>
                  </a:moveTo>
                  <a:lnTo>
                    <a:pt x="425450" y="0"/>
                  </a:lnTo>
                  <a:lnTo>
                    <a:pt x="0" y="0"/>
                  </a:lnTo>
                  <a:lnTo>
                    <a:pt x="0" y="385762"/>
                  </a:lnTo>
                  <a:lnTo>
                    <a:pt x="425450" y="385762"/>
                  </a:lnTo>
                  <a:lnTo>
                    <a:pt x="852487" y="385762"/>
                  </a:lnTo>
                  <a:lnTo>
                    <a:pt x="852487" y="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887851" y="4003611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4" h="386079">
                  <a:moveTo>
                    <a:pt x="0" y="385762"/>
                  </a:moveTo>
                  <a:lnTo>
                    <a:pt x="427037" y="385762"/>
                  </a:lnTo>
                  <a:lnTo>
                    <a:pt x="427037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3462401" y="4003611"/>
            <a:ext cx="2557780" cy="38608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325"/>
              </a:spcBef>
              <a:tabLst>
                <a:tab pos="581025" algn="l"/>
                <a:tab pos="949325" algn="l"/>
                <a:tab pos="1376045" algn="l"/>
                <a:tab pos="1859914" algn="l"/>
                <a:tab pos="228663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6	9	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12	11	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3	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10540" y="6465214"/>
            <a:ext cx="1536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5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633718" y="3298316"/>
            <a:ext cx="96456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libri"/>
                <a:cs typeface="Calibri"/>
              </a:rPr>
              <a:t>Divide:</a:t>
            </a:r>
            <a:r>
              <a:rPr sz="1400" spc="229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O(1).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28570" marR="5080" indent="-2516505">
              <a:lnSpc>
                <a:spcPct val="100000"/>
              </a:lnSpc>
              <a:spcBef>
                <a:spcPts val="95"/>
              </a:spcBef>
              <a:tabLst>
                <a:tab pos="4434205" algn="l"/>
              </a:tabLst>
            </a:pPr>
            <a:r>
              <a:rPr spc="-10" dirty="0"/>
              <a:t>C</a:t>
            </a:r>
            <a:r>
              <a:rPr spc="5" dirty="0"/>
              <a:t>o</a:t>
            </a:r>
            <a:r>
              <a:rPr spc="-10" dirty="0"/>
              <a:t>u</a:t>
            </a:r>
            <a:r>
              <a:rPr spc="-35" dirty="0"/>
              <a:t>n</a:t>
            </a:r>
            <a:r>
              <a:rPr spc="-5" dirty="0"/>
              <a:t>ting</a:t>
            </a:r>
            <a:r>
              <a:rPr spc="-15" dirty="0"/>
              <a:t> </a:t>
            </a:r>
            <a:r>
              <a:rPr spc="-5" dirty="0"/>
              <a:t>I</a:t>
            </a:r>
            <a:r>
              <a:rPr spc="-75" dirty="0"/>
              <a:t>n</a:t>
            </a:r>
            <a:r>
              <a:rPr spc="-50" dirty="0"/>
              <a:t>v</a:t>
            </a:r>
            <a:r>
              <a:rPr spc="-5" dirty="0"/>
              <a:t>e</a:t>
            </a:r>
            <a:r>
              <a:rPr spc="-80" dirty="0"/>
              <a:t>r</a:t>
            </a:r>
            <a:r>
              <a:rPr spc="-10" dirty="0"/>
              <a:t>sions</a:t>
            </a:r>
            <a:r>
              <a:rPr spc="-5" dirty="0"/>
              <a:t>:</a:t>
            </a:r>
            <a:r>
              <a:rPr dirty="0"/>
              <a:t>	</a:t>
            </a:r>
            <a:r>
              <a:rPr spc="-10" dirty="0"/>
              <a:t>Di</a:t>
            </a:r>
            <a:r>
              <a:rPr spc="-25" dirty="0"/>
              <a:t>v</a:t>
            </a:r>
            <a:r>
              <a:rPr spc="-5" dirty="0"/>
              <a:t>id</a:t>
            </a:r>
            <a:r>
              <a:rPr spc="-20" dirty="0"/>
              <a:t>e</a:t>
            </a:r>
            <a:r>
              <a:rPr spc="-10" dirty="0"/>
              <a:t>-</a:t>
            </a:r>
            <a:r>
              <a:rPr spc="-5" dirty="0"/>
              <a:t>and-  Conquer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7044"/>
            <a:ext cx="7970520" cy="1640839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55575" indent="-143510">
              <a:lnSpc>
                <a:spcPct val="100000"/>
              </a:lnSpc>
              <a:spcBef>
                <a:spcPts val="894"/>
              </a:spcBef>
              <a:buSzPct val="96875"/>
              <a:buFont typeface="Arial MT"/>
              <a:buChar char="•"/>
              <a:tabLst>
                <a:tab pos="156210" algn="l"/>
              </a:tabLst>
            </a:pPr>
            <a:r>
              <a:rPr sz="3200" spc="-25" dirty="0">
                <a:latin typeface="Calibri"/>
                <a:cs typeface="Calibri"/>
              </a:rPr>
              <a:t>Divide-and-conquer.</a:t>
            </a:r>
            <a:endParaRPr sz="3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  <a:tab pos="1914525" algn="l"/>
              </a:tabLst>
            </a:pPr>
            <a:r>
              <a:rPr sz="2800" spc="-10" dirty="0">
                <a:latin typeface="Calibri"/>
                <a:cs typeface="Calibri"/>
              </a:rPr>
              <a:t>Divide:	</a:t>
            </a:r>
            <a:r>
              <a:rPr sz="2800" spc="-20" dirty="0">
                <a:latin typeface="Calibri"/>
                <a:cs typeface="Calibri"/>
              </a:rPr>
              <a:t>separate</a:t>
            </a:r>
            <a:r>
              <a:rPr sz="2800" spc="-15" dirty="0">
                <a:latin typeface="Calibri"/>
                <a:cs typeface="Calibri"/>
              </a:rPr>
              <a:t> list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two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pieces.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0" dirty="0">
                <a:solidFill>
                  <a:srgbClr val="4F81BC"/>
                </a:solidFill>
                <a:latin typeface="Calibri"/>
                <a:cs typeface="Calibri"/>
              </a:rPr>
              <a:t>Conquer</a:t>
            </a:r>
            <a:r>
              <a:rPr sz="2800" spc="-10" dirty="0">
                <a:latin typeface="Calibri"/>
                <a:cs typeface="Calibri"/>
              </a:rPr>
              <a:t>: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recursively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count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inversions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each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45" dirty="0">
                <a:latin typeface="Calibri"/>
                <a:cs typeface="Calibri"/>
              </a:rPr>
              <a:t>half.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33437" y="3316287"/>
            <a:ext cx="5121910" cy="398780"/>
            <a:chOff x="833437" y="3316287"/>
            <a:chExt cx="5121910" cy="398780"/>
          </a:xfrm>
        </p:grpSpPr>
        <p:sp>
          <p:nvSpPr>
            <p:cNvPr id="5" name="object 5"/>
            <p:cNvSpPr/>
            <p:nvPr/>
          </p:nvSpPr>
          <p:spPr>
            <a:xfrm>
              <a:off x="1685925" y="3322637"/>
              <a:ext cx="852805" cy="386080"/>
            </a:xfrm>
            <a:custGeom>
              <a:avLst/>
              <a:gdLst/>
              <a:ahLst/>
              <a:cxnLst/>
              <a:rect l="l" t="t" r="r" b="b"/>
              <a:pathLst>
                <a:path w="852805" h="386079">
                  <a:moveTo>
                    <a:pt x="852487" y="0"/>
                  </a:moveTo>
                  <a:lnTo>
                    <a:pt x="425450" y="0"/>
                  </a:lnTo>
                  <a:lnTo>
                    <a:pt x="0" y="0"/>
                  </a:lnTo>
                  <a:lnTo>
                    <a:pt x="0" y="385762"/>
                  </a:lnTo>
                  <a:lnTo>
                    <a:pt x="425450" y="385762"/>
                  </a:lnTo>
                  <a:lnTo>
                    <a:pt x="852487" y="385762"/>
                  </a:lnTo>
                  <a:lnTo>
                    <a:pt x="852487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11375" y="3322637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5" h="386079">
                  <a:moveTo>
                    <a:pt x="0" y="385762"/>
                  </a:moveTo>
                  <a:lnTo>
                    <a:pt x="427037" y="385762"/>
                  </a:lnTo>
                  <a:lnTo>
                    <a:pt x="427037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38476" y="3322637"/>
              <a:ext cx="425450" cy="386080"/>
            </a:xfrm>
            <a:custGeom>
              <a:avLst/>
              <a:gdLst/>
              <a:ahLst/>
              <a:cxnLst/>
              <a:rect l="l" t="t" r="r" b="b"/>
              <a:pathLst>
                <a:path w="425450" h="386079">
                  <a:moveTo>
                    <a:pt x="425450" y="0"/>
                  </a:moveTo>
                  <a:lnTo>
                    <a:pt x="0" y="0"/>
                  </a:lnTo>
                  <a:lnTo>
                    <a:pt x="0" y="385762"/>
                  </a:lnTo>
                  <a:lnTo>
                    <a:pt x="425450" y="385762"/>
                  </a:lnTo>
                  <a:lnTo>
                    <a:pt x="42545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38476" y="3322637"/>
              <a:ext cx="425450" cy="386080"/>
            </a:xfrm>
            <a:custGeom>
              <a:avLst/>
              <a:gdLst/>
              <a:ahLst/>
              <a:cxnLst/>
              <a:rect l="l" t="t" r="r" b="b"/>
              <a:pathLst>
                <a:path w="425450" h="386079">
                  <a:moveTo>
                    <a:pt x="0" y="385762"/>
                  </a:moveTo>
                  <a:lnTo>
                    <a:pt x="425450" y="385762"/>
                  </a:lnTo>
                  <a:lnTo>
                    <a:pt x="425450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63926" y="3322637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4" h="386079">
                  <a:moveTo>
                    <a:pt x="427037" y="0"/>
                  </a:moveTo>
                  <a:lnTo>
                    <a:pt x="0" y="0"/>
                  </a:lnTo>
                  <a:lnTo>
                    <a:pt x="0" y="385762"/>
                  </a:lnTo>
                  <a:lnTo>
                    <a:pt x="427037" y="385762"/>
                  </a:lnTo>
                  <a:lnTo>
                    <a:pt x="427037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63926" y="3322637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4" h="386079">
                  <a:moveTo>
                    <a:pt x="0" y="385762"/>
                  </a:moveTo>
                  <a:lnTo>
                    <a:pt x="427037" y="385762"/>
                  </a:lnTo>
                  <a:lnTo>
                    <a:pt x="427037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33437" y="3322637"/>
              <a:ext cx="852805" cy="386080"/>
            </a:xfrm>
            <a:custGeom>
              <a:avLst/>
              <a:gdLst/>
              <a:ahLst/>
              <a:cxnLst/>
              <a:rect l="l" t="t" r="r" b="b"/>
              <a:pathLst>
                <a:path w="852805" h="386079">
                  <a:moveTo>
                    <a:pt x="852487" y="0"/>
                  </a:moveTo>
                  <a:lnTo>
                    <a:pt x="425450" y="0"/>
                  </a:lnTo>
                  <a:lnTo>
                    <a:pt x="0" y="0"/>
                  </a:lnTo>
                  <a:lnTo>
                    <a:pt x="0" y="385762"/>
                  </a:lnTo>
                  <a:lnTo>
                    <a:pt x="425450" y="385762"/>
                  </a:lnTo>
                  <a:lnTo>
                    <a:pt x="852487" y="385762"/>
                  </a:lnTo>
                  <a:lnTo>
                    <a:pt x="852487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58887" y="3322637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5" h="386079">
                  <a:moveTo>
                    <a:pt x="0" y="385762"/>
                  </a:moveTo>
                  <a:lnTo>
                    <a:pt x="427037" y="385762"/>
                  </a:lnTo>
                  <a:lnTo>
                    <a:pt x="427037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390900" y="3322637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4" h="386079">
                  <a:moveTo>
                    <a:pt x="427037" y="0"/>
                  </a:moveTo>
                  <a:lnTo>
                    <a:pt x="0" y="0"/>
                  </a:lnTo>
                  <a:lnTo>
                    <a:pt x="0" y="385762"/>
                  </a:lnTo>
                  <a:lnTo>
                    <a:pt x="427037" y="385762"/>
                  </a:lnTo>
                  <a:lnTo>
                    <a:pt x="427037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390900" y="3322637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4" h="386079">
                  <a:moveTo>
                    <a:pt x="0" y="385762"/>
                  </a:moveTo>
                  <a:lnTo>
                    <a:pt x="427037" y="385762"/>
                  </a:lnTo>
                  <a:lnTo>
                    <a:pt x="427037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43451" y="3322637"/>
              <a:ext cx="852805" cy="386080"/>
            </a:xfrm>
            <a:custGeom>
              <a:avLst/>
              <a:gdLst/>
              <a:ahLst/>
              <a:cxnLst/>
              <a:rect l="l" t="t" r="r" b="b"/>
              <a:pathLst>
                <a:path w="852804" h="386079">
                  <a:moveTo>
                    <a:pt x="852424" y="0"/>
                  </a:moveTo>
                  <a:lnTo>
                    <a:pt x="427037" y="0"/>
                  </a:lnTo>
                  <a:lnTo>
                    <a:pt x="0" y="0"/>
                  </a:lnTo>
                  <a:lnTo>
                    <a:pt x="0" y="385762"/>
                  </a:lnTo>
                  <a:lnTo>
                    <a:pt x="426974" y="385762"/>
                  </a:lnTo>
                  <a:lnTo>
                    <a:pt x="852424" y="385762"/>
                  </a:lnTo>
                  <a:lnTo>
                    <a:pt x="852424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670425" y="3322637"/>
              <a:ext cx="425450" cy="386080"/>
            </a:xfrm>
            <a:custGeom>
              <a:avLst/>
              <a:gdLst/>
              <a:ahLst/>
              <a:cxnLst/>
              <a:rect l="l" t="t" r="r" b="b"/>
              <a:pathLst>
                <a:path w="425450" h="386079">
                  <a:moveTo>
                    <a:pt x="0" y="385762"/>
                  </a:moveTo>
                  <a:lnTo>
                    <a:pt x="425450" y="385762"/>
                  </a:lnTo>
                  <a:lnTo>
                    <a:pt x="425450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095875" y="3322637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4" h="386079">
                  <a:moveTo>
                    <a:pt x="427037" y="0"/>
                  </a:moveTo>
                  <a:lnTo>
                    <a:pt x="0" y="0"/>
                  </a:lnTo>
                  <a:lnTo>
                    <a:pt x="0" y="385762"/>
                  </a:lnTo>
                  <a:lnTo>
                    <a:pt x="427037" y="385762"/>
                  </a:lnTo>
                  <a:lnTo>
                    <a:pt x="427037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95875" y="3322637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4" h="386079">
                  <a:moveTo>
                    <a:pt x="0" y="385762"/>
                  </a:moveTo>
                  <a:lnTo>
                    <a:pt x="427037" y="385762"/>
                  </a:lnTo>
                  <a:lnTo>
                    <a:pt x="427037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522976" y="3322637"/>
              <a:ext cx="425450" cy="386080"/>
            </a:xfrm>
            <a:custGeom>
              <a:avLst/>
              <a:gdLst/>
              <a:ahLst/>
              <a:cxnLst/>
              <a:rect l="l" t="t" r="r" b="b"/>
              <a:pathLst>
                <a:path w="425450" h="386079">
                  <a:moveTo>
                    <a:pt x="425450" y="0"/>
                  </a:moveTo>
                  <a:lnTo>
                    <a:pt x="0" y="0"/>
                  </a:lnTo>
                  <a:lnTo>
                    <a:pt x="0" y="385762"/>
                  </a:lnTo>
                  <a:lnTo>
                    <a:pt x="425450" y="385762"/>
                  </a:lnTo>
                  <a:lnTo>
                    <a:pt x="42545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522976" y="3322637"/>
              <a:ext cx="425450" cy="386080"/>
            </a:xfrm>
            <a:custGeom>
              <a:avLst/>
              <a:gdLst/>
              <a:ahLst/>
              <a:cxnLst/>
              <a:rect l="l" t="t" r="r" b="b"/>
              <a:pathLst>
                <a:path w="425450" h="386079">
                  <a:moveTo>
                    <a:pt x="0" y="385762"/>
                  </a:moveTo>
                  <a:lnTo>
                    <a:pt x="425450" y="385762"/>
                  </a:lnTo>
                  <a:lnTo>
                    <a:pt x="425450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18001" y="3322637"/>
              <a:ext cx="425450" cy="386080"/>
            </a:xfrm>
            <a:custGeom>
              <a:avLst/>
              <a:gdLst/>
              <a:ahLst/>
              <a:cxnLst/>
              <a:rect l="l" t="t" r="r" b="b"/>
              <a:pathLst>
                <a:path w="425450" h="386079">
                  <a:moveTo>
                    <a:pt x="425450" y="0"/>
                  </a:moveTo>
                  <a:lnTo>
                    <a:pt x="0" y="0"/>
                  </a:lnTo>
                  <a:lnTo>
                    <a:pt x="0" y="385762"/>
                  </a:lnTo>
                  <a:lnTo>
                    <a:pt x="425450" y="385762"/>
                  </a:lnTo>
                  <a:lnTo>
                    <a:pt x="42545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18001" y="3322637"/>
              <a:ext cx="425450" cy="386080"/>
            </a:xfrm>
            <a:custGeom>
              <a:avLst/>
              <a:gdLst/>
              <a:ahLst/>
              <a:cxnLst/>
              <a:rect l="l" t="t" r="r" b="b"/>
              <a:pathLst>
                <a:path w="425450" h="386079">
                  <a:moveTo>
                    <a:pt x="0" y="385762"/>
                  </a:moveTo>
                  <a:lnTo>
                    <a:pt x="425450" y="385762"/>
                  </a:lnTo>
                  <a:lnTo>
                    <a:pt x="425450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833437" y="3322637"/>
            <a:ext cx="5115560" cy="38608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325"/>
              </a:spcBef>
              <a:tabLst>
                <a:tab pos="581025" algn="l"/>
                <a:tab pos="1007110" algn="l"/>
                <a:tab pos="1433830" algn="l"/>
                <a:tab pos="1802130" algn="l"/>
                <a:tab pos="2286000" algn="l"/>
                <a:tab pos="2713990" algn="l"/>
                <a:tab pos="3139440" algn="l"/>
                <a:tab pos="3507740" algn="l"/>
                <a:tab pos="3934460" algn="l"/>
                <a:tab pos="4418965" algn="l"/>
                <a:tab pos="4844415" algn="l"/>
              </a:tabLst>
            </a:pPr>
            <a:r>
              <a:rPr sz="1800" dirty="0">
                <a:latin typeface="Calibri"/>
                <a:cs typeface="Calibri"/>
              </a:rPr>
              <a:t>1	5	4	8	</a:t>
            </a:r>
            <a:r>
              <a:rPr sz="1800" spc="-5" dirty="0">
                <a:latin typeface="Calibri"/>
                <a:cs typeface="Calibri"/>
              </a:rPr>
              <a:t>10	</a:t>
            </a:r>
            <a:r>
              <a:rPr sz="1800" dirty="0">
                <a:latin typeface="Calibri"/>
                <a:cs typeface="Calibri"/>
              </a:rPr>
              <a:t>2	6	9	</a:t>
            </a:r>
            <a:r>
              <a:rPr sz="1800" spc="-5" dirty="0">
                <a:latin typeface="Calibri"/>
                <a:cs typeface="Calibri"/>
              </a:rPr>
              <a:t>12	11	</a:t>
            </a:r>
            <a:r>
              <a:rPr sz="1800" dirty="0">
                <a:latin typeface="Calibri"/>
                <a:cs typeface="Calibri"/>
              </a:rPr>
              <a:t>3	7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62000" y="3997261"/>
            <a:ext cx="2564130" cy="398780"/>
            <a:chOff x="762000" y="3997261"/>
            <a:chExt cx="2564130" cy="398780"/>
          </a:xfrm>
        </p:grpSpPr>
        <p:sp>
          <p:nvSpPr>
            <p:cNvPr id="25" name="object 25"/>
            <p:cNvSpPr/>
            <p:nvPr/>
          </p:nvSpPr>
          <p:spPr>
            <a:xfrm>
              <a:off x="1614551" y="4003611"/>
              <a:ext cx="852805" cy="386080"/>
            </a:xfrm>
            <a:custGeom>
              <a:avLst/>
              <a:gdLst/>
              <a:ahLst/>
              <a:cxnLst/>
              <a:rect l="l" t="t" r="r" b="b"/>
              <a:pathLst>
                <a:path w="852805" h="386079">
                  <a:moveTo>
                    <a:pt x="852424" y="0"/>
                  </a:moveTo>
                  <a:lnTo>
                    <a:pt x="427037" y="0"/>
                  </a:lnTo>
                  <a:lnTo>
                    <a:pt x="0" y="0"/>
                  </a:lnTo>
                  <a:lnTo>
                    <a:pt x="0" y="385762"/>
                  </a:lnTo>
                  <a:lnTo>
                    <a:pt x="426974" y="385762"/>
                  </a:lnTo>
                  <a:lnTo>
                    <a:pt x="852424" y="385762"/>
                  </a:lnTo>
                  <a:lnTo>
                    <a:pt x="852424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041525" y="4003611"/>
              <a:ext cx="425450" cy="386080"/>
            </a:xfrm>
            <a:custGeom>
              <a:avLst/>
              <a:gdLst/>
              <a:ahLst/>
              <a:cxnLst/>
              <a:rect l="l" t="t" r="r" b="b"/>
              <a:pathLst>
                <a:path w="425450" h="386079">
                  <a:moveTo>
                    <a:pt x="0" y="385762"/>
                  </a:moveTo>
                  <a:lnTo>
                    <a:pt x="425450" y="385762"/>
                  </a:lnTo>
                  <a:lnTo>
                    <a:pt x="425450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466975" y="4003611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5" h="386079">
                  <a:moveTo>
                    <a:pt x="427037" y="0"/>
                  </a:moveTo>
                  <a:lnTo>
                    <a:pt x="0" y="0"/>
                  </a:lnTo>
                  <a:lnTo>
                    <a:pt x="0" y="385762"/>
                  </a:lnTo>
                  <a:lnTo>
                    <a:pt x="427037" y="385762"/>
                  </a:lnTo>
                  <a:lnTo>
                    <a:pt x="427037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466975" y="4003611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5" h="386079">
                  <a:moveTo>
                    <a:pt x="0" y="385762"/>
                  </a:moveTo>
                  <a:lnTo>
                    <a:pt x="427037" y="385762"/>
                  </a:lnTo>
                  <a:lnTo>
                    <a:pt x="427037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894076" y="4003611"/>
              <a:ext cx="425450" cy="386080"/>
            </a:xfrm>
            <a:custGeom>
              <a:avLst/>
              <a:gdLst/>
              <a:ahLst/>
              <a:cxnLst/>
              <a:rect l="l" t="t" r="r" b="b"/>
              <a:pathLst>
                <a:path w="425450" h="386079">
                  <a:moveTo>
                    <a:pt x="425450" y="0"/>
                  </a:moveTo>
                  <a:lnTo>
                    <a:pt x="0" y="0"/>
                  </a:lnTo>
                  <a:lnTo>
                    <a:pt x="0" y="385762"/>
                  </a:lnTo>
                  <a:lnTo>
                    <a:pt x="425450" y="385762"/>
                  </a:lnTo>
                  <a:lnTo>
                    <a:pt x="425450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894076" y="4003611"/>
              <a:ext cx="425450" cy="386080"/>
            </a:xfrm>
            <a:custGeom>
              <a:avLst/>
              <a:gdLst/>
              <a:ahLst/>
              <a:cxnLst/>
              <a:rect l="l" t="t" r="r" b="b"/>
              <a:pathLst>
                <a:path w="425450" h="386079">
                  <a:moveTo>
                    <a:pt x="0" y="385762"/>
                  </a:moveTo>
                  <a:lnTo>
                    <a:pt x="425450" y="385762"/>
                  </a:lnTo>
                  <a:lnTo>
                    <a:pt x="425450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62000" y="4003611"/>
              <a:ext cx="852805" cy="386080"/>
            </a:xfrm>
            <a:custGeom>
              <a:avLst/>
              <a:gdLst/>
              <a:ahLst/>
              <a:cxnLst/>
              <a:rect l="l" t="t" r="r" b="b"/>
              <a:pathLst>
                <a:path w="852805" h="386079">
                  <a:moveTo>
                    <a:pt x="852487" y="0"/>
                  </a:moveTo>
                  <a:lnTo>
                    <a:pt x="427037" y="0"/>
                  </a:lnTo>
                  <a:lnTo>
                    <a:pt x="0" y="0"/>
                  </a:lnTo>
                  <a:lnTo>
                    <a:pt x="0" y="385762"/>
                  </a:lnTo>
                  <a:lnTo>
                    <a:pt x="427037" y="385762"/>
                  </a:lnTo>
                  <a:lnTo>
                    <a:pt x="852487" y="385762"/>
                  </a:lnTo>
                  <a:lnTo>
                    <a:pt x="852487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189037" y="4003611"/>
              <a:ext cx="425450" cy="386080"/>
            </a:xfrm>
            <a:custGeom>
              <a:avLst/>
              <a:gdLst/>
              <a:ahLst/>
              <a:cxnLst/>
              <a:rect l="l" t="t" r="r" b="b"/>
              <a:pathLst>
                <a:path w="425450" h="386079">
                  <a:moveTo>
                    <a:pt x="0" y="385762"/>
                  </a:moveTo>
                  <a:lnTo>
                    <a:pt x="425450" y="385762"/>
                  </a:lnTo>
                  <a:lnTo>
                    <a:pt x="425450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62000" y="4003611"/>
            <a:ext cx="2557780" cy="38608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325"/>
              </a:spcBef>
              <a:tabLst>
                <a:tab pos="581660" algn="l"/>
                <a:tab pos="1007744" algn="l"/>
                <a:tab pos="1433830" algn="l"/>
                <a:tab pos="1803400" algn="l"/>
                <a:tab pos="228663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	5	4	8	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10	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462401" y="3997261"/>
            <a:ext cx="2564130" cy="398780"/>
            <a:chOff x="3462401" y="3997261"/>
            <a:chExt cx="2564130" cy="398780"/>
          </a:xfrm>
        </p:grpSpPr>
        <p:sp>
          <p:nvSpPr>
            <p:cNvPr id="35" name="object 35"/>
            <p:cNvSpPr/>
            <p:nvPr/>
          </p:nvSpPr>
          <p:spPr>
            <a:xfrm>
              <a:off x="4314825" y="4003611"/>
              <a:ext cx="852805" cy="386080"/>
            </a:xfrm>
            <a:custGeom>
              <a:avLst/>
              <a:gdLst/>
              <a:ahLst/>
              <a:cxnLst/>
              <a:rect l="l" t="t" r="r" b="b"/>
              <a:pathLst>
                <a:path w="852804" h="386079">
                  <a:moveTo>
                    <a:pt x="852487" y="0"/>
                  </a:moveTo>
                  <a:lnTo>
                    <a:pt x="425450" y="0"/>
                  </a:lnTo>
                  <a:lnTo>
                    <a:pt x="0" y="0"/>
                  </a:lnTo>
                  <a:lnTo>
                    <a:pt x="0" y="385762"/>
                  </a:lnTo>
                  <a:lnTo>
                    <a:pt x="425450" y="385762"/>
                  </a:lnTo>
                  <a:lnTo>
                    <a:pt x="852487" y="385762"/>
                  </a:lnTo>
                  <a:lnTo>
                    <a:pt x="852487" y="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740275" y="4003611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4" h="386079">
                  <a:moveTo>
                    <a:pt x="0" y="385762"/>
                  </a:moveTo>
                  <a:lnTo>
                    <a:pt x="427037" y="385762"/>
                  </a:lnTo>
                  <a:lnTo>
                    <a:pt x="427037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167376" y="4003611"/>
              <a:ext cx="425450" cy="386080"/>
            </a:xfrm>
            <a:custGeom>
              <a:avLst/>
              <a:gdLst/>
              <a:ahLst/>
              <a:cxnLst/>
              <a:rect l="l" t="t" r="r" b="b"/>
              <a:pathLst>
                <a:path w="425450" h="386079">
                  <a:moveTo>
                    <a:pt x="425450" y="0"/>
                  </a:moveTo>
                  <a:lnTo>
                    <a:pt x="0" y="0"/>
                  </a:lnTo>
                  <a:lnTo>
                    <a:pt x="0" y="385762"/>
                  </a:lnTo>
                  <a:lnTo>
                    <a:pt x="425450" y="385762"/>
                  </a:lnTo>
                  <a:lnTo>
                    <a:pt x="425450" y="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167376" y="4003611"/>
              <a:ext cx="425450" cy="386080"/>
            </a:xfrm>
            <a:custGeom>
              <a:avLst/>
              <a:gdLst/>
              <a:ahLst/>
              <a:cxnLst/>
              <a:rect l="l" t="t" r="r" b="b"/>
              <a:pathLst>
                <a:path w="425450" h="386079">
                  <a:moveTo>
                    <a:pt x="0" y="385762"/>
                  </a:moveTo>
                  <a:lnTo>
                    <a:pt x="425450" y="385762"/>
                  </a:lnTo>
                  <a:lnTo>
                    <a:pt x="425450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592826" y="4003611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4" h="386079">
                  <a:moveTo>
                    <a:pt x="427037" y="0"/>
                  </a:moveTo>
                  <a:lnTo>
                    <a:pt x="0" y="0"/>
                  </a:lnTo>
                  <a:lnTo>
                    <a:pt x="0" y="385762"/>
                  </a:lnTo>
                  <a:lnTo>
                    <a:pt x="427037" y="385762"/>
                  </a:lnTo>
                  <a:lnTo>
                    <a:pt x="427037" y="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592826" y="4003611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4" h="386079">
                  <a:moveTo>
                    <a:pt x="0" y="385762"/>
                  </a:moveTo>
                  <a:lnTo>
                    <a:pt x="427037" y="385762"/>
                  </a:lnTo>
                  <a:lnTo>
                    <a:pt x="427037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462401" y="4003611"/>
              <a:ext cx="852805" cy="386080"/>
            </a:xfrm>
            <a:custGeom>
              <a:avLst/>
              <a:gdLst/>
              <a:ahLst/>
              <a:cxnLst/>
              <a:rect l="l" t="t" r="r" b="b"/>
              <a:pathLst>
                <a:path w="852804" h="386079">
                  <a:moveTo>
                    <a:pt x="852487" y="0"/>
                  </a:moveTo>
                  <a:lnTo>
                    <a:pt x="425450" y="0"/>
                  </a:lnTo>
                  <a:lnTo>
                    <a:pt x="0" y="0"/>
                  </a:lnTo>
                  <a:lnTo>
                    <a:pt x="0" y="385762"/>
                  </a:lnTo>
                  <a:lnTo>
                    <a:pt x="425450" y="385762"/>
                  </a:lnTo>
                  <a:lnTo>
                    <a:pt x="852487" y="385762"/>
                  </a:lnTo>
                  <a:lnTo>
                    <a:pt x="852487" y="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887851" y="4003611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4" h="386079">
                  <a:moveTo>
                    <a:pt x="0" y="385762"/>
                  </a:moveTo>
                  <a:lnTo>
                    <a:pt x="427037" y="385762"/>
                  </a:lnTo>
                  <a:lnTo>
                    <a:pt x="427037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3462401" y="4003611"/>
            <a:ext cx="2557780" cy="38608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325"/>
              </a:spcBef>
              <a:tabLst>
                <a:tab pos="581025" algn="l"/>
                <a:tab pos="949325" algn="l"/>
                <a:tab pos="1376045" algn="l"/>
                <a:tab pos="1859914" algn="l"/>
                <a:tab pos="228663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6	9	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12	11	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3	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10540" y="6465214"/>
            <a:ext cx="1536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6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095247" y="4441316"/>
            <a:ext cx="16103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5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blue-blue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inversions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894835" y="4441316"/>
            <a:ext cx="18046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8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green-green </a:t>
            </a:r>
            <a:r>
              <a:rPr sz="1400" spc="-10" dirty="0">
                <a:latin typeface="Calibri"/>
                <a:cs typeface="Calibri"/>
              </a:rPr>
              <a:t>inversions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633718" y="3298316"/>
            <a:ext cx="96456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libri"/>
                <a:cs typeface="Calibri"/>
              </a:rPr>
              <a:t>Divide:</a:t>
            </a:r>
            <a:r>
              <a:rPr sz="1400" spc="229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O(1).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633718" y="4076191"/>
            <a:ext cx="1389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Conquer:</a:t>
            </a:r>
            <a:r>
              <a:rPr sz="1400" spc="28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2T(n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/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2)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41654" y="4821377"/>
            <a:ext cx="162496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libri"/>
                <a:cs typeface="Calibri"/>
              </a:rPr>
              <a:t>5-4,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5-2, 4-2,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8-2,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10-2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280409" y="4831207"/>
            <a:ext cx="30365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6-3,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9-3,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9-7,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12-3, </a:t>
            </a:r>
            <a:r>
              <a:rPr sz="1400" dirty="0">
                <a:latin typeface="Calibri"/>
                <a:cs typeface="Calibri"/>
              </a:rPr>
              <a:t>12-7,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12-11,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11-3, 11-7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28570" marR="5080" indent="-2516505">
              <a:lnSpc>
                <a:spcPct val="100000"/>
              </a:lnSpc>
              <a:spcBef>
                <a:spcPts val="95"/>
              </a:spcBef>
              <a:tabLst>
                <a:tab pos="4434205" algn="l"/>
              </a:tabLst>
            </a:pPr>
            <a:r>
              <a:rPr spc="-10" dirty="0"/>
              <a:t>C</a:t>
            </a:r>
            <a:r>
              <a:rPr spc="5" dirty="0"/>
              <a:t>o</a:t>
            </a:r>
            <a:r>
              <a:rPr spc="-10" dirty="0"/>
              <a:t>u</a:t>
            </a:r>
            <a:r>
              <a:rPr spc="-35" dirty="0"/>
              <a:t>n</a:t>
            </a:r>
            <a:r>
              <a:rPr spc="-5" dirty="0"/>
              <a:t>ting</a:t>
            </a:r>
            <a:r>
              <a:rPr spc="-15" dirty="0"/>
              <a:t> </a:t>
            </a:r>
            <a:r>
              <a:rPr spc="-5" dirty="0"/>
              <a:t>I</a:t>
            </a:r>
            <a:r>
              <a:rPr spc="-75" dirty="0"/>
              <a:t>n</a:t>
            </a:r>
            <a:r>
              <a:rPr spc="-50" dirty="0"/>
              <a:t>v</a:t>
            </a:r>
            <a:r>
              <a:rPr spc="-5" dirty="0"/>
              <a:t>e</a:t>
            </a:r>
            <a:r>
              <a:rPr spc="-80" dirty="0"/>
              <a:t>r</a:t>
            </a:r>
            <a:r>
              <a:rPr spc="-10" dirty="0"/>
              <a:t>sions</a:t>
            </a:r>
            <a:r>
              <a:rPr spc="-5" dirty="0"/>
              <a:t>:</a:t>
            </a:r>
            <a:r>
              <a:rPr dirty="0"/>
              <a:t>	</a:t>
            </a:r>
            <a:r>
              <a:rPr spc="-10" dirty="0"/>
              <a:t>Di</a:t>
            </a:r>
            <a:r>
              <a:rPr spc="-25" dirty="0"/>
              <a:t>v</a:t>
            </a:r>
            <a:r>
              <a:rPr spc="-5" dirty="0"/>
              <a:t>id</a:t>
            </a:r>
            <a:r>
              <a:rPr spc="-20" dirty="0"/>
              <a:t>e</a:t>
            </a:r>
            <a:r>
              <a:rPr spc="-10" dirty="0"/>
              <a:t>-</a:t>
            </a:r>
            <a:r>
              <a:rPr spc="-5" dirty="0"/>
              <a:t>and-  Conquer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3240" y="1563367"/>
            <a:ext cx="7905750" cy="161734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06045" indent="-81280">
              <a:lnSpc>
                <a:spcPct val="100000"/>
              </a:lnSpc>
              <a:spcBef>
                <a:spcPts val="530"/>
              </a:spcBef>
              <a:buSzPct val="94444"/>
              <a:buFont typeface="Arial MT"/>
              <a:buChar char="•"/>
              <a:tabLst>
                <a:tab pos="106680" algn="l"/>
              </a:tabLst>
            </a:pPr>
            <a:r>
              <a:rPr sz="1800" spc="-15" dirty="0">
                <a:latin typeface="Calibri"/>
                <a:cs typeface="Calibri"/>
              </a:rPr>
              <a:t>Divide-and-conquer.</a:t>
            </a:r>
            <a:endParaRPr sz="1800">
              <a:latin typeface="Calibri"/>
              <a:cs typeface="Calibri"/>
            </a:endParaRPr>
          </a:p>
          <a:p>
            <a:pPr marL="768985" lvl="1" indent="-287020">
              <a:lnSpc>
                <a:spcPct val="100000"/>
              </a:lnSpc>
              <a:spcBef>
                <a:spcPts val="434"/>
              </a:spcBef>
              <a:buFont typeface="Arial MT"/>
              <a:buChar char="–"/>
              <a:tabLst>
                <a:tab pos="768985" algn="l"/>
                <a:tab pos="769620" algn="l"/>
              </a:tabLst>
            </a:pPr>
            <a:r>
              <a:rPr sz="1800" spc="-5" dirty="0">
                <a:latin typeface="Calibri"/>
                <a:cs typeface="Calibri"/>
              </a:rPr>
              <a:t>Divide: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separate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list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into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two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pieces.</a:t>
            </a:r>
            <a:endParaRPr sz="1800">
              <a:latin typeface="Calibri"/>
              <a:cs typeface="Calibri"/>
            </a:endParaRPr>
          </a:p>
          <a:p>
            <a:pPr marL="768985" lvl="1" indent="-287020">
              <a:lnSpc>
                <a:spcPct val="100000"/>
              </a:lnSpc>
              <a:spcBef>
                <a:spcPts val="434"/>
              </a:spcBef>
              <a:buFont typeface="Arial MT"/>
              <a:buChar char="–"/>
              <a:tabLst>
                <a:tab pos="768985" algn="l"/>
                <a:tab pos="769620" algn="l"/>
              </a:tabLst>
            </a:pPr>
            <a:r>
              <a:rPr sz="1800" spc="-5" dirty="0">
                <a:latin typeface="Calibri"/>
                <a:cs typeface="Calibri"/>
              </a:rPr>
              <a:t>Conquer: </a:t>
            </a:r>
            <a:r>
              <a:rPr sz="1800" spc="-10" dirty="0">
                <a:latin typeface="Calibri"/>
                <a:cs typeface="Calibri"/>
              </a:rPr>
              <a:t>recursively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count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inversions </a:t>
            </a:r>
            <a:r>
              <a:rPr sz="1800" spc="-5" dirty="0">
                <a:latin typeface="Calibri"/>
                <a:cs typeface="Calibri"/>
              </a:rPr>
              <a:t>in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each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30" dirty="0">
                <a:latin typeface="Calibri"/>
                <a:cs typeface="Calibri"/>
              </a:rPr>
              <a:t>half.</a:t>
            </a:r>
            <a:endParaRPr sz="1800">
              <a:latin typeface="Calibri"/>
              <a:cs typeface="Calibri"/>
            </a:endParaRPr>
          </a:p>
          <a:p>
            <a:pPr marL="768985" marR="55880" lvl="1" indent="-287020">
              <a:lnSpc>
                <a:spcPct val="100000"/>
              </a:lnSpc>
              <a:spcBef>
                <a:spcPts val="430"/>
              </a:spcBef>
              <a:buFont typeface="Arial MT"/>
              <a:buChar char="–"/>
              <a:tabLst>
                <a:tab pos="768985" algn="l"/>
                <a:tab pos="769620" algn="l"/>
              </a:tabLst>
            </a:pPr>
            <a:r>
              <a:rPr sz="1800" spc="-5" dirty="0">
                <a:solidFill>
                  <a:srgbClr val="4F81BC"/>
                </a:solidFill>
                <a:latin typeface="Calibri"/>
                <a:cs typeface="Calibri"/>
              </a:rPr>
              <a:t>Combine</a:t>
            </a:r>
            <a:r>
              <a:rPr sz="1800" spc="-5" dirty="0">
                <a:latin typeface="Calibri"/>
                <a:cs typeface="Calibri"/>
              </a:rPr>
              <a:t>: </a:t>
            </a:r>
            <a:r>
              <a:rPr sz="1800" spc="-10" dirty="0">
                <a:latin typeface="Calibri"/>
                <a:cs typeface="Calibri"/>
              </a:rPr>
              <a:t>count inversions </a:t>
            </a:r>
            <a:r>
              <a:rPr sz="1800" spc="-5" dirty="0">
                <a:latin typeface="Calibri"/>
                <a:cs typeface="Calibri"/>
              </a:rPr>
              <a:t>where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baseline="-20833" dirty="0">
                <a:latin typeface="Calibri"/>
                <a:cs typeface="Calibri"/>
              </a:rPr>
              <a:t>i</a:t>
            </a:r>
            <a:r>
              <a:rPr sz="1800" spc="7" baseline="-20833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 a</a:t>
            </a:r>
            <a:r>
              <a:rPr sz="1800" baseline="-20833" dirty="0">
                <a:latin typeface="Calibri"/>
                <a:cs typeface="Calibri"/>
              </a:rPr>
              <a:t>j</a:t>
            </a:r>
            <a:r>
              <a:rPr sz="1800" spc="7" baseline="-20833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are </a:t>
            </a:r>
            <a:r>
              <a:rPr sz="1800" spc="-5" dirty="0">
                <a:latin typeface="Calibri"/>
                <a:cs typeface="Calibri"/>
              </a:rPr>
              <a:t>in </a:t>
            </a:r>
            <a:r>
              <a:rPr sz="1800" spc="-15" dirty="0">
                <a:latin typeface="Calibri"/>
                <a:cs typeface="Calibri"/>
              </a:rPr>
              <a:t>different </a:t>
            </a:r>
            <a:r>
              <a:rPr sz="1800" spc="-5" dirty="0">
                <a:latin typeface="Calibri"/>
                <a:cs typeface="Calibri"/>
              </a:rPr>
              <a:t>halves, </a:t>
            </a:r>
            <a:r>
              <a:rPr sz="1800" dirty="0">
                <a:latin typeface="Calibri"/>
                <a:cs typeface="Calibri"/>
              </a:rPr>
              <a:t>and </a:t>
            </a:r>
            <a:r>
              <a:rPr sz="1800" spc="-10" dirty="0">
                <a:latin typeface="Calibri"/>
                <a:cs typeface="Calibri"/>
              </a:rPr>
              <a:t>return </a:t>
            </a:r>
            <a:r>
              <a:rPr sz="1800" spc="-4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sum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 </a:t>
            </a:r>
            <a:r>
              <a:rPr sz="1800" spc="-10" dirty="0">
                <a:latin typeface="Calibri"/>
                <a:cs typeface="Calibri"/>
              </a:rPr>
              <a:t>three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quantities.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33437" y="3316287"/>
            <a:ext cx="5121910" cy="398780"/>
            <a:chOff x="833437" y="3316287"/>
            <a:chExt cx="5121910" cy="398780"/>
          </a:xfrm>
        </p:grpSpPr>
        <p:sp>
          <p:nvSpPr>
            <p:cNvPr id="5" name="object 5"/>
            <p:cNvSpPr/>
            <p:nvPr/>
          </p:nvSpPr>
          <p:spPr>
            <a:xfrm>
              <a:off x="1685925" y="3322637"/>
              <a:ext cx="852805" cy="386080"/>
            </a:xfrm>
            <a:custGeom>
              <a:avLst/>
              <a:gdLst/>
              <a:ahLst/>
              <a:cxnLst/>
              <a:rect l="l" t="t" r="r" b="b"/>
              <a:pathLst>
                <a:path w="852805" h="386079">
                  <a:moveTo>
                    <a:pt x="852487" y="0"/>
                  </a:moveTo>
                  <a:lnTo>
                    <a:pt x="425450" y="0"/>
                  </a:lnTo>
                  <a:lnTo>
                    <a:pt x="0" y="0"/>
                  </a:lnTo>
                  <a:lnTo>
                    <a:pt x="0" y="385762"/>
                  </a:lnTo>
                  <a:lnTo>
                    <a:pt x="425450" y="385762"/>
                  </a:lnTo>
                  <a:lnTo>
                    <a:pt x="852487" y="385762"/>
                  </a:lnTo>
                  <a:lnTo>
                    <a:pt x="852487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11375" y="3322637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5" h="386079">
                  <a:moveTo>
                    <a:pt x="0" y="385762"/>
                  </a:moveTo>
                  <a:lnTo>
                    <a:pt x="427037" y="385762"/>
                  </a:lnTo>
                  <a:lnTo>
                    <a:pt x="427037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38476" y="3322637"/>
              <a:ext cx="425450" cy="386080"/>
            </a:xfrm>
            <a:custGeom>
              <a:avLst/>
              <a:gdLst/>
              <a:ahLst/>
              <a:cxnLst/>
              <a:rect l="l" t="t" r="r" b="b"/>
              <a:pathLst>
                <a:path w="425450" h="386079">
                  <a:moveTo>
                    <a:pt x="425450" y="0"/>
                  </a:moveTo>
                  <a:lnTo>
                    <a:pt x="0" y="0"/>
                  </a:lnTo>
                  <a:lnTo>
                    <a:pt x="0" y="385762"/>
                  </a:lnTo>
                  <a:lnTo>
                    <a:pt x="425450" y="385762"/>
                  </a:lnTo>
                  <a:lnTo>
                    <a:pt x="42545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38476" y="3322637"/>
              <a:ext cx="425450" cy="386080"/>
            </a:xfrm>
            <a:custGeom>
              <a:avLst/>
              <a:gdLst/>
              <a:ahLst/>
              <a:cxnLst/>
              <a:rect l="l" t="t" r="r" b="b"/>
              <a:pathLst>
                <a:path w="425450" h="386079">
                  <a:moveTo>
                    <a:pt x="0" y="385762"/>
                  </a:moveTo>
                  <a:lnTo>
                    <a:pt x="425450" y="385762"/>
                  </a:lnTo>
                  <a:lnTo>
                    <a:pt x="425450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63926" y="3322637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4" h="386079">
                  <a:moveTo>
                    <a:pt x="427037" y="0"/>
                  </a:moveTo>
                  <a:lnTo>
                    <a:pt x="0" y="0"/>
                  </a:lnTo>
                  <a:lnTo>
                    <a:pt x="0" y="385762"/>
                  </a:lnTo>
                  <a:lnTo>
                    <a:pt x="427037" y="385762"/>
                  </a:lnTo>
                  <a:lnTo>
                    <a:pt x="427037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63926" y="3322637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4" h="386079">
                  <a:moveTo>
                    <a:pt x="0" y="385762"/>
                  </a:moveTo>
                  <a:lnTo>
                    <a:pt x="427037" y="385762"/>
                  </a:lnTo>
                  <a:lnTo>
                    <a:pt x="427037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33437" y="3322637"/>
              <a:ext cx="852805" cy="386080"/>
            </a:xfrm>
            <a:custGeom>
              <a:avLst/>
              <a:gdLst/>
              <a:ahLst/>
              <a:cxnLst/>
              <a:rect l="l" t="t" r="r" b="b"/>
              <a:pathLst>
                <a:path w="852805" h="386079">
                  <a:moveTo>
                    <a:pt x="852487" y="0"/>
                  </a:moveTo>
                  <a:lnTo>
                    <a:pt x="425450" y="0"/>
                  </a:lnTo>
                  <a:lnTo>
                    <a:pt x="0" y="0"/>
                  </a:lnTo>
                  <a:lnTo>
                    <a:pt x="0" y="385762"/>
                  </a:lnTo>
                  <a:lnTo>
                    <a:pt x="425450" y="385762"/>
                  </a:lnTo>
                  <a:lnTo>
                    <a:pt x="852487" y="385762"/>
                  </a:lnTo>
                  <a:lnTo>
                    <a:pt x="852487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58887" y="3322637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5" h="386079">
                  <a:moveTo>
                    <a:pt x="0" y="385762"/>
                  </a:moveTo>
                  <a:lnTo>
                    <a:pt x="427037" y="385762"/>
                  </a:lnTo>
                  <a:lnTo>
                    <a:pt x="427037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390900" y="3322637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4" h="386079">
                  <a:moveTo>
                    <a:pt x="427037" y="0"/>
                  </a:moveTo>
                  <a:lnTo>
                    <a:pt x="0" y="0"/>
                  </a:lnTo>
                  <a:lnTo>
                    <a:pt x="0" y="385762"/>
                  </a:lnTo>
                  <a:lnTo>
                    <a:pt x="427037" y="385762"/>
                  </a:lnTo>
                  <a:lnTo>
                    <a:pt x="427037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390900" y="3322637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4" h="386079">
                  <a:moveTo>
                    <a:pt x="0" y="385762"/>
                  </a:moveTo>
                  <a:lnTo>
                    <a:pt x="427037" y="385762"/>
                  </a:lnTo>
                  <a:lnTo>
                    <a:pt x="427037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43451" y="3322637"/>
              <a:ext cx="852805" cy="386080"/>
            </a:xfrm>
            <a:custGeom>
              <a:avLst/>
              <a:gdLst/>
              <a:ahLst/>
              <a:cxnLst/>
              <a:rect l="l" t="t" r="r" b="b"/>
              <a:pathLst>
                <a:path w="852804" h="386079">
                  <a:moveTo>
                    <a:pt x="852424" y="0"/>
                  </a:moveTo>
                  <a:lnTo>
                    <a:pt x="427037" y="0"/>
                  </a:lnTo>
                  <a:lnTo>
                    <a:pt x="0" y="0"/>
                  </a:lnTo>
                  <a:lnTo>
                    <a:pt x="0" y="385762"/>
                  </a:lnTo>
                  <a:lnTo>
                    <a:pt x="426974" y="385762"/>
                  </a:lnTo>
                  <a:lnTo>
                    <a:pt x="852424" y="385762"/>
                  </a:lnTo>
                  <a:lnTo>
                    <a:pt x="852424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670425" y="3322637"/>
              <a:ext cx="425450" cy="386080"/>
            </a:xfrm>
            <a:custGeom>
              <a:avLst/>
              <a:gdLst/>
              <a:ahLst/>
              <a:cxnLst/>
              <a:rect l="l" t="t" r="r" b="b"/>
              <a:pathLst>
                <a:path w="425450" h="386079">
                  <a:moveTo>
                    <a:pt x="0" y="385762"/>
                  </a:moveTo>
                  <a:lnTo>
                    <a:pt x="425450" y="385762"/>
                  </a:lnTo>
                  <a:lnTo>
                    <a:pt x="425450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095875" y="3322637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4" h="386079">
                  <a:moveTo>
                    <a:pt x="427037" y="0"/>
                  </a:moveTo>
                  <a:lnTo>
                    <a:pt x="0" y="0"/>
                  </a:lnTo>
                  <a:lnTo>
                    <a:pt x="0" y="385762"/>
                  </a:lnTo>
                  <a:lnTo>
                    <a:pt x="427037" y="385762"/>
                  </a:lnTo>
                  <a:lnTo>
                    <a:pt x="427037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095875" y="3322637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4" h="386079">
                  <a:moveTo>
                    <a:pt x="0" y="385762"/>
                  </a:moveTo>
                  <a:lnTo>
                    <a:pt x="427037" y="385762"/>
                  </a:lnTo>
                  <a:lnTo>
                    <a:pt x="427037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522976" y="3322637"/>
              <a:ext cx="425450" cy="386080"/>
            </a:xfrm>
            <a:custGeom>
              <a:avLst/>
              <a:gdLst/>
              <a:ahLst/>
              <a:cxnLst/>
              <a:rect l="l" t="t" r="r" b="b"/>
              <a:pathLst>
                <a:path w="425450" h="386079">
                  <a:moveTo>
                    <a:pt x="425450" y="0"/>
                  </a:moveTo>
                  <a:lnTo>
                    <a:pt x="0" y="0"/>
                  </a:lnTo>
                  <a:lnTo>
                    <a:pt x="0" y="385762"/>
                  </a:lnTo>
                  <a:lnTo>
                    <a:pt x="425450" y="385762"/>
                  </a:lnTo>
                  <a:lnTo>
                    <a:pt x="42545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522976" y="3322637"/>
              <a:ext cx="425450" cy="386080"/>
            </a:xfrm>
            <a:custGeom>
              <a:avLst/>
              <a:gdLst/>
              <a:ahLst/>
              <a:cxnLst/>
              <a:rect l="l" t="t" r="r" b="b"/>
              <a:pathLst>
                <a:path w="425450" h="386079">
                  <a:moveTo>
                    <a:pt x="0" y="385762"/>
                  </a:moveTo>
                  <a:lnTo>
                    <a:pt x="425450" y="385762"/>
                  </a:lnTo>
                  <a:lnTo>
                    <a:pt x="425450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18001" y="3322637"/>
              <a:ext cx="425450" cy="386080"/>
            </a:xfrm>
            <a:custGeom>
              <a:avLst/>
              <a:gdLst/>
              <a:ahLst/>
              <a:cxnLst/>
              <a:rect l="l" t="t" r="r" b="b"/>
              <a:pathLst>
                <a:path w="425450" h="386079">
                  <a:moveTo>
                    <a:pt x="425450" y="0"/>
                  </a:moveTo>
                  <a:lnTo>
                    <a:pt x="0" y="0"/>
                  </a:lnTo>
                  <a:lnTo>
                    <a:pt x="0" y="385762"/>
                  </a:lnTo>
                  <a:lnTo>
                    <a:pt x="425450" y="385762"/>
                  </a:lnTo>
                  <a:lnTo>
                    <a:pt x="42545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18001" y="3322637"/>
              <a:ext cx="425450" cy="386080"/>
            </a:xfrm>
            <a:custGeom>
              <a:avLst/>
              <a:gdLst/>
              <a:ahLst/>
              <a:cxnLst/>
              <a:rect l="l" t="t" r="r" b="b"/>
              <a:pathLst>
                <a:path w="425450" h="386079">
                  <a:moveTo>
                    <a:pt x="0" y="385762"/>
                  </a:moveTo>
                  <a:lnTo>
                    <a:pt x="425450" y="385762"/>
                  </a:lnTo>
                  <a:lnTo>
                    <a:pt x="425450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833437" y="3322637"/>
            <a:ext cx="5115560" cy="38608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325"/>
              </a:spcBef>
              <a:tabLst>
                <a:tab pos="581025" algn="l"/>
                <a:tab pos="1007110" algn="l"/>
                <a:tab pos="1433830" algn="l"/>
                <a:tab pos="1802130" algn="l"/>
                <a:tab pos="2286000" algn="l"/>
                <a:tab pos="2713990" algn="l"/>
                <a:tab pos="3139440" algn="l"/>
                <a:tab pos="3507740" algn="l"/>
                <a:tab pos="3934460" algn="l"/>
                <a:tab pos="4418965" algn="l"/>
                <a:tab pos="4844415" algn="l"/>
              </a:tabLst>
            </a:pPr>
            <a:r>
              <a:rPr sz="1800" dirty="0">
                <a:latin typeface="Calibri"/>
                <a:cs typeface="Calibri"/>
              </a:rPr>
              <a:t>1	5	4	8	</a:t>
            </a:r>
            <a:r>
              <a:rPr sz="1800" spc="-5" dirty="0">
                <a:latin typeface="Calibri"/>
                <a:cs typeface="Calibri"/>
              </a:rPr>
              <a:t>10	</a:t>
            </a:r>
            <a:r>
              <a:rPr sz="1800" dirty="0">
                <a:latin typeface="Calibri"/>
                <a:cs typeface="Calibri"/>
              </a:rPr>
              <a:t>2	6	9	</a:t>
            </a:r>
            <a:r>
              <a:rPr sz="1800" spc="-5" dirty="0">
                <a:latin typeface="Calibri"/>
                <a:cs typeface="Calibri"/>
              </a:rPr>
              <a:t>12	11	</a:t>
            </a:r>
            <a:r>
              <a:rPr sz="1800" dirty="0">
                <a:latin typeface="Calibri"/>
                <a:cs typeface="Calibri"/>
              </a:rPr>
              <a:t>3	7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62000" y="3997261"/>
            <a:ext cx="2564130" cy="398780"/>
            <a:chOff x="762000" y="3997261"/>
            <a:chExt cx="2564130" cy="398780"/>
          </a:xfrm>
        </p:grpSpPr>
        <p:sp>
          <p:nvSpPr>
            <p:cNvPr id="25" name="object 25"/>
            <p:cNvSpPr/>
            <p:nvPr/>
          </p:nvSpPr>
          <p:spPr>
            <a:xfrm>
              <a:off x="1614551" y="4003611"/>
              <a:ext cx="852805" cy="386080"/>
            </a:xfrm>
            <a:custGeom>
              <a:avLst/>
              <a:gdLst/>
              <a:ahLst/>
              <a:cxnLst/>
              <a:rect l="l" t="t" r="r" b="b"/>
              <a:pathLst>
                <a:path w="852805" h="386079">
                  <a:moveTo>
                    <a:pt x="852424" y="0"/>
                  </a:moveTo>
                  <a:lnTo>
                    <a:pt x="427037" y="0"/>
                  </a:lnTo>
                  <a:lnTo>
                    <a:pt x="0" y="0"/>
                  </a:lnTo>
                  <a:lnTo>
                    <a:pt x="0" y="385762"/>
                  </a:lnTo>
                  <a:lnTo>
                    <a:pt x="426974" y="385762"/>
                  </a:lnTo>
                  <a:lnTo>
                    <a:pt x="852424" y="385762"/>
                  </a:lnTo>
                  <a:lnTo>
                    <a:pt x="852424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041525" y="4003611"/>
              <a:ext cx="425450" cy="386080"/>
            </a:xfrm>
            <a:custGeom>
              <a:avLst/>
              <a:gdLst/>
              <a:ahLst/>
              <a:cxnLst/>
              <a:rect l="l" t="t" r="r" b="b"/>
              <a:pathLst>
                <a:path w="425450" h="386079">
                  <a:moveTo>
                    <a:pt x="0" y="385762"/>
                  </a:moveTo>
                  <a:lnTo>
                    <a:pt x="425450" y="385762"/>
                  </a:lnTo>
                  <a:lnTo>
                    <a:pt x="425450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466975" y="4003611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5" h="386079">
                  <a:moveTo>
                    <a:pt x="427037" y="0"/>
                  </a:moveTo>
                  <a:lnTo>
                    <a:pt x="0" y="0"/>
                  </a:lnTo>
                  <a:lnTo>
                    <a:pt x="0" y="385762"/>
                  </a:lnTo>
                  <a:lnTo>
                    <a:pt x="427037" y="385762"/>
                  </a:lnTo>
                  <a:lnTo>
                    <a:pt x="427037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466975" y="4003611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5" h="386079">
                  <a:moveTo>
                    <a:pt x="0" y="385762"/>
                  </a:moveTo>
                  <a:lnTo>
                    <a:pt x="427037" y="385762"/>
                  </a:lnTo>
                  <a:lnTo>
                    <a:pt x="427037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894076" y="4003611"/>
              <a:ext cx="425450" cy="386080"/>
            </a:xfrm>
            <a:custGeom>
              <a:avLst/>
              <a:gdLst/>
              <a:ahLst/>
              <a:cxnLst/>
              <a:rect l="l" t="t" r="r" b="b"/>
              <a:pathLst>
                <a:path w="425450" h="386079">
                  <a:moveTo>
                    <a:pt x="425450" y="0"/>
                  </a:moveTo>
                  <a:lnTo>
                    <a:pt x="0" y="0"/>
                  </a:lnTo>
                  <a:lnTo>
                    <a:pt x="0" y="385762"/>
                  </a:lnTo>
                  <a:lnTo>
                    <a:pt x="425450" y="385762"/>
                  </a:lnTo>
                  <a:lnTo>
                    <a:pt x="425450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894076" y="4003611"/>
              <a:ext cx="425450" cy="386080"/>
            </a:xfrm>
            <a:custGeom>
              <a:avLst/>
              <a:gdLst/>
              <a:ahLst/>
              <a:cxnLst/>
              <a:rect l="l" t="t" r="r" b="b"/>
              <a:pathLst>
                <a:path w="425450" h="386079">
                  <a:moveTo>
                    <a:pt x="0" y="385762"/>
                  </a:moveTo>
                  <a:lnTo>
                    <a:pt x="425450" y="385762"/>
                  </a:lnTo>
                  <a:lnTo>
                    <a:pt x="425450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62000" y="4003611"/>
              <a:ext cx="852805" cy="386080"/>
            </a:xfrm>
            <a:custGeom>
              <a:avLst/>
              <a:gdLst/>
              <a:ahLst/>
              <a:cxnLst/>
              <a:rect l="l" t="t" r="r" b="b"/>
              <a:pathLst>
                <a:path w="852805" h="386079">
                  <a:moveTo>
                    <a:pt x="852487" y="0"/>
                  </a:moveTo>
                  <a:lnTo>
                    <a:pt x="427037" y="0"/>
                  </a:lnTo>
                  <a:lnTo>
                    <a:pt x="0" y="0"/>
                  </a:lnTo>
                  <a:lnTo>
                    <a:pt x="0" y="385762"/>
                  </a:lnTo>
                  <a:lnTo>
                    <a:pt x="427037" y="385762"/>
                  </a:lnTo>
                  <a:lnTo>
                    <a:pt x="852487" y="385762"/>
                  </a:lnTo>
                  <a:lnTo>
                    <a:pt x="852487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189037" y="4003611"/>
              <a:ext cx="425450" cy="386080"/>
            </a:xfrm>
            <a:custGeom>
              <a:avLst/>
              <a:gdLst/>
              <a:ahLst/>
              <a:cxnLst/>
              <a:rect l="l" t="t" r="r" b="b"/>
              <a:pathLst>
                <a:path w="425450" h="386079">
                  <a:moveTo>
                    <a:pt x="0" y="385762"/>
                  </a:moveTo>
                  <a:lnTo>
                    <a:pt x="425450" y="385762"/>
                  </a:lnTo>
                  <a:lnTo>
                    <a:pt x="425450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62000" y="4003611"/>
            <a:ext cx="2557780" cy="38608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325"/>
              </a:spcBef>
              <a:tabLst>
                <a:tab pos="581660" algn="l"/>
                <a:tab pos="1007744" algn="l"/>
                <a:tab pos="1433830" algn="l"/>
                <a:tab pos="1803400" algn="l"/>
                <a:tab pos="228663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	5	4	8	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10	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462401" y="3997261"/>
            <a:ext cx="2564130" cy="398780"/>
            <a:chOff x="3462401" y="3997261"/>
            <a:chExt cx="2564130" cy="398780"/>
          </a:xfrm>
        </p:grpSpPr>
        <p:sp>
          <p:nvSpPr>
            <p:cNvPr id="35" name="object 35"/>
            <p:cNvSpPr/>
            <p:nvPr/>
          </p:nvSpPr>
          <p:spPr>
            <a:xfrm>
              <a:off x="4314825" y="4003611"/>
              <a:ext cx="852805" cy="386080"/>
            </a:xfrm>
            <a:custGeom>
              <a:avLst/>
              <a:gdLst/>
              <a:ahLst/>
              <a:cxnLst/>
              <a:rect l="l" t="t" r="r" b="b"/>
              <a:pathLst>
                <a:path w="852804" h="386079">
                  <a:moveTo>
                    <a:pt x="852487" y="0"/>
                  </a:moveTo>
                  <a:lnTo>
                    <a:pt x="425450" y="0"/>
                  </a:lnTo>
                  <a:lnTo>
                    <a:pt x="0" y="0"/>
                  </a:lnTo>
                  <a:lnTo>
                    <a:pt x="0" y="385762"/>
                  </a:lnTo>
                  <a:lnTo>
                    <a:pt x="425450" y="385762"/>
                  </a:lnTo>
                  <a:lnTo>
                    <a:pt x="852487" y="385762"/>
                  </a:lnTo>
                  <a:lnTo>
                    <a:pt x="852487" y="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740275" y="4003611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4" h="386079">
                  <a:moveTo>
                    <a:pt x="0" y="385762"/>
                  </a:moveTo>
                  <a:lnTo>
                    <a:pt x="427037" y="385762"/>
                  </a:lnTo>
                  <a:lnTo>
                    <a:pt x="427037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167376" y="4003611"/>
              <a:ext cx="425450" cy="386080"/>
            </a:xfrm>
            <a:custGeom>
              <a:avLst/>
              <a:gdLst/>
              <a:ahLst/>
              <a:cxnLst/>
              <a:rect l="l" t="t" r="r" b="b"/>
              <a:pathLst>
                <a:path w="425450" h="386079">
                  <a:moveTo>
                    <a:pt x="425450" y="0"/>
                  </a:moveTo>
                  <a:lnTo>
                    <a:pt x="0" y="0"/>
                  </a:lnTo>
                  <a:lnTo>
                    <a:pt x="0" y="385762"/>
                  </a:lnTo>
                  <a:lnTo>
                    <a:pt x="425450" y="385762"/>
                  </a:lnTo>
                  <a:lnTo>
                    <a:pt x="425450" y="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167376" y="4003611"/>
              <a:ext cx="425450" cy="386080"/>
            </a:xfrm>
            <a:custGeom>
              <a:avLst/>
              <a:gdLst/>
              <a:ahLst/>
              <a:cxnLst/>
              <a:rect l="l" t="t" r="r" b="b"/>
              <a:pathLst>
                <a:path w="425450" h="386079">
                  <a:moveTo>
                    <a:pt x="0" y="385762"/>
                  </a:moveTo>
                  <a:lnTo>
                    <a:pt x="425450" y="385762"/>
                  </a:lnTo>
                  <a:lnTo>
                    <a:pt x="425450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592826" y="4003611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4" h="386079">
                  <a:moveTo>
                    <a:pt x="427037" y="0"/>
                  </a:moveTo>
                  <a:lnTo>
                    <a:pt x="0" y="0"/>
                  </a:lnTo>
                  <a:lnTo>
                    <a:pt x="0" y="385762"/>
                  </a:lnTo>
                  <a:lnTo>
                    <a:pt x="427037" y="385762"/>
                  </a:lnTo>
                  <a:lnTo>
                    <a:pt x="427037" y="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592826" y="4003611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4" h="386079">
                  <a:moveTo>
                    <a:pt x="0" y="385762"/>
                  </a:moveTo>
                  <a:lnTo>
                    <a:pt x="427037" y="385762"/>
                  </a:lnTo>
                  <a:lnTo>
                    <a:pt x="427037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462401" y="4003611"/>
              <a:ext cx="852805" cy="386080"/>
            </a:xfrm>
            <a:custGeom>
              <a:avLst/>
              <a:gdLst/>
              <a:ahLst/>
              <a:cxnLst/>
              <a:rect l="l" t="t" r="r" b="b"/>
              <a:pathLst>
                <a:path w="852804" h="386079">
                  <a:moveTo>
                    <a:pt x="852487" y="0"/>
                  </a:moveTo>
                  <a:lnTo>
                    <a:pt x="425450" y="0"/>
                  </a:lnTo>
                  <a:lnTo>
                    <a:pt x="0" y="0"/>
                  </a:lnTo>
                  <a:lnTo>
                    <a:pt x="0" y="385762"/>
                  </a:lnTo>
                  <a:lnTo>
                    <a:pt x="425450" y="385762"/>
                  </a:lnTo>
                  <a:lnTo>
                    <a:pt x="852487" y="385762"/>
                  </a:lnTo>
                  <a:lnTo>
                    <a:pt x="852487" y="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887851" y="4003611"/>
              <a:ext cx="427355" cy="386080"/>
            </a:xfrm>
            <a:custGeom>
              <a:avLst/>
              <a:gdLst/>
              <a:ahLst/>
              <a:cxnLst/>
              <a:rect l="l" t="t" r="r" b="b"/>
              <a:pathLst>
                <a:path w="427354" h="386079">
                  <a:moveTo>
                    <a:pt x="0" y="385762"/>
                  </a:moveTo>
                  <a:lnTo>
                    <a:pt x="427037" y="385762"/>
                  </a:lnTo>
                  <a:lnTo>
                    <a:pt x="427037" y="0"/>
                  </a:lnTo>
                  <a:lnTo>
                    <a:pt x="0" y="0"/>
                  </a:lnTo>
                  <a:lnTo>
                    <a:pt x="0" y="38576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3462401" y="4003611"/>
            <a:ext cx="2557780" cy="38608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325"/>
              </a:spcBef>
              <a:tabLst>
                <a:tab pos="581025" algn="l"/>
                <a:tab pos="949325" algn="l"/>
                <a:tab pos="1376045" algn="l"/>
                <a:tab pos="1859914" algn="l"/>
                <a:tab pos="228663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6	9	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12	11	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3	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10540" y="6465214"/>
            <a:ext cx="1536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7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095247" y="4441316"/>
            <a:ext cx="16103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5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blue-blue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inversions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894835" y="4441316"/>
            <a:ext cx="18046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8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green-green </a:t>
            </a:r>
            <a:r>
              <a:rPr sz="1400" spc="-10" dirty="0">
                <a:latin typeface="Calibri"/>
                <a:cs typeface="Calibri"/>
              </a:rPr>
              <a:t>inversions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633718" y="3298316"/>
            <a:ext cx="96456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libri"/>
                <a:cs typeface="Calibri"/>
              </a:rPr>
              <a:t>Divide:</a:t>
            </a:r>
            <a:r>
              <a:rPr sz="1400" spc="229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O(1).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633718" y="4076191"/>
            <a:ext cx="1389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Conquer:</a:t>
            </a:r>
            <a:r>
              <a:rPr sz="1400" spc="28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2T(n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/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2)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633718" y="5173472"/>
            <a:ext cx="104584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4F81BC"/>
                </a:solidFill>
                <a:latin typeface="Calibri"/>
                <a:cs typeface="Calibri"/>
              </a:rPr>
              <a:t>Combine:</a:t>
            </a:r>
            <a:r>
              <a:rPr sz="1400" spc="240" dirty="0">
                <a:solidFill>
                  <a:srgbClr val="4F81BC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4F81BC"/>
                </a:solidFill>
                <a:latin typeface="Calibri"/>
                <a:cs typeface="Calibri"/>
              </a:rPr>
              <a:t>???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84300" y="5042701"/>
            <a:ext cx="3173730" cy="53784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400" dirty="0">
                <a:latin typeface="Calibri"/>
                <a:cs typeface="Calibri"/>
              </a:rPr>
              <a:t>9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blue-green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inversions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400" dirty="0">
                <a:latin typeface="Calibri"/>
                <a:cs typeface="Calibri"/>
              </a:rPr>
              <a:t>5-3,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4-3,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8-6,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8-3,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8-7,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10-6, </a:t>
            </a:r>
            <a:r>
              <a:rPr sz="1400" dirty="0">
                <a:latin typeface="Calibri"/>
                <a:cs typeface="Calibri"/>
              </a:rPr>
              <a:t>10-9,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10-3, 10-7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524000" y="6038850"/>
            <a:ext cx="2590800" cy="466725"/>
          </a:xfrm>
          <a:prstGeom prst="rect">
            <a:avLst/>
          </a:prstGeom>
          <a:solidFill>
            <a:srgbClr val="1F487C"/>
          </a:solidFill>
        </p:spPr>
        <p:txBody>
          <a:bodyPr vert="horz" wrap="square" lIns="0" tIns="8255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650"/>
              </a:spcBef>
            </a:pPr>
            <a:r>
              <a:rPr sz="1800" spc="-40" dirty="0">
                <a:latin typeface="Calibri"/>
                <a:cs typeface="Calibri"/>
              </a:rPr>
              <a:t>Total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5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8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9 =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22.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21082"/>
            <a:ext cx="4040504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254" dirty="0">
                <a:solidFill>
                  <a:srgbClr val="D50092"/>
                </a:solidFill>
                <a:latin typeface="Cambria"/>
                <a:cs typeface="Cambria"/>
              </a:rPr>
              <a:t>Counting</a:t>
            </a:r>
            <a:r>
              <a:rPr sz="3200" spc="204" dirty="0">
                <a:solidFill>
                  <a:srgbClr val="D50092"/>
                </a:solidFill>
                <a:latin typeface="Cambria"/>
                <a:cs typeface="Cambria"/>
              </a:rPr>
              <a:t> </a:t>
            </a:r>
            <a:r>
              <a:rPr sz="3200" spc="170" dirty="0">
                <a:solidFill>
                  <a:srgbClr val="D50092"/>
                </a:solidFill>
                <a:latin typeface="Cambria"/>
                <a:cs typeface="Cambria"/>
              </a:rPr>
              <a:t>Inversions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4400" y="919162"/>
            <a:ext cx="320675" cy="376555"/>
          </a:xfrm>
          <a:custGeom>
            <a:avLst/>
            <a:gdLst/>
            <a:ahLst/>
            <a:cxnLst/>
            <a:rect l="l" t="t" r="r" b="b"/>
            <a:pathLst>
              <a:path w="320675" h="376555">
                <a:moveTo>
                  <a:pt x="0" y="376237"/>
                </a:moveTo>
                <a:lnTo>
                  <a:pt x="320675" y="376237"/>
                </a:lnTo>
                <a:lnTo>
                  <a:pt x="320675" y="0"/>
                </a:lnTo>
                <a:lnTo>
                  <a:pt x="0" y="0"/>
                </a:lnTo>
                <a:lnTo>
                  <a:pt x="0" y="376237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55725" y="919162"/>
            <a:ext cx="320675" cy="376555"/>
          </a:xfrm>
          <a:custGeom>
            <a:avLst/>
            <a:gdLst/>
            <a:ahLst/>
            <a:cxnLst/>
            <a:rect l="l" t="t" r="r" b="b"/>
            <a:pathLst>
              <a:path w="320675" h="376555">
                <a:moveTo>
                  <a:pt x="0" y="376237"/>
                </a:moveTo>
                <a:lnTo>
                  <a:pt x="320675" y="376237"/>
                </a:lnTo>
                <a:lnTo>
                  <a:pt x="320675" y="0"/>
                </a:lnTo>
                <a:lnTo>
                  <a:pt x="0" y="0"/>
                </a:lnTo>
                <a:lnTo>
                  <a:pt x="0" y="376237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12925" y="919162"/>
            <a:ext cx="320675" cy="376555"/>
          </a:xfrm>
          <a:custGeom>
            <a:avLst/>
            <a:gdLst/>
            <a:ahLst/>
            <a:cxnLst/>
            <a:rect l="l" t="t" r="r" b="b"/>
            <a:pathLst>
              <a:path w="320675" h="376555">
                <a:moveTo>
                  <a:pt x="0" y="376237"/>
                </a:moveTo>
                <a:lnTo>
                  <a:pt x="320675" y="376237"/>
                </a:lnTo>
                <a:lnTo>
                  <a:pt x="320675" y="0"/>
                </a:lnTo>
                <a:lnTo>
                  <a:pt x="0" y="0"/>
                </a:lnTo>
                <a:lnTo>
                  <a:pt x="0" y="376237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286000" y="919162"/>
            <a:ext cx="320675" cy="376555"/>
          </a:xfrm>
          <a:custGeom>
            <a:avLst/>
            <a:gdLst/>
            <a:ahLst/>
            <a:cxnLst/>
            <a:rect l="l" t="t" r="r" b="b"/>
            <a:pathLst>
              <a:path w="320675" h="376555">
                <a:moveTo>
                  <a:pt x="0" y="376237"/>
                </a:moveTo>
                <a:lnTo>
                  <a:pt x="320675" y="376237"/>
                </a:lnTo>
                <a:lnTo>
                  <a:pt x="320675" y="0"/>
                </a:lnTo>
                <a:lnTo>
                  <a:pt x="0" y="0"/>
                </a:lnTo>
                <a:lnTo>
                  <a:pt x="0" y="376237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743200" y="919162"/>
            <a:ext cx="320675" cy="376555"/>
          </a:xfrm>
          <a:custGeom>
            <a:avLst/>
            <a:gdLst/>
            <a:ahLst/>
            <a:cxnLst/>
            <a:rect l="l" t="t" r="r" b="b"/>
            <a:pathLst>
              <a:path w="320675" h="376555">
                <a:moveTo>
                  <a:pt x="0" y="376237"/>
                </a:moveTo>
                <a:lnTo>
                  <a:pt x="320675" y="376237"/>
                </a:lnTo>
                <a:lnTo>
                  <a:pt x="320675" y="0"/>
                </a:lnTo>
                <a:lnTo>
                  <a:pt x="0" y="0"/>
                </a:lnTo>
                <a:lnTo>
                  <a:pt x="0" y="376237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184525" y="919162"/>
            <a:ext cx="320675" cy="376555"/>
          </a:xfrm>
          <a:custGeom>
            <a:avLst/>
            <a:gdLst/>
            <a:ahLst/>
            <a:cxnLst/>
            <a:rect l="l" t="t" r="r" b="b"/>
            <a:pathLst>
              <a:path w="320675" h="376555">
                <a:moveTo>
                  <a:pt x="0" y="376237"/>
                </a:moveTo>
                <a:lnTo>
                  <a:pt x="320675" y="376237"/>
                </a:lnTo>
                <a:lnTo>
                  <a:pt x="320675" y="0"/>
                </a:lnTo>
                <a:lnTo>
                  <a:pt x="0" y="0"/>
                </a:lnTo>
                <a:lnTo>
                  <a:pt x="0" y="376237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641725" y="919162"/>
            <a:ext cx="320675" cy="376555"/>
          </a:xfrm>
          <a:custGeom>
            <a:avLst/>
            <a:gdLst/>
            <a:ahLst/>
            <a:cxnLst/>
            <a:rect l="l" t="t" r="r" b="b"/>
            <a:pathLst>
              <a:path w="320675" h="376555">
                <a:moveTo>
                  <a:pt x="0" y="376237"/>
                </a:moveTo>
                <a:lnTo>
                  <a:pt x="320675" y="376237"/>
                </a:lnTo>
                <a:lnTo>
                  <a:pt x="320675" y="0"/>
                </a:lnTo>
                <a:lnTo>
                  <a:pt x="0" y="0"/>
                </a:lnTo>
                <a:lnTo>
                  <a:pt x="0" y="376237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098925" y="919162"/>
            <a:ext cx="320675" cy="376555"/>
          </a:xfrm>
          <a:custGeom>
            <a:avLst/>
            <a:gdLst/>
            <a:ahLst/>
            <a:cxnLst/>
            <a:rect l="l" t="t" r="r" b="b"/>
            <a:pathLst>
              <a:path w="320675" h="376555">
                <a:moveTo>
                  <a:pt x="0" y="376237"/>
                </a:moveTo>
                <a:lnTo>
                  <a:pt x="320675" y="376237"/>
                </a:lnTo>
                <a:lnTo>
                  <a:pt x="320675" y="0"/>
                </a:lnTo>
                <a:lnTo>
                  <a:pt x="0" y="0"/>
                </a:lnTo>
                <a:lnTo>
                  <a:pt x="0" y="376237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83540" y="937082"/>
            <a:ext cx="3936365" cy="1210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2300">
              <a:lnSpc>
                <a:spcPct val="100000"/>
              </a:lnSpc>
              <a:spcBef>
                <a:spcPts val="100"/>
              </a:spcBef>
              <a:tabLst>
                <a:tab pos="1063625" algn="l"/>
                <a:tab pos="1520825" algn="l"/>
                <a:tab pos="1993900" algn="l"/>
                <a:tab pos="2451100" algn="l"/>
                <a:tab pos="2892425" algn="l"/>
                <a:tab pos="3349625" algn="l"/>
                <a:tab pos="3806825" algn="l"/>
              </a:tabLst>
            </a:pPr>
            <a:r>
              <a:rPr sz="1800" dirty="0">
                <a:latin typeface="Calibri"/>
                <a:cs typeface="Calibri"/>
              </a:rPr>
              <a:t>4	7	6	2	1	5	8	3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Divide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into </a:t>
            </a:r>
            <a:r>
              <a:rPr sz="1800" spc="-10" dirty="0">
                <a:latin typeface="Calibri"/>
                <a:cs typeface="Calibri"/>
              </a:rPr>
              <a:t>front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back halves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876300" y="2484437"/>
          <a:ext cx="4873623" cy="15541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8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45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70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4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77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8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687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11162">
                <a:tc>
                  <a:txBody>
                    <a:bodyPr/>
                    <a:lstStyle/>
                    <a:p>
                      <a:pPr marR="24765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604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6040" marB="0"/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6040" marB="0"/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60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54940" algn="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6040" marB="0"/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6040" marB="0"/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6040" marB="0"/>
                </a:tc>
                <a:tc>
                  <a:txBody>
                    <a:bodyPr/>
                    <a:lstStyle/>
                    <a:p>
                      <a:pPr marL="19685" algn="ctr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604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2400" dirty="0">
                          <a:solidFill>
                            <a:srgbClr val="D50092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1176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R="2476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5494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L="1968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3" name="object 13"/>
          <p:cNvGrpSpPr/>
          <p:nvPr/>
        </p:nvGrpSpPr>
        <p:grpSpPr>
          <a:xfrm>
            <a:off x="908050" y="2513012"/>
            <a:ext cx="1704975" cy="1532255"/>
            <a:chOff x="908050" y="2513012"/>
            <a:chExt cx="1704975" cy="1532255"/>
          </a:xfrm>
        </p:grpSpPr>
        <p:sp>
          <p:nvSpPr>
            <p:cNvPr id="14" name="object 14"/>
            <p:cNvSpPr/>
            <p:nvPr/>
          </p:nvSpPr>
          <p:spPr>
            <a:xfrm>
              <a:off x="914400" y="2519362"/>
              <a:ext cx="762000" cy="1519555"/>
            </a:xfrm>
            <a:custGeom>
              <a:avLst/>
              <a:gdLst/>
              <a:ahLst/>
              <a:cxnLst/>
              <a:rect l="l" t="t" r="r" b="b"/>
              <a:pathLst>
                <a:path w="762000" h="1519554">
                  <a:moveTo>
                    <a:pt x="0" y="376237"/>
                  </a:moveTo>
                  <a:lnTo>
                    <a:pt x="320675" y="376237"/>
                  </a:lnTo>
                  <a:lnTo>
                    <a:pt x="320675" y="0"/>
                  </a:lnTo>
                  <a:lnTo>
                    <a:pt x="0" y="0"/>
                  </a:lnTo>
                  <a:lnTo>
                    <a:pt x="0" y="376237"/>
                  </a:lnTo>
                  <a:close/>
                </a:path>
                <a:path w="762000" h="1519554">
                  <a:moveTo>
                    <a:pt x="441325" y="376237"/>
                  </a:moveTo>
                  <a:lnTo>
                    <a:pt x="762000" y="376237"/>
                  </a:lnTo>
                  <a:lnTo>
                    <a:pt x="762000" y="0"/>
                  </a:lnTo>
                  <a:lnTo>
                    <a:pt x="441325" y="0"/>
                  </a:lnTo>
                  <a:lnTo>
                    <a:pt x="441325" y="376237"/>
                  </a:lnTo>
                  <a:close/>
                </a:path>
                <a:path w="762000" h="1519554">
                  <a:moveTo>
                    <a:pt x="0" y="1519237"/>
                  </a:moveTo>
                  <a:lnTo>
                    <a:pt x="320675" y="1519237"/>
                  </a:lnTo>
                  <a:lnTo>
                    <a:pt x="320675" y="1143000"/>
                  </a:lnTo>
                  <a:lnTo>
                    <a:pt x="0" y="1143000"/>
                  </a:lnTo>
                  <a:lnTo>
                    <a:pt x="0" y="1519237"/>
                  </a:lnTo>
                  <a:close/>
                </a:path>
                <a:path w="762000" h="1519554">
                  <a:moveTo>
                    <a:pt x="441325" y="1519237"/>
                  </a:moveTo>
                  <a:lnTo>
                    <a:pt x="762000" y="1519237"/>
                  </a:lnTo>
                  <a:lnTo>
                    <a:pt x="762000" y="1143000"/>
                  </a:lnTo>
                  <a:lnTo>
                    <a:pt x="441325" y="1143000"/>
                  </a:lnTo>
                  <a:lnTo>
                    <a:pt x="441325" y="15192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66800" y="2895600"/>
              <a:ext cx="457200" cy="762000"/>
            </a:xfrm>
            <a:custGeom>
              <a:avLst/>
              <a:gdLst/>
              <a:ahLst/>
              <a:cxnLst/>
              <a:rect l="l" t="t" r="r" b="b"/>
              <a:pathLst>
                <a:path w="457200" h="762000">
                  <a:moveTo>
                    <a:pt x="0" y="0"/>
                  </a:moveTo>
                  <a:lnTo>
                    <a:pt x="457200" y="762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812925" y="2519362"/>
              <a:ext cx="793750" cy="1519555"/>
            </a:xfrm>
            <a:custGeom>
              <a:avLst/>
              <a:gdLst/>
              <a:ahLst/>
              <a:cxnLst/>
              <a:rect l="l" t="t" r="r" b="b"/>
              <a:pathLst>
                <a:path w="793750" h="1519554">
                  <a:moveTo>
                    <a:pt x="0" y="376237"/>
                  </a:moveTo>
                  <a:lnTo>
                    <a:pt x="320675" y="376237"/>
                  </a:lnTo>
                  <a:lnTo>
                    <a:pt x="320675" y="0"/>
                  </a:lnTo>
                  <a:lnTo>
                    <a:pt x="0" y="0"/>
                  </a:lnTo>
                  <a:lnTo>
                    <a:pt x="0" y="376237"/>
                  </a:lnTo>
                  <a:close/>
                </a:path>
                <a:path w="793750" h="1519554">
                  <a:moveTo>
                    <a:pt x="473075" y="376237"/>
                  </a:moveTo>
                  <a:lnTo>
                    <a:pt x="793750" y="376237"/>
                  </a:lnTo>
                  <a:lnTo>
                    <a:pt x="793750" y="0"/>
                  </a:lnTo>
                  <a:lnTo>
                    <a:pt x="473075" y="0"/>
                  </a:lnTo>
                  <a:lnTo>
                    <a:pt x="473075" y="376237"/>
                  </a:lnTo>
                  <a:close/>
                </a:path>
                <a:path w="793750" h="1519554">
                  <a:moveTo>
                    <a:pt x="0" y="1519237"/>
                  </a:moveTo>
                  <a:lnTo>
                    <a:pt x="320675" y="1519237"/>
                  </a:lnTo>
                  <a:lnTo>
                    <a:pt x="320675" y="1143000"/>
                  </a:lnTo>
                  <a:lnTo>
                    <a:pt x="0" y="1143000"/>
                  </a:lnTo>
                  <a:lnTo>
                    <a:pt x="0" y="1519237"/>
                  </a:lnTo>
                  <a:close/>
                </a:path>
                <a:path w="793750" h="1519554">
                  <a:moveTo>
                    <a:pt x="473075" y="1519237"/>
                  </a:moveTo>
                  <a:lnTo>
                    <a:pt x="793750" y="1519237"/>
                  </a:lnTo>
                  <a:lnTo>
                    <a:pt x="793750" y="1143000"/>
                  </a:lnTo>
                  <a:lnTo>
                    <a:pt x="473075" y="1143000"/>
                  </a:lnTo>
                  <a:lnTo>
                    <a:pt x="473075" y="15192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66800" y="2895600"/>
              <a:ext cx="1371600" cy="762000"/>
            </a:xfrm>
            <a:custGeom>
              <a:avLst/>
              <a:gdLst/>
              <a:ahLst/>
              <a:cxnLst/>
              <a:rect l="l" t="t" r="r" b="b"/>
              <a:pathLst>
                <a:path w="1371600" h="762000">
                  <a:moveTo>
                    <a:pt x="1371600" y="0"/>
                  </a:moveTo>
                  <a:lnTo>
                    <a:pt x="0" y="762000"/>
                  </a:lnTo>
                </a:path>
                <a:path w="1371600" h="762000">
                  <a:moveTo>
                    <a:pt x="457200" y="0"/>
                  </a:moveTo>
                  <a:lnTo>
                    <a:pt x="1371600" y="762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4032250" y="2513012"/>
            <a:ext cx="333375" cy="1532255"/>
            <a:chOff x="4032250" y="2513012"/>
            <a:chExt cx="333375" cy="1532255"/>
          </a:xfrm>
        </p:grpSpPr>
        <p:sp>
          <p:nvSpPr>
            <p:cNvPr id="19" name="object 19"/>
            <p:cNvSpPr/>
            <p:nvPr/>
          </p:nvSpPr>
          <p:spPr>
            <a:xfrm>
              <a:off x="4038600" y="2519362"/>
              <a:ext cx="320675" cy="1519555"/>
            </a:xfrm>
            <a:custGeom>
              <a:avLst/>
              <a:gdLst/>
              <a:ahLst/>
              <a:cxnLst/>
              <a:rect l="l" t="t" r="r" b="b"/>
              <a:pathLst>
                <a:path w="320675" h="1519554">
                  <a:moveTo>
                    <a:pt x="0" y="376237"/>
                  </a:moveTo>
                  <a:lnTo>
                    <a:pt x="320675" y="376237"/>
                  </a:lnTo>
                  <a:lnTo>
                    <a:pt x="320675" y="0"/>
                  </a:lnTo>
                  <a:lnTo>
                    <a:pt x="0" y="0"/>
                  </a:lnTo>
                  <a:lnTo>
                    <a:pt x="0" y="376237"/>
                  </a:lnTo>
                  <a:close/>
                </a:path>
                <a:path w="320675" h="1519554">
                  <a:moveTo>
                    <a:pt x="0" y="1519237"/>
                  </a:moveTo>
                  <a:lnTo>
                    <a:pt x="320675" y="1519237"/>
                  </a:lnTo>
                  <a:lnTo>
                    <a:pt x="320675" y="1143000"/>
                  </a:lnTo>
                  <a:lnTo>
                    <a:pt x="0" y="1143000"/>
                  </a:lnTo>
                  <a:lnTo>
                    <a:pt x="0" y="15192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191000" y="2895600"/>
              <a:ext cx="0" cy="762000"/>
            </a:xfrm>
            <a:custGeom>
              <a:avLst/>
              <a:gdLst/>
              <a:ahLst/>
              <a:cxnLst/>
              <a:rect l="l" t="t" r="r" b="b"/>
              <a:pathLst>
                <a:path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4473575" y="2513012"/>
            <a:ext cx="1247775" cy="1532255"/>
            <a:chOff x="4473575" y="2513012"/>
            <a:chExt cx="1247775" cy="1532255"/>
          </a:xfrm>
        </p:grpSpPr>
        <p:sp>
          <p:nvSpPr>
            <p:cNvPr id="22" name="object 22"/>
            <p:cNvSpPr/>
            <p:nvPr/>
          </p:nvSpPr>
          <p:spPr>
            <a:xfrm>
              <a:off x="4479925" y="2519362"/>
              <a:ext cx="777875" cy="1519555"/>
            </a:xfrm>
            <a:custGeom>
              <a:avLst/>
              <a:gdLst/>
              <a:ahLst/>
              <a:cxnLst/>
              <a:rect l="l" t="t" r="r" b="b"/>
              <a:pathLst>
                <a:path w="777875" h="1519554">
                  <a:moveTo>
                    <a:pt x="0" y="376237"/>
                  </a:moveTo>
                  <a:lnTo>
                    <a:pt x="320675" y="376237"/>
                  </a:lnTo>
                  <a:lnTo>
                    <a:pt x="320675" y="0"/>
                  </a:lnTo>
                  <a:lnTo>
                    <a:pt x="0" y="0"/>
                  </a:lnTo>
                  <a:lnTo>
                    <a:pt x="0" y="376237"/>
                  </a:lnTo>
                  <a:close/>
                </a:path>
                <a:path w="777875" h="1519554">
                  <a:moveTo>
                    <a:pt x="457200" y="376237"/>
                  </a:moveTo>
                  <a:lnTo>
                    <a:pt x="777875" y="376237"/>
                  </a:lnTo>
                  <a:lnTo>
                    <a:pt x="777875" y="0"/>
                  </a:lnTo>
                  <a:lnTo>
                    <a:pt x="457200" y="0"/>
                  </a:lnTo>
                  <a:lnTo>
                    <a:pt x="457200" y="376237"/>
                  </a:lnTo>
                  <a:close/>
                </a:path>
                <a:path w="777875" h="1519554">
                  <a:moveTo>
                    <a:pt x="0" y="1519237"/>
                  </a:moveTo>
                  <a:lnTo>
                    <a:pt x="320675" y="1519237"/>
                  </a:lnTo>
                  <a:lnTo>
                    <a:pt x="320675" y="1143000"/>
                  </a:lnTo>
                  <a:lnTo>
                    <a:pt x="0" y="1143000"/>
                  </a:lnTo>
                  <a:lnTo>
                    <a:pt x="0" y="1519237"/>
                  </a:lnTo>
                  <a:close/>
                </a:path>
                <a:path w="777875" h="1519554">
                  <a:moveTo>
                    <a:pt x="457200" y="1519237"/>
                  </a:moveTo>
                  <a:lnTo>
                    <a:pt x="777875" y="1519237"/>
                  </a:lnTo>
                  <a:lnTo>
                    <a:pt x="777875" y="1143000"/>
                  </a:lnTo>
                  <a:lnTo>
                    <a:pt x="457200" y="1143000"/>
                  </a:lnTo>
                  <a:lnTo>
                    <a:pt x="457200" y="15192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648200" y="2895600"/>
              <a:ext cx="457200" cy="762000"/>
            </a:xfrm>
            <a:custGeom>
              <a:avLst/>
              <a:gdLst/>
              <a:ahLst/>
              <a:cxnLst/>
              <a:rect l="l" t="t" r="r" b="b"/>
              <a:pathLst>
                <a:path w="457200" h="762000">
                  <a:moveTo>
                    <a:pt x="0" y="0"/>
                  </a:moveTo>
                  <a:lnTo>
                    <a:pt x="457200" y="762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394325" y="2519362"/>
              <a:ext cx="320675" cy="1519555"/>
            </a:xfrm>
            <a:custGeom>
              <a:avLst/>
              <a:gdLst/>
              <a:ahLst/>
              <a:cxnLst/>
              <a:rect l="l" t="t" r="r" b="b"/>
              <a:pathLst>
                <a:path w="320675" h="1519554">
                  <a:moveTo>
                    <a:pt x="0" y="376237"/>
                  </a:moveTo>
                  <a:lnTo>
                    <a:pt x="320675" y="376237"/>
                  </a:lnTo>
                  <a:lnTo>
                    <a:pt x="320675" y="0"/>
                  </a:lnTo>
                  <a:lnTo>
                    <a:pt x="0" y="0"/>
                  </a:lnTo>
                  <a:lnTo>
                    <a:pt x="0" y="376237"/>
                  </a:lnTo>
                  <a:close/>
                </a:path>
                <a:path w="320675" h="1519554">
                  <a:moveTo>
                    <a:pt x="0" y="1519237"/>
                  </a:moveTo>
                  <a:lnTo>
                    <a:pt x="320675" y="1519237"/>
                  </a:lnTo>
                  <a:lnTo>
                    <a:pt x="320675" y="1143000"/>
                  </a:lnTo>
                  <a:lnTo>
                    <a:pt x="0" y="1143000"/>
                  </a:lnTo>
                  <a:lnTo>
                    <a:pt x="0" y="151923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648200" y="2895600"/>
              <a:ext cx="914400" cy="762000"/>
            </a:xfrm>
            <a:custGeom>
              <a:avLst/>
              <a:gdLst/>
              <a:ahLst/>
              <a:cxnLst/>
              <a:rect l="l" t="t" r="r" b="b"/>
              <a:pathLst>
                <a:path w="914400" h="762000">
                  <a:moveTo>
                    <a:pt x="457200" y="0"/>
                  </a:moveTo>
                  <a:lnTo>
                    <a:pt x="914400" y="762000"/>
                  </a:lnTo>
                </a:path>
                <a:path w="914400" h="762000">
                  <a:moveTo>
                    <a:pt x="914400" y="0"/>
                  </a:moveTo>
                  <a:lnTo>
                    <a:pt x="0" y="762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59740" y="4362069"/>
            <a:ext cx="4862195" cy="1076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Count </a:t>
            </a:r>
            <a:r>
              <a:rPr sz="1800" spc="-15" dirty="0">
                <a:latin typeface="Calibri"/>
                <a:cs typeface="Calibri"/>
              </a:rPr>
              <a:t>inversions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within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each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half,</a:t>
            </a:r>
            <a:r>
              <a:rPr sz="1800" dirty="0">
                <a:latin typeface="Calibri"/>
                <a:cs typeface="Calibri"/>
              </a:rPr>
              <a:t> and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sort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each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half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Calibri"/>
              <a:cs typeface="Calibri"/>
            </a:endParaRPr>
          </a:p>
          <a:p>
            <a:pPr marL="3175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Then,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count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inversions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between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front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back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half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083553" y="3037713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D50092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2302" y="496646"/>
            <a:ext cx="77597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431665" algn="l"/>
              </a:tabLst>
            </a:pPr>
            <a:r>
              <a:rPr spc="-10" dirty="0"/>
              <a:t>Cou</a:t>
            </a:r>
            <a:r>
              <a:rPr spc="-30" dirty="0"/>
              <a:t>n</a:t>
            </a:r>
            <a:r>
              <a:rPr spc="-5" dirty="0"/>
              <a:t>ting</a:t>
            </a:r>
            <a:r>
              <a:rPr spc="-20" dirty="0"/>
              <a:t> </a:t>
            </a:r>
            <a:r>
              <a:rPr spc="-5" dirty="0"/>
              <a:t>I</a:t>
            </a:r>
            <a:r>
              <a:rPr spc="-80" dirty="0"/>
              <a:t>n</a:t>
            </a:r>
            <a:r>
              <a:rPr spc="-50" dirty="0"/>
              <a:t>v</a:t>
            </a:r>
            <a:r>
              <a:rPr spc="-5" dirty="0"/>
              <a:t>e</a:t>
            </a:r>
            <a:r>
              <a:rPr spc="-80" dirty="0"/>
              <a:t>r</a:t>
            </a:r>
            <a:r>
              <a:rPr spc="-10" dirty="0"/>
              <a:t>sions</a:t>
            </a:r>
            <a:r>
              <a:rPr spc="-5" dirty="0"/>
              <a:t>:</a:t>
            </a:r>
            <a:r>
              <a:rPr dirty="0"/>
              <a:t>	</a:t>
            </a:r>
            <a:r>
              <a:rPr spc="-5" dirty="0"/>
              <a:t>Imp</a:t>
            </a:r>
            <a:r>
              <a:rPr spc="-20" dirty="0"/>
              <a:t>l</a:t>
            </a:r>
            <a:r>
              <a:rPr spc="-5" dirty="0"/>
              <a:t>eme</a:t>
            </a:r>
            <a:r>
              <a:rPr spc="-40" dirty="0"/>
              <a:t>n</a:t>
            </a:r>
            <a:r>
              <a:rPr spc="-50" dirty="0"/>
              <a:t>t</a:t>
            </a:r>
            <a:r>
              <a:rPr spc="-40" dirty="0"/>
              <a:t>a</a:t>
            </a:r>
            <a:r>
              <a:rPr spc="-5" dirty="0"/>
              <a:t>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8458" y="2671805"/>
            <a:ext cx="7673364" cy="3202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2302" y="496646"/>
            <a:ext cx="77597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431665" algn="l"/>
              </a:tabLst>
            </a:pPr>
            <a:r>
              <a:rPr spc="-10" dirty="0"/>
              <a:t>Cou</a:t>
            </a:r>
            <a:r>
              <a:rPr spc="-30" dirty="0"/>
              <a:t>n</a:t>
            </a:r>
            <a:r>
              <a:rPr spc="-5" dirty="0"/>
              <a:t>ting</a:t>
            </a:r>
            <a:r>
              <a:rPr spc="-20" dirty="0"/>
              <a:t> </a:t>
            </a:r>
            <a:r>
              <a:rPr spc="-5" dirty="0"/>
              <a:t>I</a:t>
            </a:r>
            <a:r>
              <a:rPr spc="-80" dirty="0"/>
              <a:t>n</a:t>
            </a:r>
            <a:r>
              <a:rPr spc="-50" dirty="0"/>
              <a:t>v</a:t>
            </a:r>
            <a:r>
              <a:rPr spc="-5" dirty="0"/>
              <a:t>e</a:t>
            </a:r>
            <a:r>
              <a:rPr spc="-80" dirty="0"/>
              <a:t>r</a:t>
            </a:r>
            <a:r>
              <a:rPr spc="-10" dirty="0"/>
              <a:t>sions</a:t>
            </a:r>
            <a:r>
              <a:rPr spc="-5" dirty="0"/>
              <a:t>:</a:t>
            </a:r>
            <a:r>
              <a:rPr dirty="0"/>
              <a:t>	</a:t>
            </a:r>
            <a:r>
              <a:rPr spc="-5" dirty="0"/>
              <a:t>Imp</a:t>
            </a:r>
            <a:r>
              <a:rPr spc="-20" dirty="0"/>
              <a:t>l</a:t>
            </a:r>
            <a:r>
              <a:rPr spc="-5" dirty="0"/>
              <a:t>eme</a:t>
            </a:r>
            <a:r>
              <a:rPr spc="-40" dirty="0"/>
              <a:t>n</a:t>
            </a:r>
            <a:r>
              <a:rPr spc="-50" dirty="0"/>
              <a:t>t</a:t>
            </a:r>
            <a:r>
              <a:rPr spc="-40" dirty="0"/>
              <a:t>a</a:t>
            </a:r>
            <a:r>
              <a:rPr spc="-5" dirty="0"/>
              <a:t>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1383945"/>
            <a:ext cx="7448874" cy="189265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9599" y="4547914"/>
            <a:ext cx="6038163" cy="127524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085850" y="3371862"/>
            <a:ext cx="6591300" cy="1028065"/>
            <a:chOff x="1085850" y="3371862"/>
            <a:chExt cx="6591300" cy="102806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41349" y="3485212"/>
              <a:ext cx="6069553" cy="73059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114425" y="3400437"/>
              <a:ext cx="6534150" cy="970915"/>
            </a:xfrm>
            <a:custGeom>
              <a:avLst/>
              <a:gdLst/>
              <a:ahLst/>
              <a:cxnLst/>
              <a:rect l="l" t="t" r="r" b="b"/>
              <a:pathLst>
                <a:path w="6534150" h="970914">
                  <a:moveTo>
                    <a:pt x="0" y="970394"/>
                  </a:moveTo>
                  <a:lnTo>
                    <a:pt x="6534150" y="970394"/>
                  </a:lnTo>
                  <a:lnTo>
                    <a:pt x="6534150" y="0"/>
                  </a:lnTo>
                  <a:lnTo>
                    <a:pt x="0" y="0"/>
                  </a:lnTo>
                  <a:lnTo>
                    <a:pt x="0" y="970394"/>
                  </a:lnTo>
                  <a:close/>
                </a:path>
              </a:pathLst>
            </a:custGeom>
            <a:ln w="57150">
              <a:solidFill>
                <a:srgbClr val="92D05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104900" y="5981700"/>
            <a:ext cx="6553200" cy="617220"/>
            <a:chOff x="1104900" y="5981700"/>
            <a:chExt cx="6553200" cy="617220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3000" y="6019800"/>
              <a:ext cx="6425493" cy="38629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23950" y="6000750"/>
              <a:ext cx="6515100" cy="579120"/>
            </a:xfrm>
            <a:custGeom>
              <a:avLst/>
              <a:gdLst/>
              <a:ahLst/>
              <a:cxnLst/>
              <a:rect l="l" t="t" r="r" b="b"/>
              <a:pathLst>
                <a:path w="6515100" h="579120">
                  <a:moveTo>
                    <a:pt x="0" y="578916"/>
                  </a:moveTo>
                  <a:lnTo>
                    <a:pt x="6515100" y="578916"/>
                  </a:lnTo>
                  <a:lnTo>
                    <a:pt x="6515100" y="0"/>
                  </a:lnTo>
                  <a:lnTo>
                    <a:pt x="0" y="0"/>
                  </a:lnTo>
                  <a:lnTo>
                    <a:pt x="0" y="578916"/>
                  </a:lnTo>
                  <a:close/>
                </a:path>
              </a:pathLst>
            </a:custGeom>
            <a:ln w="38100">
              <a:solidFill>
                <a:srgbClr val="92D05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0600" y="3922712"/>
            <a:ext cx="2749550" cy="427355"/>
            <a:chOff x="990600" y="3922712"/>
            <a:chExt cx="2749550" cy="427355"/>
          </a:xfrm>
        </p:grpSpPr>
        <p:sp>
          <p:nvSpPr>
            <p:cNvPr id="3" name="object 3"/>
            <p:cNvSpPr/>
            <p:nvPr/>
          </p:nvSpPr>
          <p:spPr>
            <a:xfrm>
              <a:off x="1905000" y="39290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3622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194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194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766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766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90600" y="39290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478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90600" y="3929062"/>
            <a:ext cx="2743200" cy="4146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434"/>
              </a:spcBef>
              <a:tabLst>
                <a:tab pos="626745" algn="l"/>
                <a:tab pos="1026160" algn="l"/>
                <a:tab pos="1483360" algn="l"/>
                <a:tab pos="1941195" algn="l"/>
                <a:tab pos="2398395" algn="l"/>
              </a:tabLst>
            </a:pPr>
            <a:r>
              <a:rPr sz="1800" dirty="0">
                <a:latin typeface="Calibri"/>
                <a:cs typeface="Calibri"/>
              </a:rPr>
              <a:t>3	7	</a:t>
            </a:r>
            <a:r>
              <a:rPr sz="1800" spc="-5" dirty="0">
                <a:latin typeface="Calibri"/>
                <a:cs typeface="Calibri"/>
              </a:rPr>
              <a:t>10	14	18	19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191000" y="3922712"/>
            <a:ext cx="2749550" cy="427355"/>
            <a:chOff x="4191000" y="3922712"/>
            <a:chExt cx="2749550" cy="427355"/>
          </a:xfrm>
        </p:grpSpPr>
        <p:sp>
          <p:nvSpPr>
            <p:cNvPr id="13" name="object 13"/>
            <p:cNvSpPr/>
            <p:nvPr/>
          </p:nvSpPr>
          <p:spPr>
            <a:xfrm>
              <a:off x="5105400" y="39290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5626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198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198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4770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4770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191000" y="39290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482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191000" y="3929062"/>
            <a:ext cx="2743200" cy="4146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70180">
              <a:lnSpc>
                <a:spcPct val="100000"/>
              </a:lnSpc>
              <a:spcBef>
                <a:spcPts val="434"/>
              </a:spcBef>
              <a:tabLst>
                <a:tab pos="569595" algn="l"/>
                <a:tab pos="1026794" algn="l"/>
                <a:tab pos="1483995" algn="l"/>
                <a:tab pos="1941195" algn="l"/>
                <a:tab pos="2398395" algn="l"/>
              </a:tabLst>
            </a:pPr>
            <a:r>
              <a:rPr sz="1800" dirty="0">
                <a:latin typeface="Calibri"/>
                <a:cs typeface="Calibri"/>
              </a:rPr>
              <a:t>2	</a:t>
            </a:r>
            <a:r>
              <a:rPr sz="1800" spc="-5" dirty="0">
                <a:latin typeface="Calibri"/>
                <a:cs typeface="Calibri"/>
              </a:rPr>
              <a:t>11	16	17	23	25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2533269" y="95757"/>
            <a:ext cx="40767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Counting</a:t>
            </a:r>
            <a:r>
              <a:rPr spc="-65" dirty="0"/>
              <a:t> </a:t>
            </a:r>
            <a:r>
              <a:rPr spc="-25" dirty="0"/>
              <a:t>Inversions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523240" y="973574"/>
            <a:ext cx="7777480" cy="260286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67665" algn="l"/>
                <a:tab pos="368300" algn="l"/>
              </a:tabLst>
            </a:pPr>
            <a:r>
              <a:rPr sz="3200" spc="-15" dirty="0">
                <a:latin typeface="Calibri"/>
                <a:cs typeface="Calibri"/>
              </a:rPr>
              <a:t>Merge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count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step.</a:t>
            </a:r>
            <a:endParaRPr sz="3200">
              <a:latin typeface="Calibri"/>
              <a:cs typeface="Calibri"/>
            </a:endParaRPr>
          </a:p>
          <a:p>
            <a:pPr marL="768985" marR="17780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69620" algn="l"/>
              </a:tabLst>
            </a:pPr>
            <a:r>
              <a:rPr sz="2800" spc="-10" dirty="0">
                <a:latin typeface="Calibri"/>
                <a:cs typeface="Calibri"/>
              </a:rPr>
              <a:t>Given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sorted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halves,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count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of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inversions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where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775" baseline="-21021" dirty="0">
                <a:latin typeface="Calibri"/>
                <a:cs typeface="Calibri"/>
              </a:rPr>
              <a:t>i</a:t>
            </a:r>
            <a:r>
              <a:rPr sz="2775" spc="307" baseline="-21021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775" baseline="-21021" dirty="0">
                <a:latin typeface="Calibri"/>
                <a:cs typeface="Calibri"/>
              </a:rPr>
              <a:t>j</a:t>
            </a:r>
            <a:r>
              <a:rPr sz="2775" spc="322" baseline="-21021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are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different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halves.</a:t>
            </a:r>
            <a:endParaRPr sz="2800">
              <a:latin typeface="Calibri"/>
              <a:cs typeface="Calibri"/>
            </a:endParaRPr>
          </a:p>
          <a:p>
            <a:pPr marL="7689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69620" algn="l"/>
              </a:tabLst>
            </a:pPr>
            <a:r>
              <a:rPr sz="2800" spc="-10" dirty="0">
                <a:latin typeface="Calibri"/>
                <a:cs typeface="Calibri"/>
              </a:rPr>
              <a:t>Combine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halves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whole.</a:t>
            </a:r>
            <a:endParaRPr sz="2800">
              <a:latin typeface="Calibri"/>
              <a:cs typeface="Calibri"/>
            </a:endParaRPr>
          </a:p>
          <a:p>
            <a:pPr marL="521970">
              <a:lnSpc>
                <a:spcPct val="100000"/>
              </a:lnSpc>
              <a:spcBef>
                <a:spcPts val="2050"/>
              </a:spcBef>
            </a:pPr>
            <a:r>
              <a:rPr sz="1800" dirty="0">
                <a:latin typeface="Calibri"/>
                <a:cs typeface="Calibri"/>
              </a:rPr>
              <a:t>i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6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348855" y="3984116"/>
            <a:ext cx="13055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two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sorted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halves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219200" y="4913312"/>
            <a:ext cx="5492750" cy="427355"/>
            <a:chOff x="1219200" y="4913312"/>
            <a:chExt cx="5492750" cy="427355"/>
          </a:xfrm>
        </p:grpSpPr>
        <p:sp>
          <p:nvSpPr>
            <p:cNvPr id="26" name="object 26"/>
            <p:cNvSpPr/>
            <p:nvPr/>
          </p:nvSpPr>
          <p:spPr>
            <a:xfrm>
              <a:off x="21336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5908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048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048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505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505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2192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676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962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962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8768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334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791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791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248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248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4196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4196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7441438" y="4989321"/>
            <a:ext cx="10445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auxiliary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array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752850" y="5838825"/>
            <a:ext cx="3346450" cy="466725"/>
          </a:xfrm>
          <a:prstGeom prst="rect">
            <a:avLst/>
          </a:prstGeom>
          <a:solidFill>
            <a:srgbClr val="C0504D"/>
          </a:solidFill>
        </p:spPr>
        <p:txBody>
          <a:bodyPr vert="horz" wrap="square" lIns="0" tIns="774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610"/>
              </a:spcBef>
            </a:pPr>
            <a:r>
              <a:rPr sz="1800" spc="-35" dirty="0">
                <a:latin typeface="Calibri"/>
                <a:cs typeface="Calibri"/>
              </a:rPr>
              <a:t>Total: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190625" y="3609975"/>
            <a:ext cx="50800" cy="209550"/>
          </a:xfrm>
          <a:custGeom>
            <a:avLst/>
            <a:gdLst/>
            <a:ahLst/>
            <a:cxnLst/>
            <a:rect l="l" t="t" r="r" b="b"/>
            <a:pathLst>
              <a:path w="50800" h="209550">
                <a:moveTo>
                  <a:pt x="19050" y="158750"/>
                </a:moveTo>
                <a:lnTo>
                  <a:pt x="0" y="158750"/>
                </a:lnTo>
                <a:lnTo>
                  <a:pt x="25400" y="209550"/>
                </a:lnTo>
                <a:lnTo>
                  <a:pt x="44450" y="171450"/>
                </a:lnTo>
                <a:lnTo>
                  <a:pt x="19050" y="171450"/>
                </a:lnTo>
                <a:lnTo>
                  <a:pt x="19050" y="158750"/>
                </a:lnTo>
                <a:close/>
              </a:path>
              <a:path w="50800" h="209550">
                <a:moveTo>
                  <a:pt x="31750" y="0"/>
                </a:moveTo>
                <a:lnTo>
                  <a:pt x="19050" y="0"/>
                </a:lnTo>
                <a:lnTo>
                  <a:pt x="19050" y="171450"/>
                </a:lnTo>
                <a:lnTo>
                  <a:pt x="31750" y="171450"/>
                </a:lnTo>
                <a:lnTo>
                  <a:pt x="31750" y="0"/>
                </a:lnTo>
                <a:close/>
              </a:path>
              <a:path w="50800" h="209550">
                <a:moveTo>
                  <a:pt x="50800" y="158750"/>
                </a:moveTo>
                <a:lnTo>
                  <a:pt x="31750" y="158750"/>
                </a:lnTo>
                <a:lnTo>
                  <a:pt x="31750" y="171450"/>
                </a:lnTo>
                <a:lnTo>
                  <a:pt x="44450" y="171450"/>
                </a:lnTo>
                <a:lnTo>
                  <a:pt x="50800" y="158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386198" y="3609975"/>
            <a:ext cx="50800" cy="209550"/>
          </a:xfrm>
          <a:custGeom>
            <a:avLst/>
            <a:gdLst/>
            <a:ahLst/>
            <a:cxnLst/>
            <a:rect l="l" t="t" r="r" b="b"/>
            <a:pathLst>
              <a:path w="50800" h="209550">
                <a:moveTo>
                  <a:pt x="19050" y="158750"/>
                </a:moveTo>
                <a:lnTo>
                  <a:pt x="0" y="158750"/>
                </a:lnTo>
                <a:lnTo>
                  <a:pt x="25400" y="209550"/>
                </a:lnTo>
                <a:lnTo>
                  <a:pt x="44450" y="171450"/>
                </a:lnTo>
                <a:lnTo>
                  <a:pt x="19050" y="171450"/>
                </a:lnTo>
                <a:lnTo>
                  <a:pt x="19050" y="158750"/>
                </a:lnTo>
                <a:close/>
              </a:path>
              <a:path w="50800" h="209550">
                <a:moveTo>
                  <a:pt x="31750" y="0"/>
                </a:moveTo>
                <a:lnTo>
                  <a:pt x="19050" y="0"/>
                </a:lnTo>
                <a:lnTo>
                  <a:pt x="19050" y="171450"/>
                </a:lnTo>
                <a:lnTo>
                  <a:pt x="31750" y="171450"/>
                </a:lnTo>
                <a:lnTo>
                  <a:pt x="31750" y="0"/>
                </a:lnTo>
                <a:close/>
              </a:path>
              <a:path w="50800" h="209550">
                <a:moveTo>
                  <a:pt x="50800" y="158750"/>
                </a:moveTo>
                <a:lnTo>
                  <a:pt x="31750" y="158750"/>
                </a:lnTo>
                <a:lnTo>
                  <a:pt x="31750" y="171450"/>
                </a:lnTo>
                <a:lnTo>
                  <a:pt x="44450" y="171450"/>
                </a:lnTo>
                <a:lnTo>
                  <a:pt x="50800" y="158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0600" y="3922712"/>
            <a:ext cx="2749550" cy="427355"/>
            <a:chOff x="990600" y="3922712"/>
            <a:chExt cx="2749550" cy="427355"/>
          </a:xfrm>
        </p:grpSpPr>
        <p:sp>
          <p:nvSpPr>
            <p:cNvPr id="3" name="object 3"/>
            <p:cNvSpPr/>
            <p:nvPr/>
          </p:nvSpPr>
          <p:spPr>
            <a:xfrm>
              <a:off x="1905000" y="39290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3622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194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194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766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766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90600" y="39290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478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90600" y="3929062"/>
            <a:ext cx="2743200" cy="4146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434"/>
              </a:spcBef>
              <a:tabLst>
                <a:tab pos="626745" algn="l"/>
                <a:tab pos="1026160" algn="l"/>
                <a:tab pos="1483360" algn="l"/>
                <a:tab pos="1941195" algn="l"/>
                <a:tab pos="2398395" algn="l"/>
              </a:tabLst>
            </a:pPr>
            <a:r>
              <a:rPr sz="1800" dirty="0">
                <a:latin typeface="Calibri"/>
                <a:cs typeface="Calibri"/>
              </a:rPr>
              <a:t>3	7	</a:t>
            </a:r>
            <a:r>
              <a:rPr sz="1800" spc="-5" dirty="0">
                <a:latin typeface="Calibri"/>
                <a:cs typeface="Calibri"/>
              </a:rPr>
              <a:t>10	14	18	19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191000" y="3922712"/>
            <a:ext cx="2749550" cy="427355"/>
            <a:chOff x="4191000" y="3922712"/>
            <a:chExt cx="2749550" cy="427355"/>
          </a:xfrm>
        </p:grpSpPr>
        <p:sp>
          <p:nvSpPr>
            <p:cNvPr id="13" name="object 13"/>
            <p:cNvSpPr/>
            <p:nvPr/>
          </p:nvSpPr>
          <p:spPr>
            <a:xfrm>
              <a:off x="5105400" y="39290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5626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198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198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4770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4770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1910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382524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382524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482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6482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361434" y="3971925"/>
            <a:ext cx="2473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399415" algn="l"/>
                <a:tab pos="856615" algn="l"/>
                <a:tab pos="1313815" algn="l"/>
                <a:tab pos="1771014" algn="l"/>
                <a:tab pos="222821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	</a:t>
            </a:r>
            <a:r>
              <a:rPr sz="1800" spc="-5" dirty="0">
                <a:latin typeface="Calibri"/>
                <a:cs typeface="Calibri"/>
              </a:rPr>
              <a:t>1</a:t>
            </a:r>
            <a:r>
              <a:rPr sz="1800" dirty="0">
                <a:latin typeface="Calibri"/>
                <a:cs typeface="Calibri"/>
              </a:rPr>
              <a:t>1	</a:t>
            </a:r>
            <a:r>
              <a:rPr sz="1800" spc="-5" dirty="0">
                <a:latin typeface="Calibri"/>
                <a:cs typeface="Calibri"/>
              </a:rPr>
              <a:t>1</a:t>
            </a:r>
            <a:r>
              <a:rPr sz="1800" dirty="0">
                <a:latin typeface="Calibri"/>
                <a:cs typeface="Calibri"/>
              </a:rPr>
              <a:t>6	</a:t>
            </a:r>
            <a:r>
              <a:rPr sz="1800" spc="-5" dirty="0">
                <a:latin typeface="Calibri"/>
                <a:cs typeface="Calibri"/>
              </a:rPr>
              <a:t>1</a:t>
            </a:r>
            <a:r>
              <a:rPr sz="1800" dirty="0">
                <a:latin typeface="Calibri"/>
                <a:cs typeface="Calibri"/>
              </a:rPr>
              <a:t>7	</a:t>
            </a:r>
            <a:r>
              <a:rPr sz="1800" spc="-5" dirty="0">
                <a:latin typeface="Calibri"/>
                <a:cs typeface="Calibri"/>
              </a:rPr>
              <a:t>2</a:t>
            </a:r>
            <a:r>
              <a:rPr sz="1800" dirty="0">
                <a:latin typeface="Calibri"/>
                <a:cs typeface="Calibri"/>
              </a:rPr>
              <a:t>3	</a:t>
            </a:r>
            <a:r>
              <a:rPr sz="1800" spc="-5" dirty="0">
                <a:latin typeface="Calibri"/>
                <a:cs typeface="Calibri"/>
              </a:rPr>
              <a:t>25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0540" y="1125973"/>
            <a:ext cx="7771765" cy="245046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80365" algn="l"/>
                <a:tab pos="381000" algn="l"/>
              </a:tabLst>
            </a:pPr>
            <a:r>
              <a:rPr sz="3200" spc="-15" dirty="0">
                <a:latin typeface="Calibri"/>
                <a:cs typeface="Calibri"/>
              </a:rPr>
              <a:t>Merge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count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step.</a:t>
            </a:r>
            <a:endParaRPr sz="3200">
              <a:latin typeface="Calibri"/>
              <a:cs typeface="Calibri"/>
            </a:endParaRPr>
          </a:p>
          <a:p>
            <a:pPr marL="781685" marR="30480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82320" algn="l"/>
              </a:tabLst>
            </a:pPr>
            <a:r>
              <a:rPr sz="2800" spc="-10" dirty="0">
                <a:latin typeface="Calibri"/>
                <a:cs typeface="Calibri"/>
              </a:rPr>
              <a:t>Given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halves,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count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of </a:t>
            </a:r>
            <a:r>
              <a:rPr sz="2800" spc="-5" dirty="0">
                <a:latin typeface="Calibri"/>
                <a:cs typeface="Calibri"/>
              </a:rPr>
              <a:t> i</a:t>
            </a:r>
            <a:r>
              <a:rPr sz="2800" spc="-65" dirty="0">
                <a:latin typeface="Calibri"/>
                <a:cs typeface="Calibri"/>
              </a:rPr>
              <a:t>n</a:t>
            </a:r>
            <a:r>
              <a:rPr sz="2800" spc="-35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r</a:t>
            </a:r>
            <a:r>
              <a:rPr sz="2800" spc="-10" dirty="0">
                <a:latin typeface="Calibri"/>
                <a:cs typeface="Calibri"/>
              </a:rPr>
              <a:t>sio</a:t>
            </a:r>
            <a:r>
              <a:rPr sz="2800" spc="-1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whe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1950" spc="7" baseline="-21367" dirty="0">
                <a:latin typeface="Calibri"/>
                <a:cs typeface="Calibri"/>
              </a:rPr>
              <a:t>i</a:t>
            </a:r>
            <a:r>
              <a:rPr sz="1950" baseline="-21367" dirty="0">
                <a:latin typeface="Calibri"/>
                <a:cs typeface="Calibri"/>
              </a:rPr>
              <a:t> </a:t>
            </a:r>
            <a:r>
              <a:rPr sz="1950" spc="44" baseline="-21367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1950" spc="7" baseline="-21367" dirty="0">
                <a:latin typeface="Calibri"/>
                <a:cs typeface="Calibri"/>
              </a:rPr>
              <a:t>j</a:t>
            </a:r>
            <a:r>
              <a:rPr sz="1950" baseline="-21367" dirty="0">
                <a:latin typeface="Calibri"/>
                <a:cs typeface="Calibri"/>
              </a:rPr>
              <a:t> </a:t>
            </a:r>
            <a:r>
              <a:rPr sz="1950" spc="60" baseline="-21367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</a:t>
            </a:r>
            <a:r>
              <a:rPr sz="2800" spc="-20" dirty="0">
                <a:latin typeface="Calibri"/>
                <a:cs typeface="Calibri"/>
              </a:rPr>
              <a:t>i</a:t>
            </a:r>
            <a:r>
              <a:rPr sz="2800" spc="-35" dirty="0">
                <a:latin typeface="Calibri"/>
                <a:cs typeface="Calibri"/>
              </a:rPr>
              <a:t>f</a:t>
            </a:r>
            <a:r>
              <a:rPr sz="2800" spc="-80" dirty="0">
                <a:latin typeface="Calibri"/>
                <a:cs typeface="Calibri"/>
              </a:rPr>
              <a:t>f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3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hal</a:t>
            </a:r>
            <a:r>
              <a:rPr sz="2800" spc="-40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es.</a:t>
            </a:r>
            <a:endParaRPr sz="2800">
              <a:latin typeface="Calibri"/>
              <a:cs typeface="Calibri"/>
            </a:endParaRPr>
          </a:p>
          <a:p>
            <a:pPr marL="7816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82320" algn="l"/>
              </a:tabLst>
            </a:pPr>
            <a:r>
              <a:rPr sz="2800" spc="-10" dirty="0">
                <a:latin typeface="Calibri"/>
                <a:cs typeface="Calibri"/>
              </a:rPr>
              <a:t>Combine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halves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whole.</a:t>
            </a:r>
            <a:endParaRPr sz="2800">
              <a:latin typeface="Calibri"/>
              <a:cs typeface="Calibri"/>
            </a:endParaRPr>
          </a:p>
          <a:p>
            <a:pPr marL="534670">
              <a:lnSpc>
                <a:spcPct val="100000"/>
              </a:lnSpc>
              <a:spcBef>
                <a:spcPts val="850"/>
              </a:spcBef>
            </a:pPr>
            <a:r>
              <a:rPr sz="1800" dirty="0">
                <a:latin typeface="Calibri"/>
                <a:cs typeface="Calibri"/>
              </a:rPr>
              <a:t>i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6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348855" y="3984116"/>
            <a:ext cx="13055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two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sorted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halves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219200" y="4913312"/>
            <a:ext cx="2749550" cy="427355"/>
            <a:chOff x="1219200" y="4913312"/>
            <a:chExt cx="2749550" cy="427355"/>
          </a:xfrm>
        </p:grpSpPr>
        <p:sp>
          <p:nvSpPr>
            <p:cNvPr id="26" name="object 26"/>
            <p:cNvSpPr/>
            <p:nvPr/>
          </p:nvSpPr>
          <p:spPr>
            <a:xfrm>
              <a:off x="21336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5908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048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048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505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505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219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219200" y="4919662"/>
            <a:ext cx="5486400" cy="41465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440"/>
              </a:spcBef>
            </a:pPr>
            <a:r>
              <a:rPr sz="180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670050" y="4913312"/>
            <a:ext cx="5041900" cy="427355"/>
            <a:chOff x="1670050" y="4913312"/>
            <a:chExt cx="5041900" cy="427355"/>
          </a:xfrm>
        </p:grpSpPr>
        <p:sp>
          <p:nvSpPr>
            <p:cNvPr id="35" name="object 35"/>
            <p:cNvSpPr/>
            <p:nvPr/>
          </p:nvSpPr>
          <p:spPr>
            <a:xfrm>
              <a:off x="1676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676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962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962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8768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334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791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791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248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248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4196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4196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7441438" y="4989321"/>
            <a:ext cx="10445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auxiliary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array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190625" y="3609975"/>
            <a:ext cx="50800" cy="209550"/>
          </a:xfrm>
          <a:custGeom>
            <a:avLst/>
            <a:gdLst/>
            <a:ahLst/>
            <a:cxnLst/>
            <a:rect l="l" t="t" r="r" b="b"/>
            <a:pathLst>
              <a:path w="50800" h="209550">
                <a:moveTo>
                  <a:pt x="19050" y="158750"/>
                </a:moveTo>
                <a:lnTo>
                  <a:pt x="0" y="158750"/>
                </a:lnTo>
                <a:lnTo>
                  <a:pt x="25400" y="209550"/>
                </a:lnTo>
                <a:lnTo>
                  <a:pt x="44450" y="171450"/>
                </a:lnTo>
                <a:lnTo>
                  <a:pt x="19050" y="171450"/>
                </a:lnTo>
                <a:lnTo>
                  <a:pt x="19050" y="158750"/>
                </a:lnTo>
                <a:close/>
              </a:path>
              <a:path w="50800" h="209550">
                <a:moveTo>
                  <a:pt x="31750" y="0"/>
                </a:moveTo>
                <a:lnTo>
                  <a:pt x="19050" y="0"/>
                </a:lnTo>
                <a:lnTo>
                  <a:pt x="19050" y="171450"/>
                </a:lnTo>
                <a:lnTo>
                  <a:pt x="31750" y="171450"/>
                </a:lnTo>
                <a:lnTo>
                  <a:pt x="31750" y="0"/>
                </a:lnTo>
                <a:close/>
              </a:path>
              <a:path w="50800" h="209550">
                <a:moveTo>
                  <a:pt x="50800" y="158750"/>
                </a:moveTo>
                <a:lnTo>
                  <a:pt x="31750" y="158750"/>
                </a:lnTo>
                <a:lnTo>
                  <a:pt x="31750" y="171450"/>
                </a:lnTo>
                <a:lnTo>
                  <a:pt x="44450" y="171450"/>
                </a:lnTo>
                <a:lnTo>
                  <a:pt x="50800" y="158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386198" y="3609975"/>
            <a:ext cx="50800" cy="209550"/>
          </a:xfrm>
          <a:custGeom>
            <a:avLst/>
            <a:gdLst/>
            <a:ahLst/>
            <a:cxnLst/>
            <a:rect l="l" t="t" r="r" b="b"/>
            <a:pathLst>
              <a:path w="50800" h="209550">
                <a:moveTo>
                  <a:pt x="19050" y="158750"/>
                </a:moveTo>
                <a:lnTo>
                  <a:pt x="0" y="158750"/>
                </a:lnTo>
                <a:lnTo>
                  <a:pt x="25400" y="209550"/>
                </a:lnTo>
                <a:lnTo>
                  <a:pt x="44450" y="171450"/>
                </a:lnTo>
                <a:lnTo>
                  <a:pt x="19050" y="171450"/>
                </a:lnTo>
                <a:lnTo>
                  <a:pt x="19050" y="158750"/>
                </a:lnTo>
                <a:close/>
              </a:path>
              <a:path w="50800" h="209550">
                <a:moveTo>
                  <a:pt x="31750" y="0"/>
                </a:moveTo>
                <a:lnTo>
                  <a:pt x="19050" y="0"/>
                </a:lnTo>
                <a:lnTo>
                  <a:pt x="19050" y="171450"/>
                </a:lnTo>
                <a:lnTo>
                  <a:pt x="31750" y="171450"/>
                </a:lnTo>
                <a:lnTo>
                  <a:pt x="31750" y="0"/>
                </a:lnTo>
                <a:close/>
              </a:path>
              <a:path w="50800" h="209550">
                <a:moveTo>
                  <a:pt x="50800" y="158750"/>
                </a:moveTo>
                <a:lnTo>
                  <a:pt x="31750" y="158750"/>
                </a:lnTo>
                <a:lnTo>
                  <a:pt x="31750" y="171450"/>
                </a:lnTo>
                <a:lnTo>
                  <a:pt x="44450" y="171450"/>
                </a:lnTo>
                <a:lnTo>
                  <a:pt x="50800" y="158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3752850" y="5838825"/>
            <a:ext cx="3346450" cy="466725"/>
          </a:xfrm>
          <a:prstGeom prst="rect">
            <a:avLst/>
          </a:prstGeom>
          <a:solidFill>
            <a:srgbClr val="C0504D"/>
          </a:solidFill>
        </p:spPr>
        <p:txBody>
          <a:bodyPr vert="horz" wrap="square" lIns="0" tIns="774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610"/>
              </a:spcBef>
            </a:pPr>
            <a:r>
              <a:rPr sz="1800" spc="-35" dirty="0">
                <a:latin typeface="Calibri"/>
                <a:cs typeface="Calibri"/>
              </a:rPr>
              <a:t>Total: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6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51" name="object 51"/>
          <p:cNvSpPr txBox="1"/>
          <p:nvPr/>
        </p:nvSpPr>
        <p:spPr>
          <a:xfrm>
            <a:off x="4283075" y="4343400"/>
            <a:ext cx="271780" cy="274955"/>
          </a:xfrm>
          <a:prstGeom prst="rect">
            <a:avLst/>
          </a:prstGeom>
          <a:solidFill>
            <a:srgbClr val="938953"/>
          </a:solidFill>
        </p:spPr>
        <p:txBody>
          <a:bodyPr vert="horz" wrap="square" lIns="0" tIns="57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sz="1200" dirty="0"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title"/>
          </p:nvPr>
        </p:nvSpPr>
        <p:spPr>
          <a:xfrm>
            <a:off x="2533269" y="95757"/>
            <a:ext cx="40767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Counting</a:t>
            </a:r>
            <a:r>
              <a:rPr spc="-65" dirty="0"/>
              <a:t> </a:t>
            </a:r>
            <a:r>
              <a:rPr spc="-25" dirty="0"/>
              <a:t>Inversions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6356350"/>
            <a:ext cx="2133600" cy="365125"/>
          </a:xfrm>
          <a:custGeom>
            <a:avLst/>
            <a:gdLst/>
            <a:ahLst/>
            <a:cxnLst/>
            <a:rect l="l" t="t" r="r" b="b"/>
            <a:pathLst>
              <a:path w="2133600" h="365125">
                <a:moveTo>
                  <a:pt x="2133600" y="0"/>
                </a:moveTo>
                <a:lnTo>
                  <a:pt x="0" y="0"/>
                </a:lnTo>
                <a:lnTo>
                  <a:pt x="0" y="365125"/>
                </a:lnTo>
                <a:lnTo>
                  <a:pt x="2133600" y="365125"/>
                </a:lnTo>
                <a:lnTo>
                  <a:pt x="2133600" y="0"/>
                </a:lnTo>
                <a:close/>
              </a:path>
            </a:pathLst>
          </a:custGeom>
          <a:solidFill>
            <a:srgbClr val="93895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990600" y="3922712"/>
            <a:ext cx="2749550" cy="427355"/>
            <a:chOff x="990600" y="3922712"/>
            <a:chExt cx="2749550" cy="427355"/>
          </a:xfrm>
        </p:grpSpPr>
        <p:sp>
          <p:nvSpPr>
            <p:cNvPr id="4" name="object 4"/>
            <p:cNvSpPr/>
            <p:nvPr/>
          </p:nvSpPr>
          <p:spPr>
            <a:xfrm>
              <a:off x="1905000" y="39290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3622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194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194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766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766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90600" y="39290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478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90600" y="3929062"/>
            <a:ext cx="2743200" cy="4146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434"/>
              </a:spcBef>
              <a:tabLst>
                <a:tab pos="626745" algn="l"/>
                <a:tab pos="1026160" algn="l"/>
                <a:tab pos="1483360" algn="l"/>
                <a:tab pos="1941195" algn="l"/>
                <a:tab pos="2398395" algn="l"/>
              </a:tabLst>
            </a:pPr>
            <a:r>
              <a:rPr sz="1800" dirty="0">
                <a:latin typeface="Calibri"/>
                <a:cs typeface="Calibri"/>
              </a:rPr>
              <a:t>3	7	</a:t>
            </a:r>
            <a:r>
              <a:rPr sz="1800" spc="-5" dirty="0">
                <a:latin typeface="Calibri"/>
                <a:cs typeface="Calibri"/>
              </a:rPr>
              <a:t>10	14	18	19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105400" y="3922712"/>
            <a:ext cx="1835150" cy="427355"/>
            <a:chOff x="5105400" y="3922712"/>
            <a:chExt cx="1835150" cy="427355"/>
          </a:xfrm>
        </p:grpSpPr>
        <p:sp>
          <p:nvSpPr>
            <p:cNvPr id="14" name="object 14"/>
            <p:cNvSpPr/>
            <p:nvPr/>
          </p:nvSpPr>
          <p:spPr>
            <a:xfrm>
              <a:off x="5105400" y="39290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5626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198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198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4770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4770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648200" y="3929062"/>
            <a:ext cx="2286000" cy="4146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569595">
              <a:lnSpc>
                <a:spcPct val="100000"/>
              </a:lnSpc>
              <a:spcBef>
                <a:spcPts val="434"/>
              </a:spcBef>
              <a:tabLst>
                <a:tab pos="1026794" algn="l"/>
                <a:tab pos="1483995" algn="l"/>
                <a:tab pos="1941195" algn="l"/>
              </a:tabLst>
            </a:pPr>
            <a:r>
              <a:rPr sz="1800" spc="-5" dirty="0">
                <a:latin typeface="Calibri"/>
                <a:cs typeface="Calibri"/>
              </a:rPr>
              <a:t>16	17	23	25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191000" y="39290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457200" y="0"/>
                </a:moveTo>
                <a:lnTo>
                  <a:pt x="0" y="0"/>
                </a:lnTo>
                <a:lnTo>
                  <a:pt x="0" y="414337"/>
                </a:lnTo>
                <a:lnTo>
                  <a:pt x="457200" y="414337"/>
                </a:lnTo>
                <a:lnTo>
                  <a:pt x="457200" y="0"/>
                </a:lnTo>
                <a:close/>
              </a:path>
            </a:pathLst>
          </a:custGeom>
          <a:solidFill>
            <a:srgbClr val="93895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361434" y="3971925"/>
            <a:ext cx="1289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641850" y="3922712"/>
            <a:ext cx="469900" cy="427355"/>
            <a:chOff x="4641850" y="3922712"/>
            <a:chExt cx="469900" cy="427355"/>
          </a:xfrm>
        </p:grpSpPr>
        <p:sp>
          <p:nvSpPr>
            <p:cNvPr id="24" name="object 24"/>
            <p:cNvSpPr/>
            <p:nvPr/>
          </p:nvSpPr>
          <p:spPr>
            <a:xfrm>
              <a:off x="46482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6482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760976" y="3971925"/>
            <a:ext cx="244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11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10540" y="1049773"/>
            <a:ext cx="7771765" cy="252666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80365" algn="l"/>
                <a:tab pos="381000" algn="l"/>
              </a:tabLst>
            </a:pPr>
            <a:r>
              <a:rPr sz="3200" spc="-15" dirty="0">
                <a:latin typeface="Calibri"/>
                <a:cs typeface="Calibri"/>
              </a:rPr>
              <a:t>Merge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count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step.</a:t>
            </a:r>
            <a:endParaRPr sz="3200">
              <a:latin typeface="Calibri"/>
              <a:cs typeface="Calibri"/>
            </a:endParaRPr>
          </a:p>
          <a:p>
            <a:pPr marL="781685" marR="30480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82320" algn="l"/>
              </a:tabLst>
            </a:pPr>
            <a:r>
              <a:rPr sz="2800" spc="-10" dirty="0">
                <a:latin typeface="Calibri"/>
                <a:cs typeface="Calibri"/>
              </a:rPr>
              <a:t>Given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halves,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count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of </a:t>
            </a:r>
            <a:r>
              <a:rPr sz="2800" spc="-5" dirty="0">
                <a:latin typeface="Calibri"/>
                <a:cs typeface="Calibri"/>
              </a:rPr>
              <a:t> i</a:t>
            </a:r>
            <a:r>
              <a:rPr sz="2800" spc="-65" dirty="0">
                <a:latin typeface="Calibri"/>
                <a:cs typeface="Calibri"/>
              </a:rPr>
              <a:t>n</a:t>
            </a:r>
            <a:r>
              <a:rPr sz="2800" spc="-35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r</a:t>
            </a:r>
            <a:r>
              <a:rPr sz="2800" spc="-10" dirty="0">
                <a:latin typeface="Calibri"/>
                <a:cs typeface="Calibri"/>
              </a:rPr>
              <a:t>sio</a:t>
            </a:r>
            <a:r>
              <a:rPr sz="2800" spc="-1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whe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1950" spc="7" baseline="-21367" dirty="0">
                <a:latin typeface="Calibri"/>
                <a:cs typeface="Calibri"/>
              </a:rPr>
              <a:t>i</a:t>
            </a:r>
            <a:r>
              <a:rPr sz="1950" baseline="-21367" dirty="0">
                <a:latin typeface="Calibri"/>
                <a:cs typeface="Calibri"/>
              </a:rPr>
              <a:t> </a:t>
            </a:r>
            <a:r>
              <a:rPr sz="1950" spc="44" baseline="-21367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1950" spc="7" baseline="-21367" dirty="0">
                <a:latin typeface="Calibri"/>
                <a:cs typeface="Calibri"/>
              </a:rPr>
              <a:t>j</a:t>
            </a:r>
            <a:r>
              <a:rPr sz="1950" baseline="-21367" dirty="0">
                <a:latin typeface="Calibri"/>
                <a:cs typeface="Calibri"/>
              </a:rPr>
              <a:t> </a:t>
            </a:r>
            <a:r>
              <a:rPr sz="1950" spc="60" baseline="-21367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</a:t>
            </a:r>
            <a:r>
              <a:rPr sz="2800" spc="-20" dirty="0">
                <a:latin typeface="Calibri"/>
                <a:cs typeface="Calibri"/>
              </a:rPr>
              <a:t>i</a:t>
            </a:r>
            <a:r>
              <a:rPr sz="2800" spc="-35" dirty="0">
                <a:latin typeface="Calibri"/>
                <a:cs typeface="Calibri"/>
              </a:rPr>
              <a:t>f</a:t>
            </a:r>
            <a:r>
              <a:rPr sz="2800" spc="-80" dirty="0">
                <a:latin typeface="Calibri"/>
                <a:cs typeface="Calibri"/>
              </a:rPr>
              <a:t>f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3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hal</a:t>
            </a:r>
            <a:r>
              <a:rPr sz="2800" spc="-40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es.</a:t>
            </a:r>
            <a:endParaRPr sz="2800">
              <a:latin typeface="Calibri"/>
              <a:cs typeface="Calibri"/>
            </a:endParaRPr>
          </a:p>
          <a:p>
            <a:pPr marL="7816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82320" algn="l"/>
              </a:tabLst>
            </a:pPr>
            <a:r>
              <a:rPr sz="2800" spc="-10" dirty="0">
                <a:latin typeface="Calibri"/>
                <a:cs typeface="Calibri"/>
              </a:rPr>
              <a:t>Combine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halves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whole.</a:t>
            </a:r>
            <a:endParaRPr sz="2800">
              <a:latin typeface="Calibri"/>
              <a:cs typeface="Calibri"/>
            </a:endParaRPr>
          </a:p>
          <a:p>
            <a:pPr marL="534670">
              <a:lnSpc>
                <a:spcPct val="100000"/>
              </a:lnSpc>
              <a:spcBef>
                <a:spcPts val="1450"/>
              </a:spcBef>
            </a:pPr>
            <a:r>
              <a:rPr sz="1800" dirty="0">
                <a:latin typeface="Calibri"/>
                <a:cs typeface="Calibri"/>
              </a:rPr>
              <a:t>i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6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348855" y="3984116"/>
            <a:ext cx="13055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two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sorted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halves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219200" y="4913312"/>
            <a:ext cx="2749550" cy="427355"/>
            <a:chOff x="1219200" y="4913312"/>
            <a:chExt cx="2749550" cy="427355"/>
          </a:xfrm>
        </p:grpSpPr>
        <p:sp>
          <p:nvSpPr>
            <p:cNvPr id="30" name="object 30"/>
            <p:cNvSpPr/>
            <p:nvPr/>
          </p:nvSpPr>
          <p:spPr>
            <a:xfrm>
              <a:off x="21336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5908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048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048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505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505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219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219200" y="4919662"/>
            <a:ext cx="5486400" cy="41465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440"/>
              </a:spcBef>
            </a:pPr>
            <a:r>
              <a:rPr sz="180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670050" y="4913312"/>
            <a:ext cx="5041900" cy="427355"/>
            <a:chOff x="1670050" y="4913312"/>
            <a:chExt cx="5041900" cy="427355"/>
          </a:xfrm>
        </p:grpSpPr>
        <p:sp>
          <p:nvSpPr>
            <p:cNvPr id="39" name="object 39"/>
            <p:cNvSpPr/>
            <p:nvPr/>
          </p:nvSpPr>
          <p:spPr>
            <a:xfrm>
              <a:off x="1676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676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962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962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8768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334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791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791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248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248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4196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4196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7441438" y="4989321"/>
            <a:ext cx="10445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auxiliary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array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190625" y="3609975"/>
            <a:ext cx="50800" cy="209550"/>
          </a:xfrm>
          <a:custGeom>
            <a:avLst/>
            <a:gdLst/>
            <a:ahLst/>
            <a:cxnLst/>
            <a:rect l="l" t="t" r="r" b="b"/>
            <a:pathLst>
              <a:path w="50800" h="209550">
                <a:moveTo>
                  <a:pt x="19050" y="158750"/>
                </a:moveTo>
                <a:lnTo>
                  <a:pt x="0" y="158750"/>
                </a:lnTo>
                <a:lnTo>
                  <a:pt x="25400" y="209550"/>
                </a:lnTo>
                <a:lnTo>
                  <a:pt x="44450" y="171450"/>
                </a:lnTo>
                <a:lnTo>
                  <a:pt x="19050" y="171450"/>
                </a:lnTo>
                <a:lnTo>
                  <a:pt x="19050" y="158750"/>
                </a:lnTo>
                <a:close/>
              </a:path>
              <a:path w="50800" h="209550">
                <a:moveTo>
                  <a:pt x="31750" y="0"/>
                </a:moveTo>
                <a:lnTo>
                  <a:pt x="19050" y="0"/>
                </a:lnTo>
                <a:lnTo>
                  <a:pt x="19050" y="171450"/>
                </a:lnTo>
                <a:lnTo>
                  <a:pt x="31750" y="171450"/>
                </a:lnTo>
                <a:lnTo>
                  <a:pt x="31750" y="0"/>
                </a:lnTo>
                <a:close/>
              </a:path>
              <a:path w="50800" h="209550">
                <a:moveTo>
                  <a:pt x="50800" y="158750"/>
                </a:moveTo>
                <a:lnTo>
                  <a:pt x="31750" y="158750"/>
                </a:lnTo>
                <a:lnTo>
                  <a:pt x="31750" y="171450"/>
                </a:lnTo>
                <a:lnTo>
                  <a:pt x="44450" y="171450"/>
                </a:lnTo>
                <a:lnTo>
                  <a:pt x="50800" y="158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843398" y="3609975"/>
            <a:ext cx="50800" cy="209550"/>
          </a:xfrm>
          <a:custGeom>
            <a:avLst/>
            <a:gdLst/>
            <a:ahLst/>
            <a:cxnLst/>
            <a:rect l="l" t="t" r="r" b="b"/>
            <a:pathLst>
              <a:path w="50800" h="209550">
                <a:moveTo>
                  <a:pt x="19050" y="158750"/>
                </a:moveTo>
                <a:lnTo>
                  <a:pt x="0" y="158750"/>
                </a:lnTo>
                <a:lnTo>
                  <a:pt x="25400" y="209550"/>
                </a:lnTo>
                <a:lnTo>
                  <a:pt x="44450" y="171450"/>
                </a:lnTo>
                <a:lnTo>
                  <a:pt x="19050" y="171450"/>
                </a:lnTo>
                <a:lnTo>
                  <a:pt x="19050" y="158750"/>
                </a:lnTo>
                <a:close/>
              </a:path>
              <a:path w="50800" h="209550">
                <a:moveTo>
                  <a:pt x="31750" y="0"/>
                </a:moveTo>
                <a:lnTo>
                  <a:pt x="19050" y="0"/>
                </a:lnTo>
                <a:lnTo>
                  <a:pt x="19050" y="171450"/>
                </a:lnTo>
                <a:lnTo>
                  <a:pt x="31750" y="171450"/>
                </a:lnTo>
                <a:lnTo>
                  <a:pt x="31750" y="0"/>
                </a:lnTo>
                <a:close/>
              </a:path>
              <a:path w="50800" h="209550">
                <a:moveTo>
                  <a:pt x="50800" y="158750"/>
                </a:moveTo>
                <a:lnTo>
                  <a:pt x="31750" y="158750"/>
                </a:lnTo>
                <a:lnTo>
                  <a:pt x="31750" y="171450"/>
                </a:lnTo>
                <a:lnTo>
                  <a:pt x="44450" y="171450"/>
                </a:lnTo>
                <a:lnTo>
                  <a:pt x="50800" y="158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3752850" y="5838825"/>
            <a:ext cx="3346450" cy="466725"/>
          </a:xfrm>
          <a:prstGeom prst="rect">
            <a:avLst/>
          </a:prstGeom>
          <a:solidFill>
            <a:srgbClr val="C0504D"/>
          </a:solidFill>
        </p:spPr>
        <p:txBody>
          <a:bodyPr vert="horz" wrap="square" lIns="0" tIns="774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610"/>
              </a:spcBef>
            </a:pPr>
            <a:r>
              <a:rPr sz="1800" spc="-35" dirty="0">
                <a:latin typeface="Calibri"/>
                <a:cs typeface="Calibri"/>
              </a:rPr>
              <a:t>Total: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6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7" name="object 5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55" name="object 55"/>
          <p:cNvSpPr txBox="1"/>
          <p:nvPr/>
        </p:nvSpPr>
        <p:spPr>
          <a:xfrm>
            <a:off x="4283075" y="4343400"/>
            <a:ext cx="271780" cy="274955"/>
          </a:xfrm>
          <a:prstGeom prst="rect">
            <a:avLst/>
          </a:prstGeom>
          <a:solidFill>
            <a:srgbClr val="938953"/>
          </a:solidFill>
        </p:spPr>
        <p:txBody>
          <a:bodyPr vert="horz" wrap="square" lIns="0" tIns="57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sz="1200" dirty="0"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6" name="object 56"/>
          <p:cNvSpPr txBox="1">
            <a:spLocks noGrp="1"/>
          </p:cNvSpPr>
          <p:nvPr>
            <p:ph type="title"/>
          </p:nvPr>
        </p:nvSpPr>
        <p:spPr>
          <a:xfrm>
            <a:off x="2533269" y="95757"/>
            <a:ext cx="40767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Counting</a:t>
            </a:r>
            <a:r>
              <a:rPr spc="-65" dirty="0"/>
              <a:t> </a:t>
            </a:r>
            <a:r>
              <a:rPr spc="-25" dirty="0"/>
              <a:t>Inversions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05000" y="3922712"/>
            <a:ext cx="1835150" cy="427355"/>
            <a:chOff x="1905000" y="3922712"/>
            <a:chExt cx="1835150" cy="427355"/>
          </a:xfrm>
        </p:grpSpPr>
        <p:sp>
          <p:nvSpPr>
            <p:cNvPr id="3" name="object 3"/>
            <p:cNvSpPr/>
            <p:nvPr/>
          </p:nvSpPr>
          <p:spPr>
            <a:xfrm>
              <a:off x="1905000" y="39290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3622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194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194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766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766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90600" y="3929062"/>
            <a:ext cx="457200" cy="414655"/>
          </a:xfrm>
          <a:prstGeom prst="rect">
            <a:avLst/>
          </a:prstGeom>
          <a:solidFill>
            <a:srgbClr val="548ED4"/>
          </a:solidFill>
        </p:spPr>
        <p:txBody>
          <a:bodyPr vert="horz" wrap="square" lIns="0" tIns="5524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441450" y="3922712"/>
            <a:ext cx="469900" cy="427355"/>
            <a:chOff x="1441450" y="3922712"/>
            <a:chExt cx="469900" cy="427355"/>
          </a:xfrm>
        </p:grpSpPr>
        <p:sp>
          <p:nvSpPr>
            <p:cNvPr id="11" name="object 11"/>
            <p:cNvSpPr/>
            <p:nvPr/>
          </p:nvSpPr>
          <p:spPr>
            <a:xfrm>
              <a:off x="14478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4478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4191000" y="3922712"/>
            <a:ext cx="2749550" cy="427355"/>
            <a:chOff x="4191000" y="3922712"/>
            <a:chExt cx="2749550" cy="427355"/>
          </a:xfrm>
        </p:grpSpPr>
        <p:sp>
          <p:nvSpPr>
            <p:cNvPr id="14" name="object 14"/>
            <p:cNvSpPr/>
            <p:nvPr/>
          </p:nvSpPr>
          <p:spPr>
            <a:xfrm>
              <a:off x="5105400" y="39290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5626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198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198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4770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4770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191000" y="39290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6482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617852" y="3971925"/>
            <a:ext cx="5216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398780" algn="l"/>
                <a:tab pos="855980" algn="l"/>
                <a:tab pos="1313815" algn="l"/>
                <a:tab pos="1771014" algn="l"/>
                <a:tab pos="2743200" algn="l"/>
                <a:tab pos="3142615" algn="l"/>
                <a:tab pos="3599815" algn="l"/>
                <a:tab pos="4057015" algn="l"/>
                <a:tab pos="4514215" algn="l"/>
                <a:tab pos="4972050" algn="l"/>
              </a:tabLst>
            </a:pPr>
            <a:r>
              <a:rPr sz="1800" dirty="0">
                <a:latin typeface="Calibri"/>
                <a:cs typeface="Calibri"/>
              </a:rPr>
              <a:t>7	</a:t>
            </a:r>
            <a:r>
              <a:rPr sz="1800" spc="-5" dirty="0">
                <a:latin typeface="Calibri"/>
                <a:cs typeface="Calibri"/>
              </a:rPr>
              <a:t>1</a:t>
            </a:r>
            <a:r>
              <a:rPr sz="1800" dirty="0">
                <a:latin typeface="Calibri"/>
                <a:cs typeface="Calibri"/>
              </a:rPr>
              <a:t>0	</a:t>
            </a:r>
            <a:r>
              <a:rPr sz="1800" spc="-5" dirty="0">
                <a:latin typeface="Calibri"/>
                <a:cs typeface="Calibri"/>
              </a:rPr>
              <a:t>1</a:t>
            </a:r>
            <a:r>
              <a:rPr sz="1800" dirty="0">
                <a:latin typeface="Calibri"/>
                <a:cs typeface="Calibri"/>
              </a:rPr>
              <a:t>4	</a:t>
            </a:r>
            <a:r>
              <a:rPr sz="1800" spc="-5" dirty="0">
                <a:latin typeface="Calibri"/>
                <a:cs typeface="Calibri"/>
              </a:rPr>
              <a:t>1</a:t>
            </a:r>
            <a:r>
              <a:rPr sz="1800" dirty="0">
                <a:latin typeface="Calibri"/>
                <a:cs typeface="Calibri"/>
              </a:rPr>
              <a:t>8	</a:t>
            </a:r>
            <a:r>
              <a:rPr sz="1800" spc="-5" dirty="0">
                <a:latin typeface="Calibri"/>
                <a:cs typeface="Calibri"/>
              </a:rPr>
              <a:t>1</a:t>
            </a:r>
            <a:r>
              <a:rPr sz="1800" dirty="0">
                <a:latin typeface="Calibri"/>
                <a:cs typeface="Calibri"/>
              </a:rPr>
              <a:t>9	2	</a:t>
            </a:r>
            <a:r>
              <a:rPr sz="1800" spc="-5" dirty="0">
                <a:latin typeface="Calibri"/>
                <a:cs typeface="Calibri"/>
              </a:rPr>
              <a:t>1</a:t>
            </a:r>
            <a:r>
              <a:rPr sz="1800" dirty="0">
                <a:latin typeface="Calibri"/>
                <a:cs typeface="Calibri"/>
              </a:rPr>
              <a:t>1	</a:t>
            </a:r>
            <a:r>
              <a:rPr sz="1800" spc="-5" dirty="0">
                <a:latin typeface="Calibri"/>
                <a:cs typeface="Calibri"/>
              </a:rPr>
              <a:t>1</a:t>
            </a:r>
            <a:r>
              <a:rPr sz="1800" dirty="0">
                <a:latin typeface="Calibri"/>
                <a:cs typeface="Calibri"/>
              </a:rPr>
              <a:t>6	</a:t>
            </a:r>
            <a:r>
              <a:rPr sz="1800" spc="-5" dirty="0">
                <a:latin typeface="Calibri"/>
                <a:cs typeface="Calibri"/>
              </a:rPr>
              <a:t>1</a:t>
            </a:r>
            <a:r>
              <a:rPr sz="1800" dirty="0">
                <a:latin typeface="Calibri"/>
                <a:cs typeface="Calibri"/>
              </a:rPr>
              <a:t>7	</a:t>
            </a:r>
            <a:r>
              <a:rPr sz="1800" spc="-5" dirty="0">
                <a:latin typeface="Calibri"/>
                <a:cs typeface="Calibri"/>
              </a:rPr>
              <a:t>2</a:t>
            </a:r>
            <a:r>
              <a:rPr sz="1800" dirty="0">
                <a:latin typeface="Calibri"/>
                <a:cs typeface="Calibri"/>
              </a:rPr>
              <a:t>3	</a:t>
            </a:r>
            <a:r>
              <a:rPr sz="1800" spc="-5" dirty="0">
                <a:latin typeface="Calibri"/>
                <a:cs typeface="Calibri"/>
              </a:rPr>
              <a:t>25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0540" y="1125973"/>
            <a:ext cx="7771765" cy="245046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80365" algn="l"/>
                <a:tab pos="381000" algn="l"/>
              </a:tabLst>
            </a:pPr>
            <a:r>
              <a:rPr sz="3200" spc="-15" dirty="0">
                <a:latin typeface="Calibri"/>
                <a:cs typeface="Calibri"/>
              </a:rPr>
              <a:t>Merge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count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step.</a:t>
            </a:r>
            <a:endParaRPr sz="3200">
              <a:latin typeface="Calibri"/>
              <a:cs typeface="Calibri"/>
            </a:endParaRPr>
          </a:p>
          <a:p>
            <a:pPr marL="781685" marR="30480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82320" algn="l"/>
              </a:tabLst>
            </a:pPr>
            <a:r>
              <a:rPr sz="2800" spc="-10" dirty="0">
                <a:latin typeface="Calibri"/>
                <a:cs typeface="Calibri"/>
              </a:rPr>
              <a:t>Given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halves,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count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of </a:t>
            </a:r>
            <a:r>
              <a:rPr sz="2800" spc="-5" dirty="0">
                <a:latin typeface="Calibri"/>
                <a:cs typeface="Calibri"/>
              </a:rPr>
              <a:t> i</a:t>
            </a:r>
            <a:r>
              <a:rPr sz="2800" spc="-65" dirty="0">
                <a:latin typeface="Calibri"/>
                <a:cs typeface="Calibri"/>
              </a:rPr>
              <a:t>n</a:t>
            </a:r>
            <a:r>
              <a:rPr sz="2800" spc="-35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r</a:t>
            </a:r>
            <a:r>
              <a:rPr sz="2800" spc="-10" dirty="0">
                <a:latin typeface="Calibri"/>
                <a:cs typeface="Calibri"/>
              </a:rPr>
              <a:t>sio</a:t>
            </a:r>
            <a:r>
              <a:rPr sz="2800" spc="-1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whe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1950" spc="7" baseline="-21367" dirty="0">
                <a:latin typeface="Calibri"/>
                <a:cs typeface="Calibri"/>
              </a:rPr>
              <a:t>i</a:t>
            </a:r>
            <a:r>
              <a:rPr sz="1950" baseline="-21367" dirty="0">
                <a:latin typeface="Calibri"/>
                <a:cs typeface="Calibri"/>
              </a:rPr>
              <a:t> </a:t>
            </a:r>
            <a:r>
              <a:rPr sz="1950" spc="44" baseline="-21367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1950" spc="7" baseline="-21367" dirty="0">
                <a:latin typeface="Calibri"/>
                <a:cs typeface="Calibri"/>
              </a:rPr>
              <a:t>j</a:t>
            </a:r>
            <a:r>
              <a:rPr sz="1950" baseline="-21367" dirty="0">
                <a:latin typeface="Calibri"/>
                <a:cs typeface="Calibri"/>
              </a:rPr>
              <a:t> </a:t>
            </a:r>
            <a:r>
              <a:rPr sz="1950" spc="60" baseline="-21367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</a:t>
            </a:r>
            <a:r>
              <a:rPr sz="2800" spc="-20" dirty="0">
                <a:latin typeface="Calibri"/>
                <a:cs typeface="Calibri"/>
              </a:rPr>
              <a:t>i</a:t>
            </a:r>
            <a:r>
              <a:rPr sz="2800" spc="-35" dirty="0">
                <a:latin typeface="Calibri"/>
                <a:cs typeface="Calibri"/>
              </a:rPr>
              <a:t>f</a:t>
            </a:r>
            <a:r>
              <a:rPr sz="2800" spc="-80" dirty="0">
                <a:latin typeface="Calibri"/>
                <a:cs typeface="Calibri"/>
              </a:rPr>
              <a:t>f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3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hal</a:t>
            </a:r>
            <a:r>
              <a:rPr sz="2800" spc="-40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es.</a:t>
            </a:r>
            <a:endParaRPr sz="2800">
              <a:latin typeface="Calibri"/>
              <a:cs typeface="Calibri"/>
            </a:endParaRPr>
          </a:p>
          <a:p>
            <a:pPr marL="7816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82320" algn="l"/>
              </a:tabLst>
            </a:pPr>
            <a:r>
              <a:rPr sz="2800" spc="-10" dirty="0">
                <a:latin typeface="Calibri"/>
                <a:cs typeface="Calibri"/>
              </a:rPr>
              <a:t>Combine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halves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whole.</a:t>
            </a:r>
            <a:endParaRPr sz="2800">
              <a:latin typeface="Calibri"/>
              <a:cs typeface="Calibri"/>
            </a:endParaRPr>
          </a:p>
          <a:p>
            <a:pPr marL="534670">
              <a:lnSpc>
                <a:spcPct val="100000"/>
              </a:lnSpc>
              <a:spcBef>
                <a:spcPts val="850"/>
              </a:spcBef>
            </a:pPr>
            <a:r>
              <a:rPr sz="1800" dirty="0">
                <a:latin typeface="Calibri"/>
                <a:cs typeface="Calibri"/>
              </a:rPr>
              <a:t>i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6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348855" y="3984116"/>
            <a:ext cx="13055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two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sorted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halves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219200" y="4913312"/>
            <a:ext cx="2749550" cy="427355"/>
            <a:chOff x="1219200" y="4913312"/>
            <a:chExt cx="2749550" cy="427355"/>
          </a:xfrm>
        </p:grpSpPr>
        <p:sp>
          <p:nvSpPr>
            <p:cNvPr id="26" name="object 26"/>
            <p:cNvSpPr/>
            <p:nvPr/>
          </p:nvSpPr>
          <p:spPr>
            <a:xfrm>
              <a:off x="21336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5908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048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048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505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505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2192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676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219200" y="4919662"/>
            <a:ext cx="5486400" cy="41465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440"/>
              </a:spcBef>
              <a:tabLst>
                <a:tab pos="626745" algn="l"/>
              </a:tabLst>
            </a:pPr>
            <a:r>
              <a:rPr sz="1800" dirty="0">
                <a:latin typeface="Calibri"/>
                <a:cs typeface="Calibri"/>
              </a:rPr>
              <a:t>2	3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956050" y="4913312"/>
            <a:ext cx="2755900" cy="427355"/>
            <a:chOff x="3956050" y="4913312"/>
            <a:chExt cx="2755900" cy="427355"/>
          </a:xfrm>
        </p:grpSpPr>
        <p:sp>
          <p:nvSpPr>
            <p:cNvPr id="36" name="object 36"/>
            <p:cNvSpPr/>
            <p:nvPr/>
          </p:nvSpPr>
          <p:spPr>
            <a:xfrm>
              <a:off x="3962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962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8768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334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791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791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248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248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4196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4196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7441438" y="4989321"/>
            <a:ext cx="10445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auxiliary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array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190625" y="3609975"/>
            <a:ext cx="50800" cy="209550"/>
          </a:xfrm>
          <a:custGeom>
            <a:avLst/>
            <a:gdLst/>
            <a:ahLst/>
            <a:cxnLst/>
            <a:rect l="l" t="t" r="r" b="b"/>
            <a:pathLst>
              <a:path w="50800" h="209550">
                <a:moveTo>
                  <a:pt x="19050" y="158750"/>
                </a:moveTo>
                <a:lnTo>
                  <a:pt x="0" y="158750"/>
                </a:lnTo>
                <a:lnTo>
                  <a:pt x="25400" y="209550"/>
                </a:lnTo>
                <a:lnTo>
                  <a:pt x="44450" y="171450"/>
                </a:lnTo>
                <a:lnTo>
                  <a:pt x="19050" y="171450"/>
                </a:lnTo>
                <a:lnTo>
                  <a:pt x="19050" y="158750"/>
                </a:lnTo>
                <a:close/>
              </a:path>
              <a:path w="50800" h="209550">
                <a:moveTo>
                  <a:pt x="31750" y="0"/>
                </a:moveTo>
                <a:lnTo>
                  <a:pt x="19050" y="0"/>
                </a:lnTo>
                <a:lnTo>
                  <a:pt x="19050" y="171450"/>
                </a:lnTo>
                <a:lnTo>
                  <a:pt x="31750" y="171450"/>
                </a:lnTo>
                <a:lnTo>
                  <a:pt x="31750" y="0"/>
                </a:lnTo>
                <a:close/>
              </a:path>
              <a:path w="50800" h="209550">
                <a:moveTo>
                  <a:pt x="50800" y="158750"/>
                </a:moveTo>
                <a:lnTo>
                  <a:pt x="31750" y="158750"/>
                </a:lnTo>
                <a:lnTo>
                  <a:pt x="31750" y="171450"/>
                </a:lnTo>
                <a:lnTo>
                  <a:pt x="44450" y="171450"/>
                </a:lnTo>
                <a:lnTo>
                  <a:pt x="50800" y="158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843398" y="3609975"/>
            <a:ext cx="50800" cy="209550"/>
          </a:xfrm>
          <a:custGeom>
            <a:avLst/>
            <a:gdLst/>
            <a:ahLst/>
            <a:cxnLst/>
            <a:rect l="l" t="t" r="r" b="b"/>
            <a:pathLst>
              <a:path w="50800" h="209550">
                <a:moveTo>
                  <a:pt x="19050" y="158750"/>
                </a:moveTo>
                <a:lnTo>
                  <a:pt x="0" y="158750"/>
                </a:lnTo>
                <a:lnTo>
                  <a:pt x="25400" y="209550"/>
                </a:lnTo>
                <a:lnTo>
                  <a:pt x="44450" y="171450"/>
                </a:lnTo>
                <a:lnTo>
                  <a:pt x="19050" y="171450"/>
                </a:lnTo>
                <a:lnTo>
                  <a:pt x="19050" y="158750"/>
                </a:lnTo>
                <a:close/>
              </a:path>
              <a:path w="50800" h="209550">
                <a:moveTo>
                  <a:pt x="31750" y="0"/>
                </a:moveTo>
                <a:lnTo>
                  <a:pt x="19050" y="0"/>
                </a:lnTo>
                <a:lnTo>
                  <a:pt x="19050" y="171450"/>
                </a:lnTo>
                <a:lnTo>
                  <a:pt x="31750" y="171450"/>
                </a:lnTo>
                <a:lnTo>
                  <a:pt x="31750" y="0"/>
                </a:lnTo>
                <a:close/>
              </a:path>
              <a:path w="50800" h="209550">
                <a:moveTo>
                  <a:pt x="50800" y="158750"/>
                </a:moveTo>
                <a:lnTo>
                  <a:pt x="31750" y="158750"/>
                </a:lnTo>
                <a:lnTo>
                  <a:pt x="31750" y="171450"/>
                </a:lnTo>
                <a:lnTo>
                  <a:pt x="44450" y="171450"/>
                </a:lnTo>
                <a:lnTo>
                  <a:pt x="50800" y="158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3752850" y="5838825"/>
            <a:ext cx="3346450" cy="466725"/>
          </a:xfrm>
          <a:prstGeom prst="rect">
            <a:avLst/>
          </a:prstGeom>
          <a:solidFill>
            <a:srgbClr val="C0504D"/>
          </a:solidFill>
        </p:spPr>
        <p:txBody>
          <a:bodyPr vert="horz" wrap="square" lIns="0" tIns="774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610"/>
              </a:spcBef>
            </a:pPr>
            <a:r>
              <a:rPr sz="1800" spc="-35" dirty="0">
                <a:latin typeface="Calibri"/>
                <a:cs typeface="Calibri"/>
              </a:rPr>
              <a:t>Total: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6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50" name="object 50"/>
          <p:cNvSpPr txBox="1"/>
          <p:nvPr/>
        </p:nvSpPr>
        <p:spPr>
          <a:xfrm>
            <a:off x="4283075" y="4343400"/>
            <a:ext cx="271780" cy="274955"/>
          </a:xfrm>
          <a:prstGeom prst="rect">
            <a:avLst/>
          </a:prstGeom>
          <a:solidFill>
            <a:srgbClr val="938953"/>
          </a:solidFill>
        </p:spPr>
        <p:txBody>
          <a:bodyPr vert="horz" wrap="square" lIns="0" tIns="57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sz="1200" dirty="0"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title"/>
          </p:nvPr>
        </p:nvSpPr>
        <p:spPr>
          <a:xfrm>
            <a:off x="2533269" y="95757"/>
            <a:ext cx="40767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Counting</a:t>
            </a:r>
            <a:r>
              <a:rPr spc="-65" dirty="0"/>
              <a:t> </a:t>
            </a:r>
            <a:r>
              <a:rPr spc="-25" dirty="0"/>
              <a:t>Inversions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05000" y="3922712"/>
            <a:ext cx="1835150" cy="427355"/>
            <a:chOff x="1905000" y="3922712"/>
            <a:chExt cx="1835150" cy="427355"/>
          </a:xfrm>
        </p:grpSpPr>
        <p:sp>
          <p:nvSpPr>
            <p:cNvPr id="3" name="object 3"/>
            <p:cNvSpPr/>
            <p:nvPr/>
          </p:nvSpPr>
          <p:spPr>
            <a:xfrm>
              <a:off x="1905000" y="39290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3622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194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194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766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766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90600" y="3929062"/>
            <a:ext cx="457200" cy="414655"/>
          </a:xfrm>
          <a:prstGeom prst="rect">
            <a:avLst/>
          </a:prstGeom>
          <a:solidFill>
            <a:srgbClr val="938953"/>
          </a:solidFill>
        </p:spPr>
        <p:txBody>
          <a:bodyPr vert="horz" wrap="square" lIns="0" tIns="5524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441450" y="3922712"/>
            <a:ext cx="469900" cy="427355"/>
            <a:chOff x="1441450" y="3922712"/>
            <a:chExt cx="469900" cy="427355"/>
          </a:xfrm>
        </p:grpSpPr>
        <p:sp>
          <p:nvSpPr>
            <p:cNvPr id="11" name="object 11"/>
            <p:cNvSpPr/>
            <p:nvPr/>
          </p:nvSpPr>
          <p:spPr>
            <a:xfrm>
              <a:off x="14478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4478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4191000" y="3922712"/>
            <a:ext cx="2749550" cy="427355"/>
            <a:chOff x="4191000" y="3922712"/>
            <a:chExt cx="2749550" cy="427355"/>
          </a:xfrm>
        </p:grpSpPr>
        <p:sp>
          <p:nvSpPr>
            <p:cNvPr id="14" name="object 14"/>
            <p:cNvSpPr/>
            <p:nvPr/>
          </p:nvSpPr>
          <p:spPr>
            <a:xfrm>
              <a:off x="5105400" y="39290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5626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198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198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4770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4770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191000" y="39290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6482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617852" y="3971925"/>
            <a:ext cx="5216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398780" algn="l"/>
                <a:tab pos="855980" algn="l"/>
                <a:tab pos="1313815" algn="l"/>
                <a:tab pos="1771014" algn="l"/>
                <a:tab pos="2743200" algn="l"/>
                <a:tab pos="3142615" algn="l"/>
                <a:tab pos="3599815" algn="l"/>
                <a:tab pos="4057015" algn="l"/>
                <a:tab pos="4514215" algn="l"/>
                <a:tab pos="4972050" algn="l"/>
              </a:tabLst>
            </a:pPr>
            <a:r>
              <a:rPr sz="1800" dirty="0">
                <a:latin typeface="Calibri"/>
                <a:cs typeface="Calibri"/>
              </a:rPr>
              <a:t>7	</a:t>
            </a:r>
            <a:r>
              <a:rPr sz="1800" spc="-5" dirty="0">
                <a:latin typeface="Calibri"/>
                <a:cs typeface="Calibri"/>
              </a:rPr>
              <a:t>1</a:t>
            </a:r>
            <a:r>
              <a:rPr sz="1800" dirty="0">
                <a:latin typeface="Calibri"/>
                <a:cs typeface="Calibri"/>
              </a:rPr>
              <a:t>0	</a:t>
            </a:r>
            <a:r>
              <a:rPr sz="1800" spc="-5" dirty="0">
                <a:latin typeface="Calibri"/>
                <a:cs typeface="Calibri"/>
              </a:rPr>
              <a:t>1</a:t>
            </a:r>
            <a:r>
              <a:rPr sz="1800" dirty="0">
                <a:latin typeface="Calibri"/>
                <a:cs typeface="Calibri"/>
              </a:rPr>
              <a:t>4	</a:t>
            </a:r>
            <a:r>
              <a:rPr sz="1800" spc="-5" dirty="0">
                <a:latin typeface="Calibri"/>
                <a:cs typeface="Calibri"/>
              </a:rPr>
              <a:t>1</a:t>
            </a:r>
            <a:r>
              <a:rPr sz="1800" dirty="0">
                <a:latin typeface="Calibri"/>
                <a:cs typeface="Calibri"/>
              </a:rPr>
              <a:t>8	</a:t>
            </a:r>
            <a:r>
              <a:rPr sz="1800" spc="-5" dirty="0">
                <a:latin typeface="Calibri"/>
                <a:cs typeface="Calibri"/>
              </a:rPr>
              <a:t>1</a:t>
            </a:r>
            <a:r>
              <a:rPr sz="1800" dirty="0">
                <a:latin typeface="Calibri"/>
                <a:cs typeface="Calibri"/>
              </a:rPr>
              <a:t>9	2	</a:t>
            </a:r>
            <a:r>
              <a:rPr sz="1800" spc="-5" dirty="0">
                <a:latin typeface="Calibri"/>
                <a:cs typeface="Calibri"/>
              </a:rPr>
              <a:t>1</a:t>
            </a:r>
            <a:r>
              <a:rPr sz="1800" dirty="0">
                <a:latin typeface="Calibri"/>
                <a:cs typeface="Calibri"/>
              </a:rPr>
              <a:t>1	</a:t>
            </a:r>
            <a:r>
              <a:rPr sz="1800" spc="-5" dirty="0">
                <a:latin typeface="Calibri"/>
                <a:cs typeface="Calibri"/>
              </a:rPr>
              <a:t>1</a:t>
            </a:r>
            <a:r>
              <a:rPr sz="1800" dirty="0">
                <a:latin typeface="Calibri"/>
                <a:cs typeface="Calibri"/>
              </a:rPr>
              <a:t>6	</a:t>
            </a:r>
            <a:r>
              <a:rPr sz="1800" spc="-5" dirty="0">
                <a:latin typeface="Calibri"/>
                <a:cs typeface="Calibri"/>
              </a:rPr>
              <a:t>1</a:t>
            </a:r>
            <a:r>
              <a:rPr sz="1800" dirty="0">
                <a:latin typeface="Calibri"/>
                <a:cs typeface="Calibri"/>
              </a:rPr>
              <a:t>7	</a:t>
            </a:r>
            <a:r>
              <a:rPr sz="1800" spc="-5" dirty="0">
                <a:latin typeface="Calibri"/>
                <a:cs typeface="Calibri"/>
              </a:rPr>
              <a:t>2</a:t>
            </a:r>
            <a:r>
              <a:rPr sz="1800" dirty="0">
                <a:latin typeface="Calibri"/>
                <a:cs typeface="Calibri"/>
              </a:rPr>
              <a:t>3	</a:t>
            </a:r>
            <a:r>
              <a:rPr sz="1800" spc="-5" dirty="0">
                <a:latin typeface="Calibri"/>
                <a:cs typeface="Calibri"/>
              </a:rPr>
              <a:t>25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0540" y="1049773"/>
            <a:ext cx="7771765" cy="252666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80365" algn="l"/>
                <a:tab pos="381000" algn="l"/>
              </a:tabLst>
            </a:pPr>
            <a:r>
              <a:rPr sz="3200" spc="-15" dirty="0">
                <a:latin typeface="Calibri"/>
                <a:cs typeface="Calibri"/>
              </a:rPr>
              <a:t>Merge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count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step.</a:t>
            </a:r>
            <a:endParaRPr sz="3200">
              <a:latin typeface="Calibri"/>
              <a:cs typeface="Calibri"/>
            </a:endParaRPr>
          </a:p>
          <a:p>
            <a:pPr marL="781685" marR="30480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82320" algn="l"/>
              </a:tabLst>
            </a:pPr>
            <a:r>
              <a:rPr sz="2800" spc="-10" dirty="0">
                <a:latin typeface="Calibri"/>
                <a:cs typeface="Calibri"/>
              </a:rPr>
              <a:t>Given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halves,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count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of </a:t>
            </a:r>
            <a:r>
              <a:rPr sz="2800" spc="-5" dirty="0">
                <a:latin typeface="Calibri"/>
                <a:cs typeface="Calibri"/>
              </a:rPr>
              <a:t> i</a:t>
            </a:r>
            <a:r>
              <a:rPr sz="2800" spc="-65" dirty="0">
                <a:latin typeface="Calibri"/>
                <a:cs typeface="Calibri"/>
              </a:rPr>
              <a:t>n</a:t>
            </a:r>
            <a:r>
              <a:rPr sz="2800" spc="-35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r</a:t>
            </a:r>
            <a:r>
              <a:rPr sz="2800" spc="-10" dirty="0">
                <a:latin typeface="Calibri"/>
                <a:cs typeface="Calibri"/>
              </a:rPr>
              <a:t>sio</a:t>
            </a:r>
            <a:r>
              <a:rPr sz="2800" spc="-1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whe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1950" spc="7" baseline="-21367" dirty="0">
                <a:latin typeface="Calibri"/>
                <a:cs typeface="Calibri"/>
              </a:rPr>
              <a:t>i</a:t>
            </a:r>
            <a:r>
              <a:rPr sz="1950" baseline="-21367" dirty="0">
                <a:latin typeface="Calibri"/>
                <a:cs typeface="Calibri"/>
              </a:rPr>
              <a:t> </a:t>
            </a:r>
            <a:r>
              <a:rPr sz="1950" spc="44" baseline="-21367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1950" spc="7" baseline="-21367" dirty="0">
                <a:latin typeface="Calibri"/>
                <a:cs typeface="Calibri"/>
              </a:rPr>
              <a:t>j</a:t>
            </a:r>
            <a:r>
              <a:rPr sz="1950" baseline="-21367" dirty="0">
                <a:latin typeface="Calibri"/>
                <a:cs typeface="Calibri"/>
              </a:rPr>
              <a:t> </a:t>
            </a:r>
            <a:r>
              <a:rPr sz="1950" spc="60" baseline="-21367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</a:t>
            </a:r>
            <a:r>
              <a:rPr sz="2800" spc="-20" dirty="0">
                <a:latin typeface="Calibri"/>
                <a:cs typeface="Calibri"/>
              </a:rPr>
              <a:t>i</a:t>
            </a:r>
            <a:r>
              <a:rPr sz="2800" spc="-35" dirty="0">
                <a:latin typeface="Calibri"/>
                <a:cs typeface="Calibri"/>
              </a:rPr>
              <a:t>f</a:t>
            </a:r>
            <a:r>
              <a:rPr sz="2800" spc="-80" dirty="0">
                <a:latin typeface="Calibri"/>
                <a:cs typeface="Calibri"/>
              </a:rPr>
              <a:t>f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3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hal</a:t>
            </a:r>
            <a:r>
              <a:rPr sz="2800" spc="-40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es.</a:t>
            </a:r>
            <a:endParaRPr sz="2800">
              <a:latin typeface="Calibri"/>
              <a:cs typeface="Calibri"/>
            </a:endParaRPr>
          </a:p>
          <a:p>
            <a:pPr marL="7816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82320" algn="l"/>
              </a:tabLst>
            </a:pPr>
            <a:r>
              <a:rPr sz="2800" spc="-10" dirty="0">
                <a:latin typeface="Calibri"/>
                <a:cs typeface="Calibri"/>
              </a:rPr>
              <a:t>Combine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halves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whole.</a:t>
            </a:r>
            <a:endParaRPr sz="2800">
              <a:latin typeface="Calibri"/>
              <a:cs typeface="Calibri"/>
            </a:endParaRPr>
          </a:p>
          <a:p>
            <a:pPr marL="1001394">
              <a:lnSpc>
                <a:spcPct val="100000"/>
              </a:lnSpc>
              <a:spcBef>
                <a:spcPts val="1450"/>
              </a:spcBef>
            </a:pPr>
            <a:r>
              <a:rPr sz="1800" dirty="0">
                <a:latin typeface="Calibri"/>
                <a:cs typeface="Calibri"/>
              </a:rPr>
              <a:t>i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348855" y="3984116"/>
            <a:ext cx="13055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two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sorted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halves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219200" y="4913312"/>
            <a:ext cx="2749550" cy="427355"/>
            <a:chOff x="1219200" y="4913312"/>
            <a:chExt cx="2749550" cy="427355"/>
          </a:xfrm>
        </p:grpSpPr>
        <p:sp>
          <p:nvSpPr>
            <p:cNvPr id="26" name="object 26"/>
            <p:cNvSpPr/>
            <p:nvPr/>
          </p:nvSpPr>
          <p:spPr>
            <a:xfrm>
              <a:off x="21336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5908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048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048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505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505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2192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676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219200" y="4919662"/>
            <a:ext cx="5486400" cy="41465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440"/>
              </a:spcBef>
              <a:tabLst>
                <a:tab pos="626745" algn="l"/>
              </a:tabLst>
            </a:pPr>
            <a:r>
              <a:rPr sz="1800" dirty="0">
                <a:latin typeface="Calibri"/>
                <a:cs typeface="Calibri"/>
              </a:rPr>
              <a:t>2	3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956050" y="4913312"/>
            <a:ext cx="2755900" cy="427355"/>
            <a:chOff x="3956050" y="4913312"/>
            <a:chExt cx="2755900" cy="427355"/>
          </a:xfrm>
        </p:grpSpPr>
        <p:sp>
          <p:nvSpPr>
            <p:cNvPr id="36" name="object 36"/>
            <p:cNvSpPr/>
            <p:nvPr/>
          </p:nvSpPr>
          <p:spPr>
            <a:xfrm>
              <a:off x="3962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962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8768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334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791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791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248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248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4196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4196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7441438" y="4989321"/>
            <a:ext cx="10445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auxiliary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array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657350" y="3609975"/>
            <a:ext cx="50800" cy="209550"/>
          </a:xfrm>
          <a:custGeom>
            <a:avLst/>
            <a:gdLst/>
            <a:ahLst/>
            <a:cxnLst/>
            <a:rect l="l" t="t" r="r" b="b"/>
            <a:pathLst>
              <a:path w="50800" h="209550">
                <a:moveTo>
                  <a:pt x="19050" y="158750"/>
                </a:moveTo>
                <a:lnTo>
                  <a:pt x="0" y="158750"/>
                </a:lnTo>
                <a:lnTo>
                  <a:pt x="25400" y="209550"/>
                </a:lnTo>
                <a:lnTo>
                  <a:pt x="44450" y="171450"/>
                </a:lnTo>
                <a:lnTo>
                  <a:pt x="19050" y="171450"/>
                </a:lnTo>
                <a:lnTo>
                  <a:pt x="19050" y="158750"/>
                </a:lnTo>
                <a:close/>
              </a:path>
              <a:path w="50800" h="209550">
                <a:moveTo>
                  <a:pt x="31750" y="0"/>
                </a:moveTo>
                <a:lnTo>
                  <a:pt x="19050" y="0"/>
                </a:lnTo>
                <a:lnTo>
                  <a:pt x="19050" y="171450"/>
                </a:lnTo>
                <a:lnTo>
                  <a:pt x="31750" y="171450"/>
                </a:lnTo>
                <a:lnTo>
                  <a:pt x="31750" y="0"/>
                </a:lnTo>
                <a:close/>
              </a:path>
              <a:path w="50800" h="209550">
                <a:moveTo>
                  <a:pt x="50800" y="158750"/>
                </a:moveTo>
                <a:lnTo>
                  <a:pt x="31750" y="158750"/>
                </a:lnTo>
                <a:lnTo>
                  <a:pt x="31750" y="171450"/>
                </a:lnTo>
                <a:lnTo>
                  <a:pt x="44450" y="171450"/>
                </a:lnTo>
                <a:lnTo>
                  <a:pt x="50800" y="158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843398" y="3609975"/>
            <a:ext cx="50800" cy="209550"/>
          </a:xfrm>
          <a:custGeom>
            <a:avLst/>
            <a:gdLst/>
            <a:ahLst/>
            <a:cxnLst/>
            <a:rect l="l" t="t" r="r" b="b"/>
            <a:pathLst>
              <a:path w="50800" h="209550">
                <a:moveTo>
                  <a:pt x="19050" y="158750"/>
                </a:moveTo>
                <a:lnTo>
                  <a:pt x="0" y="158750"/>
                </a:lnTo>
                <a:lnTo>
                  <a:pt x="25400" y="209550"/>
                </a:lnTo>
                <a:lnTo>
                  <a:pt x="44450" y="171450"/>
                </a:lnTo>
                <a:lnTo>
                  <a:pt x="19050" y="171450"/>
                </a:lnTo>
                <a:lnTo>
                  <a:pt x="19050" y="158750"/>
                </a:lnTo>
                <a:close/>
              </a:path>
              <a:path w="50800" h="209550">
                <a:moveTo>
                  <a:pt x="31750" y="0"/>
                </a:moveTo>
                <a:lnTo>
                  <a:pt x="19050" y="0"/>
                </a:lnTo>
                <a:lnTo>
                  <a:pt x="19050" y="171450"/>
                </a:lnTo>
                <a:lnTo>
                  <a:pt x="31750" y="171450"/>
                </a:lnTo>
                <a:lnTo>
                  <a:pt x="31750" y="0"/>
                </a:lnTo>
                <a:close/>
              </a:path>
              <a:path w="50800" h="209550">
                <a:moveTo>
                  <a:pt x="50800" y="158750"/>
                </a:moveTo>
                <a:lnTo>
                  <a:pt x="31750" y="158750"/>
                </a:lnTo>
                <a:lnTo>
                  <a:pt x="31750" y="171450"/>
                </a:lnTo>
                <a:lnTo>
                  <a:pt x="44450" y="171450"/>
                </a:lnTo>
                <a:lnTo>
                  <a:pt x="50800" y="158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3752850" y="5838825"/>
            <a:ext cx="3346450" cy="466725"/>
          </a:xfrm>
          <a:prstGeom prst="rect">
            <a:avLst/>
          </a:prstGeom>
          <a:solidFill>
            <a:srgbClr val="C0504D"/>
          </a:solidFill>
        </p:spPr>
        <p:txBody>
          <a:bodyPr vert="horz" wrap="square" lIns="0" tIns="774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610"/>
              </a:spcBef>
            </a:pPr>
            <a:r>
              <a:rPr sz="1800" spc="-35" dirty="0">
                <a:latin typeface="Calibri"/>
                <a:cs typeface="Calibri"/>
              </a:rPr>
              <a:t>Total: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6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50" name="object 50"/>
          <p:cNvSpPr txBox="1"/>
          <p:nvPr/>
        </p:nvSpPr>
        <p:spPr>
          <a:xfrm>
            <a:off x="4283075" y="4343400"/>
            <a:ext cx="271780" cy="274955"/>
          </a:xfrm>
          <a:prstGeom prst="rect">
            <a:avLst/>
          </a:prstGeom>
          <a:solidFill>
            <a:srgbClr val="938953"/>
          </a:solidFill>
        </p:spPr>
        <p:txBody>
          <a:bodyPr vert="horz" wrap="square" lIns="0" tIns="57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sz="1200" dirty="0"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title"/>
          </p:nvPr>
        </p:nvSpPr>
        <p:spPr>
          <a:xfrm>
            <a:off x="2533269" y="95757"/>
            <a:ext cx="40767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Counting</a:t>
            </a:r>
            <a:r>
              <a:rPr spc="-65" dirty="0"/>
              <a:t> </a:t>
            </a:r>
            <a:r>
              <a:rPr spc="-25" dirty="0"/>
              <a:t>Inversions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05000" y="3922712"/>
            <a:ext cx="1835150" cy="427355"/>
            <a:chOff x="1905000" y="3922712"/>
            <a:chExt cx="1835150" cy="427355"/>
          </a:xfrm>
        </p:grpSpPr>
        <p:sp>
          <p:nvSpPr>
            <p:cNvPr id="3" name="object 3"/>
            <p:cNvSpPr/>
            <p:nvPr/>
          </p:nvSpPr>
          <p:spPr>
            <a:xfrm>
              <a:off x="1905000" y="39290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3622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194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194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766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766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90600" y="3929062"/>
            <a:ext cx="457200" cy="414655"/>
          </a:xfrm>
          <a:prstGeom prst="rect">
            <a:avLst/>
          </a:prstGeom>
          <a:solidFill>
            <a:srgbClr val="938953"/>
          </a:solidFill>
        </p:spPr>
        <p:txBody>
          <a:bodyPr vert="horz" wrap="square" lIns="0" tIns="5524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441450" y="3922712"/>
            <a:ext cx="469900" cy="427355"/>
            <a:chOff x="1441450" y="3922712"/>
            <a:chExt cx="469900" cy="427355"/>
          </a:xfrm>
        </p:grpSpPr>
        <p:sp>
          <p:nvSpPr>
            <p:cNvPr id="11" name="object 11"/>
            <p:cNvSpPr/>
            <p:nvPr/>
          </p:nvSpPr>
          <p:spPr>
            <a:xfrm>
              <a:off x="14478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00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4478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4191000" y="3922712"/>
            <a:ext cx="2749550" cy="427355"/>
            <a:chOff x="4191000" y="3922712"/>
            <a:chExt cx="2749550" cy="427355"/>
          </a:xfrm>
        </p:grpSpPr>
        <p:sp>
          <p:nvSpPr>
            <p:cNvPr id="14" name="object 14"/>
            <p:cNvSpPr/>
            <p:nvPr/>
          </p:nvSpPr>
          <p:spPr>
            <a:xfrm>
              <a:off x="5105400" y="39290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5626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0198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198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4770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4770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191000" y="39290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6482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617852" y="3971925"/>
            <a:ext cx="5216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398780" algn="l"/>
                <a:tab pos="855980" algn="l"/>
                <a:tab pos="1313815" algn="l"/>
                <a:tab pos="1771014" algn="l"/>
                <a:tab pos="2743200" algn="l"/>
                <a:tab pos="3142615" algn="l"/>
                <a:tab pos="3599815" algn="l"/>
                <a:tab pos="4057015" algn="l"/>
                <a:tab pos="4514215" algn="l"/>
                <a:tab pos="4972050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7	</a:t>
            </a:r>
            <a:r>
              <a:rPr sz="1800" spc="-5" dirty="0">
                <a:latin typeface="Calibri"/>
                <a:cs typeface="Calibri"/>
              </a:rPr>
              <a:t>1</a:t>
            </a:r>
            <a:r>
              <a:rPr sz="1800" dirty="0">
                <a:latin typeface="Calibri"/>
                <a:cs typeface="Calibri"/>
              </a:rPr>
              <a:t>0	</a:t>
            </a:r>
            <a:r>
              <a:rPr sz="1800" spc="-5" dirty="0">
                <a:latin typeface="Calibri"/>
                <a:cs typeface="Calibri"/>
              </a:rPr>
              <a:t>1</a:t>
            </a:r>
            <a:r>
              <a:rPr sz="1800" dirty="0">
                <a:latin typeface="Calibri"/>
                <a:cs typeface="Calibri"/>
              </a:rPr>
              <a:t>4	</a:t>
            </a:r>
            <a:r>
              <a:rPr sz="1800" spc="-5" dirty="0">
                <a:latin typeface="Calibri"/>
                <a:cs typeface="Calibri"/>
              </a:rPr>
              <a:t>1</a:t>
            </a:r>
            <a:r>
              <a:rPr sz="1800" dirty="0">
                <a:latin typeface="Calibri"/>
                <a:cs typeface="Calibri"/>
              </a:rPr>
              <a:t>8	</a:t>
            </a:r>
            <a:r>
              <a:rPr sz="1800" spc="-5" dirty="0">
                <a:latin typeface="Calibri"/>
                <a:cs typeface="Calibri"/>
              </a:rPr>
              <a:t>1</a:t>
            </a:r>
            <a:r>
              <a:rPr sz="1800" dirty="0">
                <a:latin typeface="Calibri"/>
                <a:cs typeface="Calibri"/>
              </a:rPr>
              <a:t>9	2	</a:t>
            </a:r>
            <a:r>
              <a:rPr sz="1800" spc="-5" dirty="0">
                <a:latin typeface="Calibri"/>
                <a:cs typeface="Calibri"/>
              </a:rPr>
              <a:t>1</a:t>
            </a:r>
            <a:r>
              <a:rPr sz="1800" dirty="0">
                <a:latin typeface="Calibri"/>
                <a:cs typeface="Calibri"/>
              </a:rPr>
              <a:t>1	</a:t>
            </a:r>
            <a:r>
              <a:rPr sz="1800" spc="-5" dirty="0">
                <a:latin typeface="Calibri"/>
                <a:cs typeface="Calibri"/>
              </a:rPr>
              <a:t>1</a:t>
            </a:r>
            <a:r>
              <a:rPr sz="1800" dirty="0">
                <a:latin typeface="Calibri"/>
                <a:cs typeface="Calibri"/>
              </a:rPr>
              <a:t>6	</a:t>
            </a:r>
            <a:r>
              <a:rPr sz="1800" spc="-5" dirty="0">
                <a:latin typeface="Calibri"/>
                <a:cs typeface="Calibri"/>
              </a:rPr>
              <a:t>1</a:t>
            </a:r>
            <a:r>
              <a:rPr sz="1800" dirty="0">
                <a:latin typeface="Calibri"/>
                <a:cs typeface="Calibri"/>
              </a:rPr>
              <a:t>7	</a:t>
            </a:r>
            <a:r>
              <a:rPr sz="1800" spc="-5" dirty="0">
                <a:latin typeface="Calibri"/>
                <a:cs typeface="Calibri"/>
              </a:rPr>
              <a:t>2</a:t>
            </a:r>
            <a:r>
              <a:rPr sz="1800" dirty="0">
                <a:latin typeface="Calibri"/>
                <a:cs typeface="Calibri"/>
              </a:rPr>
              <a:t>3	</a:t>
            </a:r>
            <a:r>
              <a:rPr sz="1800" spc="-5" dirty="0">
                <a:latin typeface="Calibri"/>
                <a:cs typeface="Calibri"/>
              </a:rPr>
              <a:t>25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3240" y="973574"/>
            <a:ext cx="7746365" cy="260286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67665" algn="l"/>
                <a:tab pos="368300" algn="l"/>
              </a:tabLst>
            </a:pPr>
            <a:r>
              <a:rPr sz="3200" spc="-15" dirty="0">
                <a:latin typeface="Calibri"/>
                <a:cs typeface="Calibri"/>
              </a:rPr>
              <a:t>Merge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count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step.</a:t>
            </a:r>
            <a:endParaRPr sz="3200">
              <a:latin typeface="Calibri"/>
              <a:cs typeface="Calibri"/>
            </a:endParaRPr>
          </a:p>
          <a:p>
            <a:pPr marL="768985" marR="17780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69620" algn="l"/>
              </a:tabLst>
            </a:pPr>
            <a:r>
              <a:rPr sz="2800" spc="-10" dirty="0">
                <a:latin typeface="Calibri"/>
                <a:cs typeface="Calibri"/>
              </a:rPr>
              <a:t>Given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sorted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halves,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count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of </a:t>
            </a:r>
            <a:r>
              <a:rPr sz="2800" spc="-5" dirty="0">
                <a:latin typeface="Calibri"/>
                <a:cs typeface="Calibri"/>
              </a:rPr>
              <a:t> i</a:t>
            </a:r>
            <a:r>
              <a:rPr sz="2800" spc="-65" dirty="0">
                <a:latin typeface="Calibri"/>
                <a:cs typeface="Calibri"/>
              </a:rPr>
              <a:t>n</a:t>
            </a:r>
            <a:r>
              <a:rPr sz="2800" spc="-35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r</a:t>
            </a:r>
            <a:r>
              <a:rPr sz="2800" spc="-10" dirty="0">
                <a:latin typeface="Calibri"/>
                <a:cs typeface="Calibri"/>
              </a:rPr>
              <a:t>sio</a:t>
            </a:r>
            <a:r>
              <a:rPr sz="2800" spc="-1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whe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1950" spc="7" baseline="-21367" dirty="0">
                <a:latin typeface="Calibri"/>
                <a:cs typeface="Calibri"/>
              </a:rPr>
              <a:t>i</a:t>
            </a:r>
            <a:r>
              <a:rPr sz="1950" baseline="-21367" dirty="0">
                <a:latin typeface="Calibri"/>
                <a:cs typeface="Calibri"/>
              </a:rPr>
              <a:t> </a:t>
            </a:r>
            <a:r>
              <a:rPr sz="1950" spc="44" baseline="-21367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1950" spc="7" baseline="-21367" dirty="0">
                <a:latin typeface="Calibri"/>
                <a:cs typeface="Calibri"/>
              </a:rPr>
              <a:t>j</a:t>
            </a:r>
            <a:r>
              <a:rPr sz="1950" baseline="-21367" dirty="0">
                <a:latin typeface="Calibri"/>
                <a:cs typeface="Calibri"/>
              </a:rPr>
              <a:t> </a:t>
            </a:r>
            <a:r>
              <a:rPr sz="1950" spc="60" baseline="-21367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</a:t>
            </a:r>
            <a:r>
              <a:rPr sz="2800" spc="-20" dirty="0">
                <a:latin typeface="Calibri"/>
                <a:cs typeface="Calibri"/>
              </a:rPr>
              <a:t>i</a:t>
            </a:r>
            <a:r>
              <a:rPr sz="2800" spc="-35" dirty="0">
                <a:latin typeface="Calibri"/>
                <a:cs typeface="Calibri"/>
              </a:rPr>
              <a:t>f</a:t>
            </a:r>
            <a:r>
              <a:rPr sz="2800" spc="-80" dirty="0">
                <a:latin typeface="Calibri"/>
                <a:cs typeface="Calibri"/>
              </a:rPr>
              <a:t>f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3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hal</a:t>
            </a:r>
            <a:r>
              <a:rPr sz="2800" spc="-40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es.</a:t>
            </a:r>
            <a:endParaRPr sz="2800">
              <a:latin typeface="Calibri"/>
              <a:cs typeface="Calibri"/>
            </a:endParaRPr>
          </a:p>
          <a:p>
            <a:pPr marL="7689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69620" algn="l"/>
              </a:tabLst>
            </a:pPr>
            <a:r>
              <a:rPr sz="2800" spc="-10" dirty="0">
                <a:latin typeface="Calibri"/>
                <a:cs typeface="Calibri"/>
              </a:rPr>
              <a:t>Combine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halves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whole.</a:t>
            </a:r>
            <a:endParaRPr sz="2800">
              <a:latin typeface="Calibri"/>
              <a:cs typeface="Calibri"/>
            </a:endParaRPr>
          </a:p>
          <a:p>
            <a:pPr marL="988694">
              <a:lnSpc>
                <a:spcPct val="100000"/>
              </a:lnSpc>
              <a:spcBef>
                <a:spcPts val="2050"/>
              </a:spcBef>
            </a:pPr>
            <a:r>
              <a:rPr sz="1800" dirty="0">
                <a:latin typeface="Calibri"/>
                <a:cs typeface="Calibri"/>
              </a:rPr>
              <a:t>i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348855" y="3984116"/>
            <a:ext cx="13055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two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sorted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halves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219200" y="4913312"/>
            <a:ext cx="2749550" cy="427355"/>
            <a:chOff x="1219200" y="4913312"/>
            <a:chExt cx="2749550" cy="427355"/>
          </a:xfrm>
        </p:grpSpPr>
        <p:sp>
          <p:nvSpPr>
            <p:cNvPr id="26" name="object 26"/>
            <p:cNvSpPr/>
            <p:nvPr/>
          </p:nvSpPr>
          <p:spPr>
            <a:xfrm>
              <a:off x="21336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5908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048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048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505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505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2192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676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219200" y="4919662"/>
            <a:ext cx="5486400" cy="41465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440"/>
              </a:spcBef>
              <a:tabLst>
                <a:tab pos="626745" algn="l"/>
                <a:tab pos="1083945" algn="l"/>
              </a:tabLst>
            </a:pPr>
            <a:r>
              <a:rPr sz="1800" dirty="0">
                <a:latin typeface="Calibri"/>
                <a:cs typeface="Calibri"/>
              </a:rPr>
              <a:t>2	3	7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956050" y="4913312"/>
            <a:ext cx="2755900" cy="427355"/>
            <a:chOff x="3956050" y="4913312"/>
            <a:chExt cx="2755900" cy="427355"/>
          </a:xfrm>
        </p:grpSpPr>
        <p:sp>
          <p:nvSpPr>
            <p:cNvPr id="36" name="object 36"/>
            <p:cNvSpPr/>
            <p:nvPr/>
          </p:nvSpPr>
          <p:spPr>
            <a:xfrm>
              <a:off x="3962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962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8768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334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791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791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248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248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4196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4196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7441438" y="4989321"/>
            <a:ext cx="10445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auxiliary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array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657350" y="3609975"/>
            <a:ext cx="50800" cy="209550"/>
          </a:xfrm>
          <a:custGeom>
            <a:avLst/>
            <a:gdLst/>
            <a:ahLst/>
            <a:cxnLst/>
            <a:rect l="l" t="t" r="r" b="b"/>
            <a:pathLst>
              <a:path w="50800" h="209550">
                <a:moveTo>
                  <a:pt x="19050" y="158750"/>
                </a:moveTo>
                <a:lnTo>
                  <a:pt x="0" y="158750"/>
                </a:lnTo>
                <a:lnTo>
                  <a:pt x="25400" y="209550"/>
                </a:lnTo>
                <a:lnTo>
                  <a:pt x="44450" y="171450"/>
                </a:lnTo>
                <a:lnTo>
                  <a:pt x="19050" y="171450"/>
                </a:lnTo>
                <a:lnTo>
                  <a:pt x="19050" y="158750"/>
                </a:lnTo>
                <a:close/>
              </a:path>
              <a:path w="50800" h="209550">
                <a:moveTo>
                  <a:pt x="31750" y="0"/>
                </a:moveTo>
                <a:lnTo>
                  <a:pt x="19050" y="0"/>
                </a:lnTo>
                <a:lnTo>
                  <a:pt x="19050" y="171450"/>
                </a:lnTo>
                <a:lnTo>
                  <a:pt x="31750" y="171450"/>
                </a:lnTo>
                <a:lnTo>
                  <a:pt x="31750" y="0"/>
                </a:lnTo>
                <a:close/>
              </a:path>
              <a:path w="50800" h="209550">
                <a:moveTo>
                  <a:pt x="50800" y="158750"/>
                </a:moveTo>
                <a:lnTo>
                  <a:pt x="31750" y="158750"/>
                </a:lnTo>
                <a:lnTo>
                  <a:pt x="31750" y="171450"/>
                </a:lnTo>
                <a:lnTo>
                  <a:pt x="44450" y="171450"/>
                </a:lnTo>
                <a:lnTo>
                  <a:pt x="50800" y="158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843398" y="3609975"/>
            <a:ext cx="50800" cy="209550"/>
          </a:xfrm>
          <a:custGeom>
            <a:avLst/>
            <a:gdLst/>
            <a:ahLst/>
            <a:cxnLst/>
            <a:rect l="l" t="t" r="r" b="b"/>
            <a:pathLst>
              <a:path w="50800" h="209550">
                <a:moveTo>
                  <a:pt x="19050" y="158750"/>
                </a:moveTo>
                <a:lnTo>
                  <a:pt x="0" y="158750"/>
                </a:lnTo>
                <a:lnTo>
                  <a:pt x="25400" y="209550"/>
                </a:lnTo>
                <a:lnTo>
                  <a:pt x="44450" y="171450"/>
                </a:lnTo>
                <a:lnTo>
                  <a:pt x="19050" y="171450"/>
                </a:lnTo>
                <a:lnTo>
                  <a:pt x="19050" y="158750"/>
                </a:lnTo>
                <a:close/>
              </a:path>
              <a:path w="50800" h="209550">
                <a:moveTo>
                  <a:pt x="31750" y="0"/>
                </a:moveTo>
                <a:lnTo>
                  <a:pt x="19050" y="0"/>
                </a:lnTo>
                <a:lnTo>
                  <a:pt x="19050" y="171450"/>
                </a:lnTo>
                <a:lnTo>
                  <a:pt x="31750" y="171450"/>
                </a:lnTo>
                <a:lnTo>
                  <a:pt x="31750" y="0"/>
                </a:lnTo>
                <a:close/>
              </a:path>
              <a:path w="50800" h="209550">
                <a:moveTo>
                  <a:pt x="50800" y="158750"/>
                </a:moveTo>
                <a:lnTo>
                  <a:pt x="31750" y="158750"/>
                </a:lnTo>
                <a:lnTo>
                  <a:pt x="31750" y="171450"/>
                </a:lnTo>
                <a:lnTo>
                  <a:pt x="44450" y="171450"/>
                </a:lnTo>
                <a:lnTo>
                  <a:pt x="50800" y="158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3752850" y="5838825"/>
            <a:ext cx="3346450" cy="466725"/>
          </a:xfrm>
          <a:prstGeom prst="rect">
            <a:avLst/>
          </a:prstGeom>
          <a:solidFill>
            <a:srgbClr val="C0504D"/>
          </a:solidFill>
        </p:spPr>
        <p:txBody>
          <a:bodyPr vert="horz" wrap="square" lIns="0" tIns="774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610"/>
              </a:spcBef>
            </a:pPr>
            <a:r>
              <a:rPr sz="1800" spc="-35" dirty="0">
                <a:latin typeface="Calibri"/>
                <a:cs typeface="Calibri"/>
              </a:rPr>
              <a:t>Total: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6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sp>
        <p:nvSpPr>
          <p:cNvPr id="50" name="object 50"/>
          <p:cNvSpPr txBox="1"/>
          <p:nvPr/>
        </p:nvSpPr>
        <p:spPr>
          <a:xfrm>
            <a:off x="4283075" y="4343400"/>
            <a:ext cx="271780" cy="274955"/>
          </a:xfrm>
          <a:prstGeom prst="rect">
            <a:avLst/>
          </a:prstGeom>
          <a:solidFill>
            <a:srgbClr val="938953"/>
          </a:solidFill>
        </p:spPr>
        <p:txBody>
          <a:bodyPr vert="horz" wrap="square" lIns="0" tIns="57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sz="1200" dirty="0"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title"/>
          </p:nvPr>
        </p:nvSpPr>
        <p:spPr>
          <a:xfrm>
            <a:off x="2533269" y="95757"/>
            <a:ext cx="40767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Counting</a:t>
            </a:r>
            <a:r>
              <a:rPr spc="-65" dirty="0"/>
              <a:t> </a:t>
            </a:r>
            <a:r>
              <a:rPr spc="-25" dirty="0"/>
              <a:t>Inversions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05000" y="3929062"/>
            <a:ext cx="457200" cy="414655"/>
          </a:xfrm>
          <a:prstGeom prst="rect">
            <a:avLst/>
          </a:prstGeom>
          <a:solidFill>
            <a:srgbClr val="00AF50"/>
          </a:solidFill>
        </p:spPr>
        <p:txBody>
          <a:bodyPr vert="horz" wrap="square" lIns="0" tIns="55244" rIns="0" bIns="0" rtlCol="0">
            <a:spAutoFit/>
          </a:bodyPr>
          <a:lstStyle/>
          <a:p>
            <a:pPr marL="111760">
              <a:lnSpc>
                <a:spcPct val="100000"/>
              </a:lnSpc>
              <a:spcBef>
                <a:spcPts val="434"/>
              </a:spcBef>
            </a:pPr>
            <a:r>
              <a:rPr sz="1800" spc="-5" dirty="0"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355850" y="3922712"/>
            <a:ext cx="1384300" cy="427355"/>
            <a:chOff x="2355850" y="3922712"/>
            <a:chExt cx="1384300" cy="427355"/>
          </a:xfrm>
        </p:grpSpPr>
        <p:sp>
          <p:nvSpPr>
            <p:cNvPr id="4" name="object 4"/>
            <p:cNvSpPr/>
            <p:nvPr/>
          </p:nvSpPr>
          <p:spPr>
            <a:xfrm>
              <a:off x="23622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3622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194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194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766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766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362200" y="3929062"/>
            <a:ext cx="1371600" cy="4146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11760">
              <a:lnSpc>
                <a:spcPct val="100000"/>
              </a:lnSpc>
              <a:spcBef>
                <a:spcPts val="434"/>
              </a:spcBef>
              <a:tabLst>
                <a:tab pos="569595" algn="l"/>
                <a:tab pos="1026794" algn="l"/>
              </a:tabLst>
            </a:pPr>
            <a:r>
              <a:rPr sz="1800" spc="-5" dirty="0">
                <a:latin typeface="Calibri"/>
                <a:cs typeface="Calibri"/>
              </a:rPr>
              <a:t>14	18	19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90600" y="3922712"/>
            <a:ext cx="920750" cy="427355"/>
            <a:chOff x="990600" y="3922712"/>
            <a:chExt cx="920750" cy="427355"/>
          </a:xfrm>
        </p:grpSpPr>
        <p:sp>
          <p:nvSpPr>
            <p:cNvPr id="12" name="object 12"/>
            <p:cNvSpPr/>
            <p:nvPr/>
          </p:nvSpPr>
          <p:spPr>
            <a:xfrm>
              <a:off x="990600" y="39290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4478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160678" y="3971925"/>
            <a:ext cx="5861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56565" algn="l"/>
              </a:tabLst>
            </a:pPr>
            <a:r>
              <a:rPr sz="1800" dirty="0">
                <a:latin typeface="Calibri"/>
                <a:cs typeface="Calibri"/>
              </a:rPr>
              <a:t>3	7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191000" y="3922712"/>
            <a:ext cx="2749550" cy="427355"/>
            <a:chOff x="4191000" y="3922712"/>
            <a:chExt cx="2749550" cy="427355"/>
          </a:xfrm>
        </p:grpSpPr>
        <p:sp>
          <p:nvSpPr>
            <p:cNvPr id="16" name="object 16"/>
            <p:cNvSpPr/>
            <p:nvPr/>
          </p:nvSpPr>
          <p:spPr>
            <a:xfrm>
              <a:off x="5105400" y="39290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5626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198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0198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4770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4770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191000" y="39290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6482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361434" y="3971925"/>
            <a:ext cx="2473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399415" algn="l"/>
                <a:tab pos="856615" algn="l"/>
                <a:tab pos="1313815" algn="l"/>
                <a:tab pos="1771014" algn="l"/>
                <a:tab pos="2228215" algn="l"/>
              </a:tabLst>
            </a:pPr>
            <a:r>
              <a:rPr sz="1800" dirty="0">
                <a:latin typeface="Calibri"/>
                <a:cs typeface="Calibri"/>
              </a:rPr>
              <a:t>2	</a:t>
            </a:r>
            <a:r>
              <a:rPr sz="1800" spc="-5" dirty="0">
                <a:latin typeface="Calibri"/>
                <a:cs typeface="Calibri"/>
              </a:rPr>
              <a:t>1</a:t>
            </a:r>
            <a:r>
              <a:rPr sz="1800" dirty="0">
                <a:latin typeface="Calibri"/>
                <a:cs typeface="Calibri"/>
              </a:rPr>
              <a:t>1	</a:t>
            </a:r>
            <a:r>
              <a:rPr sz="1800" spc="-5" dirty="0">
                <a:latin typeface="Calibri"/>
                <a:cs typeface="Calibri"/>
              </a:rPr>
              <a:t>1</a:t>
            </a:r>
            <a:r>
              <a:rPr sz="1800" dirty="0">
                <a:latin typeface="Calibri"/>
                <a:cs typeface="Calibri"/>
              </a:rPr>
              <a:t>6	</a:t>
            </a:r>
            <a:r>
              <a:rPr sz="1800" spc="-5" dirty="0">
                <a:latin typeface="Calibri"/>
                <a:cs typeface="Calibri"/>
              </a:rPr>
              <a:t>1</a:t>
            </a:r>
            <a:r>
              <a:rPr sz="1800" dirty="0">
                <a:latin typeface="Calibri"/>
                <a:cs typeface="Calibri"/>
              </a:rPr>
              <a:t>7	</a:t>
            </a:r>
            <a:r>
              <a:rPr sz="1800" spc="-5" dirty="0">
                <a:latin typeface="Calibri"/>
                <a:cs typeface="Calibri"/>
              </a:rPr>
              <a:t>2</a:t>
            </a:r>
            <a:r>
              <a:rPr sz="1800" dirty="0">
                <a:latin typeface="Calibri"/>
                <a:cs typeface="Calibri"/>
              </a:rPr>
              <a:t>3	</a:t>
            </a:r>
            <a:r>
              <a:rPr sz="1800" spc="-5" dirty="0">
                <a:latin typeface="Calibri"/>
                <a:cs typeface="Calibri"/>
              </a:rPr>
              <a:t>25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23240" y="973574"/>
            <a:ext cx="7746365" cy="260286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67665" algn="l"/>
                <a:tab pos="368300" algn="l"/>
              </a:tabLst>
            </a:pPr>
            <a:r>
              <a:rPr sz="3200" spc="-15" dirty="0">
                <a:latin typeface="Calibri"/>
                <a:cs typeface="Calibri"/>
              </a:rPr>
              <a:t>Merge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count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step.</a:t>
            </a:r>
            <a:endParaRPr sz="3200">
              <a:latin typeface="Calibri"/>
              <a:cs typeface="Calibri"/>
            </a:endParaRPr>
          </a:p>
          <a:p>
            <a:pPr marL="768985" marR="17780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69620" algn="l"/>
              </a:tabLst>
            </a:pPr>
            <a:r>
              <a:rPr sz="2800" spc="-10" dirty="0">
                <a:latin typeface="Calibri"/>
                <a:cs typeface="Calibri"/>
              </a:rPr>
              <a:t>Given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sorted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halves,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count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of </a:t>
            </a:r>
            <a:r>
              <a:rPr sz="2800" spc="-5" dirty="0">
                <a:latin typeface="Calibri"/>
                <a:cs typeface="Calibri"/>
              </a:rPr>
              <a:t> i</a:t>
            </a:r>
            <a:r>
              <a:rPr sz="2800" spc="-65" dirty="0">
                <a:latin typeface="Calibri"/>
                <a:cs typeface="Calibri"/>
              </a:rPr>
              <a:t>n</a:t>
            </a:r>
            <a:r>
              <a:rPr sz="2800" spc="-35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r</a:t>
            </a:r>
            <a:r>
              <a:rPr sz="2800" spc="-10" dirty="0">
                <a:latin typeface="Calibri"/>
                <a:cs typeface="Calibri"/>
              </a:rPr>
              <a:t>sio</a:t>
            </a:r>
            <a:r>
              <a:rPr sz="2800" spc="-1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whe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1950" spc="7" baseline="-21367" dirty="0">
                <a:latin typeface="Calibri"/>
                <a:cs typeface="Calibri"/>
              </a:rPr>
              <a:t>i</a:t>
            </a:r>
            <a:r>
              <a:rPr sz="1950" baseline="-21367" dirty="0">
                <a:latin typeface="Calibri"/>
                <a:cs typeface="Calibri"/>
              </a:rPr>
              <a:t> </a:t>
            </a:r>
            <a:r>
              <a:rPr sz="1950" spc="44" baseline="-21367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1950" spc="7" baseline="-21367" dirty="0">
                <a:latin typeface="Calibri"/>
                <a:cs typeface="Calibri"/>
              </a:rPr>
              <a:t>j</a:t>
            </a:r>
            <a:r>
              <a:rPr sz="1950" baseline="-21367" dirty="0">
                <a:latin typeface="Calibri"/>
                <a:cs typeface="Calibri"/>
              </a:rPr>
              <a:t> </a:t>
            </a:r>
            <a:r>
              <a:rPr sz="1950" spc="60" baseline="-21367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</a:t>
            </a:r>
            <a:r>
              <a:rPr sz="2800" spc="-20" dirty="0">
                <a:latin typeface="Calibri"/>
                <a:cs typeface="Calibri"/>
              </a:rPr>
              <a:t>i</a:t>
            </a:r>
            <a:r>
              <a:rPr sz="2800" spc="-35" dirty="0">
                <a:latin typeface="Calibri"/>
                <a:cs typeface="Calibri"/>
              </a:rPr>
              <a:t>f</a:t>
            </a:r>
            <a:r>
              <a:rPr sz="2800" spc="-80" dirty="0">
                <a:latin typeface="Calibri"/>
                <a:cs typeface="Calibri"/>
              </a:rPr>
              <a:t>f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3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hal</a:t>
            </a:r>
            <a:r>
              <a:rPr sz="2800" spc="-40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es.</a:t>
            </a:r>
            <a:endParaRPr sz="2800">
              <a:latin typeface="Calibri"/>
              <a:cs typeface="Calibri"/>
            </a:endParaRPr>
          </a:p>
          <a:p>
            <a:pPr marL="7689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69620" algn="l"/>
              </a:tabLst>
            </a:pPr>
            <a:r>
              <a:rPr sz="2800" spc="-10" dirty="0">
                <a:latin typeface="Calibri"/>
                <a:cs typeface="Calibri"/>
              </a:rPr>
              <a:t>Combine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halves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whole.</a:t>
            </a:r>
            <a:endParaRPr sz="2800">
              <a:latin typeface="Calibri"/>
              <a:cs typeface="Calibri"/>
            </a:endParaRPr>
          </a:p>
          <a:p>
            <a:pPr marL="1426845">
              <a:lnSpc>
                <a:spcPct val="100000"/>
              </a:lnSpc>
              <a:spcBef>
                <a:spcPts val="2050"/>
              </a:spcBef>
            </a:pPr>
            <a:r>
              <a:rPr sz="1800" dirty="0">
                <a:latin typeface="Calibri"/>
                <a:cs typeface="Calibri"/>
              </a:rPr>
              <a:t>i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48855" y="3984116"/>
            <a:ext cx="13055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two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sorted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halves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219200" y="4913312"/>
            <a:ext cx="2749550" cy="427355"/>
            <a:chOff x="1219200" y="4913312"/>
            <a:chExt cx="2749550" cy="427355"/>
          </a:xfrm>
        </p:grpSpPr>
        <p:sp>
          <p:nvSpPr>
            <p:cNvPr id="28" name="object 28"/>
            <p:cNvSpPr/>
            <p:nvPr/>
          </p:nvSpPr>
          <p:spPr>
            <a:xfrm>
              <a:off x="21336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5908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048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048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505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505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2192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676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1219200" y="4919662"/>
            <a:ext cx="5486400" cy="41465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440"/>
              </a:spcBef>
              <a:tabLst>
                <a:tab pos="626745" algn="l"/>
                <a:tab pos="1083945" algn="l"/>
              </a:tabLst>
            </a:pPr>
            <a:r>
              <a:rPr sz="1800" dirty="0">
                <a:latin typeface="Calibri"/>
                <a:cs typeface="Calibri"/>
              </a:rPr>
              <a:t>2	3	7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3956050" y="4913312"/>
            <a:ext cx="2755900" cy="427355"/>
            <a:chOff x="3956050" y="4913312"/>
            <a:chExt cx="2755900" cy="427355"/>
          </a:xfrm>
        </p:grpSpPr>
        <p:sp>
          <p:nvSpPr>
            <p:cNvPr id="38" name="object 38"/>
            <p:cNvSpPr/>
            <p:nvPr/>
          </p:nvSpPr>
          <p:spPr>
            <a:xfrm>
              <a:off x="3962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962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8768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334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791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91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248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248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4196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4196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7441438" y="4989321"/>
            <a:ext cx="10445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auxiliary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array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2095500" y="3609975"/>
            <a:ext cx="50800" cy="209550"/>
          </a:xfrm>
          <a:custGeom>
            <a:avLst/>
            <a:gdLst/>
            <a:ahLst/>
            <a:cxnLst/>
            <a:rect l="l" t="t" r="r" b="b"/>
            <a:pathLst>
              <a:path w="50800" h="209550">
                <a:moveTo>
                  <a:pt x="19050" y="158750"/>
                </a:moveTo>
                <a:lnTo>
                  <a:pt x="0" y="158750"/>
                </a:lnTo>
                <a:lnTo>
                  <a:pt x="25400" y="209550"/>
                </a:lnTo>
                <a:lnTo>
                  <a:pt x="44450" y="171450"/>
                </a:lnTo>
                <a:lnTo>
                  <a:pt x="19050" y="171450"/>
                </a:lnTo>
                <a:lnTo>
                  <a:pt x="19050" y="158750"/>
                </a:lnTo>
                <a:close/>
              </a:path>
              <a:path w="50800" h="209550">
                <a:moveTo>
                  <a:pt x="31750" y="0"/>
                </a:moveTo>
                <a:lnTo>
                  <a:pt x="19050" y="0"/>
                </a:lnTo>
                <a:lnTo>
                  <a:pt x="19050" y="171450"/>
                </a:lnTo>
                <a:lnTo>
                  <a:pt x="31750" y="171450"/>
                </a:lnTo>
                <a:lnTo>
                  <a:pt x="31750" y="0"/>
                </a:lnTo>
                <a:close/>
              </a:path>
              <a:path w="50800" h="209550">
                <a:moveTo>
                  <a:pt x="50800" y="158750"/>
                </a:moveTo>
                <a:lnTo>
                  <a:pt x="31750" y="158750"/>
                </a:lnTo>
                <a:lnTo>
                  <a:pt x="31750" y="171450"/>
                </a:lnTo>
                <a:lnTo>
                  <a:pt x="44450" y="171450"/>
                </a:lnTo>
                <a:lnTo>
                  <a:pt x="50800" y="158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843398" y="3609975"/>
            <a:ext cx="50800" cy="209550"/>
          </a:xfrm>
          <a:custGeom>
            <a:avLst/>
            <a:gdLst/>
            <a:ahLst/>
            <a:cxnLst/>
            <a:rect l="l" t="t" r="r" b="b"/>
            <a:pathLst>
              <a:path w="50800" h="209550">
                <a:moveTo>
                  <a:pt x="19050" y="158750"/>
                </a:moveTo>
                <a:lnTo>
                  <a:pt x="0" y="158750"/>
                </a:lnTo>
                <a:lnTo>
                  <a:pt x="25400" y="209550"/>
                </a:lnTo>
                <a:lnTo>
                  <a:pt x="44450" y="171450"/>
                </a:lnTo>
                <a:lnTo>
                  <a:pt x="19050" y="171450"/>
                </a:lnTo>
                <a:lnTo>
                  <a:pt x="19050" y="158750"/>
                </a:lnTo>
                <a:close/>
              </a:path>
              <a:path w="50800" h="209550">
                <a:moveTo>
                  <a:pt x="31750" y="0"/>
                </a:moveTo>
                <a:lnTo>
                  <a:pt x="19050" y="0"/>
                </a:lnTo>
                <a:lnTo>
                  <a:pt x="19050" y="171450"/>
                </a:lnTo>
                <a:lnTo>
                  <a:pt x="31750" y="171450"/>
                </a:lnTo>
                <a:lnTo>
                  <a:pt x="31750" y="0"/>
                </a:lnTo>
                <a:close/>
              </a:path>
              <a:path w="50800" h="209550">
                <a:moveTo>
                  <a:pt x="50800" y="158750"/>
                </a:moveTo>
                <a:lnTo>
                  <a:pt x="31750" y="158750"/>
                </a:lnTo>
                <a:lnTo>
                  <a:pt x="31750" y="171450"/>
                </a:lnTo>
                <a:lnTo>
                  <a:pt x="44450" y="171450"/>
                </a:lnTo>
                <a:lnTo>
                  <a:pt x="50800" y="158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3752850" y="5838825"/>
            <a:ext cx="3346450" cy="466725"/>
          </a:xfrm>
          <a:prstGeom prst="rect">
            <a:avLst/>
          </a:prstGeom>
          <a:solidFill>
            <a:srgbClr val="C0504D"/>
          </a:solidFill>
        </p:spPr>
        <p:txBody>
          <a:bodyPr vert="horz" wrap="square" lIns="0" tIns="774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610"/>
              </a:spcBef>
            </a:pPr>
            <a:r>
              <a:rPr sz="1800" spc="-35" dirty="0">
                <a:latin typeface="Calibri"/>
                <a:cs typeface="Calibri"/>
              </a:rPr>
              <a:t>Total: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6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sp>
        <p:nvSpPr>
          <p:cNvPr id="52" name="object 52"/>
          <p:cNvSpPr txBox="1"/>
          <p:nvPr/>
        </p:nvSpPr>
        <p:spPr>
          <a:xfrm>
            <a:off x="4283075" y="4343400"/>
            <a:ext cx="271780" cy="274955"/>
          </a:xfrm>
          <a:prstGeom prst="rect">
            <a:avLst/>
          </a:prstGeom>
          <a:solidFill>
            <a:srgbClr val="938953"/>
          </a:solidFill>
        </p:spPr>
        <p:txBody>
          <a:bodyPr vert="horz" wrap="square" lIns="0" tIns="57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sz="1200" dirty="0"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title"/>
          </p:nvPr>
        </p:nvSpPr>
        <p:spPr>
          <a:xfrm>
            <a:off x="2533269" y="95757"/>
            <a:ext cx="40767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Counting</a:t>
            </a:r>
            <a:r>
              <a:rPr spc="-65" dirty="0"/>
              <a:t> </a:t>
            </a:r>
            <a:r>
              <a:rPr spc="-25" dirty="0"/>
              <a:t>Inversions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05000" y="3929062"/>
            <a:ext cx="457200" cy="414655"/>
          </a:xfrm>
          <a:prstGeom prst="rect">
            <a:avLst/>
          </a:prstGeom>
          <a:solidFill>
            <a:srgbClr val="003399"/>
          </a:solidFill>
        </p:spPr>
        <p:txBody>
          <a:bodyPr vert="horz" wrap="square" lIns="0" tIns="55244" rIns="0" bIns="0" rtlCol="0">
            <a:spAutoFit/>
          </a:bodyPr>
          <a:lstStyle/>
          <a:p>
            <a:pPr marL="111760">
              <a:lnSpc>
                <a:spcPct val="100000"/>
              </a:lnSpc>
              <a:spcBef>
                <a:spcPts val="434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355850" y="3922712"/>
            <a:ext cx="1384300" cy="427355"/>
            <a:chOff x="2355850" y="3922712"/>
            <a:chExt cx="1384300" cy="427355"/>
          </a:xfrm>
        </p:grpSpPr>
        <p:sp>
          <p:nvSpPr>
            <p:cNvPr id="4" name="object 4"/>
            <p:cNvSpPr/>
            <p:nvPr/>
          </p:nvSpPr>
          <p:spPr>
            <a:xfrm>
              <a:off x="23622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3622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194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194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766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766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362200" y="3929062"/>
            <a:ext cx="1371600" cy="4146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11760">
              <a:lnSpc>
                <a:spcPct val="100000"/>
              </a:lnSpc>
              <a:spcBef>
                <a:spcPts val="434"/>
              </a:spcBef>
              <a:tabLst>
                <a:tab pos="569595" algn="l"/>
                <a:tab pos="1026794" algn="l"/>
              </a:tabLst>
            </a:pPr>
            <a:r>
              <a:rPr sz="1800" spc="-5" dirty="0">
                <a:latin typeface="Calibri"/>
                <a:cs typeface="Calibri"/>
              </a:rPr>
              <a:t>14	18	19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90600" y="3922712"/>
            <a:ext cx="920750" cy="427355"/>
            <a:chOff x="990600" y="3922712"/>
            <a:chExt cx="920750" cy="427355"/>
          </a:xfrm>
        </p:grpSpPr>
        <p:sp>
          <p:nvSpPr>
            <p:cNvPr id="12" name="object 12"/>
            <p:cNvSpPr/>
            <p:nvPr/>
          </p:nvSpPr>
          <p:spPr>
            <a:xfrm>
              <a:off x="990600" y="39290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4478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160678" y="3971925"/>
            <a:ext cx="5861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56565" algn="l"/>
              </a:tabLst>
            </a:pPr>
            <a:r>
              <a:rPr sz="1800" dirty="0">
                <a:latin typeface="Calibri"/>
                <a:cs typeface="Calibri"/>
              </a:rPr>
              <a:t>3	7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191000" y="3922712"/>
            <a:ext cx="2749550" cy="427355"/>
            <a:chOff x="4191000" y="3922712"/>
            <a:chExt cx="2749550" cy="427355"/>
          </a:xfrm>
        </p:grpSpPr>
        <p:sp>
          <p:nvSpPr>
            <p:cNvPr id="16" name="object 16"/>
            <p:cNvSpPr/>
            <p:nvPr/>
          </p:nvSpPr>
          <p:spPr>
            <a:xfrm>
              <a:off x="5105400" y="39290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5626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198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0198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4770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4770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191000" y="39290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6482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361434" y="3971925"/>
            <a:ext cx="2473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399415" algn="l"/>
                <a:tab pos="856615" algn="l"/>
                <a:tab pos="1313815" algn="l"/>
                <a:tab pos="1771014" algn="l"/>
                <a:tab pos="2228215" algn="l"/>
              </a:tabLst>
            </a:pPr>
            <a:r>
              <a:rPr sz="1800" dirty="0">
                <a:latin typeface="Calibri"/>
                <a:cs typeface="Calibri"/>
              </a:rPr>
              <a:t>2	</a:t>
            </a:r>
            <a:r>
              <a:rPr sz="1800" spc="-5" dirty="0">
                <a:latin typeface="Calibri"/>
                <a:cs typeface="Calibri"/>
              </a:rPr>
              <a:t>1</a:t>
            </a:r>
            <a:r>
              <a:rPr sz="1800" dirty="0">
                <a:latin typeface="Calibri"/>
                <a:cs typeface="Calibri"/>
              </a:rPr>
              <a:t>1	</a:t>
            </a:r>
            <a:r>
              <a:rPr sz="1800" spc="-5" dirty="0">
                <a:latin typeface="Calibri"/>
                <a:cs typeface="Calibri"/>
              </a:rPr>
              <a:t>1</a:t>
            </a:r>
            <a:r>
              <a:rPr sz="1800" dirty="0">
                <a:latin typeface="Calibri"/>
                <a:cs typeface="Calibri"/>
              </a:rPr>
              <a:t>6	</a:t>
            </a:r>
            <a:r>
              <a:rPr sz="1800" spc="-5" dirty="0">
                <a:latin typeface="Calibri"/>
                <a:cs typeface="Calibri"/>
              </a:rPr>
              <a:t>1</a:t>
            </a:r>
            <a:r>
              <a:rPr sz="1800" dirty="0">
                <a:latin typeface="Calibri"/>
                <a:cs typeface="Calibri"/>
              </a:rPr>
              <a:t>7	</a:t>
            </a:r>
            <a:r>
              <a:rPr sz="1800" spc="-5" dirty="0">
                <a:latin typeface="Calibri"/>
                <a:cs typeface="Calibri"/>
              </a:rPr>
              <a:t>2</a:t>
            </a:r>
            <a:r>
              <a:rPr sz="1800" dirty="0">
                <a:latin typeface="Calibri"/>
                <a:cs typeface="Calibri"/>
              </a:rPr>
              <a:t>3	</a:t>
            </a:r>
            <a:r>
              <a:rPr sz="1800" spc="-5" dirty="0">
                <a:latin typeface="Calibri"/>
                <a:cs typeface="Calibri"/>
              </a:rPr>
              <a:t>25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10540" y="1125973"/>
            <a:ext cx="7771765" cy="245046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80365" algn="l"/>
                <a:tab pos="381000" algn="l"/>
              </a:tabLst>
            </a:pPr>
            <a:r>
              <a:rPr sz="3200" spc="-15" dirty="0">
                <a:latin typeface="Calibri"/>
                <a:cs typeface="Calibri"/>
              </a:rPr>
              <a:t>Merge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count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step.</a:t>
            </a:r>
            <a:endParaRPr sz="3200">
              <a:latin typeface="Calibri"/>
              <a:cs typeface="Calibri"/>
            </a:endParaRPr>
          </a:p>
          <a:p>
            <a:pPr marL="781685" marR="30480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82320" algn="l"/>
              </a:tabLst>
            </a:pPr>
            <a:r>
              <a:rPr sz="2800" spc="-10" dirty="0">
                <a:latin typeface="Calibri"/>
                <a:cs typeface="Calibri"/>
              </a:rPr>
              <a:t>Given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halves,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count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of </a:t>
            </a:r>
            <a:r>
              <a:rPr sz="2800" spc="-5" dirty="0">
                <a:latin typeface="Calibri"/>
                <a:cs typeface="Calibri"/>
              </a:rPr>
              <a:t> i</a:t>
            </a:r>
            <a:r>
              <a:rPr sz="2800" spc="-65" dirty="0">
                <a:latin typeface="Calibri"/>
                <a:cs typeface="Calibri"/>
              </a:rPr>
              <a:t>n</a:t>
            </a:r>
            <a:r>
              <a:rPr sz="2800" spc="-35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r</a:t>
            </a:r>
            <a:r>
              <a:rPr sz="2800" spc="-10" dirty="0">
                <a:latin typeface="Calibri"/>
                <a:cs typeface="Calibri"/>
              </a:rPr>
              <a:t>sio</a:t>
            </a:r>
            <a:r>
              <a:rPr sz="2800" spc="-1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whe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1950" spc="7" baseline="-21367" dirty="0">
                <a:latin typeface="Calibri"/>
                <a:cs typeface="Calibri"/>
              </a:rPr>
              <a:t>i</a:t>
            </a:r>
            <a:r>
              <a:rPr sz="1950" baseline="-21367" dirty="0">
                <a:latin typeface="Calibri"/>
                <a:cs typeface="Calibri"/>
              </a:rPr>
              <a:t> </a:t>
            </a:r>
            <a:r>
              <a:rPr sz="1950" spc="44" baseline="-21367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1950" spc="7" baseline="-21367" dirty="0">
                <a:latin typeface="Calibri"/>
                <a:cs typeface="Calibri"/>
              </a:rPr>
              <a:t>j</a:t>
            </a:r>
            <a:r>
              <a:rPr sz="1950" baseline="-21367" dirty="0">
                <a:latin typeface="Calibri"/>
                <a:cs typeface="Calibri"/>
              </a:rPr>
              <a:t> </a:t>
            </a:r>
            <a:r>
              <a:rPr sz="1950" spc="60" baseline="-21367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</a:t>
            </a:r>
            <a:r>
              <a:rPr sz="2800" spc="-20" dirty="0">
                <a:latin typeface="Calibri"/>
                <a:cs typeface="Calibri"/>
              </a:rPr>
              <a:t>i</a:t>
            </a:r>
            <a:r>
              <a:rPr sz="2800" spc="-35" dirty="0">
                <a:latin typeface="Calibri"/>
                <a:cs typeface="Calibri"/>
              </a:rPr>
              <a:t>f</a:t>
            </a:r>
            <a:r>
              <a:rPr sz="2800" spc="-80" dirty="0">
                <a:latin typeface="Calibri"/>
                <a:cs typeface="Calibri"/>
              </a:rPr>
              <a:t>f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3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hal</a:t>
            </a:r>
            <a:r>
              <a:rPr sz="2800" spc="-40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es.</a:t>
            </a:r>
            <a:endParaRPr sz="2800">
              <a:latin typeface="Calibri"/>
              <a:cs typeface="Calibri"/>
            </a:endParaRPr>
          </a:p>
          <a:p>
            <a:pPr marL="7816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82320" algn="l"/>
              </a:tabLst>
            </a:pPr>
            <a:r>
              <a:rPr sz="2800" spc="-10" dirty="0">
                <a:latin typeface="Calibri"/>
                <a:cs typeface="Calibri"/>
              </a:rPr>
              <a:t>Combine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halves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whole.</a:t>
            </a:r>
            <a:endParaRPr sz="2800">
              <a:latin typeface="Calibri"/>
              <a:cs typeface="Calibri"/>
            </a:endParaRPr>
          </a:p>
          <a:p>
            <a:pPr marL="1439545">
              <a:lnSpc>
                <a:spcPct val="100000"/>
              </a:lnSpc>
              <a:spcBef>
                <a:spcPts val="850"/>
              </a:spcBef>
            </a:pPr>
            <a:r>
              <a:rPr sz="1800" dirty="0">
                <a:latin typeface="Calibri"/>
                <a:cs typeface="Calibri"/>
              </a:rPr>
              <a:t>i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48855" y="3984116"/>
            <a:ext cx="13055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two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sorted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halves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219200" y="4913312"/>
            <a:ext cx="2749550" cy="427355"/>
            <a:chOff x="1219200" y="4913312"/>
            <a:chExt cx="2749550" cy="427355"/>
          </a:xfrm>
        </p:grpSpPr>
        <p:sp>
          <p:nvSpPr>
            <p:cNvPr id="28" name="object 28"/>
            <p:cNvSpPr/>
            <p:nvPr/>
          </p:nvSpPr>
          <p:spPr>
            <a:xfrm>
              <a:off x="21336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5908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048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048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505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505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2192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676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1219200" y="4919662"/>
            <a:ext cx="5486400" cy="41465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440"/>
              </a:spcBef>
              <a:tabLst>
                <a:tab pos="626745" algn="l"/>
                <a:tab pos="1083945" algn="l"/>
                <a:tab pos="1483995" algn="l"/>
              </a:tabLst>
            </a:pPr>
            <a:r>
              <a:rPr sz="1800" dirty="0">
                <a:latin typeface="Calibri"/>
                <a:cs typeface="Calibri"/>
              </a:rPr>
              <a:t>2	3	7	</a:t>
            </a:r>
            <a:r>
              <a:rPr sz="1800" spc="-5" dirty="0"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3956050" y="4913312"/>
            <a:ext cx="2755900" cy="427355"/>
            <a:chOff x="3956050" y="4913312"/>
            <a:chExt cx="2755900" cy="427355"/>
          </a:xfrm>
        </p:grpSpPr>
        <p:sp>
          <p:nvSpPr>
            <p:cNvPr id="38" name="object 38"/>
            <p:cNvSpPr/>
            <p:nvPr/>
          </p:nvSpPr>
          <p:spPr>
            <a:xfrm>
              <a:off x="3962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962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8768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334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791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91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248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248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4196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4196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7441438" y="4989321"/>
            <a:ext cx="10445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auxiliary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array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2095500" y="3609975"/>
            <a:ext cx="50800" cy="209550"/>
          </a:xfrm>
          <a:custGeom>
            <a:avLst/>
            <a:gdLst/>
            <a:ahLst/>
            <a:cxnLst/>
            <a:rect l="l" t="t" r="r" b="b"/>
            <a:pathLst>
              <a:path w="50800" h="209550">
                <a:moveTo>
                  <a:pt x="19050" y="158750"/>
                </a:moveTo>
                <a:lnTo>
                  <a:pt x="0" y="158750"/>
                </a:lnTo>
                <a:lnTo>
                  <a:pt x="25400" y="209550"/>
                </a:lnTo>
                <a:lnTo>
                  <a:pt x="44450" y="171450"/>
                </a:lnTo>
                <a:lnTo>
                  <a:pt x="19050" y="171450"/>
                </a:lnTo>
                <a:lnTo>
                  <a:pt x="19050" y="158750"/>
                </a:lnTo>
                <a:close/>
              </a:path>
              <a:path w="50800" h="209550">
                <a:moveTo>
                  <a:pt x="31750" y="0"/>
                </a:moveTo>
                <a:lnTo>
                  <a:pt x="19050" y="0"/>
                </a:lnTo>
                <a:lnTo>
                  <a:pt x="19050" y="171450"/>
                </a:lnTo>
                <a:lnTo>
                  <a:pt x="31750" y="171450"/>
                </a:lnTo>
                <a:lnTo>
                  <a:pt x="31750" y="0"/>
                </a:lnTo>
                <a:close/>
              </a:path>
              <a:path w="50800" h="209550">
                <a:moveTo>
                  <a:pt x="50800" y="158750"/>
                </a:moveTo>
                <a:lnTo>
                  <a:pt x="31750" y="158750"/>
                </a:lnTo>
                <a:lnTo>
                  <a:pt x="31750" y="171450"/>
                </a:lnTo>
                <a:lnTo>
                  <a:pt x="44450" y="171450"/>
                </a:lnTo>
                <a:lnTo>
                  <a:pt x="50800" y="158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843398" y="3609975"/>
            <a:ext cx="50800" cy="209550"/>
          </a:xfrm>
          <a:custGeom>
            <a:avLst/>
            <a:gdLst/>
            <a:ahLst/>
            <a:cxnLst/>
            <a:rect l="l" t="t" r="r" b="b"/>
            <a:pathLst>
              <a:path w="50800" h="209550">
                <a:moveTo>
                  <a:pt x="19050" y="158750"/>
                </a:moveTo>
                <a:lnTo>
                  <a:pt x="0" y="158750"/>
                </a:lnTo>
                <a:lnTo>
                  <a:pt x="25400" y="209550"/>
                </a:lnTo>
                <a:lnTo>
                  <a:pt x="44450" y="171450"/>
                </a:lnTo>
                <a:lnTo>
                  <a:pt x="19050" y="171450"/>
                </a:lnTo>
                <a:lnTo>
                  <a:pt x="19050" y="158750"/>
                </a:lnTo>
                <a:close/>
              </a:path>
              <a:path w="50800" h="209550">
                <a:moveTo>
                  <a:pt x="31750" y="0"/>
                </a:moveTo>
                <a:lnTo>
                  <a:pt x="19050" y="0"/>
                </a:lnTo>
                <a:lnTo>
                  <a:pt x="19050" y="171450"/>
                </a:lnTo>
                <a:lnTo>
                  <a:pt x="31750" y="171450"/>
                </a:lnTo>
                <a:lnTo>
                  <a:pt x="31750" y="0"/>
                </a:lnTo>
                <a:close/>
              </a:path>
              <a:path w="50800" h="209550">
                <a:moveTo>
                  <a:pt x="50800" y="158750"/>
                </a:moveTo>
                <a:lnTo>
                  <a:pt x="31750" y="158750"/>
                </a:lnTo>
                <a:lnTo>
                  <a:pt x="31750" y="171450"/>
                </a:lnTo>
                <a:lnTo>
                  <a:pt x="44450" y="171450"/>
                </a:lnTo>
                <a:lnTo>
                  <a:pt x="50800" y="158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3752850" y="5838825"/>
            <a:ext cx="3346450" cy="466725"/>
          </a:xfrm>
          <a:prstGeom prst="rect">
            <a:avLst/>
          </a:prstGeom>
          <a:solidFill>
            <a:srgbClr val="C0504D"/>
          </a:solidFill>
        </p:spPr>
        <p:txBody>
          <a:bodyPr vert="horz" wrap="square" lIns="0" tIns="774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610"/>
              </a:spcBef>
            </a:pPr>
            <a:r>
              <a:rPr sz="1800" spc="-35" dirty="0">
                <a:latin typeface="Calibri"/>
                <a:cs typeface="Calibri"/>
              </a:rPr>
              <a:t>Total: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6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  <p:sp>
        <p:nvSpPr>
          <p:cNvPr id="52" name="object 52"/>
          <p:cNvSpPr txBox="1"/>
          <p:nvPr/>
        </p:nvSpPr>
        <p:spPr>
          <a:xfrm>
            <a:off x="4283075" y="4343400"/>
            <a:ext cx="271780" cy="274955"/>
          </a:xfrm>
          <a:prstGeom prst="rect">
            <a:avLst/>
          </a:prstGeom>
          <a:solidFill>
            <a:srgbClr val="938953"/>
          </a:solidFill>
        </p:spPr>
        <p:txBody>
          <a:bodyPr vert="horz" wrap="square" lIns="0" tIns="57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sz="1200" dirty="0"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title"/>
          </p:nvPr>
        </p:nvSpPr>
        <p:spPr>
          <a:xfrm>
            <a:off x="2533269" y="95757"/>
            <a:ext cx="40767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Counting</a:t>
            </a:r>
            <a:r>
              <a:rPr spc="-65" dirty="0"/>
              <a:t> </a:t>
            </a:r>
            <a:r>
              <a:rPr spc="-25" dirty="0"/>
              <a:t>Inversions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05000" y="3922712"/>
            <a:ext cx="1835150" cy="427355"/>
            <a:chOff x="1905000" y="3922712"/>
            <a:chExt cx="1835150" cy="427355"/>
          </a:xfrm>
        </p:grpSpPr>
        <p:sp>
          <p:nvSpPr>
            <p:cNvPr id="3" name="object 3"/>
            <p:cNvSpPr/>
            <p:nvPr/>
          </p:nvSpPr>
          <p:spPr>
            <a:xfrm>
              <a:off x="19050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3622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3622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194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194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766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766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362200" y="3929062"/>
            <a:ext cx="1371600" cy="4146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569595">
              <a:lnSpc>
                <a:spcPct val="100000"/>
              </a:lnSpc>
              <a:spcBef>
                <a:spcPts val="434"/>
              </a:spcBef>
              <a:tabLst>
                <a:tab pos="1026794" algn="l"/>
              </a:tabLst>
            </a:pPr>
            <a:r>
              <a:rPr sz="1800" spc="-5" dirty="0">
                <a:latin typeface="Calibri"/>
                <a:cs typeface="Calibri"/>
              </a:rPr>
              <a:t>18	19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90600" y="3922712"/>
            <a:ext cx="920750" cy="427355"/>
            <a:chOff x="990600" y="3922712"/>
            <a:chExt cx="920750" cy="427355"/>
          </a:xfrm>
        </p:grpSpPr>
        <p:sp>
          <p:nvSpPr>
            <p:cNvPr id="12" name="object 12"/>
            <p:cNvSpPr/>
            <p:nvPr/>
          </p:nvSpPr>
          <p:spPr>
            <a:xfrm>
              <a:off x="990600" y="39290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4478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160678" y="3971925"/>
            <a:ext cx="1558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56565" algn="l"/>
                <a:tab pos="855980" algn="l"/>
                <a:tab pos="1313180" algn="l"/>
              </a:tabLst>
            </a:pPr>
            <a:r>
              <a:rPr sz="1800" dirty="0">
                <a:latin typeface="Calibri"/>
                <a:cs typeface="Calibri"/>
              </a:rPr>
              <a:t>3	7	</a:t>
            </a:r>
            <a:r>
              <a:rPr sz="1800" spc="-5" dirty="0">
                <a:latin typeface="Calibri"/>
                <a:cs typeface="Calibri"/>
              </a:rPr>
              <a:t>1</a:t>
            </a:r>
            <a:r>
              <a:rPr sz="1800" dirty="0">
                <a:latin typeface="Calibri"/>
                <a:cs typeface="Calibri"/>
              </a:rPr>
              <a:t>0	</a:t>
            </a:r>
            <a:r>
              <a:rPr sz="1800" spc="-5" dirty="0">
                <a:latin typeface="Calibri"/>
                <a:cs typeface="Calibri"/>
              </a:rPr>
              <a:t>14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191000" y="3922712"/>
            <a:ext cx="2749550" cy="427355"/>
            <a:chOff x="4191000" y="3922712"/>
            <a:chExt cx="2749550" cy="427355"/>
          </a:xfrm>
        </p:grpSpPr>
        <p:sp>
          <p:nvSpPr>
            <p:cNvPr id="16" name="object 16"/>
            <p:cNvSpPr/>
            <p:nvPr/>
          </p:nvSpPr>
          <p:spPr>
            <a:xfrm>
              <a:off x="5105400" y="39290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5626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198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0198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4770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4770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191000" y="39290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648200" y="39290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361434" y="3971925"/>
            <a:ext cx="2473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399415" algn="l"/>
                <a:tab pos="856615" algn="l"/>
                <a:tab pos="1313815" algn="l"/>
                <a:tab pos="1771014" algn="l"/>
                <a:tab pos="2228215" algn="l"/>
              </a:tabLst>
            </a:pPr>
            <a:r>
              <a:rPr sz="1800" dirty="0">
                <a:latin typeface="Calibri"/>
                <a:cs typeface="Calibri"/>
              </a:rPr>
              <a:t>2	</a:t>
            </a:r>
            <a:r>
              <a:rPr sz="1800" spc="-5" dirty="0">
                <a:latin typeface="Calibri"/>
                <a:cs typeface="Calibri"/>
              </a:rPr>
              <a:t>1</a:t>
            </a:r>
            <a:r>
              <a:rPr sz="1800" dirty="0">
                <a:latin typeface="Calibri"/>
                <a:cs typeface="Calibri"/>
              </a:rPr>
              <a:t>1	</a:t>
            </a:r>
            <a:r>
              <a:rPr sz="1800" spc="-5" dirty="0">
                <a:latin typeface="Calibri"/>
                <a:cs typeface="Calibri"/>
              </a:rPr>
              <a:t>1</a:t>
            </a:r>
            <a:r>
              <a:rPr sz="1800" dirty="0">
                <a:latin typeface="Calibri"/>
                <a:cs typeface="Calibri"/>
              </a:rPr>
              <a:t>6	</a:t>
            </a:r>
            <a:r>
              <a:rPr sz="1800" spc="-5" dirty="0">
                <a:latin typeface="Calibri"/>
                <a:cs typeface="Calibri"/>
              </a:rPr>
              <a:t>1</a:t>
            </a:r>
            <a:r>
              <a:rPr sz="1800" dirty="0">
                <a:latin typeface="Calibri"/>
                <a:cs typeface="Calibri"/>
              </a:rPr>
              <a:t>7	</a:t>
            </a:r>
            <a:r>
              <a:rPr sz="1800" spc="-5" dirty="0">
                <a:latin typeface="Calibri"/>
                <a:cs typeface="Calibri"/>
              </a:rPr>
              <a:t>2</a:t>
            </a:r>
            <a:r>
              <a:rPr sz="1800" dirty="0">
                <a:latin typeface="Calibri"/>
                <a:cs typeface="Calibri"/>
              </a:rPr>
              <a:t>3	</a:t>
            </a:r>
            <a:r>
              <a:rPr sz="1800" spc="-5" dirty="0">
                <a:latin typeface="Calibri"/>
                <a:cs typeface="Calibri"/>
              </a:rPr>
              <a:t>25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10540" y="1125973"/>
            <a:ext cx="7771765" cy="245046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80365" algn="l"/>
                <a:tab pos="381000" algn="l"/>
              </a:tabLst>
            </a:pPr>
            <a:r>
              <a:rPr sz="3200" spc="-15" dirty="0">
                <a:latin typeface="Calibri"/>
                <a:cs typeface="Calibri"/>
              </a:rPr>
              <a:t>Merge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count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step.</a:t>
            </a:r>
            <a:endParaRPr sz="3200">
              <a:latin typeface="Calibri"/>
              <a:cs typeface="Calibri"/>
            </a:endParaRPr>
          </a:p>
          <a:p>
            <a:pPr marL="781685" marR="30480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82320" algn="l"/>
              </a:tabLst>
            </a:pPr>
            <a:r>
              <a:rPr sz="2800" spc="-10" dirty="0">
                <a:latin typeface="Calibri"/>
                <a:cs typeface="Calibri"/>
              </a:rPr>
              <a:t>Given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halves,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count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of </a:t>
            </a:r>
            <a:r>
              <a:rPr sz="2800" spc="-5" dirty="0">
                <a:latin typeface="Calibri"/>
                <a:cs typeface="Calibri"/>
              </a:rPr>
              <a:t> i</a:t>
            </a:r>
            <a:r>
              <a:rPr sz="2800" spc="-65" dirty="0">
                <a:latin typeface="Calibri"/>
                <a:cs typeface="Calibri"/>
              </a:rPr>
              <a:t>n</a:t>
            </a:r>
            <a:r>
              <a:rPr sz="2800" spc="-35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r</a:t>
            </a:r>
            <a:r>
              <a:rPr sz="2800" spc="-10" dirty="0">
                <a:latin typeface="Calibri"/>
                <a:cs typeface="Calibri"/>
              </a:rPr>
              <a:t>sio</a:t>
            </a:r>
            <a:r>
              <a:rPr sz="2800" spc="-1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whe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1950" spc="7" baseline="-21367" dirty="0">
                <a:latin typeface="Calibri"/>
                <a:cs typeface="Calibri"/>
              </a:rPr>
              <a:t>i</a:t>
            </a:r>
            <a:r>
              <a:rPr sz="1950" baseline="-21367" dirty="0">
                <a:latin typeface="Calibri"/>
                <a:cs typeface="Calibri"/>
              </a:rPr>
              <a:t> </a:t>
            </a:r>
            <a:r>
              <a:rPr sz="1950" spc="44" baseline="-21367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1950" spc="7" baseline="-21367" dirty="0">
                <a:latin typeface="Calibri"/>
                <a:cs typeface="Calibri"/>
              </a:rPr>
              <a:t>j</a:t>
            </a:r>
            <a:r>
              <a:rPr sz="1950" baseline="-21367" dirty="0">
                <a:latin typeface="Calibri"/>
                <a:cs typeface="Calibri"/>
              </a:rPr>
              <a:t> </a:t>
            </a:r>
            <a:r>
              <a:rPr sz="1950" spc="60" baseline="-21367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</a:t>
            </a:r>
            <a:r>
              <a:rPr sz="2800" spc="-20" dirty="0">
                <a:latin typeface="Calibri"/>
                <a:cs typeface="Calibri"/>
              </a:rPr>
              <a:t>i</a:t>
            </a:r>
            <a:r>
              <a:rPr sz="2800" spc="-35" dirty="0">
                <a:latin typeface="Calibri"/>
                <a:cs typeface="Calibri"/>
              </a:rPr>
              <a:t>f</a:t>
            </a:r>
            <a:r>
              <a:rPr sz="2800" spc="-80" dirty="0">
                <a:latin typeface="Calibri"/>
                <a:cs typeface="Calibri"/>
              </a:rPr>
              <a:t>f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3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hal</a:t>
            </a:r>
            <a:r>
              <a:rPr sz="2800" spc="-40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es.</a:t>
            </a:r>
            <a:endParaRPr sz="2800">
              <a:latin typeface="Calibri"/>
              <a:cs typeface="Calibri"/>
            </a:endParaRPr>
          </a:p>
          <a:p>
            <a:pPr marL="7816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82320" algn="l"/>
              </a:tabLst>
            </a:pPr>
            <a:r>
              <a:rPr sz="2800" spc="-10" dirty="0">
                <a:latin typeface="Calibri"/>
                <a:cs typeface="Calibri"/>
              </a:rPr>
              <a:t>Combine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halves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whole.</a:t>
            </a:r>
            <a:endParaRPr sz="2800">
              <a:latin typeface="Calibri"/>
              <a:cs typeface="Calibri"/>
            </a:endParaRPr>
          </a:p>
          <a:p>
            <a:pPr marL="1906270">
              <a:lnSpc>
                <a:spcPct val="100000"/>
              </a:lnSpc>
              <a:spcBef>
                <a:spcPts val="850"/>
              </a:spcBef>
            </a:pPr>
            <a:r>
              <a:rPr sz="1800" dirty="0">
                <a:latin typeface="Calibri"/>
                <a:cs typeface="Calibri"/>
              </a:rPr>
              <a:t>i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48855" y="3984116"/>
            <a:ext cx="13055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two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sorted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halves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219200" y="4913312"/>
            <a:ext cx="2749550" cy="427355"/>
            <a:chOff x="1219200" y="4913312"/>
            <a:chExt cx="2749550" cy="427355"/>
          </a:xfrm>
        </p:grpSpPr>
        <p:sp>
          <p:nvSpPr>
            <p:cNvPr id="28" name="object 28"/>
            <p:cNvSpPr/>
            <p:nvPr/>
          </p:nvSpPr>
          <p:spPr>
            <a:xfrm>
              <a:off x="21336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5908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048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048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505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505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2192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676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1219200" y="4919662"/>
            <a:ext cx="5486400" cy="41465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440"/>
              </a:spcBef>
              <a:tabLst>
                <a:tab pos="626745" algn="l"/>
                <a:tab pos="1083945" algn="l"/>
                <a:tab pos="1483995" algn="l"/>
              </a:tabLst>
            </a:pPr>
            <a:r>
              <a:rPr sz="1800" dirty="0">
                <a:latin typeface="Calibri"/>
                <a:cs typeface="Calibri"/>
              </a:rPr>
              <a:t>2	3	7	</a:t>
            </a:r>
            <a:r>
              <a:rPr sz="1800" spc="-5" dirty="0"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3956050" y="4913312"/>
            <a:ext cx="2755900" cy="427355"/>
            <a:chOff x="3956050" y="4913312"/>
            <a:chExt cx="2755900" cy="427355"/>
          </a:xfrm>
        </p:grpSpPr>
        <p:sp>
          <p:nvSpPr>
            <p:cNvPr id="38" name="object 38"/>
            <p:cNvSpPr/>
            <p:nvPr/>
          </p:nvSpPr>
          <p:spPr>
            <a:xfrm>
              <a:off x="3962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962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8768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334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791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791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248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248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4196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4196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7441438" y="4989321"/>
            <a:ext cx="10445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auxiliary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array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2562225" y="3609975"/>
            <a:ext cx="50800" cy="209550"/>
          </a:xfrm>
          <a:custGeom>
            <a:avLst/>
            <a:gdLst/>
            <a:ahLst/>
            <a:cxnLst/>
            <a:rect l="l" t="t" r="r" b="b"/>
            <a:pathLst>
              <a:path w="50800" h="209550">
                <a:moveTo>
                  <a:pt x="19050" y="158750"/>
                </a:moveTo>
                <a:lnTo>
                  <a:pt x="0" y="158750"/>
                </a:lnTo>
                <a:lnTo>
                  <a:pt x="25400" y="209550"/>
                </a:lnTo>
                <a:lnTo>
                  <a:pt x="44450" y="171450"/>
                </a:lnTo>
                <a:lnTo>
                  <a:pt x="19050" y="171450"/>
                </a:lnTo>
                <a:lnTo>
                  <a:pt x="19050" y="158750"/>
                </a:lnTo>
                <a:close/>
              </a:path>
              <a:path w="50800" h="209550">
                <a:moveTo>
                  <a:pt x="31750" y="0"/>
                </a:moveTo>
                <a:lnTo>
                  <a:pt x="19050" y="0"/>
                </a:lnTo>
                <a:lnTo>
                  <a:pt x="19050" y="171450"/>
                </a:lnTo>
                <a:lnTo>
                  <a:pt x="31750" y="171450"/>
                </a:lnTo>
                <a:lnTo>
                  <a:pt x="31750" y="0"/>
                </a:lnTo>
                <a:close/>
              </a:path>
              <a:path w="50800" h="209550">
                <a:moveTo>
                  <a:pt x="50800" y="158750"/>
                </a:moveTo>
                <a:lnTo>
                  <a:pt x="31750" y="158750"/>
                </a:lnTo>
                <a:lnTo>
                  <a:pt x="31750" y="171450"/>
                </a:lnTo>
                <a:lnTo>
                  <a:pt x="44450" y="171450"/>
                </a:lnTo>
                <a:lnTo>
                  <a:pt x="50800" y="158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843398" y="3609975"/>
            <a:ext cx="50800" cy="209550"/>
          </a:xfrm>
          <a:custGeom>
            <a:avLst/>
            <a:gdLst/>
            <a:ahLst/>
            <a:cxnLst/>
            <a:rect l="l" t="t" r="r" b="b"/>
            <a:pathLst>
              <a:path w="50800" h="209550">
                <a:moveTo>
                  <a:pt x="19050" y="158750"/>
                </a:moveTo>
                <a:lnTo>
                  <a:pt x="0" y="158750"/>
                </a:lnTo>
                <a:lnTo>
                  <a:pt x="25400" y="209550"/>
                </a:lnTo>
                <a:lnTo>
                  <a:pt x="44450" y="171450"/>
                </a:lnTo>
                <a:lnTo>
                  <a:pt x="19050" y="171450"/>
                </a:lnTo>
                <a:lnTo>
                  <a:pt x="19050" y="158750"/>
                </a:lnTo>
                <a:close/>
              </a:path>
              <a:path w="50800" h="209550">
                <a:moveTo>
                  <a:pt x="31750" y="0"/>
                </a:moveTo>
                <a:lnTo>
                  <a:pt x="19050" y="0"/>
                </a:lnTo>
                <a:lnTo>
                  <a:pt x="19050" y="171450"/>
                </a:lnTo>
                <a:lnTo>
                  <a:pt x="31750" y="171450"/>
                </a:lnTo>
                <a:lnTo>
                  <a:pt x="31750" y="0"/>
                </a:lnTo>
                <a:close/>
              </a:path>
              <a:path w="50800" h="209550">
                <a:moveTo>
                  <a:pt x="50800" y="158750"/>
                </a:moveTo>
                <a:lnTo>
                  <a:pt x="31750" y="158750"/>
                </a:lnTo>
                <a:lnTo>
                  <a:pt x="31750" y="171450"/>
                </a:lnTo>
                <a:lnTo>
                  <a:pt x="44450" y="171450"/>
                </a:lnTo>
                <a:lnTo>
                  <a:pt x="50800" y="158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3752850" y="5838825"/>
            <a:ext cx="3346450" cy="466725"/>
          </a:xfrm>
          <a:prstGeom prst="rect">
            <a:avLst/>
          </a:prstGeom>
          <a:solidFill>
            <a:srgbClr val="C0504D"/>
          </a:solidFill>
        </p:spPr>
        <p:txBody>
          <a:bodyPr vert="horz" wrap="square" lIns="0" tIns="774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610"/>
              </a:spcBef>
            </a:pPr>
            <a:r>
              <a:rPr sz="1800" spc="-35" dirty="0">
                <a:latin typeface="Calibri"/>
                <a:cs typeface="Calibri"/>
              </a:rPr>
              <a:t>Total: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6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52" name="object 52"/>
          <p:cNvSpPr txBox="1"/>
          <p:nvPr/>
        </p:nvSpPr>
        <p:spPr>
          <a:xfrm>
            <a:off x="4283075" y="4343400"/>
            <a:ext cx="271780" cy="274955"/>
          </a:xfrm>
          <a:prstGeom prst="rect">
            <a:avLst/>
          </a:prstGeom>
          <a:solidFill>
            <a:srgbClr val="938953"/>
          </a:solidFill>
        </p:spPr>
        <p:txBody>
          <a:bodyPr vert="horz" wrap="square" lIns="0" tIns="57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sz="1200" dirty="0"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title"/>
          </p:nvPr>
        </p:nvSpPr>
        <p:spPr>
          <a:xfrm>
            <a:off x="2533269" y="95757"/>
            <a:ext cx="40767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Counting</a:t>
            </a:r>
            <a:r>
              <a:rPr spc="-65" dirty="0"/>
              <a:t> </a:t>
            </a:r>
            <a:r>
              <a:rPr spc="-25" dirty="0"/>
              <a:t>Inversions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90600" y="3929062"/>
          <a:ext cx="5951215" cy="6889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6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17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397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318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7241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041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84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847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5847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5847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825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434"/>
                        </a:spcBef>
                        <a:tabLst>
                          <a:tab pos="56959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	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1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5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2362200" y="3929062"/>
            <a:ext cx="1371600" cy="414655"/>
          </a:xfrm>
          <a:custGeom>
            <a:avLst/>
            <a:gdLst/>
            <a:ahLst/>
            <a:cxnLst/>
            <a:rect l="l" t="t" r="r" b="b"/>
            <a:pathLst>
              <a:path w="13716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  <a:path w="1371600" h="414654">
                <a:moveTo>
                  <a:pt x="457200" y="414337"/>
                </a:moveTo>
                <a:lnTo>
                  <a:pt x="914400" y="414337"/>
                </a:lnTo>
                <a:lnTo>
                  <a:pt x="914400" y="0"/>
                </a:lnTo>
                <a:lnTo>
                  <a:pt x="457200" y="0"/>
                </a:lnTo>
                <a:lnTo>
                  <a:pt x="457200" y="414337"/>
                </a:lnTo>
                <a:close/>
              </a:path>
              <a:path w="1371600" h="414654">
                <a:moveTo>
                  <a:pt x="914400" y="414337"/>
                </a:moveTo>
                <a:lnTo>
                  <a:pt x="1371600" y="414337"/>
                </a:lnTo>
                <a:lnTo>
                  <a:pt x="1371600" y="0"/>
                </a:lnTo>
                <a:lnTo>
                  <a:pt x="914400" y="0"/>
                </a:lnTo>
                <a:lnTo>
                  <a:pt x="91440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47800" y="39290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62600" y="3929062"/>
            <a:ext cx="1371600" cy="414655"/>
          </a:xfrm>
          <a:custGeom>
            <a:avLst/>
            <a:gdLst/>
            <a:ahLst/>
            <a:cxnLst/>
            <a:rect l="l" t="t" r="r" b="b"/>
            <a:pathLst>
              <a:path w="13716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  <a:path w="1371600" h="414654">
                <a:moveTo>
                  <a:pt x="457200" y="414337"/>
                </a:moveTo>
                <a:lnTo>
                  <a:pt x="914400" y="414337"/>
                </a:lnTo>
                <a:lnTo>
                  <a:pt x="914400" y="0"/>
                </a:lnTo>
                <a:lnTo>
                  <a:pt x="457200" y="0"/>
                </a:lnTo>
                <a:lnTo>
                  <a:pt x="457200" y="414337"/>
                </a:lnTo>
                <a:close/>
              </a:path>
              <a:path w="1371600" h="414654">
                <a:moveTo>
                  <a:pt x="914400" y="414337"/>
                </a:moveTo>
                <a:lnTo>
                  <a:pt x="1371600" y="414337"/>
                </a:lnTo>
                <a:lnTo>
                  <a:pt x="1371600" y="0"/>
                </a:lnTo>
                <a:lnTo>
                  <a:pt x="914400" y="0"/>
                </a:lnTo>
                <a:lnTo>
                  <a:pt x="91440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48200" y="39290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10540" y="1202173"/>
            <a:ext cx="7771765" cy="237426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80365" algn="l"/>
                <a:tab pos="381000" algn="l"/>
              </a:tabLst>
            </a:pPr>
            <a:r>
              <a:rPr sz="3200" spc="-15" dirty="0">
                <a:latin typeface="Calibri"/>
                <a:cs typeface="Calibri"/>
              </a:rPr>
              <a:t>Merge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count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step.</a:t>
            </a:r>
            <a:endParaRPr sz="3200">
              <a:latin typeface="Calibri"/>
              <a:cs typeface="Calibri"/>
            </a:endParaRPr>
          </a:p>
          <a:p>
            <a:pPr marL="781685" marR="30480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82320" algn="l"/>
              </a:tabLst>
            </a:pPr>
            <a:r>
              <a:rPr sz="2800" spc="-10" dirty="0">
                <a:latin typeface="Calibri"/>
                <a:cs typeface="Calibri"/>
              </a:rPr>
              <a:t>Given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halves,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count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of </a:t>
            </a:r>
            <a:r>
              <a:rPr sz="2800" spc="-5" dirty="0">
                <a:latin typeface="Calibri"/>
                <a:cs typeface="Calibri"/>
              </a:rPr>
              <a:t> i</a:t>
            </a:r>
            <a:r>
              <a:rPr sz="2800" spc="-65" dirty="0">
                <a:latin typeface="Calibri"/>
                <a:cs typeface="Calibri"/>
              </a:rPr>
              <a:t>n</a:t>
            </a:r>
            <a:r>
              <a:rPr sz="2800" spc="-35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r</a:t>
            </a:r>
            <a:r>
              <a:rPr sz="2800" spc="-10" dirty="0">
                <a:latin typeface="Calibri"/>
                <a:cs typeface="Calibri"/>
              </a:rPr>
              <a:t>sio</a:t>
            </a:r>
            <a:r>
              <a:rPr sz="2800" spc="-1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whe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1950" spc="7" baseline="-21367" dirty="0">
                <a:latin typeface="Calibri"/>
                <a:cs typeface="Calibri"/>
              </a:rPr>
              <a:t>i</a:t>
            </a:r>
            <a:r>
              <a:rPr sz="1950" baseline="-21367" dirty="0">
                <a:latin typeface="Calibri"/>
                <a:cs typeface="Calibri"/>
              </a:rPr>
              <a:t> </a:t>
            </a:r>
            <a:r>
              <a:rPr sz="1950" spc="44" baseline="-21367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1950" spc="7" baseline="-21367" dirty="0">
                <a:latin typeface="Calibri"/>
                <a:cs typeface="Calibri"/>
              </a:rPr>
              <a:t>j</a:t>
            </a:r>
            <a:r>
              <a:rPr sz="1950" baseline="-21367" dirty="0">
                <a:latin typeface="Calibri"/>
                <a:cs typeface="Calibri"/>
              </a:rPr>
              <a:t> </a:t>
            </a:r>
            <a:r>
              <a:rPr sz="1950" spc="60" baseline="-21367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</a:t>
            </a:r>
            <a:r>
              <a:rPr sz="2800" spc="-20" dirty="0">
                <a:latin typeface="Calibri"/>
                <a:cs typeface="Calibri"/>
              </a:rPr>
              <a:t>i</a:t>
            </a:r>
            <a:r>
              <a:rPr sz="2800" spc="-35" dirty="0">
                <a:latin typeface="Calibri"/>
                <a:cs typeface="Calibri"/>
              </a:rPr>
              <a:t>f</a:t>
            </a:r>
            <a:r>
              <a:rPr sz="2800" spc="-80" dirty="0">
                <a:latin typeface="Calibri"/>
                <a:cs typeface="Calibri"/>
              </a:rPr>
              <a:t>f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3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hal</a:t>
            </a:r>
            <a:r>
              <a:rPr sz="2800" spc="-40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es.</a:t>
            </a:r>
            <a:endParaRPr sz="2800">
              <a:latin typeface="Calibri"/>
              <a:cs typeface="Calibri"/>
            </a:endParaRPr>
          </a:p>
          <a:p>
            <a:pPr marL="7816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82320" algn="l"/>
              </a:tabLst>
            </a:pPr>
            <a:r>
              <a:rPr sz="2800" spc="-10" dirty="0">
                <a:latin typeface="Calibri"/>
                <a:cs typeface="Calibri"/>
              </a:rPr>
              <a:t>Combine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halves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whole.</a:t>
            </a:r>
            <a:endParaRPr sz="2800">
              <a:latin typeface="Calibri"/>
              <a:cs typeface="Calibri"/>
            </a:endParaRPr>
          </a:p>
          <a:p>
            <a:pPr marL="1906270">
              <a:lnSpc>
                <a:spcPct val="100000"/>
              </a:lnSpc>
              <a:spcBef>
                <a:spcPts val="250"/>
              </a:spcBef>
            </a:pPr>
            <a:r>
              <a:rPr sz="1800" dirty="0">
                <a:latin typeface="Calibri"/>
                <a:cs typeface="Calibri"/>
              </a:rPr>
              <a:t>i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48855" y="3984116"/>
            <a:ext cx="13055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two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sorted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halves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219200" y="4913312"/>
            <a:ext cx="2749550" cy="427355"/>
            <a:chOff x="1219200" y="4913312"/>
            <a:chExt cx="2749550" cy="427355"/>
          </a:xfrm>
        </p:grpSpPr>
        <p:sp>
          <p:nvSpPr>
            <p:cNvPr id="10" name="object 10"/>
            <p:cNvSpPr/>
            <p:nvPr/>
          </p:nvSpPr>
          <p:spPr>
            <a:xfrm>
              <a:off x="21336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908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48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48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05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05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192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76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219200" y="4919662"/>
            <a:ext cx="5486400" cy="41465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440"/>
              </a:spcBef>
              <a:tabLst>
                <a:tab pos="626745" algn="l"/>
                <a:tab pos="1083945" algn="l"/>
                <a:tab pos="1483995" algn="l"/>
                <a:tab pos="1941195" algn="l"/>
              </a:tabLst>
            </a:pPr>
            <a:r>
              <a:rPr sz="1800" dirty="0">
                <a:latin typeface="Calibri"/>
                <a:cs typeface="Calibri"/>
              </a:rPr>
              <a:t>2	3	7	</a:t>
            </a:r>
            <a:r>
              <a:rPr sz="1800" spc="-5" dirty="0">
                <a:latin typeface="Calibri"/>
                <a:cs typeface="Calibri"/>
              </a:rPr>
              <a:t>10	11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956050" y="4913312"/>
            <a:ext cx="2755900" cy="427355"/>
            <a:chOff x="3956050" y="4913312"/>
            <a:chExt cx="2755900" cy="427355"/>
          </a:xfrm>
        </p:grpSpPr>
        <p:sp>
          <p:nvSpPr>
            <p:cNvPr id="20" name="object 20"/>
            <p:cNvSpPr/>
            <p:nvPr/>
          </p:nvSpPr>
          <p:spPr>
            <a:xfrm>
              <a:off x="3962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62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8768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334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791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791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248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248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4196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4196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441438" y="4989321"/>
            <a:ext cx="10445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auxiliary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array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562225" y="3609975"/>
            <a:ext cx="50800" cy="209550"/>
          </a:xfrm>
          <a:custGeom>
            <a:avLst/>
            <a:gdLst/>
            <a:ahLst/>
            <a:cxnLst/>
            <a:rect l="l" t="t" r="r" b="b"/>
            <a:pathLst>
              <a:path w="50800" h="209550">
                <a:moveTo>
                  <a:pt x="19050" y="158750"/>
                </a:moveTo>
                <a:lnTo>
                  <a:pt x="0" y="158750"/>
                </a:lnTo>
                <a:lnTo>
                  <a:pt x="25400" y="209550"/>
                </a:lnTo>
                <a:lnTo>
                  <a:pt x="44450" y="171450"/>
                </a:lnTo>
                <a:lnTo>
                  <a:pt x="19050" y="171450"/>
                </a:lnTo>
                <a:lnTo>
                  <a:pt x="19050" y="158750"/>
                </a:lnTo>
                <a:close/>
              </a:path>
              <a:path w="50800" h="209550">
                <a:moveTo>
                  <a:pt x="31750" y="0"/>
                </a:moveTo>
                <a:lnTo>
                  <a:pt x="19050" y="0"/>
                </a:lnTo>
                <a:lnTo>
                  <a:pt x="19050" y="171450"/>
                </a:lnTo>
                <a:lnTo>
                  <a:pt x="31750" y="171450"/>
                </a:lnTo>
                <a:lnTo>
                  <a:pt x="31750" y="0"/>
                </a:lnTo>
                <a:close/>
              </a:path>
              <a:path w="50800" h="209550">
                <a:moveTo>
                  <a:pt x="50800" y="158750"/>
                </a:moveTo>
                <a:lnTo>
                  <a:pt x="31750" y="158750"/>
                </a:lnTo>
                <a:lnTo>
                  <a:pt x="31750" y="171450"/>
                </a:lnTo>
                <a:lnTo>
                  <a:pt x="44450" y="171450"/>
                </a:lnTo>
                <a:lnTo>
                  <a:pt x="50800" y="158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843398" y="3609975"/>
            <a:ext cx="50800" cy="209550"/>
          </a:xfrm>
          <a:custGeom>
            <a:avLst/>
            <a:gdLst/>
            <a:ahLst/>
            <a:cxnLst/>
            <a:rect l="l" t="t" r="r" b="b"/>
            <a:pathLst>
              <a:path w="50800" h="209550">
                <a:moveTo>
                  <a:pt x="19050" y="158750"/>
                </a:moveTo>
                <a:lnTo>
                  <a:pt x="0" y="158750"/>
                </a:lnTo>
                <a:lnTo>
                  <a:pt x="25400" y="209550"/>
                </a:lnTo>
                <a:lnTo>
                  <a:pt x="44450" y="171450"/>
                </a:lnTo>
                <a:lnTo>
                  <a:pt x="19050" y="171450"/>
                </a:lnTo>
                <a:lnTo>
                  <a:pt x="19050" y="158750"/>
                </a:lnTo>
                <a:close/>
              </a:path>
              <a:path w="50800" h="209550">
                <a:moveTo>
                  <a:pt x="31750" y="0"/>
                </a:moveTo>
                <a:lnTo>
                  <a:pt x="19050" y="0"/>
                </a:lnTo>
                <a:lnTo>
                  <a:pt x="19050" y="171450"/>
                </a:lnTo>
                <a:lnTo>
                  <a:pt x="31750" y="171450"/>
                </a:lnTo>
                <a:lnTo>
                  <a:pt x="31750" y="0"/>
                </a:lnTo>
                <a:close/>
              </a:path>
              <a:path w="50800" h="209550">
                <a:moveTo>
                  <a:pt x="50800" y="158750"/>
                </a:moveTo>
                <a:lnTo>
                  <a:pt x="31750" y="158750"/>
                </a:lnTo>
                <a:lnTo>
                  <a:pt x="31750" y="171450"/>
                </a:lnTo>
                <a:lnTo>
                  <a:pt x="44450" y="171450"/>
                </a:lnTo>
                <a:lnTo>
                  <a:pt x="50800" y="158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752850" y="5838825"/>
            <a:ext cx="3346450" cy="466725"/>
          </a:xfrm>
          <a:prstGeom prst="rect">
            <a:avLst/>
          </a:prstGeom>
          <a:solidFill>
            <a:srgbClr val="C0504D"/>
          </a:solidFill>
        </p:spPr>
        <p:txBody>
          <a:bodyPr vert="horz" wrap="square" lIns="0" tIns="774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610"/>
              </a:spcBef>
            </a:pPr>
            <a:r>
              <a:rPr sz="1800" spc="-35" dirty="0">
                <a:latin typeface="Calibri"/>
                <a:cs typeface="Calibri"/>
              </a:rPr>
              <a:t>Total: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6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xfrm>
            <a:off x="2533269" y="95757"/>
            <a:ext cx="40767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Counting</a:t>
            </a:r>
            <a:r>
              <a:rPr spc="-65" dirty="0"/>
              <a:t> </a:t>
            </a:r>
            <a:r>
              <a:rPr spc="-25" dirty="0"/>
              <a:t>Inversions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90600" y="3929062"/>
          <a:ext cx="5946770" cy="6889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6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17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765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7177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350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783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783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783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5783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825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434"/>
                        </a:spcBef>
                        <a:tabLst>
                          <a:tab pos="56959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	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1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5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2362200" y="3929062"/>
            <a:ext cx="1371600" cy="414655"/>
          </a:xfrm>
          <a:custGeom>
            <a:avLst/>
            <a:gdLst/>
            <a:ahLst/>
            <a:cxnLst/>
            <a:rect l="l" t="t" r="r" b="b"/>
            <a:pathLst>
              <a:path w="13716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  <a:path w="1371600" h="414654">
                <a:moveTo>
                  <a:pt x="457200" y="414337"/>
                </a:moveTo>
                <a:lnTo>
                  <a:pt x="914400" y="414337"/>
                </a:lnTo>
                <a:lnTo>
                  <a:pt x="914400" y="0"/>
                </a:lnTo>
                <a:lnTo>
                  <a:pt x="457200" y="0"/>
                </a:lnTo>
                <a:lnTo>
                  <a:pt x="457200" y="414337"/>
                </a:lnTo>
                <a:close/>
              </a:path>
              <a:path w="1371600" h="414654">
                <a:moveTo>
                  <a:pt x="914400" y="414337"/>
                </a:moveTo>
                <a:lnTo>
                  <a:pt x="1371600" y="414337"/>
                </a:lnTo>
                <a:lnTo>
                  <a:pt x="1371600" y="0"/>
                </a:lnTo>
                <a:lnTo>
                  <a:pt x="914400" y="0"/>
                </a:lnTo>
                <a:lnTo>
                  <a:pt x="91440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47800" y="39290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62600" y="3929062"/>
            <a:ext cx="1371600" cy="414655"/>
          </a:xfrm>
          <a:custGeom>
            <a:avLst/>
            <a:gdLst/>
            <a:ahLst/>
            <a:cxnLst/>
            <a:rect l="l" t="t" r="r" b="b"/>
            <a:pathLst>
              <a:path w="13716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  <a:path w="1371600" h="414654">
                <a:moveTo>
                  <a:pt x="457200" y="414337"/>
                </a:moveTo>
                <a:lnTo>
                  <a:pt x="914400" y="414337"/>
                </a:lnTo>
                <a:lnTo>
                  <a:pt x="914400" y="0"/>
                </a:lnTo>
                <a:lnTo>
                  <a:pt x="457200" y="0"/>
                </a:lnTo>
                <a:lnTo>
                  <a:pt x="457200" y="414337"/>
                </a:lnTo>
                <a:close/>
              </a:path>
              <a:path w="1371600" h="414654">
                <a:moveTo>
                  <a:pt x="914400" y="414337"/>
                </a:moveTo>
                <a:lnTo>
                  <a:pt x="1371600" y="414337"/>
                </a:lnTo>
                <a:lnTo>
                  <a:pt x="1371600" y="0"/>
                </a:lnTo>
                <a:lnTo>
                  <a:pt x="914400" y="0"/>
                </a:lnTo>
                <a:lnTo>
                  <a:pt x="91440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48200" y="39290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10540" y="1049773"/>
            <a:ext cx="7771765" cy="252666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80365" algn="l"/>
                <a:tab pos="381000" algn="l"/>
              </a:tabLst>
            </a:pPr>
            <a:r>
              <a:rPr sz="3200" spc="-15" dirty="0">
                <a:latin typeface="Calibri"/>
                <a:cs typeface="Calibri"/>
              </a:rPr>
              <a:t>Merge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count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step.</a:t>
            </a:r>
            <a:endParaRPr sz="3200">
              <a:latin typeface="Calibri"/>
              <a:cs typeface="Calibri"/>
            </a:endParaRPr>
          </a:p>
          <a:p>
            <a:pPr marL="781685" marR="30480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82320" algn="l"/>
              </a:tabLst>
            </a:pPr>
            <a:r>
              <a:rPr sz="2800" spc="-10" dirty="0">
                <a:latin typeface="Calibri"/>
                <a:cs typeface="Calibri"/>
              </a:rPr>
              <a:t>Given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halves,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count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of </a:t>
            </a:r>
            <a:r>
              <a:rPr sz="2800" spc="-5" dirty="0">
                <a:latin typeface="Calibri"/>
                <a:cs typeface="Calibri"/>
              </a:rPr>
              <a:t> i</a:t>
            </a:r>
            <a:r>
              <a:rPr sz="2800" spc="-65" dirty="0">
                <a:latin typeface="Calibri"/>
                <a:cs typeface="Calibri"/>
              </a:rPr>
              <a:t>n</a:t>
            </a:r>
            <a:r>
              <a:rPr sz="2800" spc="-35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r</a:t>
            </a:r>
            <a:r>
              <a:rPr sz="2800" spc="-10" dirty="0">
                <a:latin typeface="Calibri"/>
                <a:cs typeface="Calibri"/>
              </a:rPr>
              <a:t>sio</a:t>
            </a:r>
            <a:r>
              <a:rPr sz="2800" spc="-1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whe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1950" spc="7" baseline="-21367" dirty="0">
                <a:latin typeface="Calibri"/>
                <a:cs typeface="Calibri"/>
              </a:rPr>
              <a:t>i</a:t>
            </a:r>
            <a:r>
              <a:rPr sz="1950" baseline="-21367" dirty="0">
                <a:latin typeface="Calibri"/>
                <a:cs typeface="Calibri"/>
              </a:rPr>
              <a:t> </a:t>
            </a:r>
            <a:r>
              <a:rPr sz="1950" spc="44" baseline="-21367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1950" spc="7" baseline="-21367" dirty="0">
                <a:latin typeface="Calibri"/>
                <a:cs typeface="Calibri"/>
              </a:rPr>
              <a:t>j</a:t>
            </a:r>
            <a:r>
              <a:rPr sz="1950" baseline="-21367" dirty="0">
                <a:latin typeface="Calibri"/>
                <a:cs typeface="Calibri"/>
              </a:rPr>
              <a:t> </a:t>
            </a:r>
            <a:r>
              <a:rPr sz="1950" spc="60" baseline="-21367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</a:t>
            </a:r>
            <a:r>
              <a:rPr sz="2800" spc="-20" dirty="0">
                <a:latin typeface="Calibri"/>
                <a:cs typeface="Calibri"/>
              </a:rPr>
              <a:t>i</a:t>
            </a:r>
            <a:r>
              <a:rPr sz="2800" spc="-35" dirty="0">
                <a:latin typeface="Calibri"/>
                <a:cs typeface="Calibri"/>
              </a:rPr>
              <a:t>f</a:t>
            </a:r>
            <a:r>
              <a:rPr sz="2800" spc="-80" dirty="0">
                <a:latin typeface="Calibri"/>
                <a:cs typeface="Calibri"/>
              </a:rPr>
              <a:t>f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3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hal</a:t>
            </a:r>
            <a:r>
              <a:rPr sz="2800" spc="-40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es.</a:t>
            </a:r>
            <a:endParaRPr sz="2800">
              <a:latin typeface="Calibri"/>
              <a:cs typeface="Calibri"/>
            </a:endParaRPr>
          </a:p>
          <a:p>
            <a:pPr marL="7816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82320" algn="l"/>
              </a:tabLst>
            </a:pPr>
            <a:r>
              <a:rPr sz="2800" spc="-10" dirty="0">
                <a:latin typeface="Calibri"/>
                <a:cs typeface="Calibri"/>
              </a:rPr>
              <a:t>Combine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halves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whole.</a:t>
            </a:r>
            <a:endParaRPr sz="2800">
              <a:latin typeface="Calibri"/>
              <a:cs typeface="Calibri"/>
            </a:endParaRPr>
          </a:p>
          <a:p>
            <a:pPr marL="1906270">
              <a:lnSpc>
                <a:spcPct val="100000"/>
              </a:lnSpc>
              <a:spcBef>
                <a:spcPts val="1450"/>
              </a:spcBef>
            </a:pPr>
            <a:r>
              <a:rPr sz="1800" dirty="0">
                <a:latin typeface="Calibri"/>
                <a:cs typeface="Calibri"/>
              </a:rPr>
              <a:t>i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48855" y="3984116"/>
            <a:ext cx="13055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two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sorted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halves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219200" y="4913312"/>
            <a:ext cx="2749550" cy="427355"/>
            <a:chOff x="1219200" y="4913312"/>
            <a:chExt cx="2749550" cy="427355"/>
          </a:xfrm>
        </p:grpSpPr>
        <p:sp>
          <p:nvSpPr>
            <p:cNvPr id="10" name="object 10"/>
            <p:cNvSpPr/>
            <p:nvPr/>
          </p:nvSpPr>
          <p:spPr>
            <a:xfrm>
              <a:off x="21336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908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48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48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05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05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192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76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219200" y="4919662"/>
            <a:ext cx="5486400" cy="41465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440"/>
              </a:spcBef>
              <a:tabLst>
                <a:tab pos="626745" algn="l"/>
                <a:tab pos="1083945" algn="l"/>
                <a:tab pos="1483995" algn="l"/>
                <a:tab pos="1941195" algn="l"/>
              </a:tabLst>
            </a:pPr>
            <a:r>
              <a:rPr sz="1800" dirty="0">
                <a:latin typeface="Calibri"/>
                <a:cs typeface="Calibri"/>
              </a:rPr>
              <a:t>2	3	7	</a:t>
            </a:r>
            <a:r>
              <a:rPr sz="1800" spc="-5" dirty="0">
                <a:latin typeface="Calibri"/>
                <a:cs typeface="Calibri"/>
              </a:rPr>
              <a:t>10	11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956050" y="4913312"/>
            <a:ext cx="2755900" cy="427355"/>
            <a:chOff x="3956050" y="4913312"/>
            <a:chExt cx="2755900" cy="427355"/>
          </a:xfrm>
        </p:grpSpPr>
        <p:sp>
          <p:nvSpPr>
            <p:cNvPr id="20" name="object 20"/>
            <p:cNvSpPr/>
            <p:nvPr/>
          </p:nvSpPr>
          <p:spPr>
            <a:xfrm>
              <a:off x="3962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62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8768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334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791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791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248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248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4196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4196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441438" y="4989321"/>
            <a:ext cx="10445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auxiliary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array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562225" y="3609975"/>
            <a:ext cx="50800" cy="209550"/>
          </a:xfrm>
          <a:custGeom>
            <a:avLst/>
            <a:gdLst/>
            <a:ahLst/>
            <a:cxnLst/>
            <a:rect l="l" t="t" r="r" b="b"/>
            <a:pathLst>
              <a:path w="50800" h="209550">
                <a:moveTo>
                  <a:pt x="19050" y="158750"/>
                </a:moveTo>
                <a:lnTo>
                  <a:pt x="0" y="158750"/>
                </a:lnTo>
                <a:lnTo>
                  <a:pt x="25400" y="209550"/>
                </a:lnTo>
                <a:lnTo>
                  <a:pt x="44450" y="171450"/>
                </a:lnTo>
                <a:lnTo>
                  <a:pt x="19050" y="171450"/>
                </a:lnTo>
                <a:lnTo>
                  <a:pt x="19050" y="158750"/>
                </a:lnTo>
                <a:close/>
              </a:path>
              <a:path w="50800" h="209550">
                <a:moveTo>
                  <a:pt x="31750" y="0"/>
                </a:moveTo>
                <a:lnTo>
                  <a:pt x="19050" y="0"/>
                </a:lnTo>
                <a:lnTo>
                  <a:pt x="19050" y="171450"/>
                </a:lnTo>
                <a:lnTo>
                  <a:pt x="31750" y="171450"/>
                </a:lnTo>
                <a:lnTo>
                  <a:pt x="31750" y="0"/>
                </a:lnTo>
                <a:close/>
              </a:path>
              <a:path w="50800" h="209550">
                <a:moveTo>
                  <a:pt x="50800" y="158750"/>
                </a:moveTo>
                <a:lnTo>
                  <a:pt x="31750" y="158750"/>
                </a:lnTo>
                <a:lnTo>
                  <a:pt x="31750" y="171450"/>
                </a:lnTo>
                <a:lnTo>
                  <a:pt x="44450" y="171450"/>
                </a:lnTo>
                <a:lnTo>
                  <a:pt x="50800" y="158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300598" y="3609975"/>
            <a:ext cx="50800" cy="209550"/>
          </a:xfrm>
          <a:custGeom>
            <a:avLst/>
            <a:gdLst/>
            <a:ahLst/>
            <a:cxnLst/>
            <a:rect l="l" t="t" r="r" b="b"/>
            <a:pathLst>
              <a:path w="50800" h="209550">
                <a:moveTo>
                  <a:pt x="19050" y="158750"/>
                </a:moveTo>
                <a:lnTo>
                  <a:pt x="0" y="158750"/>
                </a:lnTo>
                <a:lnTo>
                  <a:pt x="25400" y="209550"/>
                </a:lnTo>
                <a:lnTo>
                  <a:pt x="44450" y="171450"/>
                </a:lnTo>
                <a:lnTo>
                  <a:pt x="19050" y="171450"/>
                </a:lnTo>
                <a:lnTo>
                  <a:pt x="19050" y="158750"/>
                </a:lnTo>
                <a:close/>
              </a:path>
              <a:path w="50800" h="209550">
                <a:moveTo>
                  <a:pt x="31750" y="0"/>
                </a:moveTo>
                <a:lnTo>
                  <a:pt x="19050" y="0"/>
                </a:lnTo>
                <a:lnTo>
                  <a:pt x="19050" y="171450"/>
                </a:lnTo>
                <a:lnTo>
                  <a:pt x="31750" y="171450"/>
                </a:lnTo>
                <a:lnTo>
                  <a:pt x="31750" y="0"/>
                </a:lnTo>
                <a:close/>
              </a:path>
              <a:path w="50800" h="209550">
                <a:moveTo>
                  <a:pt x="50800" y="158750"/>
                </a:moveTo>
                <a:lnTo>
                  <a:pt x="31750" y="158750"/>
                </a:lnTo>
                <a:lnTo>
                  <a:pt x="31750" y="171450"/>
                </a:lnTo>
                <a:lnTo>
                  <a:pt x="44450" y="171450"/>
                </a:lnTo>
                <a:lnTo>
                  <a:pt x="50800" y="158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752850" y="5838825"/>
            <a:ext cx="3346450" cy="466725"/>
          </a:xfrm>
          <a:prstGeom prst="rect">
            <a:avLst/>
          </a:prstGeom>
          <a:solidFill>
            <a:srgbClr val="938953"/>
          </a:solidFill>
        </p:spPr>
        <p:txBody>
          <a:bodyPr vert="horz" wrap="square" lIns="0" tIns="774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610"/>
              </a:spcBef>
            </a:pPr>
            <a:r>
              <a:rPr sz="1800" spc="-35" dirty="0">
                <a:latin typeface="Calibri"/>
                <a:cs typeface="Calibri"/>
              </a:rPr>
              <a:t>Total: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6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21</a:t>
            </a:fld>
            <a:endParaRPr dirty="0"/>
          </a:p>
        </p:txBody>
      </p:sp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xfrm>
            <a:off x="2533269" y="95757"/>
            <a:ext cx="40767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Counting</a:t>
            </a:r>
            <a:r>
              <a:rPr spc="-65" dirty="0"/>
              <a:t> </a:t>
            </a:r>
            <a:r>
              <a:rPr spc="-25" dirty="0"/>
              <a:t>Inversions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90600" y="3929062"/>
          <a:ext cx="5951216" cy="6889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6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8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8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7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241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771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7241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13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783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783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783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825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434"/>
                        </a:spcBef>
                        <a:tabLst>
                          <a:tab pos="56959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	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1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5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2362200" y="3929062"/>
            <a:ext cx="1371600" cy="414655"/>
          </a:xfrm>
          <a:custGeom>
            <a:avLst/>
            <a:gdLst/>
            <a:ahLst/>
            <a:cxnLst/>
            <a:rect l="l" t="t" r="r" b="b"/>
            <a:pathLst>
              <a:path w="13716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  <a:path w="1371600" h="414654">
                <a:moveTo>
                  <a:pt x="457200" y="414337"/>
                </a:moveTo>
                <a:lnTo>
                  <a:pt x="914400" y="414337"/>
                </a:lnTo>
                <a:lnTo>
                  <a:pt x="914400" y="0"/>
                </a:lnTo>
                <a:lnTo>
                  <a:pt x="457200" y="0"/>
                </a:lnTo>
                <a:lnTo>
                  <a:pt x="457200" y="414337"/>
                </a:lnTo>
                <a:close/>
              </a:path>
              <a:path w="1371600" h="414654">
                <a:moveTo>
                  <a:pt x="914400" y="414337"/>
                </a:moveTo>
                <a:lnTo>
                  <a:pt x="1371600" y="414337"/>
                </a:lnTo>
                <a:lnTo>
                  <a:pt x="1371600" y="0"/>
                </a:lnTo>
                <a:lnTo>
                  <a:pt x="914400" y="0"/>
                </a:lnTo>
                <a:lnTo>
                  <a:pt x="91440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47800" y="39290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62600" y="3929062"/>
            <a:ext cx="1371600" cy="414655"/>
          </a:xfrm>
          <a:custGeom>
            <a:avLst/>
            <a:gdLst/>
            <a:ahLst/>
            <a:cxnLst/>
            <a:rect l="l" t="t" r="r" b="b"/>
            <a:pathLst>
              <a:path w="13716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  <a:path w="1371600" h="414654">
                <a:moveTo>
                  <a:pt x="457200" y="414337"/>
                </a:moveTo>
                <a:lnTo>
                  <a:pt x="914400" y="414337"/>
                </a:lnTo>
                <a:lnTo>
                  <a:pt x="914400" y="0"/>
                </a:lnTo>
                <a:lnTo>
                  <a:pt x="457200" y="0"/>
                </a:lnTo>
                <a:lnTo>
                  <a:pt x="457200" y="414337"/>
                </a:lnTo>
                <a:close/>
              </a:path>
              <a:path w="1371600" h="414654">
                <a:moveTo>
                  <a:pt x="914400" y="414337"/>
                </a:moveTo>
                <a:lnTo>
                  <a:pt x="1371600" y="414337"/>
                </a:lnTo>
                <a:lnTo>
                  <a:pt x="1371600" y="0"/>
                </a:lnTo>
                <a:lnTo>
                  <a:pt x="914400" y="0"/>
                </a:lnTo>
                <a:lnTo>
                  <a:pt x="91440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48200" y="39290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23240" y="973574"/>
            <a:ext cx="7746365" cy="260286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67665" algn="l"/>
                <a:tab pos="368300" algn="l"/>
              </a:tabLst>
            </a:pPr>
            <a:r>
              <a:rPr sz="3200" spc="-15" dirty="0">
                <a:latin typeface="Calibri"/>
                <a:cs typeface="Calibri"/>
              </a:rPr>
              <a:t>Merge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count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step.</a:t>
            </a:r>
            <a:endParaRPr sz="3200">
              <a:latin typeface="Calibri"/>
              <a:cs typeface="Calibri"/>
            </a:endParaRPr>
          </a:p>
          <a:p>
            <a:pPr marL="768985" marR="17780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69620" algn="l"/>
              </a:tabLst>
            </a:pPr>
            <a:r>
              <a:rPr sz="2800" spc="-10" dirty="0">
                <a:latin typeface="Calibri"/>
                <a:cs typeface="Calibri"/>
              </a:rPr>
              <a:t>Given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sorted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halves,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count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of </a:t>
            </a:r>
            <a:r>
              <a:rPr sz="2800" spc="-5" dirty="0">
                <a:latin typeface="Calibri"/>
                <a:cs typeface="Calibri"/>
              </a:rPr>
              <a:t> i</a:t>
            </a:r>
            <a:r>
              <a:rPr sz="2800" spc="-65" dirty="0">
                <a:latin typeface="Calibri"/>
                <a:cs typeface="Calibri"/>
              </a:rPr>
              <a:t>n</a:t>
            </a:r>
            <a:r>
              <a:rPr sz="2800" spc="-35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r</a:t>
            </a:r>
            <a:r>
              <a:rPr sz="2800" spc="-10" dirty="0">
                <a:latin typeface="Calibri"/>
                <a:cs typeface="Calibri"/>
              </a:rPr>
              <a:t>sio</a:t>
            </a:r>
            <a:r>
              <a:rPr sz="2800" spc="-1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whe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1950" spc="7" baseline="-21367" dirty="0">
                <a:latin typeface="Calibri"/>
                <a:cs typeface="Calibri"/>
              </a:rPr>
              <a:t>i</a:t>
            </a:r>
            <a:r>
              <a:rPr sz="1950" baseline="-21367" dirty="0">
                <a:latin typeface="Calibri"/>
                <a:cs typeface="Calibri"/>
              </a:rPr>
              <a:t> </a:t>
            </a:r>
            <a:r>
              <a:rPr sz="1950" spc="44" baseline="-21367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1950" spc="7" baseline="-21367" dirty="0">
                <a:latin typeface="Calibri"/>
                <a:cs typeface="Calibri"/>
              </a:rPr>
              <a:t>j</a:t>
            </a:r>
            <a:r>
              <a:rPr sz="1950" baseline="-21367" dirty="0">
                <a:latin typeface="Calibri"/>
                <a:cs typeface="Calibri"/>
              </a:rPr>
              <a:t> </a:t>
            </a:r>
            <a:r>
              <a:rPr sz="1950" spc="60" baseline="-21367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</a:t>
            </a:r>
            <a:r>
              <a:rPr sz="2800" spc="-20" dirty="0">
                <a:latin typeface="Calibri"/>
                <a:cs typeface="Calibri"/>
              </a:rPr>
              <a:t>i</a:t>
            </a:r>
            <a:r>
              <a:rPr sz="2800" spc="-35" dirty="0">
                <a:latin typeface="Calibri"/>
                <a:cs typeface="Calibri"/>
              </a:rPr>
              <a:t>f</a:t>
            </a:r>
            <a:r>
              <a:rPr sz="2800" spc="-80" dirty="0">
                <a:latin typeface="Calibri"/>
                <a:cs typeface="Calibri"/>
              </a:rPr>
              <a:t>f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3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hal</a:t>
            </a:r>
            <a:r>
              <a:rPr sz="2800" spc="-40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es.</a:t>
            </a:r>
            <a:endParaRPr sz="2800">
              <a:latin typeface="Calibri"/>
              <a:cs typeface="Calibri"/>
            </a:endParaRPr>
          </a:p>
          <a:p>
            <a:pPr marL="7689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69620" algn="l"/>
              </a:tabLst>
            </a:pPr>
            <a:r>
              <a:rPr sz="2800" spc="-10" dirty="0">
                <a:latin typeface="Calibri"/>
                <a:cs typeface="Calibri"/>
              </a:rPr>
              <a:t>Combine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halves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whole.</a:t>
            </a:r>
            <a:endParaRPr sz="2800">
              <a:latin typeface="Calibri"/>
              <a:cs typeface="Calibri"/>
            </a:endParaRPr>
          </a:p>
          <a:p>
            <a:pPr marL="1893570">
              <a:lnSpc>
                <a:spcPct val="100000"/>
              </a:lnSpc>
              <a:spcBef>
                <a:spcPts val="2050"/>
              </a:spcBef>
            </a:pPr>
            <a:r>
              <a:rPr sz="1800" dirty="0">
                <a:latin typeface="Calibri"/>
                <a:cs typeface="Calibri"/>
              </a:rPr>
              <a:t>i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48855" y="3984116"/>
            <a:ext cx="13055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two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sorted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halves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219200" y="4913312"/>
            <a:ext cx="2749550" cy="427355"/>
            <a:chOff x="1219200" y="4913312"/>
            <a:chExt cx="2749550" cy="427355"/>
          </a:xfrm>
        </p:grpSpPr>
        <p:sp>
          <p:nvSpPr>
            <p:cNvPr id="10" name="object 10"/>
            <p:cNvSpPr/>
            <p:nvPr/>
          </p:nvSpPr>
          <p:spPr>
            <a:xfrm>
              <a:off x="21336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908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48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48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05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05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192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76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219200" y="4919662"/>
            <a:ext cx="5486400" cy="41465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440"/>
              </a:spcBef>
              <a:tabLst>
                <a:tab pos="626745" algn="l"/>
                <a:tab pos="1083945" algn="l"/>
                <a:tab pos="1483995" algn="l"/>
                <a:tab pos="1941195" algn="l"/>
                <a:tab pos="2398395" algn="l"/>
              </a:tabLst>
            </a:pPr>
            <a:r>
              <a:rPr sz="1800" dirty="0">
                <a:latin typeface="Calibri"/>
                <a:cs typeface="Calibri"/>
              </a:rPr>
              <a:t>2	3	7	</a:t>
            </a:r>
            <a:r>
              <a:rPr sz="1800" spc="-5" dirty="0">
                <a:latin typeface="Calibri"/>
                <a:cs typeface="Calibri"/>
              </a:rPr>
              <a:t>10	11	14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956050" y="4913312"/>
            <a:ext cx="2755900" cy="427355"/>
            <a:chOff x="3956050" y="4913312"/>
            <a:chExt cx="2755900" cy="427355"/>
          </a:xfrm>
        </p:grpSpPr>
        <p:sp>
          <p:nvSpPr>
            <p:cNvPr id="20" name="object 20"/>
            <p:cNvSpPr/>
            <p:nvPr/>
          </p:nvSpPr>
          <p:spPr>
            <a:xfrm>
              <a:off x="3962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62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8768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334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791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791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248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248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4196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4196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441438" y="4989321"/>
            <a:ext cx="10445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auxiliary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array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562225" y="3609975"/>
            <a:ext cx="50800" cy="209550"/>
          </a:xfrm>
          <a:custGeom>
            <a:avLst/>
            <a:gdLst/>
            <a:ahLst/>
            <a:cxnLst/>
            <a:rect l="l" t="t" r="r" b="b"/>
            <a:pathLst>
              <a:path w="50800" h="209550">
                <a:moveTo>
                  <a:pt x="19050" y="158750"/>
                </a:moveTo>
                <a:lnTo>
                  <a:pt x="0" y="158750"/>
                </a:lnTo>
                <a:lnTo>
                  <a:pt x="25400" y="209550"/>
                </a:lnTo>
                <a:lnTo>
                  <a:pt x="44450" y="171450"/>
                </a:lnTo>
                <a:lnTo>
                  <a:pt x="19050" y="171450"/>
                </a:lnTo>
                <a:lnTo>
                  <a:pt x="19050" y="158750"/>
                </a:lnTo>
                <a:close/>
              </a:path>
              <a:path w="50800" h="209550">
                <a:moveTo>
                  <a:pt x="31750" y="0"/>
                </a:moveTo>
                <a:lnTo>
                  <a:pt x="19050" y="0"/>
                </a:lnTo>
                <a:lnTo>
                  <a:pt x="19050" y="171450"/>
                </a:lnTo>
                <a:lnTo>
                  <a:pt x="31750" y="171450"/>
                </a:lnTo>
                <a:lnTo>
                  <a:pt x="31750" y="0"/>
                </a:lnTo>
                <a:close/>
              </a:path>
              <a:path w="50800" h="209550">
                <a:moveTo>
                  <a:pt x="50800" y="158750"/>
                </a:moveTo>
                <a:lnTo>
                  <a:pt x="31750" y="158750"/>
                </a:lnTo>
                <a:lnTo>
                  <a:pt x="31750" y="171450"/>
                </a:lnTo>
                <a:lnTo>
                  <a:pt x="44450" y="171450"/>
                </a:lnTo>
                <a:lnTo>
                  <a:pt x="50800" y="158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300598" y="3609975"/>
            <a:ext cx="50800" cy="209550"/>
          </a:xfrm>
          <a:custGeom>
            <a:avLst/>
            <a:gdLst/>
            <a:ahLst/>
            <a:cxnLst/>
            <a:rect l="l" t="t" r="r" b="b"/>
            <a:pathLst>
              <a:path w="50800" h="209550">
                <a:moveTo>
                  <a:pt x="19050" y="158750"/>
                </a:moveTo>
                <a:lnTo>
                  <a:pt x="0" y="158750"/>
                </a:lnTo>
                <a:lnTo>
                  <a:pt x="25400" y="209550"/>
                </a:lnTo>
                <a:lnTo>
                  <a:pt x="44450" y="171450"/>
                </a:lnTo>
                <a:lnTo>
                  <a:pt x="19050" y="171450"/>
                </a:lnTo>
                <a:lnTo>
                  <a:pt x="19050" y="158750"/>
                </a:lnTo>
                <a:close/>
              </a:path>
              <a:path w="50800" h="209550">
                <a:moveTo>
                  <a:pt x="31750" y="0"/>
                </a:moveTo>
                <a:lnTo>
                  <a:pt x="19050" y="0"/>
                </a:lnTo>
                <a:lnTo>
                  <a:pt x="19050" y="171450"/>
                </a:lnTo>
                <a:lnTo>
                  <a:pt x="31750" y="171450"/>
                </a:lnTo>
                <a:lnTo>
                  <a:pt x="31750" y="0"/>
                </a:lnTo>
                <a:close/>
              </a:path>
              <a:path w="50800" h="209550">
                <a:moveTo>
                  <a:pt x="50800" y="158750"/>
                </a:moveTo>
                <a:lnTo>
                  <a:pt x="31750" y="158750"/>
                </a:lnTo>
                <a:lnTo>
                  <a:pt x="31750" y="171450"/>
                </a:lnTo>
                <a:lnTo>
                  <a:pt x="44450" y="171450"/>
                </a:lnTo>
                <a:lnTo>
                  <a:pt x="50800" y="158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752850" y="5838825"/>
            <a:ext cx="3346450" cy="466725"/>
          </a:xfrm>
          <a:prstGeom prst="rect">
            <a:avLst/>
          </a:prstGeom>
          <a:solidFill>
            <a:srgbClr val="C0504D"/>
          </a:solidFill>
        </p:spPr>
        <p:txBody>
          <a:bodyPr vert="horz" wrap="square" lIns="0" tIns="774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610"/>
              </a:spcBef>
            </a:pPr>
            <a:r>
              <a:rPr sz="1800" spc="-35" dirty="0">
                <a:latin typeface="Calibri"/>
                <a:cs typeface="Calibri"/>
              </a:rPr>
              <a:t>Total: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6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xfrm>
            <a:off x="2533269" y="95757"/>
            <a:ext cx="40767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Counting</a:t>
            </a:r>
            <a:r>
              <a:rPr spc="-65" dirty="0"/>
              <a:t> </a:t>
            </a:r>
            <a:r>
              <a:rPr spc="-25" dirty="0"/>
              <a:t>Inversions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90600" y="3929062"/>
          <a:ext cx="5944865" cy="6889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6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8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17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765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7177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070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825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434"/>
                        </a:spcBef>
                        <a:tabLst>
                          <a:tab pos="56959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	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1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5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2362200" y="3929062"/>
            <a:ext cx="1371600" cy="414655"/>
          </a:xfrm>
          <a:custGeom>
            <a:avLst/>
            <a:gdLst/>
            <a:ahLst/>
            <a:cxnLst/>
            <a:rect l="l" t="t" r="r" b="b"/>
            <a:pathLst>
              <a:path w="13716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  <a:path w="1371600" h="414654">
                <a:moveTo>
                  <a:pt x="457200" y="414337"/>
                </a:moveTo>
                <a:lnTo>
                  <a:pt x="914400" y="414337"/>
                </a:lnTo>
                <a:lnTo>
                  <a:pt x="914400" y="0"/>
                </a:lnTo>
                <a:lnTo>
                  <a:pt x="457200" y="0"/>
                </a:lnTo>
                <a:lnTo>
                  <a:pt x="457200" y="414337"/>
                </a:lnTo>
                <a:close/>
              </a:path>
              <a:path w="1371600" h="414654">
                <a:moveTo>
                  <a:pt x="914400" y="414337"/>
                </a:moveTo>
                <a:lnTo>
                  <a:pt x="1371600" y="414337"/>
                </a:lnTo>
                <a:lnTo>
                  <a:pt x="1371600" y="0"/>
                </a:lnTo>
                <a:lnTo>
                  <a:pt x="914400" y="0"/>
                </a:lnTo>
                <a:lnTo>
                  <a:pt x="91440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47800" y="39290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62600" y="3929062"/>
            <a:ext cx="1371600" cy="414655"/>
          </a:xfrm>
          <a:custGeom>
            <a:avLst/>
            <a:gdLst/>
            <a:ahLst/>
            <a:cxnLst/>
            <a:rect l="l" t="t" r="r" b="b"/>
            <a:pathLst>
              <a:path w="13716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  <a:path w="1371600" h="414654">
                <a:moveTo>
                  <a:pt x="457200" y="414337"/>
                </a:moveTo>
                <a:lnTo>
                  <a:pt x="914400" y="414337"/>
                </a:lnTo>
                <a:lnTo>
                  <a:pt x="914400" y="0"/>
                </a:lnTo>
                <a:lnTo>
                  <a:pt x="457200" y="0"/>
                </a:lnTo>
                <a:lnTo>
                  <a:pt x="457200" y="414337"/>
                </a:lnTo>
                <a:close/>
              </a:path>
              <a:path w="1371600" h="414654">
                <a:moveTo>
                  <a:pt x="914400" y="414337"/>
                </a:moveTo>
                <a:lnTo>
                  <a:pt x="1371600" y="414337"/>
                </a:lnTo>
                <a:lnTo>
                  <a:pt x="1371600" y="0"/>
                </a:lnTo>
                <a:lnTo>
                  <a:pt x="914400" y="0"/>
                </a:lnTo>
                <a:lnTo>
                  <a:pt x="91440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48200" y="39290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10540" y="1049773"/>
            <a:ext cx="7771765" cy="252666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80365" algn="l"/>
                <a:tab pos="381000" algn="l"/>
              </a:tabLst>
            </a:pPr>
            <a:r>
              <a:rPr sz="3200" spc="-15" dirty="0">
                <a:latin typeface="Calibri"/>
                <a:cs typeface="Calibri"/>
              </a:rPr>
              <a:t>Merge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count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step.</a:t>
            </a:r>
            <a:endParaRPr sz="3200">
              <a:latin typeface="Calibri"/>
              <a:cs typeface="Calibri"/>
            </a:endParaRPr>
          </a:p>
          <a:p>
            <a:pPr marL="781685" marR="30480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82320" algn="l"/>
              </a:tabLst>
            </a:pPr>
            <a:r>
              <a:rPr sz="2800" spc="-10" dirty="0">
                <a:latin typeface="Calibri"/>
                <a:cs typeface="Calibri"/>
              </a:rPr>
              <a:t>Given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halves,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count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of </a:t>
            </a:r>
            <a:r>
              <a:rPr sz="2800" spc="-5" dirty="0">
                <a:latin typeface="Calibri"/>
                <a:cs typeface="Calibri"/>
              </a:rPr>
              <a:t> i</a:t>
            </a:r>
            <a:r>
              <a:rPr sz="2800" spc="-65" dirty="0">
                <a:latin typeface="Calibri"/>
                <a:cs typeface="Calibri"/>
              </a:rPr>
              <a:t>n</a:t>
            </a:r>
            <a:r>
              <a:rPr sz="2800" spc="-35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r</a:t>
            </a:r>
            <a:r>
              <a:rPr sz="2800" spc="-10" dirty="0">
                <a:latin typeface="Calibri"/>
                <a:cs typeface="Calibri"/>
              </a:rPr>
              <a:t>sio</a:t>
            </a:r>
            <a:r>
              <a:rPr sz="2800" spc="-1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whe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1950" spc="7" baseline="-21367" dirty="0">
                <a:latin typeface="Calibri"/>
                <a:cs typeface="Calibri"/>
              </a:rPr>
              <a:t>i</a:t>
            </a:r>
            <a:r>
              <a:rPr sz="1950" baseline="-21367" dirty="0">
                <a:latin typeface="Calibri"/>
                <a:cs typeface="Calibri"/>
              </a:rPr>
              <a:t> </a:t>
            </a:r>
            <a:r>
              <a:rPr sz="1950" spc="44" baseline="-21367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1950" spc="7" baseline="-21367" dirty="0">
                <a:latin typeface="Calibri"/>
                <a:cs typeface="Calibri"/>
              </a:rPr>
              <a:t>j</a:t>
            </a:r>
            <a:r>
              <a:rPr sz="1950" baseline="-21367" dirty="0">
                <a:latin typeface="Calibri"/>
                <a:cs typeface="Calibri"/>
              </a:rPr>
              <a:t> </a:t>
            </a:r>
            <a:r>
              <a:rPr sz="1950" spc="60" baseline="-21367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</a:t>
            </a:r>
            <a:r>
              <a:rPr sz="2800" spc="-20" dirty="0">
                <a:latin typeface="Calibri"/>
                <a:cs typeface="Calibri"/>
              </a:rPr>
              <a:t>i</a:t>
            </a:r>
            <a:r>
              <a:rPr sz="2800" spc="-35" dirty="0">
                <a:latin typeface="Calibri"/>
                <a:cs typeface="Calibri"/>
              </a:rPr>
              <a:t>f</a:t>
            </a:r>
            <a:r>
              <a:rPr sz="2800" spc="-80" dirty="0">
                <a:latin typeface="Calibri"/>
                <a:cs typeface="Calibri"/>
              </a:rPr>
              <a:t>f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3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hal</a:t>
            </a:r>
            <a:r>
              <a:rPr sz="2800" spc="-40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es.</a:t>
            </a:r>
            <a:endParaRPr sz="2800">
              <a:latin typeface="Calibri"/>
              <a:cs typeface="Calibri"/>
            </a:endParaRPr>
          </a:p>
          <a:p>
            <a:pPr marL="7816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82320" algn="l"/>
              </a:tabLst>
            </a:pPr>
            <a:r>
              <a:rPr sz="2800" spc="-10" dirty="0">
                <a:latin typeface="Calibri"/>
                <a:cs typeface="Calibri"/>
              </a:rPr>
              <a:t>Combine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halves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whole.</a:t>
            </a:r>
            <a:endParaRPr sz="2800">
              <a:latin typeface="Calibri"/>
              <a:cs typeface="Calibri"/>
            </a:endParaRPr>
          </a:p>
          <a:p>
            <a:pPr marL="2353945">
              <a:lnSpc>
                <a:spcPct val="100000"/>
              </a:lnSpc>
              <a:spcBef>
                <a:spcPts val="1450"/>
              </a:spcBef>
            </a:pPr>
            <a:r>
              <a:rPr sz="1800" dirty="0">
                <a:latin typeface="Calibri"/>
                <a:cs typeface="Calibri"/>
              </a:rPr>
              <a:t>i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48855" y="3984116"/>
            <a:ext cx="13055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two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sorted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halves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219200" y="4913312"/>
            <a:ext cx="2749550" cy="427355"/>
            <a:chOff x="1219200" y="4913312"/>
            <a:chExt cx="2749550" cy="427355"/>
          </a:xfrm>
        </p:grpSpPr>
        <p:sp>
          <p:nvSpPr>
            <p:cNvPr id="10" name="object 10"/>
            <p:cNvSpPr/>
            <p:nvPr/>
          </p:nvSpPr>
          <p:spPr>
            <a:xfrm>
              <a:off x="21336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908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48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48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05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05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192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76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219200" y="4919662"/>
            <a:ext cx="5486400" cy="41465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440"/>
              </a:spcBef>
              <a:tabLst>
                <a:tab pos="626745" algn="l"/>
                <a:tab pos="1083945" algn="l"/>
                <a:tab pos="1483995" algn="l"/>
                <a:tab pos="1941195" algn="l"/>
                <a:tab pos="2398395" algn="l"/>
              </a:tabLst>
            </a:pPr>
            <a:r>
              <a:rPr sz="1800" dirty="0">
                <a:latin typeface="Calibri"/>
                <a:cs typeface="Calibri"/>
              </a:rPr>
              <a:t>2	3	7	</a:t>
            </a:r>
            <a:r>
              <a:rPr sz="1800" spc="-5" dirty="0">
                <a:latin typeface="Calibri"/>
                <a:cs typeface="Calibri"/>
              </a:rPr>
              <a:t>10	11	14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956050" y="4913312"/>
            <a:ext cx="2755900" cy="427355"/>
            <a:chOff x="3956050" y="4913312"/>
            <a:chExt cx="2755900" cy="427355"/>
          </a:xfrm>
        </p:grpSpPr>
        <p:sp>
          <p:nvSpPr>
            <p:cNvPr id="20" name="object 20"/>
            <p:cNvSpPr/>
            <p:nvPr/>
          </p:nvSpPr>
          <p:spPr>
            <a:xfrm>
              <a:off x="3962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62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8768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334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791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791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248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248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4196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4196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441438" y="4989321"/>
            <a:ext cx="10445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auxiliary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array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009900" y="3609975"/>
            <a:ext cx="50800" cy="209550"/>
          </a:xfrm>
          <a:custGeom>
            <a:avLst/>
            <a:gdLst/>
            <a:ahLst/>
            <a:cxnLst/>
            <a:rect l="l" t="t" r="r" b="b"/>
            <a:pathLst>
              <a:path w="50800" h="209550">
                <a:moveTo>
                  <a:pt x="19050" y="158750"/>
                </a:moveTo>
                <a:lnTo>
                  <a:pt x="0" y="158750"/>
                </a:lnTo>
                <a:lnTo>
                  <a:pt x="25400" y="209550"/>
                </a:lnTo>
                <a:lnTo>
                  <a:pt x="44450" y="171450"/>
                </a:lnTo>
                <a:lnTo>
                  <a:pt x="19050" y="171450"/>
                </a:lnTo>
                <a:lnTo>
                  <a:pt x="19050" y="158750"/>
                </a:lnTo>
                <a:close/>
              </a:path>
              <a:path w="50800" h="209550">
                <a:moveTo>
                  <a:pt x="31750" y="0"/>
                </a:moveTo>
                <a:lnTo>
                  <a:pt x="19050" y="0"/>
                </a:lnTo>
                <a:lnTo>
                  <a:pt x="19050" y="171450"/>
                </a:lnTo>
                <a:lnTo>
                  <a:pt x="31750" y="171450"/>
                </a:lnTo>
                <a:lnTo>
                  <a:pt x="31750" y="0"/>
                </a:lnTo>
                <a:close/>
              </a:path>
              <a:path w="50800" h="209550">
                <a:moveTo>
                  <a:pt x="50800" y="158750"/>
                </a:moveTo>
                <a:lnTo>
                  <a:pt x="31750" y="158750"/>
                </a:lnTo>
                <a:lnTo>
                  <a:pt x="31750" y="171450"/>
                </a:lnTo>
                <a:lnTo>
                  <a:pt x="44450" y="171450"/>
                </a:lnTo>
                <a:lnTo>
                  <a:pt x="50800" y="158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300598" y="3609975"/>
            <a:ext cx="50800" cy="209550"/>
          </a:xfrm>
          <a:custGeom>
            <a:avLst/>
            <a:gdLst/>
            <a:ahLst/>
            <a:cxnLst/>
            <a:rect l="l" t="t" r="r" b="b"/>
            <a:pathLst>
              <a:path w="50800" h="209550">
                <a:moveTo>
                  <a:pt x="19050" y="158750"/>
                </a:moveTo>
                <a:lnTo>
                  <a:pt x="0" y="158750"/>
                </a:lnTo>
                <a:lnTo>
                  <a:pt x="25400" y="209550"/>
                </a:lnTo>
                <a:lnTo>
                  <a:pt x="44450" y="171450"/>
                </a:lnTo>
                <a:lnTo>
                  <a:pt x="19050" y="171450"/>
                </a:lnTo>
                <a:lnTo>
                  <a:pt x="19050" y="158750"/>
                </a:lnTo>
                <a:close/>
              </a:path>
              <a:path w="50800" h="209550">
                <a:moveTo>
                  <a:pt x="31750" y="0"/>
                </a:moveTo>
                <a:lnTo>
                  <a:pt x="19050" y="0"/>
                </a:lnTo>
                <a:lnTo>
                  <a:pt x="19050" y="171450"/>
                </a:lnTo>
                <a:lnTo>
                  <a:pt x="31750" y="171450"/>
                </a:lnTo>
                <a:lnTo>
                  <a:pt x="31750" y="0"/>
                </a:lnTo>
                <a:close/>
              </a:path>
              <a:path w="50800" h="209550">
                <a:moveTo>
                  <a:pt x="50800" y="158750"/>
                </a:moveTo>
                <a:lnTo>
                  <a:pt x="31750" y="158750"/>
                </a:lnTo>
                <a:lnTo>
                  <a:pt x="31750" y="171450"/>
                </a:lnTo>
                <a:lnTo>
                  <a:pt x="44450" y="171450"/>
                </a:lnTo>
                <a:lnTo>
                  <a:pt x="50800" y="158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752850" y="5838825"/>
            <a:ext cx="3346450" cy="466725"/>
          </a:xfrm>
          <a:prstGeom prst="rect">
            <a:avLst/>
          </a:prstGeom>
          <a:solidFill>
            <a:srgbClr val="C0504D"/>
          </a:solidFill>
        </p:spPr>
        <p:txBody>
          <a:bodyPr vert="horz" wrap="square" lIns="0" tIns="774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610"/>
              </a:spcBef>
            </a:pPr>
            <a:r>
              <a:rPr sz="1800" spc="-35" dirty="0">
                <a:latin typeface="Calibri"/>
                <a:cs typeface="Calibri"/>
              </a:rPr>
              <a:t>Total: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6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23</a:t>
            </a:fld>
            <a:endParaRPr dirty="0"/>
          </a:p>
        </p:txBody>
      </p:sp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xfrm>
            <a:off x="2533269" y="95757"/>
            <a:ext cx="40767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Counting</a:t>
            </a:r>
            <a:r>
              <a:rPr spc="-65" dirty="0"/>
              <a:t> </a:t>
            </a:r>
            <a:r>
              <a:rPr spc="-25" dirty="0"/>
              <a:t>Inversions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90600" y="3929062"/>
          <a:ext cx="5950578" cy="6889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6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177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765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7177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350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318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7241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0413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5847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5847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5847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3825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434"/>
                        </a:spcBef>
                        <a:tabLst>
                          <a:tab pos="56959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	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1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9389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5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2362200" y="3929062"/>
            <a:ext cx="1371600" cy="414655"/>
          </a:xfrm>
          <a:custGeom>
            <a:avLst/>
            <a:gdLst/>
            <a:ahLst/>
            <a:cxnLst/>
            <a:rect l="l" t="t" r="r" b="b"/>
            <a:pathLst>
              <a:path w="13716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  <a:path w="1371600" h="414654">
                <a:moveTo>
                  <a:pt x="457200" y="414337"/>
                </a:moveTo>
                <a:lnTo>
                  <a:pt x="914400" y="414337"/>
                </a:lnTo>
                <a:lnTo>
                  <a:pt x="914400" y="0"/>
                </a:lnTo>
                <a:lnTo>
                  <a:pt x="457200" y="0"/>
                </a:lnTo>
                <a:lnTo>
                  <a:pt x="457200" y="414337"/>
                </a:lnTo>
                <a:close/>
              </a:path>
              <a:path w="1371600" h="414654">
                <a:moveTo>
                  <a:pt x="914400" y="414337"/>
                </a:moveTo>
                <a:lnTo>
                  <a:pt x="1371600" y="414337"/>
                </a:lnTo>
                <a:lnTo>
                  <a:pt x="1371600" y="0"/>
                </a:lnTo>
                <a:lnTo>
                  <a:pt x="914400" y="0"/>
                </a:lnTo>
                <a:lnTo>
                  <a:pt x="91440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47800" y="39290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62600" y="3929062"/>
            <a:ext cx="1371600" cy="414655"/>
          </a:xfrm>
          <a:custGeom>
            <a:avLst/>
            <a:gdLst/>
            <a:ahLst/>
            <a:cxnLst/>
            <a:rect l="l" t="t" r="r" b="b"/>
            <a:pathLst>
              <a:path w="13716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  <a:path w="1371600" h="414654">
                <a:moveTo>
                  <a:pt x="457200" y="414337"/>
                </a:moveTo>
                <a:lnTo>
                  <a:pt x="914400" y="414337"/>
                </a:lnTo>
                <a:lnTo>
                  <a:pt x="914400" y="0"/>
                </a:lnTo>
                <a:lnTo>
                  <a:pt x="457200" y="0"/>
                </a:lnTo>
                <a:lnTo>
                  <a:pt x="457200" y="414337"/>
                </a:lnTo>
                <a:close/>
              </a:path>
              <a:path w="1371600" h="414654">
                <a:moveTo>
                  <a:pt x="914400" y="414337"/>
                </a:moveTo>
                <a:lnTo>
                  <a:pt x="1371600" y="414337"/>
                </a:lnTo>
                <a:lnTo>
                  <a:pt x="1371600" y="0"/>
                </a:lnTo>
                <a:lnTo>
                  <a:pt x="914400" y="0"/>
                </a:lnTo>
                <a:lnTo>
                  <a:pt x="91440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48200" y="39290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10540" y="1202173"/>
            <a:ext cx="7771765" cy="237426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80365" algn="l"/>
                <a:tab pos="381000" algn="l"/>
              </a:tabLst>
            </a:pPr>
            <a:r>
              <a:rPr sz="3200" spc="-15" dirty="0">
                <a:latin typeface="Calibri"/>
                <a:cs typeface="Calibri"/>
              </a:rPr>
              <a:t>Merge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count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step.</a:t>
            </a:r>
            <a:endParaRPr sz="3200">
              <a:latin typeface="Calibri"/>
              <a:cs typeface="Calibri"/>
            </a:endParaRPr>
          </a:p>
          <a:p>
            <a:pPr marL="781685" marR="30480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82320" algn="l"/>
              </a:tabLst>
            </a:pPr>
            <a:r>
              <a:rPr sz="2800" spc="-10" dirty="0">
                <a:latin typeface="Calibri"/>
                <a:cs typeface="Calibri"/>
              </a:rPr>
              <a:t>Given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halves,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count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of </a:t>
            </a:r>
            <a:r>
              <a:rPr sz="2800" spc="-5" dirty="0">
                <a:latin typeface="Calibri"/>
                <a:cs typeface="Calibri"/>
              </a:rPr>
              <a:t> i</a:t>
            </a:r>
            <a:r>
              <a:rPr sz="2800" spc="-65" dirty="0">
                <a:latin typeface="Calibri"/>
                <a:cs typeface="Calibri"/>
              </a:rPr>
              <a:t>n</a:t>
            </a:r>
            <a:r>
              <a:rPr sz="2800" spc="-35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r</a:t>
            </a:r>
            <a:r>
              <a:rPr sz="2800" spc="-10" dirty="0">
                <a:latin typeface="Calibri"/>
                <a:cs typeface="Calibri"/>
              </a:rPr>
              <a:t>sio</a:t>
            </a:r>
            <a:r>
              <a:rPr sz="2800" spc="-1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whe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1950" spc="7" baseline="-21367" dirty="0">
                <a:latin typeface="Calibri"/>
                <a:cs typeface="Calibri"/>
              </a:rPr>
              <a:t>i</a:t>
            </a:r>
            <a:r>
              <a:rPr sz="1950" baseline="-21367" dirty="0">
                <a:latin typeface="Calibri"/>
                <a:cs typeface="Calibri"/>
              </a:rPr>
              <a:t> </a:t>
            </a:r>
            <a:r>
              <a:rPr sz="1950" spc="44" baseline="-21367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1950" spc="7" baseline="-21367" dirty="0">
                <a:latin typeface="Calibri"/>
                <a:cs typeface="Calibri"/>
              </a:rPr>
              <a:t>j</a:t>
            </a:r>
            <a:r>
              <a:rPr sz="1950" baseline="-21367" dirty="0">
                <a:latin typeface="Calibri"/>
                <a:cs typeface="Calibri"/>
              </a:rPr>
              <a:t> </a:t>
            </a:r>
            <a:r>
              <a:rPr sz="1950" spc="60" baseline="-21367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</a:t>
            </a:r>
            <a:r>
              <a:rPr sz="2800" spc="-20" dirty="0">
                <a:latin typeface="Calibri"/>
                <a:cs typeface="Calibri"/>
              </a:rPr>
              <a:t>i</a:t>
            </a:r>
            <a:r>
              <a:rPr sz="2800" spc="-35" dirty="0">
                <a:latin typeface="Calibri"/>
                <a:cs typeface="Calibri"/>
              </a:rPr>
              <a:t>f</a:t>
            </a:r>
            <a:r>
              <a:rPr sz="2800" spc="-80" dirty="0">
                <a:latin typeface="Calibri"/>
                <a:cs typeface="Calibri"/>
              </a:rPr>
              <a:t>f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3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hal</a:t>
            </a:r>
            <a:r>
              <a:rPr sz="2800" spc="-40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es.</a:t>
            </a:r>
            <a:endParaRPr sz="2800">
              <a:latin typeface="Calibri"/>
              <a:cs typeface="Calibri"/>
            </a:endParaRPr>
          </a:p>
          <a:p>
            <a:pPr marL="7816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82320" algn="l"/>
              </a:tabLst>
            </a:pPr>
            <a:r>
              <a:rPr sz="2800" spc="-10" dirty="0">
                <a:latin typeface="Calibri"/>
                <a:cs typeface="Calibri"/>
              </a:rPr>
              <a:t>Combine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halves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whole.</a:t>
            </a:r>
            <a:endParaRPr sz="2800">
              <a:latin typeface="Calibri"/>
              <a:cs typeface="Calibri"/>
            </a:endParaRPr>
          </a:p>
          <a:p>
            <a:pPr marL="2353945">
              <a:lnSpc>
                <a:spcPct val="100000"/>
              </a:lnSpc>
              <a:spcBef>
                <a:spcPts val="250"/>
              </a:spcBef>
            </a:pPr>
            <a:r>
              <a:rPr sz="1800" dirty="0">
                <a:latin typeface="Calibri"/>
                <a:cs typeface="Calibri"/>
              </a:rPr>
              <a:t>i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48855" y="3984116"/>
            <a:ext cx="13055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two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sorted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halves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219200" y="4913312"/>
            <a:ext cx="5492750" cy="427355"/>
            <a:chOff x="1219200" y="4913312"/>
            <a:chExt cx="5492750" cy="427355"/>
          </a:xfrm>
        </p:grpSpPr>
        <p:sp>
          <p:nvSpPr>
            <p:cNvPr id="10" name="object 10"/>
            <p:cNvSpPr/>
            <p:nvPr/>
          </p:nvSpPr>
          <p:spPr>
            <a:xfrm>
              <a:off x="21336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908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48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48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05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05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192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76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962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962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8768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34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791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91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48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248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219200" y="4919662"/>
            <a:ext cx="5486400" cy="41465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440"/>
              </a:spcBef>
              <a:tabLst>
                <a:tab pos="626745" algn="l"/>
                <a:tab pos="1083945" algn="l"/>
                <a:tab pos="1483995" algn="l"/>
                <a:tab pos="1941195" algn="l"/>
                <a:tab pos="2398395" algn="l"/>
                <a:tab pos="2855595" algn="l"/>
              </a:tabLst>
            </a:pPr>
            <a:r>
              <a:rPr sz="1800" dirty="0">
                <a:latin typeface="Calibri"/>
                <a:cs typeface="Calibri"/>
              </a:rPr>
              <a:t>2	3	7	</a:t>
            </a:r>
            <a:r>
              <a:rPr sz="1800" spc="-5" dirty="0">
                <a:latin typeface="Calibri"/>
                <a:cs typeface="Calibri"/>
              </a:rPr>
              <a:t>10	11	14	16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413250" y="4913312"/>
            <a:ext cx="469900" cy="427355"/>
            <a:chOff x="4413250" y="4913312"/>
            <a:chExt cx="469900" cy="427355"/>
          </a:xfrm>
        </p:grpSpPr>
        <p:sp>
          <p:nvSpPr>
            <p:cNvPr id="28" name="object 28"/>
            <p:cNvSpPr/>
            <p:nvPr/>
          </p:nvSpPr>
          <p:spPr>
            <a:xfrm>
              <a:off x="44196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4196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441438" y="4989321"/>
            <a:ext cx="10445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auxiliary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array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009900" y="3609975"/>
            <a:ext cx="50800" cy="209550"/>
          </a:xfrm>
          <a:custGeom>
            <a:avLst/>
            <a:gdLst/>
            <a:ahLst/>
            <a:cxnLst/>
            <a:rect l="l" t="t" r="r" b="b"/>
            <a:pathLst>
              <a:path w="50800" h="209550">
                <a:moveTo>
                  <a:pt x="19050" y="158750"/>
                </a:moveTo>
                <a:lnTo>
                  <a:pt x="0" y="158750"/>
                </a:lnTo>
                <a:lnTo>
                  <a:pt x="25400" y="209550"/>
                </a:lnTo>
                <a:lnTo>
                  <a:pt x="44450" y="171450"/>
                </a:lnTo>
                <a:lnTo>
                  <a:pt x="19050" y="171450"/>
                </a:lnTo>
                <a:lnTo>
                  <a:pt x="19050" y="158750"/>
                </a:lnTo>
                <a:close/>
              </a:path>
              <a:path w="50800" h="209550">
                <a:moveTo>
                  <a:pt x="31750" y="0"/>
                </a:moveTo>
                <a:lnTo>
                  <a:pt x="19050" y="0"/>
                </a:lnTo>
                <a:lnTo>
                  <a:pt x="19050" y="171450"/>
                </a:lnTo>
                <a:lnTo>
                  <a:pt x="31750" y="171450"/>
                </a:lnTo>
                <a:lnTo>
                  <a:pt x="31750" y="0"/>
                </a:lnTo>
                <a:close/>
              </a:path>
              <a:path w="50800" h="209550">
                <a:moveTo>
                  <a:pt x="50800" y="158750"/>
                </a:moveTo>
                <a:lnTo>
                  <a:pt x="31750" y="158750"/>
                </a:lnTo>
                <a:lnTo>
                  <a:pt x="31750" y="171450"/>
                </a:lnTo>
                <a:lnTo>
                  <a:pt x="44450" y="171450"/>
                </a:lnTo>
                <a:lnTo>
                  <a:pt x="50800" y="158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300598" y="3609975"/>
            <a:ext cx="50800" cy="209550"/>
          </a:xfrm>
          <a:custGeom>
            <a:avLst/>
            <a:gdLst/>
            <a:ahLst/>
            <a:cxnLst/>
            <a:rect l="l" t="t" r="r" b="b"/>
            <a:pathLst>
              <a:path w="50800" h="209550">
                <a:moveTo>
                  <a:pt x="19050" y="158750"/>
                </a:moveTo>
                <a:lnTo>
                  <a:pt x="0" y="158750"/>
                </a:lnTo>
                <a:lnTo>
                  <a:pt x="25400" y="209550"/>
                </a:lnTo>
                <a:lnTo>
                  <a:pt x="44450" y="171450"/>
                </a:lnTo>
                <a:lnTo>
                  <a:pt x="19050" y="171450"/>
                </a:lnTo>
                <a:lnTo>
                  <a:pt x="19050" y="158750"/>
                </a:lnTo>
                <a:close/>
              </a:path>
              <a:path w="50800" h="209550">
                <a:moveTo>
                  <a:pt x="31750" y="0"/>
                </a:moveTo>
                <a:lnTo>
                  <a:pt x="19050" y="0"/>
                </a:lnTo>
                <a:lnTo>
                  <a:pt x="19050" y="171450"/>
                </a:lnTo>
                <a:lnTo>
                  <a:pt x="31750" y="171450"/>
                </a:lnTo>
                <a:lnTo>
                  <a:pt x="31750" y="0"/>
                </a:lnTo>
                <a:close/>
              </a:path>
              <a:path w="50800" h="209550">
                <a:moveTo>
                  <a:pt x="50800" y="158750"/>
                </a:moveTo>
                <a:lnTo>
                  <a:pt x="31750" y="158750"/>
                </a:lnTo>
                <a:lnTo>
                  <a:pt x="31750" y="171450"/>
                </a:lnTo>
                <a:lnTo>
                  <a:pt x="44450" y="171450"/>
                </a:lnTo>
                <a:lnTo>
                  <a:pt x="50800" y="158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752850" y="5838825"/>
            <a:ext cx="3346450" cy="466725"/>
          </a:xfrm>
          <a:prstGeom prst="rect">
            <a:avLst/>
          </a:prstGeom>
          <a:solidFill>
            <a:srgbClr val="C0504D"/>
          </a:solidFill>
        </p:spPr>
        <p:txBody>
          <a:bodyPr vert="horz" wrap="square" lIns="0" tIns="774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610"/>
              </a:spcBef>
            </a:pPr>
            <a:r>
              <a:rPr sz="1800" spc="-35" dirty="0">
                <a:latin typeface="Calibri"/>
                <a:cs typeface="Calibri"/>
              </a:rPr>
              <a:t>Total: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6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 +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24</a:t>
            </a:fld>
            <a:endParaRPr dirty="0"/>
          </a:p>
        </p:txBody>
      </p:sp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xfrm>
            <a:off x="2533269" y="95757"/>
            <a:ext cx="40767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Counting</a:t>
            </a:r>
            <a:r>
              <a:rPr spc="-65" dirty="0"/>
              <a:t> </a:t>
            </a:r>
            <a:r>
              <a:rPr spc="-25" dirty="0"/>
              <a:t>Inversions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90600" y="3929062"/>
          <a:ext cx="5943598" cy="6889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6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8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79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64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1433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434"/>
                        </a:spcBef>
                        <a:tabLst>
                          <a:tab pos="56959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	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5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2362200" y="3929062"/>
            <a:ext cx="1371600" cy="414655"/>
          </a:xfrm>
          <a:custGeom>
            <a:avLst/>
            <a:gdLst/>
            <a:ahLst/>
            <a:cxnLst/>
            <a:rect l="l" t="t" r="r" b="b"/>
            <a:pathLst>
              <a:path w="13716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  <a:path w="1371600" h="414654">
                <a:moveTo>
                  <a:pt x="457200" y="414337"/>
                </a:moveTo>
                <a:lnTo>
                  <a:pt x="914400" y="414337"/>
                </a:lnTo>
                <a:lnTo>
                  <a:pt x="914400" y="0"/>
                </a:lnTo>
                <a:lnTo>
                  <a:pt x="457200" y="0"/>
                </a:lnTo>
                <a:lnTo>
                  <a:pt x="457200" y="414337"/>
                </a:lnTo>
                <a:close/>
              </a:path>
              <a:path w="1371600" h="414654">
                <a:moveTo>
                  <a:pt x="914400" y="414337"/>
                </a:moveTo>
                <a:lnTo>
                  <a:pt x="1371600" y="414337"/>
                </a:lnTo>
                <a:lnTo>
                  <a:pt x="1371600" y="0"/>
                </a:lnTo>
                <a:lnTo>
                  <a:pt x="914400" y="0"/>
                </a:lnTo>
                <a:lnTo>
                  <a:pt x="91440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47800" y="39290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62600" y="3929062"/>
            <a:ext cx="1371600" cy="414655"/>
          </a:xfrm>
          <a:custGeom>
            <a:avLst/>
            <a:gdLst/>
            <a:ahLst/>
            <a:cxnLst/>
            <a:rect l="l" t="t" r="r" b="b"/>
            <a:pathLst>
              <a:path w="13716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  <a:path w="1371600" h="414654">
                <a:moveTo>
                  <a:pt x="457200" y="414337"/>
                </a:moveTo>
                <a:lnTo>
                  <a:pt x="914400" y="414337"/>
                </a:lnTo>
                <a:lnTo>
                  <a:pt x="914400" y="0"/>
                </a:lnTo>
                <a:lnTo>
                  <a:pt x="457200" y="0"/>
                </a:lnTo>
                <a:lnTo>
                  <a:pt x="457200" y="414337"/>
                </a:lnTo>
                <a:close/>
              </a:path>
              <a:path w="1371600" h="414654">
                <a:moveTo>
                  <a:pt x="914400" y="414337"/>
                </a:moveTo>
                <a:lnTo>
                  <a:pt x="1371600" y="414337"/>
                </a:lnTo>
                <a:lnTo>
                  <a:pt x="1371600" y="0"/>
                </a:lnTo>
                <a:lnTo>
                  <a:pt x="914400" y="0"/>
                </a:lnTo>
                <a:lnTo>
                  <a:pt x="91440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48200" y="39290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10540" y="1125973"/>
            <a:ext cx="7771765" cy="245046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80365" algn="l"/>
                <a:tab pos="381000" algn="l"/>
              </a:tabLst>
            </a:pPr>
            <a:r>
              <a:rPr sz="3200" spc="-15" dirty="0">
                <a:latin typeface="Calibri"/>
                <a:cs typeface="Calibri"/>
              </a:rPr>
              <a:t>Merge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count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step.</a:t>
            </a:r>
            <a:endParaRPr sz="3200">
              <a:latin typeface="Calibri"/>
              <a:cs typeface="Calibri"/>
            </a:endParaRPr>
          </a:p>
          <a:p>
            <a:pPr marL="781685" marR="30480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82320" algn="l"/>
              </a:tabLst>
            </a:pPr>
            <a:r>
              <a:rPr sz="2800" spc="-10" dirty="0">
                <a:latin typeface="Calibri"/>
                <a:cs typeface="Calibri"/>
              </a:rPr>
              <a:t>Given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halves,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count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of </a:t>
            </a:r>
            <a:r>
              <a:rPr sz="2800" spc="-5" dirty="0">
                <a:latin typeface="Calibri"/>
                <a:cs typeface="Calibri"/>
              </a:rPr>
              <a:t> i</a:t>
            </a:r>
            <a:r>
              <a:rPr sz="2800" spc="-65" dirty="0">
                <a:latin typeface="Calibri"/>
                <a:cs typeface="Calibri"/>
              </a:rPr>
              <a:t>n</a:t>
            </a:r>
            <a:r>
              <a:rPr sz="2800" spc="-35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r</a:t>
            </a:r>
            <a:r>
              <a:rPr sz="2800" spc="-10" dirty="0">
                <a:latin typeface="Calibri"/>
                <a:cs typeface="Calibri"/>
              </a:rPr>
              <a:t>sio</a:t>
            </a:r>
            <a:r>
              <a:rPr sz="2800" spc="-1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whe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1950" spc="7" baseline="-21367" dirty="0">
                <a:latin typeface="Calibri"/>
                <a:cs typeface="Calibri"/>
              </a:rPr>
              <a:t>i</a:t>
            </a:r>
            <a:r>
              <a:rPr sz="1950" baseline="-21367" dirty="0">
                <a:latin typeface="Calibri"/>
                <a:cs typeface="Calibri"/>
              </a:rPr>
              <a:t> </a:t>
            </a:r>
            <a:r>
              <a:rPr sz="1950" spc="44" baseline="-21367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1950" spc="7" baseline="-21367" dirty="0">
                <a:latin typeface="Calibri"/>
                <a:cs typeface="Calibri"/>
              </a:rPr>
              <a:t>j</a:t>
            </a:r>
            <a:r>
              <a:rPr sz="1950" baseline="-21367" dirty="0">
                <a:latin typeface="Calibri"/>
                <a:cs typeface="Calibri"/>
              </a:rPr>
              <a:t> </a:t>
            </a:r>
            <a:r>
              <a:rPr sz="1950" spc="60" baseline="-21367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</a:t>
            </a:r>
            <a:r>
              <a:rPr sz="2800" spc="-20" dirty="0">
                <a:latin typeface="Calibri"/>
                <a:cs typeface="Calibri"/>
              </a:rPr>
              <a:t>i</a:t>
            </a:r>
            <a:r>
              <a:rPr sz="2800" spc="-35" dirty="0">
                <a:latin typeface="Calibri"/>
                <a:cs typeface="Calibri"/>
              </a:rPr>
              <a:t>f</a:t>
            </a:r>
            <a:r>
              <a:rPr sz="2800" spc="-80" dirty="0">
                <a:latin typeface="Calibri"/>
                <a:cs typeface="Calibri"/>
              </a:rPr>
              <a:t>f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3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hal</a:t>
            </a:r>
            <a:r>
              <a:rPr sz="2800" spc="-40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es.</a:t>
            </a:r>
            <a:endParaRPr sz="2800">
              <a:latin typeface="Calibri"/>
              <a:cs typeface="Calibri"/>
            </a:endParaRPr>
          </a:p>
          <a:p>
            <a:pPr marL="7816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82320" algn="l"/>
              </a:tabLst>
            </a:pPr>
            <a:r>
              <a:rPr sz="2800" spc="-10" dirty="0">
                <a:latin typeface="Calibri"/>
                <a:cs typeface="Calibri"/>
              </a:rPr>
              <a:t>Combine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halves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whole.</a:t>
            </a:r>
            <a:endParaRPr sz="2800">
              <a:latin typeface="Calibri"/>
              <a:cs typeface="Calibri"/>
            </a:endParaRPr>
          </a:p>
          <a:p>
            <a:pPr marL="2353945">
              <a:lnSpc>
                <a:spcPct val="100000"/>
              </a:lnSpc>
              <a:spcBef>
                <a:spcPts val="850"/>
              </a:spcBef>
            </a:pPr>
            <a:r>
              <a:rPr sz="1800" dirty="0">
                <a:latin typeface="Calibri"/>
                <a:cs typeface="Calibri"/>
              </a:rPr>
              <a:t>i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48855" y="3984116"/>
            <a:ext cx="13055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two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sorted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halves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219200" y="4913312"/>
            <a:ext cx="5492750" cy="427355"/>
            <a:chOff x="1219200" y="4913312"/>
            <a:chExt cx="5492750" cy="427355"/>
          </a:xfrm>
        </p:grpSpPr>
        <p:sp>
          <p:nvSpPr>
            <p:cNvPr id="10" name="object 10"/>
            <p:cNvSpPr/>
            <p:nvPr/>
          </p:nvSpPr>
          <p:spPr>
            <a:xfrm>
              <a:off x="21336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908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48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48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05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05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192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76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962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962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8768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34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791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91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48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248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219200" y="4919662"/>
            <a:ext cx="5486400" cy="41465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440"/>
              </a:spcBef>
              <a:tabLst>
                <a:tab pos="626745" algn="l"/>
                <a:tab pos="1083945" algn="l"/>
                <a:tab pos="1483995" algn="l"/>
                <a:tab pos="1941195" algn="l"/>
                <a:tab pos="2398395" algn="l"/>
                <a:tab pos="2855595" algn="l"/>
              </a:tabLst>
            </a:pPr>
            <a:r>
              <a:rPr sz="1800" dirty="0">
                <a:latin typeface="Calibri"/>
                <a:cs typeface="Calibri"/>
              </a:rPr>
              <a:t>2	3	7	</a:t>
            </a:r>
            <a:r>
              <a:rPr sz="1800" spc="-5" dirty="0">
                <a:latin typeface="Calibri"/>
                <a:cs typeface="Calibri"/>
              </a:rPr>
              <a:t>10	11	14	16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413250" y="4913312"/>
            <a:ext cx="469900" cy="427355"/>
            <a:chOff x="4413250" y="4913312"/>
            <a:chExt cx="469900" cy="427355"/>
          </a:xfrm>
        </p:grpSpPr>
        <p:sp>
          <p:nvSpPr>
            <p:cNvPr id="28" name="object 28"/>
            <p:cNvSpPr/>
            <p:nvPr/>
          </p:nvSpPr>
          <p:spPr>
            <a:xfrm>
              <a:off x="44196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4196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441438" y="4989321"/>
            <a:ext cx="10445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auxiliary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array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009900" y="3609975"/>
            <a:ext cx="50800" cy="209550"/>
          </a:xfrm>
          <a:custGeom>
            <a:avLst/>
            <a:gdLst/>
            <a:ahLst/>
            <a:cxnLst/>
            <a:rect l="l" t="t" r="r" b="b"/>
            <a:pathLst>
              <a:path w="50800" h="209550">
                <a:moveTo>
                  <a:pt x="19050" y="158750"/>
                </a:moveTo>
                <a:lnTo>
                  <a:pt x="0" y="158750"/>
                </a:lnTo>
                <a:lnTo>
                  <a:pt x="25400" y="209550"/>
                </a:lnTo>
                <a:lnTo>
                  <a:pt x="44450" y="171450"/>
                </a:lnTo>
                <a:lnTo>
                  <a:pt x="19050" y="171450"/>
                </a:lnTo>
                <a:lnTo>
                  <a:pt x="19050" y="158750"/>
                </a:lnTo>
                <a:close/>
              </a:path>
              <a:path w="50800" h="209550">
                <a:moveTo>
                  <a:pt x="31750" y="0"/>
                </a:moveTo>
                <a:lnTo>
                  <a:pt x="19050" y="0"/>
                </a:lnTo>
                <a:lnTo>
                  <a:pt x="19050" y="171450"/>
                </a:lnTo>
                <a:lnTo>
                  <a:pt x="31750" y="171450"/>
                </a:lnTo>
                <a:lnTo>
                  <a:pt x="31750" y="0"/>
                </a:lnTo>
                <a:close/>
              </a:path>
              <a:path w="50800" h="209550">
                <a:moveTo>
                  <a:pt x="50800" y="158750"/>
                </a:moveTo>
                <a:lnTo>
                  <a:pt x="31750" y="158750"/>
                </a:lnTo>
                <a:lnTo>
                  <a:pt x="31750" y="171450"/>
                </a:lnTo>
                <a:lnTo>
                  <a:pt x="44450" y="171450"/>
                </a:lnTo>
                <a:lnTo>
                  <a:pt x="50800" y="158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757798" y="3609975"/>
            <a:ext cx="50800" cy="209550"/>
          </a:xfrm>
          <a:custGeom>
            <a:avLst/>
            <a:gdLst/>
            <a:ahLst/>
            <a:cxnLst/>
            <a:rect l="l" t="t" r="r" b="b"/>
            <a:pathLst>
              <a:path w="50800" h="209550">
                <a:moveTo>
                  <a:pt x="19050" y="158750"/>
                </a:moveTo>
                <a:lnTo>
                  <a:pt x="0" y="158750"/>
                </a:lnTo>
                <a:lnTo>
                  <a:pt x="25400" y="209550"/>
                </a:lnTo>
                <a:lnTo>
                  <a:pt x="44450" y="171450"/>
                </a:lnTo>
                <a:lnTo>
                  <a:pt x="19050" y="171450"/>
                </a:lnTo>
                <a:lnTo>
                  <a:pt x="19050" y="158750"/>
                </a:lnTo>
                <a:close/>
              </a:path>
              <a:path w="50800" h="209550">
                <a:moveTo>
                  <a:pt x="31750" y="0"/>
                </a:moveTo>
                <a:lnTo>
                  <a:pt x="19050" y="0"/>
                </a:lnTo>
                <a:lnTo>
                  <a:pt x="19050" y="171450"/>
                </a:lnTo>
                <a:lnTo>
                  <a:pt x="31750" y="171450"/>
                </a:lnTo>
                <a:lnTo>
                  <a:pt x="31750" y="0"/>
                </a:lnTo>
                <a:close/>
              </a:path>
              <a:path w="50800" h="209550">
                <a:moveTo>
                  <a:pt x="50800" y="158750"/>
                </a:moveTo>
                <a:lnTo>
                  <a:pt x="31750" y="158750"/>
                </a:lnTo>
                <a:lnTo>
                  <a:pt x="31750" y="171450"/>
                </a:lnTo>
                <a:lnTo>
                  <a:pt x="44450" y="171450"/>
                </a:lnTo>
                <a:lnTo>
                  <a:pt x="50800" y="158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752850" y="5838825"/>
            <a:ext cx="3346450" cy="466725"/>
          </a:xfrm>
          <a:prstGeom prst="rect">
            <a:avLst/>
          </a:prstGeom>
          <a:solidFill>
            <a:srgbClr val="C0504D"/>
          </a:solidFill>
        </p:spPr>
        <p:txBody>
          <a:bodyPr vert="horz" wrap="square" lIns="0" tIns="774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610"/>
              </a:spcBef>
            </a:pPr>
            <a:r>
              <a:rPr sz="1800" spc="-35" dirty="0">
                <a:latin typeface="Calibri"/>
                <a:cs typeface="Calibri"/>
              </a:rPr>
              <a:t>Total: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6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 +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25</a:t>
            </a:fld>
            <a:endParaRPr dirty="0"/>
          </a:p>
        </p:txBody>
      </p:sp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xfrm>
            <a:off x="2533269" y="95757"/>
            <a:ext cx="40767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Counting</a:t>
            </a:r>
            <a:r>
              <a:rPr spc="-65" dirty="0"/>
              <a:t> </a:t>
            </a:r>
            <a:r>
              <a:rPr spc="-25" dirty="0"/>
              <a:t>Inversions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90600" y="3929062"/>
          <a:ext cx="5944866" cy="6889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6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79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64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11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7177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492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783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783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1433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434"/>
                        </a:spcBef>
                        <a:tabLst>
                          <a:tab pos="56959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	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marR="2857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5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2362200" y="3929062"/>
            <a:ext cx="1371600" cy="414655"/>
          </a:xfrm>
          <a:custGeom>
            <a:avLst/>
            <a:gdLst/>
            <a:ahLst/>
            <a:cxnLst/>
            <a:rect l="l" t="t" r="r" b="b"/>
            <a:pathLst>
              <a:path w="13716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  <a:path w="1371600" h="414654">
                <a:moveTo>
                  <a:pt x="457200" y="414337"/>
                </a:moveTo>
                <a:lnTo>
                  <a:pt x="914400" y="414337"/>
                </a:lnTo>
                <a:lnTo>
                  <a:pt x="914400" y="0"/>
                </a:lnTo>
                <a:lnTo>
                  <a:pt x="457200" y="0"/>
                </a:lnTo>
                <a:lnTo>
                  <a:pt x="457200" y="414337"/>
                </a:lnTo>
                <a:close/>
              </a:path>
              <a:path w="1371600" h="414654">
                <a:moveTo>
                  <a:pt x="914400" y="414337"/>
                </a:moveTo>
                <a:lnTo>
                  <a:pt x="1371600" y="414337"/>
                </a:lnTo>
                <a:lnTo>
                  <a:pt x="1371600" y="0"/>
                </a:lnTo>
                <a:lnTo>
                  <a:pt x="914400" y="0"/>
                </a:lnTo>
                <a:lnTo>
                  <a:pt x="91440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47800" y="39290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62600" y="3929062"/>
            <a:ext cx="1371600" cy="414655"/>
          </a:xfrm>
          <a:custGeom>
            <a:avLst/>
            <a:gdLst/>
            <a:ahLst/>
            <a:cxnLst/>
            <a:rect l="l" t="t" r="r" b="b"/>
            <a:pathLst>
              <a:path w="13716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  <a:path w="1371600" h="414654">
                <a:moveTo>
                  <a:pt x="457200" y="414337"/>
                </a:moveTo>
                <a:lnTo>
                  <a:pt x="914400" y="414337"/>
                </a:lnTo>
                <a:lnTo>
                  <a:pt x="914400" y="0"/>
                </a:lnTo>
                <a:lnTo>
                  <a:pt x="457200" y="0"/>
                </a:lnTo>
                <a:lnTo>
                  <a:pt x="457200" y="414337"/>
                </a:lnTo>
                <a:close/>
              </a:path>
              <a:path w="1371600" h="414654">
                <a:moveTo>
                  <a:pt x="914400" y="414337"/>
                </a:moveTo>
                <a:lnTo>
                  <a:pt x="1371600" y="414337"/>
                </a:lnTo>
                <a:lnTo>
                  <a:pt x="1371600" y="0"/>
                </a:lnTo>
                <a:lnTo>
                  <a:pt x="914400" y="0"/>
                </a:lnTo>
                <a:lnTo>
                  <a:pt x="91440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48200" y="39290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10540" y="1125973"/>
            <a:ext cx="7771765" cy="245046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80365" algn="l"/>
                <a:tab pos="381000" algn="l"/>
              </a:tabLst>
            </a:pPr>
            <a:r>
              <a:rPr sz="3200" spc="-15" dirty="0">
                <a:latin typeface="Calibri"/>
                <a:cs typeface="Calibri"/>
              </a:rPr>
              <a:t>Merge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count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step.</a:t>
            </a:r>
            <a:endParaRPr sz="3200">
              <a:latin typeface="Calibri"/>
              <a:cs typeface="Calibri"/>
            </a:endParaRPr>
          </a:p>
          <a:p>
            <a:pPr marL="781685" marR="30480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82320" algn="l"/>
              </a:tabLst>
            </a:pPr>
            <a:r>
              <a:rPr sz="2800" spc="-10" dirty="0">
                <a:latin typeface="Calibri"/>
                <a:cs typeface="Calibri"/>
              </a:rPr>
              <a:t>Given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halves,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count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of </a:t>
            </a:r>
            <a:r>
              <a:rPr sz="2800" spc="-5" dirty="0">
                <a:latin typeface="Calibri"/>
                <a:cs typeface="Calibri"/>
              </a:rPr>
              <a:t> i</a:t>
            </a:r>
            <a:r>
              <a:rPr sz="2800" spc="-65" dirty="0">
                <a:latin typeface="Calibri"/>
                <a:cs typeface="Calibri"/>
              </a:rPr>
              <a:t>n</a:t>
            </a:r>
            <a:r>
              <a:rPr sz="2800" spc="-35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r</a:t>
            </a:r>
            <a:r>
              <a:rPr sz="2800" spc="-10" dirty="0">
                <a:latin typeface="Calibri"/>
                <a:cs typeface="Calibri"/>
              </a:rPr>
              <a:t>sio</a:t>
            </a:r>
            <a:r>
              <a:rPr sz="2800" spc="-1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whe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1950" spc="7" baseline="-21367" dirty="0">
                <a:latin typeface="Calibri"/>
                <a:cs typeface="Calibri"/>
              </a:rPr>
              <a:t>i</a:t>
            </a:r>
            <a:r>
              <a:rPr sz="1950" baseline="-21367" dirty="0">
                <a:latin typeface="Calibri"/>
                <a:cs typeface="Calibri"/>
              </a:rPr>
              <a:t> </a:t>
            </a:r>
            <a:r>
              <a:rPr sz="1950" spc="44" baseline="-21367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1950" spc="7" baseline="-21367" dirty="0">
                <a:latin typeface="Calibri"/>
                <a:cs typeface="Calibri"/>
              </a:rPr>
              <a:t>j</a:t>
            </a:r>
            <a:r>
              <a:rPr sz="1950" baseline="-21367" dirty="0">
                <a:latin typeface="Calibri"/>
                <a:cs typeface="Calibri"/>
              </a:rPr>
              <a:t> </a:t>
            </a:r>
            <a:r>
              <a:rPr sz="1950" spc="60" baseline="-21367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</a:t>
            </a:r>
            <a:r>
              <a:rPr sz="2800" spc="-20" dirty="0">
                <a:latin typeface="Calibri"/>
                <a:cs typeface="Calibri"/>
              </a:rPr>
              <a:t>i</a:t>
            </a:r>
            <a:r>
              <a:rPr sz="2800" spc="-35" dirty="0">
                <a:latin typeface="Calibri"/>
                <a:cs typeface="Calibri"/>
              </a:rPr>
              <a:t>f</a:t>
            </a:r>
            <a:r>
              <a:rPr sz="2800" spc="-80" dirty="0">
                <a:latin typeface="Calibri"/>
                <a:cs typeface="Calibri"/>
              </a:rPr>
              <a:t>f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3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hal</a:t>
            </a:r>
            <a:r>
              <a:rPr sz="2800" spc="-40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es.</a:t>
            </a:r>
            <a:endParaRPr sz="2800">
              <a:latin typeface="Calibri"/>
              <a:cs typeface="Calibri"/>
            </a:endParaRPr>
          </a:p>
          <a:p>
            <a:pPr marL="7816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82320" algn="l"/>
              </a:tabLst>
            </a:pPr>
            <a:r>
              <a:rPr sz="2800" spc="-10" dirty="0">
                <a:latin typeface="Calibri"/>
                <a:cs typeface="Calibri"/>
              </a:rPr>
              <a:t>Combine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halves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whole.</a:t>
            </a:r>
            <a:endParaRPr sz="2800">
              <a:latin typeface="Calibri"/>
              <a:cs typeface="Calibri"/>
            </a:endParaRPr>
          </a:p>
          <a:p>
            <a:pPr marL="2353945">
              <a:lnSpc>
                <a:spcPct val="100000"/>
              </a:lnSpc>
              <a:spcBef>
                <a:spcPts val="850"/>
              </a:spcBef>
            </a:pPr>
            <a:r>
              <a:rPr sz="1800" dirty="0">
                <a:latin typeface="Calibri"/>
                <a:cs typeface="Calibri"/>
              </a:rPr>
              <a:t>i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48855" y="3984116"/>
            <a:ext cx="13055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two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sorted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halves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219200" y="4913312"/>
            <a:ext cx="5492750" cy="427355"/>
            <a:chOff x="1219200" y="4913312"/>
            <a:chExt cx="5492750" cy="427355"/>
          </a:xfrm>
        </p:grpSpPr>
        <p:sp>
          <p:nvSpPr>
            <p:cNvPr id="10" name="object 10"/>
            <p:cNvSpPr/>
            <p:nvPr/>
          </p:nvSpPr>
          <p:spPr>
            <a:xfrm>
              <a:off x="21336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908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48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48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05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05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192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76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962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962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8768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34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791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91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48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248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196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4196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219200" y="4919662"/>
            <a:ext cx="5486400" cy="41465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440"/>
              </a:spcBef>
              <a:tabLst>
                <a:tab pos="626745" algn="l"/>
                <a:tab pos="1083945" algn="l"/>
                <a:tab pos="1483995" algn="l"/>
                <a:tab pos="1941195" algn="l"/>
                <a:tab pos="2398395" algn="l"/>
                <a:tab pos="2855595" algn="l"/>
                <a:tab pos="3312795" algn="l"/>
              </a:tabLst>
            </a:pPr>
            <a:r>
              <a:rPr sz="1800" dirty="0">
                <a:latin typeface="Calibri"/>
                <a:cs typeface="Calibri"/>
              </a:rPr>
              <a:t>2	3	7	</a:t>
            </a:r>
            <a:r>
              <a:rPr sz="1800" spc="-5" dirty="0">
                <a:latin typeface="Calibri"/>
                <a:cs typeface="Calibri"/>
              </a:rPr>
              <a:t>10	11	14	16	17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441438" y="4989321"/>
            <a:ext cx="10445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auxiliary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array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009900" y="3609975"/>
            <a:ext cx="50800" cy="209550"/>
          </a:xfrm>
          <a:custGeom>
            <a:avLst/>
            <a:gdLst/>
            <a:ahLst/>
            <a:cxnLst/>
            <a:rect l="l" t="t" r="r" b="b"/>
            <a:pathLst>
              <a:path w="50800" h="209550">
                <a:moveTo>
                  <a:pt x="19050" y="158750"/>
                </a:moveTo>
                <a:lnTo>
                  <a:pt x="0" y="158750"/>
                </a:lnTo>
                <a:lnTo>
                  <a:pt x="25400" y="209550"/>
                </a:lnTo>
                <a:lnTo>
                  <a:pt x="44450" y="171450"/>
                </a:lnTo>
                <a:lnTo>
                  <a:pt x="19050" y="171450"/>
                </a:lnTo>
                <a:lnTo>
                  <a:pt x="19050" y="158750"/>
                </a:lnTo>
                <a:close/>
              </a:path>
              <a:path w="50800" h="209550">
                <a:moveTo>
                  <a:pt x="31750" y="0"/>
                </a:moveTo>
                <a:lnTo>
                  <a:pt x="19050" y="0"/>
                </a:lnTo>
                <a:lnTo>
                  <a:pt x="19050" y="171450"/>
                </a:lnTo>
                <a:lnTo>
                  <a:pt x="31750" y="171450"/>
                </a:lnTo>
                <a:lnTo>
                  <a:pt x="31750" y="0"/>
                </a:lnTo>
                <a:close/>
              </a:path>
              <a:path w="50800" h="209550">
                <a:moveTo>
                  <a:pt x="50800" y="158750"/>
                </a:moveTo>
                <a:lnTo>
                  <a:pt x="31750" y="158750"/>
                </a:lnTo>
                <a:lnTo>
                  <a:pt x="31750" y="171450"/>
                </a:lnTo>
                <a:lnTo>
                  <a:pt x="44450" y="171450"/>
                </a:lnTo>
                <a:lnTo>
                  <a:pt x="50800" y="158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757798" y="3609975"/>
            <a:ext cx="50800" cy="209550"/>
          </a:xfrm>
          <a:custGeom>
            <a:avLst/>
            <a:gdLst/>
            <a:ahLst/>
            <a:cxnLst/>
            <a:rect l="l" t="t" r="r" b="b"/>
            <a:pathLst>
              <a:path w="50800" h="209550">
                <a:moveTo>
                  <a:pt x="19050" y="158750"/>
                </a:moveTo>
                <a:lnTo>
                  <a:pt x="0" y="158750"/>
                </a:lnTo>
                <a:lnTo>
                  <a:pt x="25400" y="209550"/>
                </a:lnTo>
                <a:lnTo>
                  <a:pt x="44450" y="171450"/>
                </a:lnTo>
                <a:lnTo>
                  <a:pt x="19050" y="171450"/>
                </a:lnTo>
                <a:lnTo>
                  <a:pt x="19050" y="158750"/>
                </a:lnTo>
                <a:close/>
              </a:path>
              <a:path w="50800" h="209550">
                <a:moveTo>
                  <a:pt x="31750" y="0"/>
                </a:moveTo>
                <a:lnTo>
                  <a:pt x="19050" y="0"/>
                </a:lnTo>
                <a:lnTo>
                  <a:pt x="19050" y="171450"/>
                </a:lnTo>
                <a:lnTo>
                  <a:pt x="31750" y="171450"/>
                </a:lnTo>
                <a:lnTo>
                  <a:pt x="31750" y="0"/>
                </a:lnTo>
                <a:close/>
              </a:path>
              <a:path w="50800" h="209550">
                <a:moveTo>
                  <a:pt x="50800" y="158750"/>
                </a:moveTo>
                <a:lnTo>
                  <a:pt x="31750" y="158750"/>
                </a:lnTo>
                <a:lnTo>
                  <a:pt x="31750" y="171450"/>
                </a:lnTo>
                <a:lnTo>
                  <a:pt x="44450" y="171450"/>
                </a:lnTo>
                <a:lnTo>
                  <a:pt x="50800" y="158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3752850" y="5838825"/>
            <a:ext cx="3346450" cy="466725"/>
          </a:xfrm>
          <a:prstGeom prst="rect">
            <a:avLst/>
          </a:prstGeom>
          <a:solidFill>
            <a:srgbClr val="C0504D"/>
          </a:solidFill>
        </p:spPr>
        <p:txBody>
          <a:bodyPr vert="horz" wrap="square" lIns="0" tIns="774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610"/>
              </a:spcBef>
            </a:pPr>
            <a:r>
              <a:rPr sz="1800" spc="-35" dirty="0">
                <a:latin typeface="Calibri"/>
                <a:cs typeface="Calibri"/>
              </a:rPr>
              <a:t>Total: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6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 +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26</a:t>
            </a:fld>
            <a:endParaRPr dirty="0"/>
          </a:p>
        </p:txBody>
      </p: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2533269" y="95757"/>
            <a:ext cx="40767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Counting</a:t>
            </a:r>
            <a:r>
              <a:rPr spc="-65" dirty="0"/>
              <a:t> </a:t>
            </a:r>
            <a:r>
              <a:rPr spc="-25" dirty="0"/>
              <a:t>Inversions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90600" y="3929062"/>
          <a:ext cx="5942962" cy="6889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6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79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64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973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9466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1433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434"/>
                        </a:spcBef>
                        <a:tabLst>
                          <a:tab pos="56959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	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4986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5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2362200" y="3929062"/>
            <a:ext cx="1371600" cy="414655"/>
          </a:xfrm>
          <a:custGeom>
            <a:avLst/>
            <a:gdLst/>
            <a:ahLst/>
            <a:cxnLst/>
            <a:rect l="l" t="t" r="r" b="b"/>
            <a:pathLst>
              <a:path w="13716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  <a:path w="1371600" h="414654">
                <a:moveTo>
                  <a:pt x="457200" y="414337"/>
                </a:moveTo>
                <a:lnTo>
                  <a:pt x="914400" y="414337"/>
                </a:lnTo>
                <a:lnTo>
                  <a:pt x="914400" y="0"/>
                </a:lnTo>
                <a:lnTo>
                  <a:pt x="457200" y="0"/>
                </a:lnTo>
                <a:lnTo>
                  <a:pt x="457200" y="414337"/>
                </a:lnTo>
                <a:close/>
              </a:path>
              <a:path w="1371600" h="414654">
                <a:moveTo>
                  <a:pt x="914400" y="414337"/>
                </a:moveTo>
                <a:lnTo>
                  <a:pt x="1371600" y="414337"/>
                </a:lnTo>
                <a:lnTo>
                  <a:pt x="1371600" y="0"/>
                </a:lnTo>
                <a:lnTo>
                  <a:pt x="914400" y="0"/>
                </a:lnTo>
                <a:lnTo>
                  <a:pt x="91440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47800" y="39290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62600" y="3929062"/>
            <a:ext cx="1371600" cy="414655"/>
          </a:xfrm>
          <a:custGeom>
            <a:avLst/>
            <a:gdLst/>
            <a:ahLst/>
            <a:cxnLst/>
            <a:rect l="l" t="t" r="r" b="b"/>
            <a:pathLst>
              <a:path w="13716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  <a:path w="1371600" h="414654">
                <a:moveTo>
                  <a:pt x="457200" y="414337"/>
                </a:moveTo>
                <a:lnTo>
                  <a:pt x="914400" y="414337"/>
                </a:lnTo>
                <a:lnTo>
                  <a:pt x="914400" y="0"/>
                </a:lnTo>
                <a:lnTo>
                  <a:pt x="457200" y="0"/>
                </a:lnTo>
                <a:lnTo>
                  <a:pt x="457200" y="414337"/>
                </a:lnTo>
                <a:close/>
              </a:path>
              <a:path w="1371600" h="414654">
                <a:moveTo>
                  <a:pt x="914400" y="414337"/>
                </a:moveTo>
                <a:lnTo>
                  <a:pt x="1371600" y="414337"/>
                </a:lnTo>
                <a:lnTo>
                  <a:pt x="1371600" y="0"/>
                </a:lnTo>
                <a:lnTo>
                  <a:pt x="914400" y="0"/>
                </a:lnTo>
                <a:lnTo>
                  <a:pt x="91440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48200" y="39290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10540" y="1125973"/>
            <a:ext cx="7771765" cy="245046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80365" algn="l"/>
                <a:tab pos="381000" algn="l"/>
              </a:tabLst>
            </a:pPr>
            <a:r>
              <a:rPr sz="3200" spc="-15" dirty="0">
                <a:latin typeface="Calibri"/>
                <a:cs typeface="Calibri"/>
              </a:rPr>
              <a:t>Merge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count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step.</a:t>
            </a:r>
            <a:endParaRPr sz="3200">
              <a:latin typeface="Calibri"/>
              <a:cs typeface="Calibri"/>
            </a:endParaRPr>
          </a:p>
          <a:p>
            <a:pPr marL="781685" marR="30480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82320" algn="l"/>
              </a:tabLst>
            </a:pPr>
            <a:r>
              <a:rPr sz="2800" spc="-10" dirty="0">
                <a:latin typeface="Calibri"/>
                <a:cs typeface="Calibri"/>
              </a:rPr>
              <a:t>Given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halves,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count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of </a:t>
            </a:r>
            <a:r>
              <a:rPr sz="2800" spc="-5" dirty="0">
                <a:latin typeface="Calibri"/>
                <a:cs typeface="Calibri"/>
              </a:rPr>
              <a:t> i</a:t>
            </a:r>
            <a:r>
              <a:rPr sz="2800" spc="-65" dirty="0">
                <a:latin typeface="Calibri"/>
                <a:cs typeface="Calibri"/>
              </a:rPr>
              <a:t>n</a:t>
            </a:r>
            <a:r>
              <a:rPr sz="2800" spc="-35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r</a:t>
            </a:r>
            <a:r>
              <a:rPr sz="2800" spc="-10" dirty="0">
                <a:latin typeface="Calibri"/>
                <a:cs typeface="Calibri"/>
              </a:rPr>
              <a:t>sio</a:t>
            </a:r>
            <a:r>
              <a:rPr sz="2800" spc="-1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whe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1950" spc="7" baseline="-21367" dirty="0">
                <a:latin typeface="Calibri"/>
                <a:cs typeface="Calibri"/>
              </a:rPr>
              <a:t>i</a:t>
            </a:r>
            <a:r>
              <a:rPr sz="1950" baseline="-21367" dirty="0">
                <a:latin typeface="Calibri"/>
                <a:cs typeface="Calibri"/>
              </a:rPr>
              <a:t> </a:t>
            </a:r>
            <a:r>
              <a:rPr sz="1950" spc="44" baseline="-21367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1950" spc="7" baseline="-21367" dirty="0">
                <a:latin typeface="Calibri"/>
                <a:cs typeface="Calibri"/>
              </a:rPr>
              <a:t>j</a:t>
            </a:r>
            <a:r>
              <a:rPr sz="1950" baseline="-21367" dirty="0">
                <a:latin typeface="Calibri"/>
                <a:cs typeface="Calibri"/>
              </a:rPr>
              <a:t> </a:t>
            </a:r>
            <a:r>
              <a:rPr sz="1950" spc="60" baseline="-21367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</a:t>
            </a:r>
            <a:r>
              <a:rPr sz="2800" spc="-20" dirty="0">
                <a:latin typeface="Calibri"/>
                <a:cs typeface="Calibri"/>
              </a:rPr>
              <a:t>i</a:t>
            </a:r>
            <a:r>
              <a:rPr sz="2800" spc="-35" dirty="0">
                <a:latin typeface="Calibri"/>
                <a:cs typeface="Calibri"/>
              </a:rPr>
              <a:t>f</a:t>
            </a:r>
            <a:r>
              <a:rPr sz="2800" spc="-80" dirty="0">
                <a:latin typeface="Calibri"/>
                <a:cs typeface="Calibri"/>
              </a:rPr>
              <a:t>f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3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hal</a:t>
            </a:r>
            <a:r>
              <a:rPr sz="2800" spc="-40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es.</a:t>
            </a:r>
            <a:endParaRPr sz="2800">
              <a:latin typeface="Calibri"/>
              <a:cs typeface="Calibri"/>
            </a:endParaRPr>
          </a:p>
          <a:p>
            <a:pPr marL="7816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82320" algn="l"/>
              </a:tabLst>
            </a:pPr>
            <a:r>
              <a:rPr sz="2800" spc="-10" dirty="0">
                <a:latin typeface="Calibri"/>
                <a:cs typeface="Calibri"/>
              </a:rPr>
              <a:t>Combine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halves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whole.</a:t>
            </a:r>
            <a:endParaRPr sz="2800">
              <a:latin typeface="Calibri"/>
              <a:cs typeface="Calibri"/>
            </a:endParaRPr>
          </a:p>
          <a:p>
            <a:pPr marL="2353945">
              <a:lnSpc>
                <a:spcPct val="100000"/>
              </a:lnSpc>
              <a:spcBef>
                <a:spcPts val="850"/>
              </a:spcBef>
            </a:pPr>
            <a:r>
              <a:rPr sz="1800" dirty="0">
                <a:latin typeface="Calibri"/>
                <a:cs typeface="Calibri"/>
              </a:rPr>
              <a:t>i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48855" y="3984116"/>
            <a:ext cx="13055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two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sorted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halves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219200" y="4913312"/>
            <a:ext cx="5492750" cy="427355"/>
            <a:chOff x="1219200" y="4913312"/>
            <a:chExt cx="5492750" cy="427355"/>
          </a:xfrm>
        </p:grpSpPr>
        <p:sp>
          <p:nvSpPr>
            <p:cNvPr id="10" name="object 10"/>
            <p:cNvSpPr/>
            <p:nvPr/>
          </p:nvSpPr>
          <p:spPr>
            <a:xfrm>
              <a:off x="21336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908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48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48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05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05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192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76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962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962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8768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34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791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91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48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248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196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4196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219200" y="4919662"/>
            <a:ext cx="5486400" cy="41465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440"/>
              </a:spcBef>
              <a:tabLst>
                <a:tab pos="626745" algn="l"/>
                <a:tab pos="1083945" algn="l"/>
                <a:tab pos="1483995" algn="l"/>
                <a:tab pos="1941195" algn="l"/>
                <a:tab pos="2398395" algn="l"/>
                <a:tab pos="2855595" algn="l"/>
                <a:tab pos="3312795" algn="l"/>
              </a:tabLst>
            </a:pPr>
            <a:r>
              <a:rPr sz="1800" dirty="0">
                <a:latin typeface="Calibri"/>
                <a:cs typeface="Calibri"/>
              </a:rPr>
              <a:t>2	3	7	</a:t>
            </a:r>
            <a:r>
              <a:rPr sz="1800" spc="-5" dirty="0">
                <a:latin typeface="Calibri"/>
                <a:cs typeface="Calibri"/>
              </a:rPr>
              <a:t>10	11	14	16	17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441438" y="4989321"/>
            <a:ext cx="10445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auxiliary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array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009900" y="3609975"/>
            <a:ext cx="50800" cy="209550"/>
          </a:xfrm>
          <a:custGeom>
            <a:avLst/>
            <a:gdLst/>
            <a:ahLst/>
            <a:cxnLst/>
            <a:rect l="l" t="t" r="r" b="b"/>
            <a:pathLst>
              <a:path w="50800" h="209550">
                <a:moveTo>
                  <a:pt x="19050" y="158750"/>
                </a:moveTo>
                <a:lnTo>
                  <a:pt x="0" y="158750"/>
                </a:lnTo>
                <a:lnTo>
                  <a:pt x="25400" y="209550"/>
                </a:lnTo>
                <a:lnTo>
                  <a:pt x="44450" y="171450"/>
                </a:lnTo>
                <a:lnTo>
                  <a:pt x="19050" y="171450"/>
                </a:lnTo>
                <a:lnTo>
                  <a:pt x="19050" y="158750"/>
                </a:lnTo>
                <a:close/>
              </a:path>
              <a:path w="50800" h="209550">
                <a:moveTo>
                  <a:pt x="31750" y="0"/>
                </a:moveTo>
                <a:lnTo>
                  <a:pt x="19050" y="0"/>
                </a:lnTo>
                <a:lnTo>
                  <a:pt x="19050" y="171450"/>
                </a:lnTo>
                <a:lnTo>
                  <a:pt x="31750" y="171450"/>
                </a:lnTo>
                <a:lnTo>
                  <a:pt x="31750" y="0"/>
                </a:lnTo>
                <a:close/>
              </a:path>
              <a:path w="50800" h="209550">
                <a:moveTo>
                  <a:pt x="50800" y="158750"/>
                </a:moveTo>
                <a:lnTo>
                  <a:pt x="31750" y="158750"/>
                </a:lnTo>
                <a:lnTo>
                  <a:pt x="31750" y="171450"/>
                </a:lnTo>
                <a:lnTo>
                  <a:pt x="44450" y="171450"/>
                </a:lnTo>
                <a:lnTo>
                  <a:pt x="50800" y="158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214998" y="3609975"/>
            <a:ext cx="50800" cy="209550"/>
          </a:xfrm>
          <a:custGeom>
            <a:avLst/>
            <a:gdLst/>
            <a:ahLst/>
            <a:cxnLst/>
            <a:rect l="l" t="t" r="r" b="b"/>
            <a:pathLst>
              <a:path w="50800" h="209550">
                <a:moveTo>
                  <a:pt x="19050" y="158750"/>
                </a:moveTo>
                <a:lnTo>
                  <a:pt x="0" y="158750"/>
                </a:lnTo>
                <a:lnTo>
                  <a:pt x="25400" y="209550"/>
                </a:lnTo>
                <a:lnTo>
                  <a:pt x="44450" y="171450"/>
                </a:lnTo>
                <a:lnTo>
                  <a:pt x="19050" y="171450"/>
                </a:lnTo>
                <a:lnTo>
                  <a:pt x="19050" y="158750"/>
                </a:lnTo>
                <a:close/>
              </a:path>
              <a:path w="50800" h="209550">
                <a:moveTo>
                  <a:pt x="31750" y="0"/>
                </a:moveTo>
                <a:lnTo>
                  <a:pt x="19050" y="0"/>
                </a:lnTo>
                <a:lnTo>
                  <a:pt x="19050" y="171450"/>
                </a:lnTo>
                <a:lnTo>
                  <a:pt x="31750" y="171450"/>
                </a:lnTo>
                <a:lnTo>
                  <a:pt x="31750" y="0"/>
                </a:lnTo>
                <a:close/>
              </a:path>
              <a:path w="50800" h="209550">
                <a:moveTo>
                  <a:pt x="50800" y="158750"/>
                </a:moveTo>
                <a:lnTo>
                  <a:pt x="31750" y="158750"/>
                </a:lnTo>
                <a:lnTo>
                  <a:pt x="31750" y="171450"/>
                </a:lnTo>
                <a:lnTo>
                  <a:pt x="44450" y="171450"/>
                </a:lnTo>
                <a:lnTo>
                  <a:pt x="50800" y="158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3752850" y="5838825"/>
            <a:ext cx="3346450" cy="466725"/>
          </a:xfrm>
          <a:prstGeom prst="rect">
            <a:avLst/>
          </a:prstGeom>
          <a:solidFill>
            <a:srgbClr val="C0504D"/>
          </a:solidFill>
        </p:spPr>
        <p:txBody>
          <a:bodyPr vert="horz" wrap="square" lIns="0" tIns="774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610"/>
              </a:spcBef>
            </a:pPr>
            <a:r>
              <a:rPr sz="1800" spc="-35" dirty="0">
                <a:latin typeface="Calibri"/>
                <a:cs typeface="Calibri"/>
              </a:rPr>
              <a:t>Total: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6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 +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27</a:t>
            </a:fld>
            <a:endParaRPr dirty="0"/>
          </a:p>
        </p:txBody>
      </p: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2533269" y="95757"/>
            <a:ext cx="40767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Counting</a:t>
            </a:r>
            <a:r>
              <a:rPr spc="-65" dirty="0"/>
              <a:t> </a:t>
            </a:r>
            <a:r>
              <a:rPr spc="-25" dirty="0"/>
              <a:t>Inversions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90600" y="3929062"/>
          <a:ext cx="5943598" cy="6889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6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8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79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64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1433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434"/>
                        </a:spcBef>
                        <a:tabLst>
                          <a:tab pos="56959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	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5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2362200" y="3929062"/>
            <a:ext cx="1371600" cy="414655"/>
          </a:xfrm>
          <a:custGeom>
            <a:avLst/>
            <a:gdLst/>
            <a:ahLst/>
            <a:cxnLst/>
            <a:rect l="l" t="t" r="r" b="b"/>
            <a:pathLst>
              <a:path w="13716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  <a:path w="1371600" h="414654">
                <a:moveTo>
                  <a:pt x="457200" y="414337"/>
                </a:moveTo>
                <a:lnTo>
                  <a:pt x="914400" y="414337"/>
                </a:lnTo>
                <a:lnTo>
                  <a:pt x="914400" y="0"/>
                </a:lnTo>
                <a:lnTo>
                  <a:pt x="457200" y="0"/>
                </a:lnTo>
                <a:lnTo>
                  <a:pt x="457200" y="414337"/>
                </a:lnTo>
                <a:close/>
              </a:path>
              <a:path w="1371600" h="414654">
                <a:moveTo>
                  <a:pt x="914400" y="414337"/>
                </a:moveTo>
                <a:lnTo>
                  <a:pt x="1371600" y="414337"/>
                </a:lnTo>
                <a:lnTo>
                  <a:pt x="1371600" y="0"/>
                </a:lnTo>
                <a:lnTo>
                  <a:pt x="914400" y="0"/>
                </a:lnTo>
                <a:lnTo>
                  <a:pt x="91440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47800" y="39290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62600" y="3929062"/>
            <a:ext cx="1371600" cy="414655"/>
          </a:xfrm>
          <a:custGeom>
            <a:avLst/>
            <a:gdLst/>
            <a:ahLst/>
            <a:cxnLst/>
            <a:rect l="l" t="t" r="r" b="b"/>
            <a:pathLst>
              <a:path w="13716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  <a:path w="1371600" h="414654">
                <a:moveTo>
                  <a:pt x="457200" y="414337"/>
                </a:moveTo>
                <a:lnTo>
                  <a:pt x="914400" y="414337"/>
                </a:lnTo>
                <a:lnTo>
                  <a:pt x="914400" y="0"/>
                </a:lnTo>
                <a:lnTo>
                  <a:pt x="457200" y="0"/>
                </a:lnTo>
                <a:lnTo>
                  <a:pt x="457200" y="414337"/>
                </a:lnTo>
                <a:close/>
              </a:path>
              <a:path w="1371600" h="414654">
                <a:moveTo>
                  <a:pt x="914400" y="414337"/>
                </a:moveTo>
                <a:lnTo>
                  <a:pt x="1371600" y="414337"/>
                </a:lnTo>
                <a:lnTo>
                  <a:pt x="1371600" y="0"/>
                </a:lnTo>
                <a:lnTo>
                  <a:pt x="914400" y="0"/>
                </a:lnTo>
                <a:lnTo>
                  <a:pt x="91440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48200" y="39290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10540" y="1125973"/>
            <a:ext cx="7771765" cy="245046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80365" algn="l"/>
                <a:tab pos="381000" algn="l"/>
              </a:tabLst>
            </a:pPr>
            <a:r>
              <a:rPr sz="3200" spc="-15" dirty="0">
                <a:latin typeface="Calibri"/>
                <a:cs typeface="Calibri"/>
              </a:rPr>
              <a:t>Merge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count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step.</a:t>
            </a:r>
            <a:endParaRPr sz="3200">
              <a:latin typeface="Calibri"/>
              <a:cs typeface="Calibri"/>
            </a:endParaRPr>
          </a:p>
          <a:p>
            <a:pPr marL="781685" marR="30480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82320" algn="l"/>
              </a:tabLst>
            </a:pPr>
            <a:r>
              <a:rPr sz="2800" spc="-10" dirty="0">
                <a:latin typeface="Calibri"/>
                <a:cs typeface="Calibri"/>
              </a:rPr>
              <a:t>Given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halves,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count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of </a:t>
            </a:r>
            <a:r>
              <a:rPr sz="2800" spc="-5" dirty="0">
                <a:latin typeface="Calibri"/>
                <a:cs typeface="Calibri"/>
              </a:rPr>
              <a:t> i</a:t>
            </a:r>
            <a:r>
              <a:rPr sz="2800" spc="-65" dirty="0">
                <a:latin typeface="Calibri"/>
                <a:cs typeface="Calibri"/>
              </a:rPr>
              <a:t>n</a:t>
            </a:r>
            <a:r>
              <a:rPr sz="2800" spc="-35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r</a:t>
            </a:r>
            <a:r>
              <a:rPr sz="2800" spc="-10" dirty="0">
                <a:latin typeface="Calibri"/>
                <a:cs typeface="Calibri"/>
              </a:rPr>
              <a:t>sio</a:t>
            </a:r>
            <a:r>
              <a:rPr sz="2800" spc="-1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whe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1950" spc="7" baseline="-21367" dirty="0">
                <a:latin typeface="Calibri"/>
                <a:cs typeface="Calibri"/>
              </a:rPr>
              <a:t>i</a:t>
            </a:r>
            <a:r>
              <a:rPr sz="1950" baseline="-21367" dirty="0">
                <a:latin typeface="Calibri"/>
                <a:cs typeface="Calibri"/>
              </a:rPr>
              <a:t> </a:t>
            </a:r>
            <a:r>
              <a:rPr sz="1950" spc="44" baseline="-21367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1950" spc="7" baseline="-21367" dirty="0">
                <a:latin typeface="Calibri"/>
                <a:cs typeface="Calibri"/>
              </a:rPr>
              <a:t>j</a:t>
            </a:r>
            <a:r>
              <a:rPr sz="1950" baseline="-21367" dirty="0">
                <a:latin typeface="Calibri"/>
                <a:cs typeface="Calibri"/>
              </a:rPr>
              <a:t> </a:t>
            </a:r>
            <a:r>
              <a:rPr sz="1950" spc="60" baseline="-21367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</a:t>
            </a:r>
            <a:r>
              <a:rPr sz="2800" spc="-20" dirty="0">
                <a:latin typeface="Calibri"/>
                <a:cs typeface="Calibri"/>
              </a:rPr>
              <a:t>i</a:t>
            </a:r>
            <a:r>
              <a:rPr sz="2800" spc="-35" dirty="0">
                <a:latin typeface="Calibri"/>
                <a:cs typeface="Calibri"/>
              </a:rPr>
              <a:t>f</a:t>
            </a:r>
            <a:r>
              <a:rPr sz="2800" spc="-80" dirty="0">
                <a:latin typeface="Calibri"/>
                <a:cs typeface="Calibri"/>
              </a:rPr>
              <a:t>f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3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hal</a:t>
            </a:r>
            <a:r>
              <a:rPr sz="2800" spc="-40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es.</a:t>
            </a:r>
            <a:endParaRPr sz="2800">
              <a:latin typeface="Calibri"/>
              <a:cs typeface="Calibri"/>
            </a:endParaRPr>
          </a:p>
          <a:p>
            <a:pPr marL="7816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82320" algn="l"/>
              </a:tabLst>
            </a:pPr>
            <a:r>
              <a:rPr sz="2800" spc="-10" dirty="0">
                <a:latin typeface="Calibri"/>
                <a:cs typeface="Calibri"/>
              </a:rPr>
              <a:t>Combine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halves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whole.</a:t>
            </a:r>
            <a:endParaRPr sz="2800">
              <a:latin typeface="Calibri"/>
              <a:cs typeface="Calibri"/>
            </a:endParaRPr>
          </a:p>
          <a:p>
            <a:pPr marL="2353945">
              <a:lnSpc>
                <a:spcPct val="100000"/>
              </a:lnSpc>
              <a:spcBef>
                <a:spcPts val="850"/>
              </a:spcBef>
            </a:pPr>
            <a:r>
              <a:rPr sz="1800" dirty="0">
                <a:latin typeface="Calibri"/>
                <a:cs typeface="Calibri"/>
              </a:rPr>
              <a:t>i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48855" y="3984116"/>
            <a:ext cx="13055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two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sorted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halves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219200" y="4913312"/>
            <a:ext cx="5492750" cy="427355"/>
            <a:chOff x="1219200" y="4913312"/>
            <a:chExt cx="5492750" cy="427355"/>
          </a:xfrm>
        </p:grpSpPr>
        <p:sp>
          <p:nvSpPr>
            <p:cNvPr id="10" name="object 10"/>
            <p:cNvSpPr/>
            <p:nvPr/>
          </p:nvSpPr>
          <p:spPr>
            <a:xfrm>
              <a:off x="21336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908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48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48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05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05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192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76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962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962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8768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34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791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91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48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248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196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4196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219200" y="4919662"/>
            <a:ext cx="5486400" cy="41465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440"/>
              </a:spcBef>
              <a:tabLst>
                <a:tab pos="626745" algn="l"/>
                <a:tab pos="1083945" algn="l"/>
                <a:tab pos="1483995" algn="l"/>
                <a:tab pos="1941195" algn="l"/>
                <a:tab pos="2398395" algn="l"/>
                <a:tab pos="2855595" algn="l"/>
                <a:tab pos="3312795" algn="l"/>
                <a:tab pos="3769995" algn="l"/>
              </a:tabLst>
            </a:pPr>
            <a:r>
              <a:rPr sz="1800" dirty="0">
                <a:latin typeface="Calibri"/>
                <a:cs typeface="Calibri"/>
              </a:rPr>
              <a:t>2	3	7	</a:t>
            </a:r>
            <a:r>
              <a:rPr sz="1800" spc="-5" dirty="0">
                <a:latin typeface="Calibri"/>
                <a:cs typeface="Calibri"/>
              </a:rPr>
              <a:t>10	11	14	16	17	18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441438" y="4989321"/>
            <a:ext cx="10445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auxiliary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array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009900" y="3609975"/>
            <a:ext cx="50800" cy="209550"/>
          </a:xfrm>
          <a:custGeom>
            <a:avLst/>
            <a:gdLst/>
            <a:ahLst/>
            <a:cxnLst/>
            <a:rect l="l" t="t" r="r" b="b"/>
            <a:pathLst>
              <a:path w="50800" h="209550">
                <a:moveTo>
                  <a:pt x="19050" y="158750"/>
                </a:moveTo>
                <a:lnTo>
                  <a:pt x="0" y="158750"/>
                </a:lnTo>
                <a:lnTo>
                  <a:pt x="25400" y="209550"/>
                </a:lnTo>
                <a:lnTo>
                  <a:pt x="44450" y="171450"/>
                </a:lnTo>
                <a:lnTo>
                  <a:pt x="19050" y="171450"/>
                </a:lnTo>
                <a:lnTo>
                  <a:pt x="19050" y="158750"/>
                </a:lnTo>
                <a:close/>
              </a:path>
              <a:path w="50800" h="209550">
                <a:moveTo>
                  <a:pt x="31750" y="0"/>
                </a:moveTo>
                <a:lnTo>
                  <a:pt x="19050" y="0"/>
                </a:lnTo>
                <a:lnTo>
                  <a:pt x="19050" y="171450"/>
                </a:lnTo>
                <a:lnTo>
                  <a:pt x="31750" y="171450"/>
                </a:lnTo>
                <a:lnTo>
                  <a:pt x="31750" y="0"/>
                </a:lnTo>
                <a:close/>
              </a:path>
              <a:path w="50800" h="209550">
                <a:moveTo>
                  <a:pt x="50800" y="158750"/>
                </a:moveTo>
                <a:lnTo>
                  <a:pt x="31750" y="158750"/>
                </a:lnTo>
                <a:lnTo>
                  <a:pt x="31750" y="171450"/>
                </a:lnTo>
                <a:lnTo>
                  <a:pt x="44450" y="171450"/>
                </a:lnTo>
                <a:lnTo>
                  <a:pt x="50800" y="158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214998" y="3609975"/>
            <a:ext cx="50800" cy="209550"/>
          </a:xfrm>
          <a:custGeom>
            <a:avLst/>
            <a:gdLst/>
            <a:ahLst/>
            <a:cxnLst/>
            <a:rect l="l" t="t" r="r" b="b"/>
            <a:pathLst>
              <a:path w="50800" h="209550">
                <a:moveTo>
                  <a:pt x="19050" y="158750"/>
                </a:moveTo>
                <a:lnTo>
                  <a:pt x="0" y="158750"/>
                </a:lnTo>
                <a:lnTo>
                  <a:pt x="25400" y="209550"/>
                </a:lnTo>
                <a:lnTo>
                  <a:pt x="44450" y="171450"/>
                </a:lnTo>
                <a:lnTo>
                  <a:pt x="19050" y="171450"/>
                </a:lnTo>
                <a:lnTo>
                  <a:pt x="19050" y="158750"/>
                </a:lnTo>
                <a:close/>
              </a:path>
              <a:path w="50800" h="209550">
                <a:moveTo>
                  <a:pt x="31750" y="0"/>
                </a:moveTo>
                <a:lnTo>
                  <a:pt x="19050" y="0"/>
                </a:lnTo>
                <a:lnTo>
                  <a:pt x="19050" y="171450"/>
                </a:lnTo>
                <a:lnTo>
                  <a:pt x="31750" y="171450"/>
                </a:lnTo>
                <a:lnTo>
                  <a:pt x="31750" y="0"/>
                </a:lnTo>
                <a:close/>
              </a:path>
              <a:path w="50800" h="209550">
                <a:moveTo>
                  <a:pt x="50800" y="158750"/>
                </a:moveTo>
                <a:lnTo>
                  <a:pt x="31750" y="158750"/>
                </a:lnTo>
                <a:lnTo>
                  <a:pt x="31750" y="171450"/>
                </a:lnTo>
                <a:lnTo>
                  <a:pt x="44450" y="171450"/>
                </a:lnTo>
                <a:lnTo>
                  <a:pt x="50800" y="158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3752850" y="5838825"/>
            <a:ext cx="3346450" cy="466725"/>
          </a:xfrm>
          <a:prstGeom prst="rect">
            <a:avLst/>
          </a:prstGeom>
          <a:solidFill>
            <a:srgbClr val="C0504D"/>
          </a:solidFill>
        </p:spPr>
        <p:txBody>
          <a:bodyPr vert="horz" wrap="square" lIns="0" tIns="774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610"/>
              </a:spcBef>
            </a:pPr>
            <a:r>
              <a:rPr sz="1800" spc="-35" dirty="0">
                <a:latin typeface="Calibri"/>
                <a:cs typeface="Calibri"/>
              </a:rPr>
              <a:t>Total: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6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 +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28</a:t>
            </a:fld>
            <a:endParaRPr dirty="0"/>
          </a:p>
        </p:txBody>
      </p: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2533269" y="95757"/>
            <a:ext cx="40767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Counting</a:t>
            </a:r>
            <a:r>
              <a:rPr spc="-65" dirty="0"/>
              <a:t> </a:t>
            </a:r>
            <a:r>
              <a:rPr spc="-25" dirty="0"/>
              <a:t>Inversions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90600" y="3929062"/>
          <a:ext cx="5937877" cy="6889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6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65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65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73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65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656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656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656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1433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434"/>
                        </a:spcBef>
                        <a:tabLst>
                          <a:tab pos="56959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	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5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2362200" y="3929062"/>
            <a:ext cx="1371600" cy="414655"/>
          </a:xfrm>
          <a:custGeom>
            <a:avLst/>
            <a:gdLst/>
            <a:ahLst/>
            <a:cxnLst/>
            <a:rect l="l" t="t" r="r" b="b"/>
            <a:pathLst>
              <a:path w="13716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  <a:path w="1371600" h="414654">
                <a:moveTo>
                  <a:pt x="457200" y="414337"/>
                </a:moveTo>
                <a:lnTo>
                  <a:pt x="914400" y="414337"/>
                </a:lnTo>
                <a:lnTo>
                  <a:pt x="914400" y="0"/>
                </a:lnTo>
                <a:lnTo>
                  <a:pt x="457200" y="0"/>
                </a:lnTo>
                <a:lnTo>
                  <a:pt x="457200" y="414337"/>
                </a:lnTo>
                <a:close/>
              </a:path>
              <a:path w="1371600" h="414654">
                <a:moveTo>
                  <a:pt x="914400" y="414337"/>
                </a:moveTo>
                <a:lnTo>
                  <a:pt x="1371600" y="414337"/>
                </a:lnTo>
                <a:lnTo>
                  <a:pt x="1371600" y="0"/>
                </a:lnTo>
                <a:lnTo>
                  <a:pt x="914400" y="0"/>
                </a:lnTo>
                <a:lnTo>
                  <a:pt x="91440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47800" y="39290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62600" y="3929062"/>
            <a:ext cx="1371600" cy="414655"/>
          </a:xfrm>
          <a:custGeom>
            <a:avLst/>
            <a:gdLst/>
            <a:ahLst/>
            <a:cxnLst/>
            <a:rect l="l" t="t" r="r" b="b"/>
            <a:pathLst>
              <a:path w="13716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  <a:path w="1371600" h="414654">
                <a:moveTo>
                  <a:pt x="457200" y="414337"/>
                </a:moveTo>
                <a:lnTo>
                  <a:pt x="914400" y="414337"/>
                </a:lnTo>
                <a:lnTo>
                  <a:pt x="914400" y="0"/>
                </a:lnTo>
                <a:lnTo>
                  <a:pt x="457200" y="0"/>
                </a:lnTo>
                <a:lnTo>
                  <a:pt x="457200" y="414337"/>
                </a:lnTo>
                <a:close/>
              </a:path>
              <a:path w="1371600" h="414654">
                <a:moveTo>
                  <a:pt x="914400" y="414337"/>
                </a:moveTo>
                <a:lnTo>
                  <a:pt x="1371600" y="414337"/>
                </a:lnTo>
                <a:lnTo>
                  <a:pt x="1371600" y="0"/>
                </a:lnTo>
                <a:lnTo>
                  <a:pt x="914400" y="0"/>
                </a:lnTo>
                <a:lnTo>
                  <a:pt x="91440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48200" y="39290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10540" y="1125973"/>
            <a:ext cx="7771765" cy="245046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80365" algn="l"/>
                <a:tab pos="381000" algn="l"/>
              </a:tabLst>
            </a:pPr>
            <a:r>
              <a:rPr sz="3200" spc="-15" dirty="0">
                <a:latin typeface="Calibri"/>
                <a:cs typeface="Calibri"/>
              </a:rPr>
              <a:t>Merge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count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step.</a:t>
            </a:r>
            <a:endParaRPr sz="3200">
              <a:latin typeface="Calibri"/>
              <a:cs typeface="Calibri"/>
            </a:endParaRPr>
          </a:p>
          <a:p>
            <a:pPr marL="781685" marR="30480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82320" algn="l"/>
              </a:tabLst>
            </a:pPr>
            <a:r>
              <a:rPr sz="2800" spc="-10" dirty="0">
                <a:latin typeface="Calibri"/>
                <a:cs typeface="Calibri"/>
              </a:rPr>
              <a:t>Given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halves,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count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of </a:t>
            </a:r>
            <a:r>
              <a:rPr sz="2800" spc="-5" dirty="0">
                <a:latin typeface="Calibri"/>
                <a:cs typeface="Calibri"/>
              </a:rPr>
              <a:t> i</a:t>
            </a:r>
            <a:r>
              <a:rPr sz="2800" spc="-65" dirty="0">
                <a:latin typeface="Calibri"/>
                <a:cs typeface="Calibri"/>
              </a:rPr>
              <a:t>n</a:t>
            </a:r>
            <a:r>
              <a:rPr sz="2800" spc="-35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r</a:t>
            </a:r>
            <a:r>
              <a:rPr sz="2800" spc="-10" dirty="0">
                <a:latin typeface="Calibri"/>
                <a:cs typeface="Calibri"/>
              </a:rPr>
              <a:t>sio</a:t>
            </a:r>
            <a:r>
              <a:rPr sz="2800" spc="-1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whe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1950" spc="7" baseline="-21367" dirty="0">
                <a:latin typeface="Calibri"/>
                <a:cs typeface="Calibri"/>
              </a:rPr>
              <a:t>i</a:t>
            </a:r>
            <a:r>
              <a:rPr sz="1950" baseline="-21367" dirty="0">
                <a:latin typeface="Calibri"/>
                <a:cs typeface="Calibri"/>
              </a:rPr>
              <a:t> </a:t>
            </a:r>
            <a:r>
              <a:rPr sz="1950" spc="44" baseline="-21367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1950" spc="7" baseline="-21367" dirty="0">
                <a:latin typeface="Calibri"/>
                <a:cs typeface="Calibri"/>
              </a:rPr>
              <a:t>j</a:t>
            </a:r>
            <a:r>
              <a:rPr sz="1950" baseline="-21367" dirty="0">
                <a:latin typeface="Calibri"/>
                <a:cs typeface="Calibri"/>
              </a:rPr>
              <a:t> </a:t>
            </a:r>
            <a:r>
              <a:rPr sz="1950" spc="60" baseline="-21367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</a:t>
            </a:r>
            <a:r>
              <a:rPr sz="2800" spc="-20" dirty="0">
                <a:latin typeface="Calibri"/>
                <a:cs typeface="Calibri"/>
              </a:rPr>
              <a:t>i</a:t>
            </a:r>
            <a:r>
              <a:rPr sz="2800" spc="-35" dirty="0">
                <a:latin typeface="Calibri"/>
                <a:cs typeface="Calibri"/>
              </a:rPr>
              <a:t>f</a:t>
            </a:r>
            <a:r>
              <a:rPr sz="2800" spc="-80" dirty="0">
                <a:latin typeface="Calibri"/>
                <a:cs typeface="Calibri"/>
              </a:rPr>
              <a:t>f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3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hal</a:t>
            </a:r>
            <a:r>
              <a:rPr sz="2800" spc="-40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es.</a:t>
            </a:r>
            <a:endParaRPr sz="2800">
              <a:latin typeface="Calibri"/>
              <a:cs typeface="Calibri"/>
            </a:endParaRPr>
          </a:p>
          <a:p>
            <a:pPr marL="7816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82320" algn="l"/>
              </a:tabLst>
            </a:pPr>
            <a:r>
              <a:rPr sz="2800" spc="-10" dirty="0">
                <a:latin typeface="Calibri"/>
                <a:cs typeface="Calibri"/>
              </a:rPr>
              <a:t>Combine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halves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whole.</a:t>
            </a:r>
            <a:endParaRPr sz="2800">
              <a:latin typeface="Calibri"/>
              <a:cs typeface="Calibri"/>
            </a:endParaRPr>
          </a:p>
          <a:p>
            <a:pPr marR="1736089" algn="ctr">
              <a:lnSpc>
                <a:spcPct val="100000"/>
              </a:lnSpc>
              <a:spcBef>
                <a:spcPts val="850"/>
              </a:spcBef>
            </a:pPr>
            <a:r>
              <a:rPr sz="1800" dirty="0">
                <a:latin typeface="Calibri"/>
                <a:cs typeface="Calibri"/>
              </a:rPr>
              <a:t>i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48855" y="3984116"/>
            <a:ext cx="13055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two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sorted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halves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219200" y="4913312"/>
            <a:ext cx="5492750" cy="427355"/>
            <a:chOff x="1219200" y="4913312"/>
            <a:chExt cx="5492750" cy="427355"/>
          </a:xfrm>
        </p:grpSpPr>
        <p:sp>
          <p:nvSpPr>
            <p:cNvPr id="10" name="object 10"/>
            <p:cNvSpPr/>
            <p:nvPr/>
          </p:nvSpPr>
          <p:spPr>
            <a:xfrm>
              <a:off x="21336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908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48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48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05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05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192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76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962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962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8768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34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791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91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48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248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196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4196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219200" y="4919662"/>
            <a:ext cx="5486400" cy="41465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440"/>
              </a:spcBef>
              <a:tabLst>
                <a:tab pos="626745" algn="l"/>
                <a:tab pos="1083945" algn="l"/>
                <a:tab pos="1483995" algn="l"/>
                <a:tab pos="1941195" algn="l"/>
                <a:tab pos="2398395" algn="l"/>
                <a:tab pos="2855595" algn="l"/>
                <a:tab pos="3312795" algn="l"/>
                <a:tab pos="3769995" algn="l"/>
              </a:tabLst>
            </a:pPr>
            <a:r>
              <a:rPr sz="1800" dirty="0">
                <a:latin typeface="Calibri"/>
                <a:cs typeface="Calibri"/>
              </a:rPr>
              <a:t>2	3	7	</a:t>
            </a:r>
            <a:r>
              <a:rPr sz="1800" spc="-5" dirty="0">
                <a:latin typeface="Calibri"/>
                <a:cs typeface="Calibri"/>
              </a:rPr>
              <a:t>10	11	14	16	17	18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441438" y="4989321"/>
            <a:ext cx="10445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auxiliary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array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476625" y="3609975"/>
            <a:ext cx="50800" cy="209550"/>
          </a:xfrm>
          <a:custGeom>
            <a:avLst/>
            <a:gdLst/>
            <a:ahLst/>
            <a:cxnLst/>
            <a:rect l="l" t="t" r="r" b="b"/>
            <a:pathLst>
              <a:path w="50800" h="209550">
                <a:moveTo>
                  <a:pt x="19050" y="158750"/>
                </a:moveTo>
                <a:lnTo>
                  <a:pt x="0" y="158750"/>
                </a:lnTo>
                <a:lnTo>
                  <a:pt x="25400" y="209550"/>
                </a:lnTo>
                <a:lnTo>
                  <a:pt x="44450" y="171450"/>
                </a:lnTo>
                <a:lnTo>
                  <a:pt x="19050" y="171450"/>
                </a:lnTo>
                <a:lnTo>
                  <a:pt x="19050" y="158750"/>
                </a:lnTo>
                <a:close/>
              </a:path>
              <a:path w="50800" h="209550">
                <a:moveTo>
                  <a:pt x="31750" y="0"/>
                </a:moveTo>
                <a:lnTo>
                  <a:pt x="19050" y="0"/>
                </a:lnTo>
                <a:lnTo>
                  <a:pt x="19050" y="171450"/>
                </a:lnTo>
                <a:lnTo>
                  <a:pt x="31750" y="171450"/>
                </a:lnTo>
                <a:lnTo>
                  <a:pt x="31750" y="0"/>
                </a:lnTo>
                <a:close/>
              </a:path>
              <a:path w="50800" h="209550">
                <a:moveTo>
                  <a:pt x="50800" y="158750"/>
                </a:moveTo>
                <a:lnTo>
                  <a:pt x="31750" y="158750"/>
                </a:lnTo>
                <a:lnTo>
                  <a:pt x="31750" y="171450"/>
                </a:lnTo>
                <a:lnTo>
                  <a:pt x="44450" y="171450"/>
                </a:lnTo>
                <a:lnTo>
                  <a:pt x="50800" y="158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214998" y="3609975"/>
            <a:ext cx="50800" cy="209550"/>
          </a:xfrm>
          <a:custGeom>
            <a:avLst/>
            <a:gdLst/>
            <a:ahLst/>
            <a:cxnLst/>
            <a:rect l="l" t="t" r="r" b="b"/>
            <a:pathLst>
              <a:path w="50800" h="209550">
                <a:moveTo>
                  <a:pt x="19050" y="158750"/>
                </a:moveTo>
                <a:lnTo>
                  <a:pt x="0" y="158750"/>
                </a:lnTo>
                <a:lnTo>
                  <a:pt x="25400" y="209550"/>
                </a:lnTo>
                <a:lnTo>
                  <a:pt x="44450" y="171450"/>
                </a:lnTo>
                <a:lnTo>
                  <a:pt x="19050" y="171450"/>
                </a:lnTo>
                <a:lnTo>
                  <a:pt x="19050" y="158750"/>
                </a:lnTo>
                <a:close/>
              </a:path>
              <a:path w="50800" h="209550">
                <a:moveTo>
                  <a:pt x="31750" y="0"/>
                </a:moveTo>
                <a:lnTo>
                  <a:pt x="19050" y="0"/>
                </a:lnTo>
                <a:lnTo>
                  <a:pt x="19050" y="171450"/>
                </a:lnTo>
                <a:lnTo>
                  <a:pt x="31750" y="171450"/>
                </a:lnTo>
                <a:lnTo>
                  <a:pt x="31750" y="0"/>
                </a:lnTo>
                <a:close/>
              </a:path>
              <a:path w="50800" h="209550">
                <a:moveTo>
                  <a:pt x="50800" y="158750"/>
                </a:moveTo>
                <a:lnTo>
                  <a:pt x="31750" y="158750"/>
                </a:lnTo>
                <a:lnTo>
                  <a:pt x="31750" y="171450"/>
                </a:lnTo>
                <a:lnTo>
                  <a:pt x="44450" y="171450"/>
                </a:lnTo>
                <a:lnTo>
                  <a:pt x="50800" y="158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3752850" y="5838825"/>
            <a:ext cx="3346450" cy="466725"/>
          </a:xfrm>
          <a:prstGeom prst="rect">
            <a:avLst/>
          </a:prstGeom>
          <a:solidFill>
            <a:srgbClr val="C0504D"/>
          </a:solidFill>
        </p:spPr>
        <p:txBody>
          <a:bodyPr vert="horz" wrap="square" lIns="0" tIns="774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610"/>
              </a:spcBef>
            </a:pPr>
            <a:r>
              <a:rPr sz="1800" spc="-35" dirty="0">
                <a:latin typeface="Calibri"/>
                <a:cs typeface="Calibri"/>
              </a:rPr>
              <a:t>Total: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6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 +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29</a:t>
            </a:fld>
            <a:endParaRPr dirty="0"/>
          </a:p>
        </p:txBody>
      </p: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2533269" y="95757"/>
            <a:ext cx="40767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Counting</a:t>
            </a:r>
            <a:r>
              <a:rPr spc="-65" dirty="0"/>
              <a:t> </a:t>
            </a:r>
            <a:r>
              <a:rPr spc="-25" dirty="0"/>
              <a:t>Inversions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90600" y="3929062"/>
          <a:ext cx="5937877" cy="6889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6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65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65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73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65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656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656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656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1433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434"/>
                        </a:spcBef>
                        <a:tabLst>
                          <a:tab pos="56959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	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5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2362200" y="3929062"/>
            <a:ext cx="1371600" cy="414655"/>
          </a:xfrm>
          <a:custGeom>
            <a:avLst/>
            <a:gdLst/>
            <a:ahLst/>
            <a:cxnLst/>
            <a:rect l="l" t="t" r="r" b="b"/>
            <a:pathLst>
              <a:path w="13716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  <a:path w="1371600" h="414654">
                <a:moveTo>
                  <a:pt x="457200" y="414337"/>
                </a:moveTo>
                <a:lnTo>
                  <a:pt x="914400" y="414337"/>
                </a:lnTo>
                <a:lnTo>
                  <a:pt x="914400" y="0"/>
                </a:lnTo>
                <a:lnTo>
                  <a:pt x="457200" y="0"/>
                </a:lnTo>
                <a:lnTo>
                  <a:pt x="457200" y="414337"/>
                </a:lnTo>
                <a:close/>
              </a:path>
              <a:path w="1371600" h="414654">
                <a:moveTo>
                  <a:pt x="914400" y="414337"/>
                </a:moveTo>
                <a:lnTo>
                  <a:pt x="1371600" y="414337"/>
                </a:lnTo>
                <a:lnTo>
                  <a:pt x="1371600" y="0"/>
                </a:lnTo>
                <a:lnTo>
                  <a:pt x="914400" y="0"/>
                </a:lnTo>
                <a:lnTo>
                  <a:pt x="91440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47800" y="39290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62600" y="3929062"/>
            <a:ext cx="1371600" cy="414655"/>
          </a:xfrm>
          <a:custGeom>
            <a:avLst/>
            <a:gdLst/>
            <a:ahLst/>
            <a:cxnLst/>
            <a:rect l="l" t="t" r="r" b="b"/>
            <a:pathLst>
              <a:path w="13716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  <a:path w="1371600" h="414654">
                <a:moveTo>
                  <a:pt x="457200" y="414337"/>
                </a:moveTo>
                <a:lnTo>
                  <a:pt x="914400" y="414337"/>
                </a:lnTo>
                <a:lnTo>
                  <a:pt x="914400" y="0"/>
                </a:lnTo>
                <a:lnTo>
                  <a:pt x="457200" y="0"/>
                </a:lnTo>
                <a:lnTo>
                  <a:pt x="457200" y="414337"/>
                </a:lnTo>
                <a:close/>
              </a:path>
              <a:path w="1371600" h="414654">
                <a:moveTo>
                  <a:pt x="914400" y="414337"/>
                </a:moveTo>
                <a:lnTo>
                  <a:pt x="1371600" y="414337"/>
                </a:lnTo>
                <a:lnTo>
                  <a:pt x="1371600" y="0"/>
                </a:lnTo>
                <a:lnTo>
                  <a:pt x="914400" y="0"/>
                </a:lnTo>
                <a:lnTo>
                  <a:pt x="91440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48200" y="39290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10540" y="1202173"/>
            <a:ext cx="7771765" cy="237426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80365" algn="l"/>
                <a:tab pos="381000" algn="l"/>
              </a:tabLst>
            </a:pPr>
            <a:r>
              <a:rPr sz="3200" spc="-15" dirty="0">
                <a:latin typeface="Calibri"/>
                <a:cs typeface="Calibri"/>
              </a:rPr>
              <a:t>Merge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count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step.</a:t>
            </a:r>
            <a:endParaRPr sz="3200">
              <a:latin typeface="Calibri"/>
              <a:cs typeface="Calibri"/>
            </a:endParaRPr>
          </a:p>
          <a:p>
            <a:pPr marL="781685" marR="30480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82320" algn="l"/>
              </a:tabLst>
            </a:pPr>
            <a:r>
              <a:rPr sz="2800" spc="-10" dirty="0">
                <a:latin typeface="Calibri"/>
                <a:cs typeface="Calibri"/>
              </a:rPr>
              <a:t>Given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halves,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count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of </a:t>
            </a:r>
            <a:r>
              <a:rPr sz="2800" spc="-5" dirty="0">
                <a:latin typeface="Calibri"/>
                <a:cs typeface="Calibri"/>
              </a:rPr>
              <a:t> i</a:t>
            </a:r>
            <a:r>
              <a:rPr sz="2800" spc="-65" dirty="0">
                <a:latin typeface="Calibri"/>
                <a:cs typeface="Calibri"/>
              </a:rPr>
              <a:t>n</a:t>
            </a:r>
            <a:r>
              <a:rPr sz="2800" spc="-35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r</a:t>
            </a:r>
            <a:r>
              <a:rPr sz="2800" spc="-10" dirty="0">
                <a:latin typeface="Calibri"/>
                <a:cs typeface="Calibri"/>
              </a:rPr>
              <a:t>sio</a:t>
            </a:r>
            <a:r>
              <a:rPr sz="2800" spc="-1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whe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1950" spc="7" baseline="-21367" dirty="0">
                <a:latin typeface="Calibri"/>
                <a:cs typeface="Calibri"/>
              </a:rPr>
              <a:t>i</a:t>
            </a:r>
            <a:r>
              <a:rPr sz="1950" baseline="-21367" dirty="0">
                <a:latin typeface="Calibri"/>
                <a:cs typeface="Calibri"/>
              </a:rPr>
              <a:t> </a:t>
            </a:r>
            <a:r>
              <a:rPr sz="1950" spc="44" baseline="-21367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1950" spc="7" baseline="-21367" dirty="0">
                <a:latin typeface="Calibri"/>
                <a:cs typeface="Calibri"/>
              </a:rPr>
              <a:t>j</a:t>
            </a:r>
            <a:r>
              <a:rPr sz="1950" baseline="-21367" dirty="0">
                <a:latin typeface="Calibri"/>
                <a:cs typeface="Calibri"/>
              </a:rPr>
              <a:t> </a:t>
            </a:r>
            <a:r>
              <a:rPr sz="1950" spc="60" baseline="-21367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</a:t>
            </a:r>
            <a:r>
              <a:rPr sz="2800" spc="-20" dirty="0">
                <a:latin typeface="Calibri"/>
                <a:cs typeface="Calibri"/>
              </a:rPr>
              <a:t>i</a:t>
            </a:r>
            <a:r>
              <a:rPr sz="2800" spc="-35" dirty="0">
                <a:latin typeface="Calibri"/>
                <a:cs typeface="Calibri"/>
              </a:rPr>
              <a:t>f</a:t>
            </a:r>
            <a:r>
              <a:rPr sz="2800" spc="-80" dirty="0">
                <a:latin typeface="Calibri"/>
                <a:cs typeface="Calibri"/>
              </a:rPr>
              <a:t>f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3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hal</a:t>
            </a:r>
            <a:r>
              <a:rPr sz="2800" spc="-40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es.</a:t>
            </a:r>
            <a:endParaRPr sz="2800">
              <a:latin typeface="Calibri"/>
              <a:cs typeface="Calibri"/>
            </a:endParaRPr>
          </a:p>
          <a:p>
            <a:pPr marL="7816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82320" algn="l"/>
              </a:tabLst>
            </a:pPr>
            <a:r>
              <a:rPr sz="2800" spc="-10" dirty="0">
                <a:latin typeface="Calibri"/>
                <a:cs typeface="Calibri"/>
              </a:rPr>
              <a:t>Combine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halves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whole.</a:t>
            </a:r>
            <a:endParaRPr sz="2800">
              <a:latin typeface="Calibri"/>
              <a:cs typeface="Calibri"/>
            </a:endParaRPr>
          </a:p>
          <a:p>
            <a:pPr marR="1736089" algn="ctr">
              <a:lnSpc>
                <a:spcPct val="100000"/>
              </a:lnSpc>
              <a:spcBef>
                <a:spcPts val="250"/>
              </a:spcBef>
            </a:pPr>
            <a:r>
              <a:rPr sz="1800" dirty="0">
                <a:latin typeface="Calibri"/>
                <a:cs typeface="Calibri"/>
              </a:rPr>
              <a:t>i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48855" y="3984116"/>
            <a:ext cx="13055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two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sorted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halves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219200" y="4913312"/>
            <a:ext cx="5492750" cy="427355"/>
            <a:chOff x="1219200" y="4913312"/>
            <a:chExt cx="5492750" cy="427355"/>
          </a:xfrm>
        </p:grpSpPr>
        <p:sp>
          <p:nvSpPr>
            <p:cNvPr id="10" name="object 10"/>
            <p:cNvSpPr/>
            <p:nvPr/>
          </p:nvSpPr>
          <p:spPr>
            <a:xfrm>
              <a:off x="21336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908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48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48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05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05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192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76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962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962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8768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34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791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91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48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248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196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4196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219200" y="4919662"/>
            <a:ext cx="5486400" cy="41465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440"/>
              </a:spcBef>
              <a:tabLst>
                <a:tab pos="626745" algn="l"/>
                <a:tab pos="1083945" algn="l"/>
                <a:tab pos="1483995" algn="l"/>
                <a:tab pos="1941195" algn="l"/>
                <a:tab pos="2398395" algn="l"/>
                <a:tab pos="2855595" algn="l"/>
                <a:tab pos="3312795" algn="l"/>
                <a:tab pos="3769995" algn="l"/>
                <a:tab pos="4227195" algn="l"/>
              </a:tabLst>
            </a:pPr>
            <a:r>
              <a:rPr sz="1800" dirty="0">
                <a:latin typeface="Calibri"/>
                <a:cs typeface="Calibri"/>
              </a:rPr>
              <a:t>2	3	7	</a:t>
            </a:r>
            <a:r>
              <a:rPr sz="1800" spc="-5" dirty="0">
                <a:latin typeface="Calibri"/>
                <a:cs typeface="Calibri"/>
              </a:rPr>
              <a:t>10	11	14	16	17	18	19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441438" y="4989321"/>
            <a:ext cx="10445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auxiliary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array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476625" y="3609975"/>
            <a:ext cx="50800" cy="209550"/>
          </a:xfrm>
          <a:custGeom>
            <a:avLst/>
            <a:gdLst/>
            <a:ahLst/>
            <a:cxnLst/>
            <a:rect l="l" t="t" r="r" b="b"/>
            <a:pathLst>
              <a:path w="50800" h="209550">
                <a:moveTo>
                  <a:pt x="19050" y="158750"/>
                </a:moveTo>
                <a:lnTo>
                  <a:pt x="0" y="158750"/>
                </a:lnTo>
                <a:lnTo>
                  <a:pt x="25400" y="209550"/>
                </a:lnTo>
                <a:lnTo>
                  <a:pt x="44450" y="171450"/>
                </a:lnTo>
                <a:lnTo>
                  <a:pt x="19050" y="171450"/>
                </a:lnTo>
                <a:lnTo>
                  <a:pt x="19050" y="158750"/>
                </a:lnTo>
                <a:close/>
              </a:path>
              <a:path w="50800" h="209550">
                <a:moveTo>
                  <a:pt x="31750" y="0"/>
                </a:moveTo>
                <a:lnTo>
                  <a:pt x="19050" y="0"/>
                </a:lnTo>
                <a:lnTo>
                  <a:pt x="19050" y="171450"/>
                </a:lnTo>
                <a:lnTo>
                  <a:pt x="31750" y="171450"/>
                </a:lnTo>
                <a:lnTo>
                  <a:pt x="31750" y="0"/>
                </a:lnTo>
                <a:close/>
              </a:path>
              <a:path w="50800" h="209550">
                <a:moveTo>
                  <a:pt x="50800" y="158750"/>
                </a:moveTo>
                <a:lnTo>
                  <a:pt x="31750" y="158750"/>
                </a:lnTo>
                <a:lnTo>
                  <a:pt x="31750" y="171450"/>
                </a:lnTo>
                <a:lnTo>
                  <a:pt x="44450" y="171450"/>
                </a:lnTo>
                <a:lnTo>
                  <a:pt x="50800" y="158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214998" y="3609975"/>
            <a:ext cx="50800" cy="209550"/>
          </a:xfrm>
          <a:custGeom>
            <a:avLst/>
            <a:gdLst/>
            <a:ahLst/>
            <a:cxnLst/>
            <a:rect l="l" t="t" r="r" b="b"/>
            <a:pathLst>
              <a:path w="50800" h="209550">
                <a:moveTo>
                  <a:pt x="19050" y="158750"/>
                </a:moveTo>
                <a:lnTo>
                  <a:pt x="0" y="158750"/>
                </a:lnTo>
                <a:lnTo>
                  <a:pt x="25400" y="209550"/>
                </a:lnTo>
                <a:lnTo>
                  <a:pt x="44450" y="171450"/>
                </a:lnTo>
                <a:lnTo>
                  <a:pt x="19050" y="171450"/>
                </a:lnTo>
                <a:lnTo>
                  <a:pt x="19050" y="158750"/>
                </a:lnTo>
                <a:close/>
              </a:path>
              <a:path w="50800" h="209550">
                <a:moveTo>
                  <a:pt x="31750" y="0"/>
                </a:moveTo>
                <a:lnTo>
                  <a:pt x="19050" y="0"/>
                </a:lnTo>
                <a:lnTo>
                  <a:pt x="19050" y="171450"/>
                </a:lnTo>
                <a:lnTo>
                  <a:pt x="31750" y="171450"/>
                </a:lnTo>
                <a:lnTo>
                  <a:pt x="31750" y="0"/>
                </a:lnTo>
                <a:close/>
              </a:path>
              <a:path w="50800" h="209550">
                <a:moveTo>
                  <a:pt x="50800" y="158750"/>
                </a:moveTo>
                <a:lnTo>
                  <a:pt x="31750" y="158750"/>
                </a:lnTo>
                <a:lnTo>
                  <a:pt x="31750" y="171450"/>
                </a:lnTo>
                <a:lnTo>
                  <a:pt x="44450" y="171450"/>
                </a:lnTo>
                <a:lnTo>
                  <a:pt x="50800" y="158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3752850" y="5838825"/>
            <a:ext cx="3346450" cy="466725"/>
          </a:xfrm>
          <a:prstGeom prst="rect">
            <a:avLst/>
          </a:prstGeom>
          <a:solidFill>
            <a:srgbClr val="C0504D"/>
          </a:solidFill>
        </p:spPr>
        <p:txBody>
          <a:bodyPr vert="horz" wrap="square" lIns="0" tIns="774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610"/>
              </a:spcBef>
            </a:pPr>
            <a:r>
              <a:rPr sz="1800" spc="-35" dirty="0">
                <a:latin typeface="Calibri"/>
                <a:cs typeface="Calibri"/>
              </a:rPr>
              <a:t>Total: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6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 +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30</a:t>
            </a:fld>
            <a:endParaRPr dirty="0"/>
          </a:p>
        </p:txBody>
      </p: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2533269" y="95757"/>
            <a:ext cx="40767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Counting</a:t>
            </a:r>
            <a:r>
              <a:rPr spc="-65" dirty="0"/>
              <a:t> </a:t>
            </a:r>
            <a:r>
              <a:rPr spc="-25" dirty="0"/>
              <a:t>Inversions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90600" y="3929062"/>
          <a:ext cx="5942962" cy="6889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6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79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64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973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9466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1433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434"/>
                        </a:spcBef>
                        <a:tabLst>
                          <a:tab pos="56959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	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4986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00AF50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5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2362200" y="3929062"/>
            <a:ext cx="1371600" cy="414655"/>
          </a:xfrm>
          <a:custGeom>
            <a:avLst/>
            <a:gdLst/>
            <a:ahLst/>
            <a:cxnLst/>
            <a:rect l="l" t="t" r="r" b="b"/>
            <a:pathLst>
              <a:path w="13716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  <a:path w="1371600" h="414654">
                <a:moveTo>
                  <a:pt x="457200" y="414337"/>
                </a:moveTo>
                <a:lnTo>
                  <a:pt x="914400" y="414337"/>
                </a:lnTo>
                <a:lnTo>
                  <a:pt x="914400" y="0"/>
                </a:lnTo>
                <a:lnTo>
                  <a:pt x="457200" y="0"/>
                </a:lnTo>
                <a:lnTo>
                  <a:pt x="457200" y="414337"/>
                </a:lnTo>
                <a:close/>
              </a:path>
              <a:path w="1371600" h="414654">
                <a:moveTo>
                  <a:pt x="914400" y="414337"/>
                </a:moveTo>
                <a:lnTo>
                  <a:pt x="1371600" y="414337"/>
                </a:lnTo>
                <a:lnTo>
                  <a:pt x="1371600" y="0"/>
                </a:lnTo>
                <a:lnTo>
                  <a:pt x="914400" y="0"/>
                </a:lnTo>
                <a:lnTo>
                  <a:pt x="91440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47800" y="39290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62600" y="3929062"/>
            <a:ext cx="1371600" cy="414655"/>
          </a:xfrm>
          <a:custGeom>
            <a:avLst/>
            <a:gdLst/>
            <a:ahLst/>
            <a:cxnLst/>
            <a:rect l="l" t="t" r="r" b="b"/>
            <a:pathLst>
              <a:path w="13716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  <a:path w="1371600" h="414654">
                <a:moveTo>
                  <a:pt x="457200" y="414337"/>
                </a:moveTo>
                <a:lnTo>
                  <a:pt x="914400" y="414337"/>
                </a:lnTo>
                <a:lnTo>
                  <a:pt x="914400" y="0"/>
                </a:lnTo>
                <a:lnTo>
                  <a:pt x="457200" y="0"/>
                </a:lnTo>
                <a:lnTo>
                  <a:pt x="457200" y="414337"/>
                </a:lnTo>
                <a:close/>
              </a:path>
              <a:path w="1371600" h="414654">
                <a:moveTo>
                  <a:pt x="914400" y="414337"/>
                </a:moveTo>
                <a:lnTo>
                  <a:pt x="1371600" y="414337"/>
                </a:lnTo>
                <a:lnTo>
                  <a:pt x="1371600" y="0"/>
                </a:lnTo>
                <a:lnTo>
                  <a:pt x="914400" y="0"/>
                </a:lnTo>
                <a:lnTo>
                  <a:pt x="91440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48200" y="39290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97840" y="1125973"/>
            <a:ext cx="7797165" cy="245046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937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93065" algn="l"/>
                <a:tab pos="393700" algn="l"/>
              </a:tabLst>
            </a:pPr>
            <a:r>
              <a:rPr sz="3200" spc="-15" dirty="0">
                <a:latin typeface="Calibri"/>
                <a:cs typeface="Calibri"/>
              </a:rPr>
              <a:t>Merge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count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step.</a:t>
            </a:r>
            <a:endParaRPr sz="3200">
              <a:latin typeface="Calibri"/>
              <a:cs typeface="Calibri"/>
            </a:endParaRPr>
          </a:p>
          <a:p>
            <a:pPr marL="794385" marR="43180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95020" algn="l"/>
              </a:tabLst>
            </a:pPr>
            <a:r>
              <a:rPr sz="2800" spc="-10" dirty="0">
                <a:latin typeface="Calibri"/>
                <a:cs typeface="Calibri"/>
              </a:rPr>
              <a:t>Given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halves,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count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of </a:t>
            </a:r>
            <a:r>
              <a:rPr sz="2800" spc="-5" dirty="0">
                <a:latin typeface="Calibri"/>
                <a:cs typeface="Calibri"/>
              </a:rPr>
              <a:t> i</a:t>
            </a:r>
            <a:r>
              <a:rPr sz="2800" spc="-65" dirty="0">
                <a:latin typeface="Calibri"/>
                <a:cs typeface="Calibri"/>
              </a:rPr>
              <a:t>n</a:t>
            </a:r>
            <a:r>
              <a:rPr sz="2800" spc="-35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r</a:t>
            </a:r>
            <a:r>
              <a:rPr sz="2800" spc="-10" dirty="0">
                <a:latin typeface="Calibri"/>
                <a:cs typeface="Calibri"/>
              </a:rPr>
              <a:t>sio</a:t>
            </a:r>
            <a:r>
              <a:rPr sz="2800" spc="-1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whe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1950" spc="7" baseline="-21367" dirty="0">
                <a:latin typeface="Calibri"/>
                <a:cs typeface="Calibri"/>
              </a:rPr>
              <a:t>i</a:t>
            </a:r>
            <a:r>
              <a:rPr sz="1950" baseline="-21367" dirty="0">
                <a:latin typeface="Calibri"/>
                <a:cs typeface="Calibri"/>
              </a:rPr>
              <a:t> </a:t>
            </a:r>
            <a:r>
              <a:rPr sz="1950" spc="44" baseline="-21367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1950" spc="7" baseline="-21367" dirty="0">
                <a:latin typeface="Calibri"/>
                <a:cs typeface="Calibri"/>
              </a:rPr>
              <a:t>j</a:t>
            </a:r>
            <a:r>
              <a:rPr sz="1950" baseline="-21367" dirty="0">
                <a:latin typeface="Calibri"/>
                <a:cs typeface="Calibri"/>
              </a:rPr>
              <a:t> </a:t>
            </a:r>
            <a:r>
              <a:rPr sz="1950" spc="60" baseline="-21367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</a:t>
            </a:r>
            <a:r>
              <a:rPr sz="2800" spc="-20" dirty="0">
                <a:latin typeface="Calibri"/>
                <a:cs typeface="Calibri"/>
              </a:rPr>
              <a:t>i</a:t>
            </a:r>
            <a:r>
              <a:rPr sz="2800" spc="-35" dirty="0">
                <a:latin typeface="Calibri"/>
                <a:cs typeface="Calibri"/>
              </a:rPr>
              <a:t>f</a:t>
            </a:r>
            <a:r>
              <a:rPr sz="2800" spc="-80" dirty="0">
                <a:latin typeface="Calibri"/>
                <a:cs typeface="Calibri"/>
              </a:rPr>
              <a:t>f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3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hal</a:t>
            </a:r>
            <a:r>
              <a:rPr sz="2800" spc="-40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es.</a:t>
            </a:r>
            <a:endParaRPr sz="2800">
              <a:latin typeface="Calibri"/>
              <a:cs typeface="Calibri"/>
            </a:endParaRPr>
          </a:p>
          <a:p>
            <a:pPr marL="7943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95020" algn="l"/>
              </a:tabLst>
            </a:pPr>
            <a:r>
              <a:rPr sz="2800" spc="-10" dirty="0">
                <a:latin typeface="Calibri"/>
                <a:cs typeface="Calibri"/>
              </a:rPr>
              <a:t>Combine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halves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whole.</a:t>
            </a:r>
            <a:endParaRPr sz="2800">
              <a:latin typeface="Calibri"/>
              <a:cs typeface="Calibri"/>
            </a:endParaRPr>
          </a:p>
          <a:p>
            <a:pPr marL="873760">
              <a:lnSpc>
                <a:spcPct val="100000"/>
              </a:lnSpc>
              <a:spcBef>
                <a:spcPts val="850"/>
              </a:spcBef>
              <a:tabLst>
                <a:tab pos="3176905" algn="l"/>
              </a:tabLst>
            </a:pPr>
            <a:r>
              <a:rPr sz="1800" spc="-15" dirty="0">
                <a:solidFill>
                  <a:srgbClr val="003399"/>
                </a:solidFill>
                <a:latin typeface="Calibri"/>
                <a:cs typeface="Calibri"/>
              </a:rPr>
              <a:t>first</a:t>
            </a:r>
            <a:r>
              <a:rPr sz="180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03399"/>
                </a:solidFill>
                <a:latin typeface="Calibri"/>
                <a:cs typeface="Calibri"/>
              </a:rPr>
              <a:t>half </a:t>
            </a:r>
            <a:r>
              <a:rPr sz="1800" spc="-10" dirty="0">
                <a:solidFill>
                  <a:srgbClr val="003399"/>
                </a:solidFill>
                <a:latin typeface="Calibri"/>
                <a:cs typeface="Calibri"/>
              </a:rPr>
              <a:t>exhausted	</a:t>
            </a:r>
            <a:r>
              <a:rPr sz="1800" dirty="0">
                <a:latin typeface="Calibri"/>
                <a:cs typeface="Calibri"/>
              </a:rPr>
              <a:t>i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48855" y="3984116"/>
            <a:ext cx="13055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two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sorted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halves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219200" y="4913312"/>
            <a:ext cx="5492750" cy="427355"/>
            <a:chOff x="1219200" y="4913312"/>
            <a:chExt cx="5492750" cy="427355"/>
          </a:xfrm>
        </p:grpSpPr>
        <p:sp>
          <p:nvSpPr>
            <p:cNvPr id="10" name="object 10"/>
            <p:cNvSpPr/>
            <p:nvPr/>
          </p:nvSpPr>
          <p:spPr>
            <a:xfrm>
              <a:off x="21336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908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48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48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05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05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192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76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962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962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8768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34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791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91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48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248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196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4196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219200" y="4919662"/>
            <a:ext cx="5486400" cy="41465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440"/>
              </a:spcBef>
              <a:tabLst>
                <a:tab pos="626745" algn="l"/>
                <a:tab pos="1083945" algn="l"/>
                <a:tab pos="1483995" algn="l"/>
                <a:tab pos="1941195" algn="l"/>
                <a:tab pos="2398395" algn="l"/>
                <a:tab pos="2855595" algn="l"/>
                <a:tab pos="3312795" algn="l"/>
                <a:tab pos="3769995" algn="l"/>
                <a:tab pos="4227195" algn="l"/>
              </a:tabLst>
            </a:pPr>
            <a:r>
              <a:rPr sz="1800" dirty="0">
                <a:latin typeface="Calibri"/>
                <a:cs typeface="Calibri"/>
              </a:rPr>
              <a:t>2	3	7	</a:t>
            </a:r>
            <a:r>
              <a:rPr sz="1800" spc="-5" dirty="0">
                <a:latin typeface="Calibri"/>
                <a:cs typeface="Calibri"/>
              </a:rPr>
              <a:t>10	11	14	16	17	18	19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441438" y="4989321"/>
            <a:ext cx="10445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auxiliary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array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819525" y="3609975"/>
            <a:ext cx="50800" cy="209550"/>
          </a:xfrm>
          <a:custGeom>
            <a:avLst/>
            <a:gdLst/>
            <a:ahLst/>
            <a:cxnLst/>
            <a:rect l="l" t="t" r="r" b="b"/>
            <a:pathLst>
              <a:path w="50800" h="209550">
                <a:moveTo>
                  <a:pt x="19050" y="158750"/>
                </a:moveTo>
                <a:lnTo>
                  <a:pt x="0" y="158750"/>
                </a:lnTo>
                <a:lnTo>
                  <a:pt x="25400" y="209550"/>
                </a:lnTo>
                <a:lnTo>
                  <a:pt x="44450" y="171450"/>
                </a:lnTo>
                <a:lnTo>
                  <a:pt x="19050" y="171450"/>
                </a:lnTo>
                <a:lnTo>
                  <a:pt x="19050" y="158750"/>
                </a:lnTo>
                <a:close/>
              </a:path>
              <a:path w="50800" h="209550">
                <a:moveTo>
                  <a:pt x="31750" y="0"/>
                </a:moveTo>
                <a:lnTo>
                  <a:pt x="19050" y="0"/>
                </a:lnTo>
                <a:lnTo>
                  <a:pt x="19050" y="171450"/>
                </a:lnTo>
                <a:lnTo>
                  <a:pt x="31750" y="171450"/>
                </a:lnTo>
                <a:lnTo>
                  <a:pt x="31750" y="0"/>
                </a:lnTo>
                <a:close/>
              </a:path>
              <a:path w="50800" h="209550">
                <a:moveTo>
                  <a:pt x="50800" y="158750"/>
                </a:moveTo>
                <a:lnTo>
                  <a:pt x="31750" y="158750"/>
                </a:lnTo>
                <a:lnTo>
                  <a:pt x="31750" y="171450"/>
                </a:lnTo>
                <a:lnTo>
                  <a:pt x="44450" y="171450"/>
                </a:lnTo>
                <a:lnTo>
                  <a:pt x="50800" y="158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214998" y="3609975"/>
            <a:ext cx="50800" cy="209550"/>
          </a:xfrm>
          <a:custGeom>
            <a:avLst/>
            <a:gdLst/>
            <a:ahLst/>
            <a:cxnLst/>
            <a:rect l="l" t="t" r="r" b="b"/>
            <a:pathLst>
              <a:path w="50800" h="209550">
                <a:moveTo>
                  <a:pt x="19050" y="158750"/>
                </a:moveTo>
                <a:lnTo>
                  <a:pt x="0" y="158750"/>
                </a:lnTo>
                <a:lnTo>
                  <a:pt x="25400" y="209550"/>
                </a:lnTo>
                <a:lnTo>
                  <a:pt x="44450" y="171450"/>
                </a:lnTo>
                <a:lnTo>
                  <a:pt x="19050" y="171450"/>
                </a:lnTo>
                <a:lnTo>
                  <a:pt x="19050" y="158750"/>
                </a:lnTo>
                <a:close/>
              </a:path>
              <a:path w="50800" h="209550">
                <a:moveTo>
                  <a:pt x="31750" y="0"/>
                </a:moveTo>
                <a:lnTo>
                  <a:pt x="19050" y="0"/>
                </a:lnTo>
                <a:lnTo>
                  <a:pt x="19050" y="171450"/>
                </a:lnTo>
                <a:lnTo>
                  <a:pt x="31750" y="171450"/>
                </a:lnTo>
                <a:lnTo>
                  <a:pt x="31750" y="0"/>
                </a:lnTo>
                <a:close/>
              </a:path>
              <a:path w="50800" h="209550">
                <a:moveTo>
                  <a:pt x="50800" y="158750"/>
                </a:moveTo>
                <a:lnTo>
                  <a:pt x="31750" y="158750"/>
                </a:lnTo>
                <a:lnTo>
                  <a:pt x="31750" y="171450"/>
                </a:lnTo>
                <a:lnTo>
                  <a:pt x="44450" y="171450"/>
                </a:lnTo>
                <a:lnTo>
                  <a:pt x="50800" y="158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3752850" y="5838825"/>
            <a:ext cx="3346450" cy="466725"/>
          </a:xfrm>
          <a:prstGeom prst="rect">
            <a:avLst/>
          </a:prstGeom>
          <a:solidFill>
            <a:srgbClr val="C0504D"/>
          </a:solidFill>
        </p:spPr>
        <p:txBody>
          <a:bodyPr vert="horz" wrap="square" lIns="0" tIns="774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610"/>
              </a:spcBef>
            </a:pPr>
            <a:r>
              <a:rPr sz="1800" spc="-35" dirty="0">
                <a:latin typeface="Calibri"/>
                <a:cs typeface="Calibri"/>
              </a:rPr>
              <a:t>Total:</a:t>
            </a:r>
            <a:r>
              <a:rPr sz="1800" spc="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6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 +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31</a:t>
            </a:fld>
            <a:endParaRPr dirty="0"/>
          </a:p>
        </p:txBody>
      </p: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2533269" y="95757"/>
            <a:ext cx="40767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Counting</a:t>
            </a:r>
            <a:r>
              <a:rPr spc="-65" dirty="0"/>
              <a:t> </a:t>
            </a:r>
            <a:r>
              <a:rPr spc="-25" dirty="0"/>
              <a:t>Inversions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90600" y="3929062"/>
          <a:ext cx="5941056" cy="6905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6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79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64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973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212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711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0096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656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1433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434"/>
                        </a:spcBef>
                        <a:tabLst>
                          <a:tab pos="56959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	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marL="1714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2362200" y="3929062"/>
            <a:ext cx="1371600" cy="414655"/>
          </a:xfrm>
          <a:custGeom>
            <a:avLst/>
            <a:gdLst/>
            <a:ahLst/>
            <a:cxnLst/>
            <a:rect l="l" t="t" r="r" b="b"/>
            <a:pathLst>
              <a:path w="13716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  <a:path w="1371600" h="414654">
                <a:moveTo>
                  <a:pt x="457200" y="414337"/>
                </a:moveTo>
                <a:lnTo>
                  <a:pt x="914400" y="414337"/>
                </a:lnTo>
                <a:lnTo>
                  <a:pt x="914400" y="0"/>
                </a:lnTo>
                <a:lnTo>
                  <a:pt x="457200" y="0"/>
                </a:lnTo>
                <a:lnTo>
                  <a:pt x="457200" y="414337"/>
                </a:lnTo>
                <a:close/>
              </a:path>
              <a:path w="1371600" h="414654">
                <a:moveTo>
                  <a:pt x="914400" y="414337"/>
                </a:moveTo>
                <a:lnTo>
                  <a:pt x="1371600" y="414337"/>
                </a:lnTo>
                <a:lnTo>
                  <a:pt x="1371600" y="0"/>
                </a:lnTo>
                <a:lnTo>
                  <a:pt x="914400" y="0"/>
                </a:lnTo>
                <a:lnTo>
                  <a:pt x="91440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47800" y="39290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62600" y="3929062"/>
            <a:ext cx="1371600" cy="414655"/>
          </a:xfrm>
          <a:custGeom>
            <a:avLst/>
            <a:gdLst/>
            <a:ahLst/>
            <a:cxnLst/>
            <a:rect l="l" t="t" r="r" b="b"/>
            <a:pathLst>
              <a:path w="13716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  <a:path w="1371600" h="414654">
                <a:moveTo>
                  <a:pt x="457200" y="414337"/>
                </a:moveTo>
                <a:lnTo>
                  <a:pt x="914400" y="414337"/>
                </a:lnTo>
                <a:lnTo>
                  <a:pt x="914400" y="0"/>
                </a:lnTo>
                <a:lnTo>
                  <a:pt x="457200" y="0"/>
                </a:lnTo>
                <a:lnTo>
                  <a:pt x="457200" y="414337"/>
                </a:lnTo>
                <a:close/>
              </a:path>
              <a:path w="1371600" h="414654">
                <a:moveTo>
                  <a:pt x="914400" y="414337"/>
                </a:moveTo>
                <a:lnTo>
                  <a:pt x="1371600" y="414337"/>
                </a:lnTo>
                <a:lnTo>
                  <a:pt x="1371600" y="0"/>
                </a:lnTo>
                <a:lnTo>
                  <a:pt x="914400" y="0"/>
                </a:lnTo>
                <a:lnTo>
                  <a:pt x="91440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48200" y="39290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10540" y="1202173"/>
            <a:ext cx="7771765" cy="237426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80365" algn="l"/>
                <a:tab pos="381000" algn="l"/>
              </a:tabLst>
            </a:pPr>
            <a:r>
              <a:rPr sz="3200" spc="-15" dirty="0">
                <a:latin typeface="Calibri"/>
                <a:cs typeface="Calibri"/>
              </a:rPr>
              <a:t>Merge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count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step.</a:t>
            </a:r>
            <a:endParaRPr sz="3200">
              <a:latin typeface="Calibri"/>
              <a:cs typeface="Calibri"/>
            </a:endParaRPr>
          </a:p>
          <a:p>
            <a:pPr marL="781685" marR="30480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82320" algn="l"/>
              </a:tabLst>
            </a:pPr>
            <a:r>
              <a:rPr sz="2800" spc="-10" dirty="0">
                <a:latin typeface="Calibri"/>
                <a:cs typeface="Calibri"/>
              </a:rPr>
              <a:t>Given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halves,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count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of </a:t>
            </a:r>
            <a:r>
              <a:rPr sz="2800" spc="-5" dirty="0">
                <a:latin typeface="Calibri"/>
                <a:cs typeface="Calibri"/>
              </a:rPr>
              <a:t> i</a:t>
            </a:r>
            <a:r>
              <a:rPr sz="2800" spc="-65" dirty="0">
                <a:latin typeface="Calibri"/>
                <a:cs typeface="Calibri"/>
              </a:rPr>
              <a:t>n</a:t>
            </a:r>
            <a:r>
              <a:rPr sz="2800" spc="-35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r</a:t>
            </a:r>
            <a:r>
              <a:rPr sz="2800" spc="-10" dirty="0">
                <a:latin typeface="Calibri"/>
                <a:cs typeface="Calibri"/>
              </a:rPr>
              <a:t>sio</a:t>
            </a:r>
            <a:r>
              <a:rPr sz="2800" spc="-1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whe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1950" spc="7" baseline="-21367" dirty="0">
                <a:latin typeface="Calibri"/>
                <a:cs typeface="Calibri"/>
              </a:rPr>
              <a:t>i</a:t>
            </a:r>
            <a:r>
              <a:rPr sz="1950" baseline="-21367" dirty="0">
                <a:latin typeface="Calibri"/>
                <a:cs typeface="Calibri"/>
              </a:rPr>
              <a:t> </a:t>
            </a:r>
            <a:r>
              <a:rPr sz="1950" spc="44" baseline="-21367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1950" spc="7" baseline="-21367" dirty="0">
                <a:latin typeface="Calibri"/>
                <a:cs typeface="Calibri"/>
              </a:rPr>
              <a:t>j</a:t>
            </a:r>
            <a:r>
              <a:rPr sz="1950" baseline="-21367" dirty="0">
                <a:latin typeface="Calibri"/>
                <a:cs typeface="Calibri"/>
              </a:rPr>
              <a:t> </a:t>
            </a:r>
            <a:r>
              <a:rPr sz="1950" spc="60" baseline="-21367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</a:t>
            </a:r>
            <a:r>
              <a:rPr sz="2800" spc="-20" dirty="0">
                <a:latin typeface="Calibri"/>
                <a:cs typeface="Calibri"/>
              </a:rPr>
              <a:t>i</a:t>
            </a:r>
            <a:r>
              <a:rPr sz="2800" spc="-35" dirty="0">
                <a:latin typeface="Calibri"/>
                <a:cs typeface="Calibri"/>
              </a:rPr>
              <a:t>f</a:t>
            </a:r>
            <a:r>
              <a:rPr sz="2800" spc="-80" dirty="0">
                <a:latin typeface="Calibri"/>
                <a:cs typeface="Calibri"/>
              </a:rPr>
              <a:t>f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3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hal</a:t>
            </a:r>
            <a:r>
              <a:rPr sz="2800" spc="-40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es.</a:t>
            </a:r>
            <a:endParaRPr sz="2800">
              <a:latin typeface="Calibri"/>
              <a:cs typeface="Calibri"/>
            </a:endParaRPr>
          </a:p>
          <a:p>
            <a:pPr marL="7816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82320" algn="l"/>
              </a:tabLst>
            </a:pPr>
            <a:r>
              <a:rPr sz="2800" spc="-10" dirty="0">
                <a:latin typeface="Calibri"/>
                <a:cs typeface="Calibri"/>
              </a:rPr>
              <a:t>Combine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halves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whole.</a:t>
            </a:r>
            <a:endParaRPr sz="2800">
              <a:latin typeface="Calibri"/>
              <a:cs typeface="Calibri"/>
            </a:endParaRPr>
          </a:p>
          <a:p>
            <a:pPr marR="1049020" algn="ctr">
              <a:lnSpc>
                <a:spcPct val="100000"/>
              </a:lnSpc>
              <a:spcBef>
                <a:spcPts val="250"/>
              </a:spcBef>
            </a:pPr>
            <a:r>
              <a:rPr sz="1800" dirty="0">
                <a:latin typeface="Calibri"/>
                <a:cs typeface="Calibri"/>
              </a:rPr>
              <a:t>i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48855" y="3984116"/>
            <a:ext cx="13055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two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sorted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halves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219200" y="4913312"/>
            <a:ext cx="5492750" cy="427355"/>
            <a:chOff x="1219200" y="4913312"/>
            <a:chExt cx="5492750" cy="427355"/>
          </a:xfrm>
        </p:grpSpPr>
        <p:sp>
          <p:nvSpPr>
            <p:cNvPr id="10" name="object 10"/>
            <p:cNvSpPr/>
            <p:nvPr/>
          </p:nvSpPr>
          <p:spPr>
            <a:xfrm>
              <a:off x="21336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908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48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48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05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05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192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76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962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962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8768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34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791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91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48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248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196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4196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219200" y="4919662"/>
            <a:ext cx="5486400" cy="41465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440"/>
              </a:spcBef>
              <a:tabLst>
                <a:tab pos="626745" algn="l"/>
                <a:tab pos="1083945" algn="l"/>
                <a:tab pos="1483995" algn="l"/>
                <a:tab pos="1941195" algn="l"/>
                <a:tab pos="2398395" algn="l"/>
                <a:tab pos="2855595" algn="l"/>
                <a:tab pos="3312795" algn="l"/>
                <a:tab pos="3769995" algn="l"/>
                <a:tab pos="4227195" algn="l"/>
                <a:tab pos="4684395" algn="l"/>
              </a:tabLst>
            </a:pPr>
            <a:r>
              <a:rPr sz="1800" dirty="0">
                <a:latin typeface="Calibri"/>
                <a:cs typeface="Calibri"/>
              </a:rPr>
              <a:t>2	3	7	</a:t>
            </a:r>
            <a:r>
              <a:rPr sz="1800" spc="-5" dirty="0">
                <a:latin typeface="Calibri"/>
                <a:cs typeface="Calibri"/>
              </a:rPr>
              <a:t>10	11	14	16	17	18	19	23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441438" y="4989321"/>
            <a:ext cx="10445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auxiliary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array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819525" y="3609975"/>
            <a:ext cx="50800" cy="209550"/>
          </a:xfrm>
          <a:custGeom>
            <a:avLst/>
            <a:gdLst/>
            <a:ahLst/>
            <a:cxnLst/>
            <a:rect l="l" t="t" r="r" b="b"/>
            <a:pathLst>
              <a:path w="50800" h="209550">
                <a:moveTo>
                  <a:pt x="19050" y="158750"/>
                </a:moveTo>
                <a:lnTo>
                  <a:pt x="0" y="158750"/>
                </a:lnTo>
                <a:lnTo>
                  <a:pt x="25400" y="209550"/>
                </a:lnTo>
                <a:lnTo>
                  <a:pt x="44450" y="171450"/>
                </a:lnTo>
                <a:lnTo>
                  <a:pt x="19050" y="171450"/>
                </a:lnTo>
                <a:lnTo>
                  <a:pt x="19050" y="158750"/>
                </a:lnTo>
                <a:close/>
              </a:path>
              <a:path w="50800" h="209550">
                <a:moveTo>
                  <a:pt x="31750" y="0"/>
                </a:moveTo>
                <a:lnTo>
                  <a:pt x="19050" y="0"/>
                </a:lnTo>
                <a:lnTo>
                  <a:pt x="19050" y="171450"/>
                </a:lnTo>
                <a:lnTo>
                  <a:pt x="31750" y="171450"/>
                </a:lnTo>
                <a:lnTo>
                  <a:pt x="31750" y="0"/>
                </a:lnTo>
                <a:close/>
              </a:path>
              <a:path w="50800" h="209550">
                <a:moveTo>
                  <a:pt x="50800" y="158750"/>
                </a:moveTo>
                <a:lnTo>
                  <a:pt x="31750" y="158750"/>
                </a:lnTo>
                <a:lnTo>
                  <a:pt x="31750" y="171450"/>
                </a:lnTo>
                <a:lnTo>
                  <a:pt x="44450" y="171450"/>
                </a:lnTo>
                <a:lnTo>
                  <a:pt x="50800" y="158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214998" y="3609975"/>
            <a:ext cx="50800" cy="209550"/>
          </a:xfrm>
          <a:custGeom>
            <a:avLst/>
            <a:gdLst/>
            <a:ahLst/>
            <a:cxnLst/>
            <a:rect l="l" t="t" r="r" b="b"/>
            <a:pathLst>
              <a:path w="50800" h="209550">
                <a:moveTo>
                  <a:pt x="19050" y="158750"/>
                </a:moveTo>
                <a:lnTo>
                  <a:pt x="0" y="158750"/>
                </a:lnTo>
                <a:lnTo>
                  <a:pt x="25400" y="209550"/>
                </a:lnTo>
                <a:lnTo>
                  <a:pt x="44450" y="171450"/>
                </a:lnTo>
                <a:lnTo>
                  <a:pt x="19050" y="171450"/>
                </a:lnTo>
                <a:lnTo>
                  <a:pt x="19050" y="158750"/>
                </a:lnTo>
                <a:close/>
              </a:path>
              <a:path w="50800" h="209550">
                <a:moveTo>
                  <a:pt x="31750" y="0"/>
                </a:moveTo>
                <a:lnTo>
                  <a:pt x="19050" y="0"/>
                </a:lnTo>
                <a:lnTo>
                  <a:pt x="19050" y="171450"/>
                </a:lnTo>
                <a:lnTo>
                  <a:pt x="31750" y="171450"/>
                </a:lnTo>
                <a:lnTo>
                  <a:pt x="31750" y="0"/>
                </a:lnTo>
                <a:close/>
              </a:path>
              <a:path w="50800" h="209550">
                <a:moveTo>
                  <a:pt x="50800" y="158750"/>
                </a:moveTo>
                <a:lnTo>
                  <a:pt x="31750" y="158750"/>
                </a:lnTo>
                <a:lnTo>
                  <a:pt x="31750" y="171450"/>
                </a:lnTo>
                <a:lnTo>
                  <a:pt x="44450" y="171450"/>
                </a:lnTo>
                <a:lnTo>
                  <a:pt x="50800" y="158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3752850" y="5838825"/>
            <a:ext cx="3346450" cy="466725"/>
          </a:xfrm>
          <a:prstGeom prst="rect">
            <a:avLst/>
          </a:prstGeom>
          <a:solidFill>
            <a:srgbClr val="C0504D"/>
          </a:solidFill>
        </p:spPr>
        <p:txBody>
          <a:bodyPr vert="horz" wrap="square" lIns="0" tIns="774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610"/>
              </a:spcBef>
            </a:pPr>
            <a:r>
              <a:rPr sz="1800" spc="-35" dirty="0">
                <a:latin typeface="Calibri"/>
                <a:cs typeface="Calibri"/>
              </a:rPr>
              <a:t>Total: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6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 +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32</a:t>
            </a:fld>
            <a:endParaRPr dirty="0"/>
          </a:p>
        </p:txBody>
      </p: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2533269" y="95757"/>
            <a:ext cx="40767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Counting</a:t>
            </a:r>
            <a:r>
              <a:rPr spc="-65" dirty="0"/>
              <a:t> </a:t>
            </a:r>
            <a:r>
              <a:rPr spc="-25" dirty="0"/>
              <a:t>Inversions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90600" y="3929062"/>
          <a:ext cx="5942962" cy="8816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6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79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64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30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7177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1239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1433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434"/>
                        </a:spcBef>
                        <a:tabLst>
                          <a:tab pos="56959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	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marR="64769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7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2362200" y="3929062"/>
            <a:ext cx="1371600" cy="414655"/>
          </a:xfrm>
          <a:custGeom>
            <a:avLst/>
            <a:gdLst/>
            <a:ahLst/>
            <a:cxnLst/>
            <a:rect l="l" t="t" r="r" b="b"/>
            <a:pathLst>
              <a:path w="13716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  <a:path w="1371600" h="414654">
                <a:moveTo>
                  <a:pt x="457200" y="414337"/>
                </a:moveTo>
                <a:lnTo>
                  <a:pt x="914400" y="414337"/>
                </a:lnTo>
                <a:lnTo>
                  <a:pt x="914400" y="0"/>
                </a:lnTo>
                <a:lnTo>
                  <a:pt x="457200" y="0"/>
                </a:lnTo>
                <a:lnTo>
                  <a:pt x="457200" y="414337"/>
                </a:lnTo>
                <a:close/>
              </a:path>
              <a:path w="1371600" h="414654">
                <a:moveTo>
                  <a:pt x="914400" y="414337"/>
                </a:moveTo>
                <a:lnTo>
                  <a:pt x="1371600" y="414337"/>
                </a:lnTo>
                <a:lnTo>
                  <a:pt x="1371600" y="0"/>
                </a:lnTo>
                <a:lnTo>
                  <a:pt x="914400" y="0"/>
                </a:lnTo>
                <a:lnTo>
                  <a:pt x="91440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47800" y="39290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62600" y="3929062"/>
            <a:ext cx="1371600" cy="414655"/>
          </a:xfrm>
          <a:custGeom>
            <a:avLst/>
            <a:gdLst/>
            <a:ahLst/>
            <a:cxnLst/>
            <a:rect l="l" t="t" r="r" b="b"/>
            <a:pathLst>
              <a:path w="13716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  <a:path w="1371600" h="414654">
                <a:moveTo>
                  <a:pt x="457200" y="414337"/>
                </a:moveTo>
                <a:lnTo>
                  <a:pt x="914400" y="414337"/>
                </a:lnTo>
                <a:lnTo>
                  <a:pt x="914400" y="0"/>
                </a:lnTo>
                <a:lnTo>
                  <a:pt x="457200" y="0"/>
                </a:lnTo>
                <a:lnTo>
                  <a:pt x="457200" y="414337"/>
                </a:lnTo>
                <a:close/>
              </a:path>
              <a:path w="1371600" h="414654">
                <a:moveTo>
                  <a:pt x="914400" y="414337"/>
                </a:moveTo>
                <a:lnTo>
                  <a:pt x="1371600" y="414337"/>
                </a:lnTo>
                <a:lnTo>
                  <a:pt x="1371600" y="0"/>
                </a:lnTo>
                <a:lnTo>
                  <a:pt x="914400" y="0"/>
                </a:lnTo>
                <a:lnTo>
                  <a:pt x="91440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48200" y="39290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10540" y="1202173"/>
            <a:ext cx="7771765" cy="237426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80365" algn="l"/>
                <a:tab pos="381000" algn="l"/>
              </a:tabLst>
            </a:pPr>
            <a:r>
              <a:rPr sz="3200" spc="-15" dirty="0">
                <a:latin typeface="Calibri"/>
                <a:cs typeface="Calibri"/>
              </a:rPr>
              <a:t>Merge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count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step.</a:t>
            </a:r>
            <a:endParaRPr sz="3200">
              <a:latin typeface="Calibri"/>
              <a:cs typeface="Calibri"/>
            </a:endParaRPr>
          </a:p>
          <a:p>
            <a:pPr marL="781685" marR="30480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82320" algn="l"/>
              </a:tabLst>
            </a:pPr>
            <a:r>
              <a:rPr sz="2800" spc="-10" dirty="0">
                <a:latin typeface="Calibri"/>
                <a:cs typeface="Calibri"/>
              </a:rPr>
              <a:t>Given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halves,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count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of </a:t>
            </a:r>
            <a:r>
              <a:rPr sz="2800" spc="-5" dirty="0">
                <a:latin typeface="Calibri"/>
                <a:cs typeface="Calibri"/>
              </a:rPr>
              <a:t> i</a:t>
            </a:r>
            <a:r>
              <a:rPr sz="2800" spc="-65" dirty="0">
                <a:latin typeface="Calibri"/>
                <a:cs typeface="Calibri"/>
              </a:rPr>
              <a:t>n</a:t>
            </a:r>
            <a:r>
              <a:rPr sz="2800" spc="-35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r</a:t>
            </a:r>
            <a:r>
              <a:rPr sz="2800" spc="-10" dirty="0">
                <a:latin typeface="Calibri"/>
                <a:cs typeface="Calibri"/>
              </a:rPr>
              <a:t>sio</a:t>
            </a:r>
            <a:r>
              <a:rPr sz="2800" spc="-1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whe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1950" spc="7" baseline="-21367" dirty="0">
                <a:latin typeface="Calibri"/>
                <a:cs typeface="Calibri"/>
              </a:rPr>
              <a:t>i</a:t>
            </a:r>
            <a:r>
              <a:rPr sz="1950" baseline="-21367" dirty="0">
                <a:latin typeface="Calibri"/>
                <a:cs typeface="Calibri"/>
              </a:rPr>
              <a:t> </a:t>
            </a:r>
            <a:r>
              <a:rPr sz="1950" spc="44" baseline="-21367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1950" spc="7" baseline="-21367" dirty="0">
                <a:latin typeface="Calibri"/>
                <a:cs typeface="Calibri"/>
              </a:rPr>
              <a:t>j</a:t>
            </a:r>
            <a:r>
              <a:rPr sz="1950" baseline="-21367" dirty="0">
                <a:latin typeface="Calibri"/>
                <a:cs typeface="Calibri"/>
              </a:rPr>
              <a:t> </a:t>
            </a:r>
            <a:r>
              <a:rPr sz="1950" spc="60" baseline="-21367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</a:t>
            </a:r>
            <a:r>
              <a:rPr sz="2800" spc="-20" dirty="0">
                <a:latin typeface="Calibri"/>
                <a:cs typeface="Calibri"/>
              </a:rPr>
              <a:t>i</a:t>
            </a:r>
            <a:r>
              <a:rPr sz="2800" spc="-35" dirty="0">
                <a:latin typeface="Calibri"/>
                <a:cs typeface="Calibri"/>
              </a:rPr>
              <a:t>f</a:t>
            </a:r>
            <a:r>
              <a:rPr sz="2800" spc="-80" dirty="0">
                <a:latin typeface="Calibri"/>
                <a:cs typeface="Calibri"/>
              </a:rPr>
              <a:t>f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3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hal</a:t>
            </a:r>
            <a:r>
              <a:rPr sz="2800" spc="-40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es.</a:t>
            </a:r>
            <a:endParaRPr sz="2800">
              <a:latin typeface="Calibri"/>
              <a:cs typeface="Calibri"/>
            </a:endParaRPr>
          </a:p>
          <a:p>
            <a:pPr marL="7816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82320" algn="l"/>
              </a:tabLst>
            </a:pPr>
            <a:r>
              <a:rPr sz="2800" spc="-10" dirty="0">
                <a:latin typeface="Calibri"/>
                <a:cs typeface="Calibri"/>
              </a:rPr>
              <a:t>Combine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halves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whole.</a:t>
            </a:r>
            <a:endParaRPr sz="2800">
              <a:latin typeface="Calibri"/>
              <a:cs typeface="Calibri"/>
            </a:endParaRPr>
          </a:p>
          <a:p>
            <a:pPr marR="1049020" algn="ctr">
              <a:lnSpc>
                <a:spcPct val="100000"/>
              </a:lnSpc>
              <a:spcBef>
                <a:spcPts val="250"/>
              </a:spcBef>
            </a:pPr>
            <a:r>
              <a:rPr sz="1800" dirty="0">
                <a:latin typeface="Calibri"/>
                <a:cs typeface="Calibri"/>
              </a:rPr>
              <a:t>i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48855" y="3984116"/>
            <a:ext cx="13055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two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sorted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halves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219200" y="4913312"/>
            <a:ext cx="5492750" cy="427355"/>
            <a:chOff x="1219200" y="4913312"/>
            <a:chExt cx="5492750" cy="427355"/>
          </a:xfrm>
        </p:grpSpPr>
        <p:sp>
          <p:nvSpPr>
            <p:cNvPr id="10" name="object 10"/>
            <p:cNvSpPr/>
            <p:nvPr/>
          </p:nvSpPr>
          <p:spPr>
            <a:xfrm>
              <a:off x="21336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908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48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48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05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05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192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76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962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962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8768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34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791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91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48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248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196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4196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219200" y="4919662"/>
            <a:ext cx="5486400" cy="41465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440"/>
              </a:spcBef>
              <a:tabLst>
                <a:tab pos="626745" algn="l"/>
                <a:tab pos="1083945" algn="l"/>
                <a:tab pos="1483995" algn="l"/>
                <a:tab pos="1941195" algn="l"/>
                <a:tab pos="2398395" algn="l"/>
                <a:tab pos="2855595" algn="l"/>
                <a:tab pos="3312795" algn="l"/>
                <a:tab pos="3769995" algn="l"/>
                <a:tab pos="4227195" algn="l"/>
                <a:tab pos="4684395" algn="l"/>
                <a:tab pos="5141595" algn="l"/>
              </a:tabLst>
            </a:pPr>
            <a:r>
              <a:rPr sz="1800" dirty="0">
                <a:latin typeface="Calibri"/>
                <a:cs typeface="Calibri"/>
              </a:rPr>
              <a:t>2	3	7	</a:t>
            </a:r>
            <a:r>
              <a:rPr sz="1800" spc="-5" dirty="0">
                <a:latin typeface="Calibri"/>
                <a:cs typeface="Calibri"/>
              </a:rPr>
              <a:t>10	11	14	16	17	18	19	23	25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441438" y="4989321"/>
            <a:ext cx="10445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auxiliary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array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819525" y="3609975"/>
            <a:ext cx="50800" cy="209550"/>
          </a:xfrm>
          <a:custGeom>
            <a:avLst/>
            <a:gdLst/>
            <a:ahLst/>
            <a:cxnLst/>
            <a:rect l="l" t="t" r="r" b="b"/>
            <a:pathLst>
              <a:path w="50800" h="209550">
                <a:moveTo>
                  <a:pt x="19050" y="158750"/>
                </a:moveTo>
                <a:lnTo>
                  <a:pt x="0" y="158750"/>
                </a:lnTo>
                <a:lnTo>
                  <a:pt x="25400" y="209550"/>
                </a:lnTo>
                <a:lnTo>
                  <a:pt x="44450" y="171450"/>
                </a:lnTo>
                <a:lnTo>
                  <a:pt x="19050" y="171450"/>
                </a:lnTo>
                <a:lnTo>
                  <a:pt x="19050" y="158750"/>
                </a:lnTo>
                <a:close/>
              </a:path>
              <a:path w="50800" h="209550">
                <a:moveTo>
                  <a:pt x="31750" y="0"/>
                </a:moveTo>
                <a:lnTo>
                  <a:pt x="19050" y="0"/>
                </a:lnTo>
                <a:lnTo>
                  <a:pt x="19050" y="171450"/>
                </a:lnTo>
                <a:lnTo>
                  <a:pt x="31750" y="171450"/>
                </a:lnTo>
                <a:lnTo>
                  <a:pt x="31750" y="0"/>
                </a:lnTo>
                <a:close/>
              </a:path>
              <a:path w="50800" h="209550">
                <a:moveTo>
                  <a:pt x="50800" y="158750"/>
                </a:moveTo>
                <a:lnTo>
                  <a:pt x="31750" y="158750"/>
                </a:lnTo>
                <a:lnTo>
                  <a:pt x="31750" y="171450"/>
                </a:lnTo>
                <a:lnTo>
                  <a:pt x="44450" y="171450"/>
                </a:lnTo>
                <a:lnTo>
                  <a:pt x="50800" y="158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662673" y="3609975"/>
            <a:ext cx="50800" cy="209550"/>
          </a:xfrm>
          <a:custGeom>
            <a:avLst/>
            <a:gdLst/>
            <a:ahLst/>
            <a:cxnLst/>
            <a:rect l="l" t="t" r="r" b="b"/>
            <a:pathLst>
              <a:path w="50800" h="209550">
                <a:moveTo>
                  <a:pt x="19050" y="158750"/>
                </a:moveTo>
                <a:lnTo>
                  <a:pt x="0" y="158750"/>
                </a:lnTo>
                <a:lnTo>
                  <a:pt x="25400" y="209550"/>
                </a:lnTo>
                <a:lnTo>
                  <a:pt x="44450" y="171450"/>
                </a:lnTo>
                <a:lnTo>
                  <a:pt x="19050" y="171450"/>
                </a:lnTo>
                <a:lnTo>
                  <a:pt x="19050" y="158750"/>
                </a:lnTo>
                <a:close/>
              </a:path>
              <a:path w="50800" h="209550">
                <a:moveTo>
                  <a:pt x="31750" y="0"/>
                </a:moveTo>
                <a:lnTo>
                  <a:pt x="19050" y="0"/>
                </a:lnTo>
                <a:lnTo>
                  <a:pt x="19050" y="171450"/>
                </a:lnTo>
                <a:lnTo>
                  <a:pt x="31750" y="171450"/>
                </a:lnTo>
                <a:lnTo>
                  <a:pt x="31750" y="0"/>
                </a:lnTo>
                <a:close/>
              </a:path>
              <a:path w="50800" h="209550">
                <a:moveTo>
                  <a:pt x="50800" y="158750"/>
                </a:moveTo>
                <a:lnTo>
                  <a:pt x="31750" y="158750"/>
                </a:lnTo>
                <a:lnTo>
                  <a:pt x="31750" y="171450"/>
                </a:lnTo>
                <a:lnTo>
                  <a:pt x="44450" y="171450"/>
                </a:lnTo>
                <a:lnTo>
                  <a:pt x="50800" y="158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3752850" y="5838825"/>
            <a:ext cx="3346450" cy="466725"/>
          </a:xfrm>
          <a:prstGeom prst="rect">
            <a:avLst/>
          </a:prstGeom>
          <a:solidFill>
            <a:srgbClr val="C0504D"/>
          </a:solidFill>
        </p:spPr>
        <p:txBody>
          <a:bodyPr vert="horz" wrap="square" lIns="0" tIns="774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610"/>
              </a:spcBef>
            </a:pPr>
            <a:r>
              <a:rPr sz="1800" spc="-35" dirty="0">
                <a:latin typeface="Calibri"/>
                <a:cs typeface="Calibri"/>
              </a:rPr>
              <a:t>Total: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6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+ 0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33</a:t>
            </a:fld>
            <a:endParaRPr dirty="0"/>
          </a:p>
        </p:txBody>
      </p: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2533269" y="95757"/>
            <a:ext cx="40767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Counting</a:t>
            </a:r>
            <a:r>
              <a:rPr spc="-65" dirty="0"/>
              <a:t> </a:t>
            </a:r>
            <a:r>
              <a:rPr spc="-25" dirty="0"/>
              <a:t>Inversions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90600" y="3929062"/>
          <a:ext cx="5942963" cy="6920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6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79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64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1433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  <a:spcBef>
                          <a:spcPts val="434"/>
                        </a:spcBef>
                        <a:tabLst>
                          <a:tab pos="56959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	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11239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5244" marB="0">
                    <a:solidFill>
                      <a:srgbClr val="9389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7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30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solidFill>
                      <a:srgbClr val="938953"/>
                    </a:solidFill>
                  </a:tcPr>
                </a:tc>
                <a:tc>
                  <a:txBody>
                    <a:bodyPr/>
                    <a:lstStyle/>
                    <a:p>
                      <a:pPr marR="3048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8890" marB="0">
                    <a:solidFill>
                      <a:srgbClr val="9389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2362200" y="3929062"/>
            <a:ext cx="1371600" cy="414655"/>
          </a:xfrm>
          <a:custGeom>
            <a:avLst/>
            <a:gdLst/>
            <a:ahLst/>
            <a:cxnLst/>
            <a:rect l="l" t="t" r="r" b="b"/>
            <a:pathLst>
              <a:path w="13716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  <a:path w="1371600" h="414654">
                <a:moveTo>
                  <a:pt x="457200" y="414337"/>
                </a:moveTo>
                <a:lnTo>
                  <a:pt x="914400" y="414337"/>
                </a:lnTo>
                <a:lnTo>
                  <a:pt x="914400" y="0"/>
                </a:lnTo>
                <a:lnTo>
                  <a:pt x="457200" y="0"/>
                </a:lnTo>
                <a:lnTo>
                  <a:pt x="457200" y="414337"/>
                </a:lnTo>
                <a:close/>
              </a:path>
              <a:path w="1371600" h="414654">
                <a:moveTo>
                  <a:pt x="914400" y="414337"/>
                </a:moveTo>
                <a:lnTo>
                  <a:pt x="1371600" y="414337"/>
                </a:lnTo>
                <a:lnTo>
                  <a:pt x="1371600" y="0"/>
                </a:lnTo>
                <a:lnTo>
                  <a:pt x="914400" y="0"/>
                </a:lnTo>
                <a:lnTo>
                  <a:pt x="91440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447800" y="39290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62600" y="3929062"/>
            <a:ext cx="1371600" cy="414655"/>
          </a:xfrm>
          <a:custGeom>
            <a:avLst/>
            <a:gdLst/>
            <a:ahLst/>
            <a:cxnLst/>
            <a:rect l="l" t="t" r="r" b="b"/>
            <a:pathLst>
              <a:path w="13716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  <a:path w="1371600" h="414654">
                <a:moveTo>
                  <a:pt x="457200" y="414337"/>
                </a:moveTo>
                <a:lnTo>
                  <a:pt x="914400" y="414337"/>
                </a:lnTo>
                <a:lnTo>
                  <a:pt x="914400" y="0"/>
                </a:lnTo>
                <a:lnTo>
                  <a:pt x="457200" y="0"/>
                </a:lnTo>
                <a:lnTo>
                  <a:pt x="457200" y="414337"/>
                </a:lnTo>
                <a:close/>
              </a:path>
              <a:path w="1371600" h="414654">
                <a:moveTo>
                  <a:pt x="914400" y="414337"/>
                </a:moveTo>
                <a:lnTo>
                  <a:pt x="1371600" y="414337"/>
                </a:lnTo>
                <a:lnTo>
                  <a:pt x="1371600" y="0"/>
                </a:lnTo>
                <a:lnTo>
                  <a:pt x="914400" y="0"/>
                </a:lnTo>
                <a:lnTo>
                  <a:pt x="91440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48200" y="3929062"/>
            <a:ext cx="457200" cy="414655"/>
          </a:xfrm>
          <a:custGeom>
            <a:avLst/>
            <a:gdLst/>
            <a:ahLst/>
            <a:cxnLst/>
            <a:rect l="l" t="t" r="r" b="b"/>
            <a:pathLst>
              <a:path w="457200" h="414654">
                <a:moveTo>
                  <a:pt x="0" y="414337"/>
                </a:moveTo>
                <a:lnTo>
                  <a:pt x="457200" y="414337"/>
                </a:lnTo>
                <a:lnTo>
                  <a:pt x="457200" y="0"/>
                </a:lnTo>
                <a:lnTo>
                  <a:pt x="0" y="0"/>
                </a:lnTo>
                <a:lnTo>
                  <a:pt x="0" y="414337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10540" y="1049773"/>
            <a:ext cx="7771765" cy="252666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80365" algn="l"/>
                <a:tab pos="381000" algn="l"/>
              </a:tabLst>
            </a:pPr>
            <a:r>
              <a:rPr sz="3200" spc="-15" dirty="0">
                <a:latin typeface="Calibri"/>
                <a:cs typeface="Calibri"/>
              </a:rPr>
              <a:t>Merge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count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step.</a:t>
            </a:r>
            <a:endParaRPr sz="3200">
              <a:latin typeface="Calibri"/>
              <a:cs typeface="Calibri"/>
            </a:endParaRPr>
          </a:p>
          <a:p>
            <a:pPr marL="781685" marR="30480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82320" algn="l"/>
              </a:tabLst>
            </a:pPr>
            <a:r>
              <a:rPr sz="2800" spc="-10" dirty="0">
                <a:latin typeface="Calibri"/>
                <a:cs typeface="Calibri"/>
              </a:rPr>
              <a:t>Given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halves,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count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number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of </a:t>
            </a:r>
            <a:r>
              <a:rPr sz="2800" spc="-5" dirty="0">
                <a:latin typeface="Calibri"/>
                <a:cs typeface="Calibri"/>
              </a:rPr>
              <a:t> i</a:t>
            </a:r>
            <a:r>
              <a:rPr sz="2800" spc="-65" dirty="0">
                <a:latin typeface="Calibri"/>
                <a:cs typeface="Calibri"/>
              </a:rPr>
              <a:t>n</a:t>
            </a:r>
            <a:r>
              <a:rPr sz="2800" spc="-35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r</a:t>
            </a:r>
            <a:r>
              <a:rPr sz="2800" spc="-10" dirty="0">
                <a:latin typeface="Calibri"/>
                <a:cs typeface="Calibri"/>
              </a:rPr>
              <a:t>sio</a:t>
            </a:r>
            <a:r>
              <a:rPr sz="2800" spc="-1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whe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1950" spc="7" baseline="-21367" dirty="0">
                <a:latin typeface="Calibri"/>
                <a:cs typeface="Calibri"/>
              </a:rPr>
              <a:t>i</a:t>
            </a:r>
            <a:r>
              <a:rPr sz="1950" baseline="-21367" dirty="0">
                <a:latin typeface="Calibri"/>
                <a:cs typeface="Calibri"/>
              </a:rPr>
              <a:t> </a:t>
            </a:r>
            <a:r>
              <a:rPr sz="1950" spc="44" baseline="-21367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1950" spc="7" baseline="-21367" dirty="0">
                <a:latin typeface="Calibri"/>
                <a:cs typeface="Calibri"/>
              </a:rPr>
              <a:t>j</a:t>
            </a:r>
            <a:r>
              <a:rPr sz="1950" baseline="-21367" dirty="0">
                <a:latin typeface="Calibri"/>
                <a:cs typeface="Calibri"/>
              </a:rPr>
              <a:t> </a:t>
            </a:r>
            <a:r>
              <a:rPr sz="1950" spc="60" baseline="-21367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</a:t>
            </a:r>
            <a:r>
              <a:rPr sz="2800" spc="-20" dirty="0">
                <a:latin typeface="Calibri"/>
                <a:cs typeface="Calibri"/>
              </a:rPr>
              <a:t>i</a:t>
            </a:r>
            <a:r>
              <a:rPr sz="2800" spc="-35" dirty="0">
                <a:latin typeface="Calibri"/>
                <a:cs typeface="Calibri"/>
              </a:rPr>
              <a:t>f</a:t>
            </a:r>
            <a:r>
              <a:rPr sz="2800" spc="-80" dirty="0">
                <a:latin typeface="Calibri"/>
                <a:cs typeface="Calibri"/>
              </a:rPr>
              <a:t>f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4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35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hal</a:t>
            </a:r>
            <a:r>
              <a:rPr sz="2800" spc="-40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es.</a:t>
            </a:r>
            <a:endParaRPr sz="2800">
              <a:latin typeface="Calibri"/>
              <a:cs typeface="Calibri"/>
            </a:endParaRPr>
          </a:p>
          <a:p>
            <a:pPr marL="7816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82320" algn="l"/>
              </a:tabLst>
            </a:pPr>
            <a:r>
              <a:rPr sz="2800" spc="-10" dirty="0">
                <a:latin typeface="Calibri"/>
                <a:cs typeface="Calibri"/>
              </a:rPr>
              <a:t>Combine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halves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whole.</a:t>
            </a:r>
            <a:endParaRPr sz="2800">
              <a:latin typeface="Calibri"/>
              <a:cs typeface="Calibri"/>
            </a:endParaRPr>
          </a:p>
          <a:p>
            <a:pPr marR="1049020" algn="ctr">
              <a:lnSpc>
                <a:spcPct val="100000"/>
              </a:lnSpc>
              <a:spcBef>
                <a:spcPts val="1450"/>
              </a:spcBef>
            </a:pPr>
            <a:r>
              <a:rPr sz="1800" dirty="0">
                <a:latin typeface="Calibri"/>
                <a:cs typeface="Calibri"/>
              </a:rPr>
              <a:t>i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48855" y="3984116"/>
            <a:ext cx="13055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two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sorted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halves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219200" y="4913312"/>
            <a:ext cx="5492750" cy="427355"/>
            <a:chOff x="1219200" y="4913312"/>
            <a:chExt cx="5492750" cy="427355"/>
          </a:xfrm>
        </p:grpSpPr>
        <p:sp>
          <p:nvSpPr>
            <p:cNvPr id="10" name="object 10"/>
            <p:cNvSpPr/>
            <p:nvPr/>
          </p:nvSpPr>
          <p:spPr>
            <a:xfrm>
              <a:off x="21336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908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48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48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05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05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192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76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962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962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876800" y="4919662"/>
              <a:ext cx="914400" cy="414655"/>
            </a:xfrm>
            <a:custGeom>
              <a:avLst/>
              <a:gdLst/>
              <a:ahLst/>
              <a:cxnLst/>
              <a:rect l="l" t="t" r="r" b="b"/>
              <a:pathLst>
                <a:path w="914400" h="414654">
                  <a:moveTo>
                    <a:pt x="914400" y="0"/>
                  </a:move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914400" y="414337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340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791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912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48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2484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196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457200" y="0"/>
                  </a:moveTo>
                  <a:lnTo>
                    <a:pt x="0" y="0"/>
                  </a:lnTo>
                  <a:lnTo>
                    <a:pt x="0" y="414337"/>
                  </a:lnTo>
                  <a:lnTo>
                    <a:pt x="457200" y="41433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9389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419600" y="4919662"/>
              <a:ext cx="457200" cy="414655"/>
            </a:xfrm>
            <a:custGeom>
              <a:avLst/>
              <a:gdLst/>
              <a:ahLst/>
              <a:cxnLst/>
              <a:rect l="l" t="t" r="r" b="b"/>
              <a:pathLst>
                <a:path w="457200" h="414654">
                  <a:moveTo>
                    <a:pt x="0" y="414337"/>
                  </a:moveTo>
                  <a:lnTo>
                    <a:pt x="457200" y="414337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41433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219200" y="4919662"/>
            <a:ext cx="5486400" cy="41465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440"/>
              </a:spcBef>
              <a:tabLst>
                <a:tab pos="626745" algn="l"/>
                <a:tab pos="1083945" algn="l"/>
                <a:tab pos="1483995" algn="l"/>
                <a:tab pos="1941195" algn="l"/>
                <a:tab pos="2398395" algn="l"/>
                <a:tab pos="2855595" algn="l"/>
                <a:tab pos="3312795" algn="l"/>
                <a:tab pos="3769995" algn="l"/>
                <a:tab pos="4227195" algn="l"/>
                <a:tab pos="4684395" algn="l"/>
                <a:tab pos="5141595" algn="l"/>
              </a:tabLst>
            </a:pPr>
            <a:r>
              <a:rPr sz="1800" dirty="0">
                <a:latin typeface="Calibri"/>
                <a:cs typeface="Calibri"/>
              </a:rPr>
              <a:t>2	3	7	</a:t>
            </a:r>
            <a:r>
              <a:rPr sz="1800" spc="-5" dirty="0">
                <a:latin typeface="Calibri"/>
                <a:cs typeface="Calibri"/>
              </a:rPr>
              <a:t>10	11	14	16	17	18	19	23	25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441438" y="4989321"/>
            <a:ext cx="10445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auxiliary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array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819525" y="3609975"/>
            <a:ext cx="50800" cy="209550"/>
          </a:xfrm>
          <a:custGeom>
            <a:avLst/>
            <a:gdLst/>
            <a:ahLst/>
            <a:cxnLst/>
            <a:rect l="l" t="t" r="r" b="b"/>
            <a:pathLst>
              <a:path w="50800" h="209550">
                <a:moveTo>
                  <a:pt x="19050" y="158750"/>
                </a:moveTo>
                <a:lnTo>
                  <a:pt x="0" y="158750"/>
                </a:lnTo>
                <a:lnTo>
                  <a:pt x="25400" y="209550"/>
                </a:lnTo>
                <a:lnTo>
                  <a:pt x="44450" y="171450"/>
                </a:lnTo>
                <a:lnTo>
                  <a:pt x="19050" y="171450"/>
                </a:lnTo>
                <a:lnTo>
                  <a:pt x="19050" y="158750"/>
                </a:lnTo>
                <a:close/>
              </a:path>
              <a:path w="50800" h="209550">
                <a:moveTo>
                  <a:pt x="31750" y="0"/>
                </a:moveTo>
                <a:lnTo>
                  <a:pt x="19050" y="0"/>
                </a:lnTo>
                <a:lnTo>
                  <a:pt x="19050" y="171450"/>
                </a:lnTo>
                <a:lnTo>
                  <a:pt x="31750" y="171450"/>
                </a:lnTo>
                <a:lnTo>
                  <a:pt x="31750" y="0"/>
                </a:lnTo>
                <a:close/>
              </a:path>
              <a:path w="50800" h="209550">
                <a:moveTo>
                  <a:pt x="50800" y="158750"/>
                </a:moveTo>
                <a:lnTo>
                  <a:pt x="31750" y="158750"/>
                </a:lnTo>
                <a:lnTo>
                  <a:pt x="31750" y="171450"/>
                </a:lnTo>
                <a:lnTo>
                  <a:pt x="44450" y="171450"/>
                </a:lnTo>
                <a:lnTo>
                  <a:pt x="50800" y="158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053198" y="3609975"/>
            <a:ext cx="50800" cy="209550"/>
          </a:xfrm>
          <a:custGeom>
            <a:avLst/>
            <a:gdLst/>
            <a:ahLst/>
            <a:cxnLst/>
            <a:rect l="l" t="t" r="r" b="b"/>
            <a:pathLst>
              <a:path w="50800" h="209550">
                <a:moveTo>
                  <a:pt x="19050" y="158750"/>
                </a:moveTo>
                <a:lnTo>
                  <a:pt x="0" y="158750"/>
                </a:lnTo>
                <a:lnTo>
                  <a:pt x="25400" y="209550"/>
                </a:lnTo>
                <a:lnTo>
                  <a:pt x="44450" y="171450"/>
                </a:lnTo>
                <a:lnTo>
                  <a:pt x="19050" y="171450"/>
                </a:lnTo>
                <a:lnTo>
                  <a:pt x="19050" y="158750"/>
                </a:lnTo>
                <a:close/>
              </a:path>
              <a:path w="50800" h="209550">
                <a:moveTo>
                  <a:pt x="31750" y="0"/>
                </a:moveTo>
                <a:lnTo>
                  <a:pt x="19050" y="0"/>
                </a:lnTo>
                <a:lnTo>
                  <a:pt x="19050" y="171450"/>
                </a:lnTo>
                <a:lnTo>
                  <a:pt x="31750" y="171450"/>
                </a:lnTo>
                <a:lnTo>
                  <a:pt x="31750" y="0"/>
                </a:lnTo>
                <a:close/>
              </a:path>
              <a:path w="50800" h="209550">
                <a:moveTo>
                  <a:pt x="50800" y="158750"/>
                </a:moveTo>
                <a:lnTo>
                  <a:pt x="31750" y="158750"/>
                </a:lnTo>
                <a:lnTo>
                  <a:pt x="31750" y="171450"/>
                </a:lnTo>
                <a:lnTo>
                  <a:pt x="44450" y="171450"/>
                </a:lnTo>
                <a:lnTo>
                  <a:pt x="50800" y="158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3752850" y="5838825"/>
            <a:ext cx="3346450" cy="466725"/>
          </a:xfrm>
          <a:prstGeom prst="rect">
            <a:avLst/>
          </a:prstGeom>
          <a:solidFill>
            <a:srgbClr val="C0504D"/>
          </a:solidFill>
        </p:spPr>
        <p:txBody>
          <a:bodyPr vert="horz" wrap="square" lIns="0" tIns="774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610"/>
              </a:spcBef>
            </a:pPr>
            <a:r>
              <a:rPr sz="1800" spc="-35" dirty="0">
                <a:latin typeface="Calibri"/>
                <a:cs typeface="Calibri"/>
              </a:rPr>
              <a:t>Total:</a:t>
            </a:r>
            <a:r>
              <a:rPr sz="1800" spc="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6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34</a:t>
            </a:fld>
            <a:endParaRPr dirty="0"/>
          </a:p>
        </p:txBody>
      </p: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2533269" y="95757"/>
            <a:ext cx="40767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Counting</a:t>
            </a:r>
            <a:r>
              <a:rPr spc="-65" dirty="0"/>
              <a:t> </a:t>
            </a:r>
            <a:r>
              <a:rPr spc="-25" dirty="0"/>
              <a:t>Inversions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693165"/>
            <a:ext cx="7979409" cy="3928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b="1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3200" b="1" u="heavy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e-commerce</a:t>
            </a:r>
            <a:r>
              <a:rPr sz="3200" b="1" u="heavy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application</a:t>
            </a:r>
            <a:endParaRPr sz="3200">
              <a:latin typeface="Calibri"/>
              <a:cs typeface="Calibri"/>
            </a:endParaRPr>
          </a:p>
          <a:p>
            <a:pPr marL="355600" marR="5080">
              <a:lnSpc>
                <a:spcPct val="100000"/>
              </a:lnSpc>
            </a:pPr>
            <a:r>
              <a:rPr sz="3200" spc="-25" dirty="0">
                <a:latin typeface="Calibri"/>
                <a:cs typeface="Calibri"/>
              </a:rPr>
              <a:t>Have</a:t>
            </a:r>
            <a:r>
              <a:rPr sz="3200" spc="-15" dirty="0">
                <a:latin typeface="Calibri"/>
                <a:cs typeface="Calibri"/>
              </a:rPr>
              <a:t> you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ever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noticed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any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e-commerce 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website, </a:t>
            </a:r>
            <a:r>
              <a:rPr sz="3200" spc="-10" dirty="0">
                <a:latin typeface="Calibri"/>
                <a:cs typeface="Calibri"/>
              </a:rPr>
              <a:t>they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have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this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section</a:t>
            </a:r>
            <a:r>
              <a:rPr sz="3200" dirty="0">
                <a:latin typeface="Calibri"/>
                <a:cs typeface="Calibri"/>
              </a:rPr>
              <a:t> of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65" dirty="0">
                <a:latin typeface="Calibri"/>
                <a:cs typeface="Calibri"/>
              </a:rPr>
              <a:t>"You</a:t>
            </a:r>
            <a:r>
              <a:rPr sz="3200" spc="-5" dirty="0">
                <a:latin typeface="Calibri"/>
                <a:cs typeface="Calibri"/>
              </a:rPr>
              <a:t> might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like",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they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have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maintained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array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for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all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-70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user </a:t>
            </a:r>
            <a:r>
              <a:rPr sz="3200" spc="-10" dirty="0">
                <a:latin typeface="Calibri"/>
                <a:cs typeface="Calibri"/>
              </a:rPr>
              <a:t>accounts </a:t>
            </a:r>
            <a:r>
              <a:rPr sz="3200" dirty="0">
                <a:latin typeface="Calibri"/>
                <a:cs typeface="Calibri"/>
              </a:rPr>
              <a:t>and then </a:t>
            </a:r>
            <a:r>
              <a:rPr sz="3200" spc="-5" dirty="0">
                <a:latin typeface="Calibri"/>
                <a:cs typeface="Calibri"/>
              </a:rPr>
              <a:t>whichever has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least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number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inversion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with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your </a:t>
            </a:r>
            <a:r>
              <a:rPr sz="3200" spc="-30" dirty="0">
                <a:latin typeface="Calibri"/>
                <a:cs typeface="Calibri"/>
              </a:rPr>
              <a:t>array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 </a:t>
            </a:r>
            <a:r>
              <a:rPr sz="3200" dirty="0">
                <a:latin typeface="Calibri"/>
                <a:cs typeface="Calibri"/>
              </a:rPr>
              <a:t> choices,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they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start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recommending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what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they 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have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bought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or </a:t>
            </a:r>
            <a:r>
              <a:rPr sz="3200" spc="-10" dirty="0">
                <a:latin typeface="Calibri"/>
                <a:cs typeface="Calibri"/>
              </a:rPr>
              <a:t>they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like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1779</Words>
  <Application>Microsoft Office PowerPoint</Application>
  <PresentationFormat>On-screen Show (4:3)</PresentationFormat>
  <Paragraphs>595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 MT</vt:lpstr>
      <vt:lpstr>Calibri</vt:lpstr>
      <vt:lpstr>Cambria</vt:lpstr>
      <vt:lpstr>Times New Roman</vt:lpstr>
      <vt:lpstr>Office Theme</vt:lpstr>
      <vt:lpstr>Counting Inversions- Divide and  Conquer</vt:lpstr>
      <vt:lpstr>Counting Inversions</vt:lpstr>
      <vt:lpstr>Visualizing inversions</vt:lpstr>
      <vt:lpstr>Counting Inversions: Divide-and-  Conquer</vt:lpstr>
      <vt:lpstr>Counting Inversions: Divide-and-  Conquer</vt:lpstr>
      <vt:lpstr>Counting Inversions: Divide-and-  Conquer</vt:lpstr>
      <vt:lpstr>Counting Inversions: Divide-and-  Conquer</vt:lpstr>
      <vt:lpstr>Counting Inversions</vt:lpstr>
      <vt:lpstr>Counting Inversions: Implementation</vt:lpstr>
      <vt:lpstr>Counting Inversions: Implementation</vt:lpstr>
      <vt:lpstr>Counting Inversions</vt:lpstr>
      <vt:lpstr>Counting Inversions</vt:lpstr>
      <vt:lpstr>Counting Inversions</vt:lpstr>
      <vt:lpstr>Counting Inversions</vt:lpstr>
      <vt:lpstr>Counting Inversions</vt:lpstr>
      <vt:lpstr>Counting Inversions</vt:lpstr>
      <vt:lpstr>Counting Inversions</vt:lpstr>
      <vt:lpstr>Counting Inversions</vt:lpstr>
      <vt:lpstr>Counting Inversions</vt:lpstr>
      <vt:lpstr>Counting Inversions</vt:lpstr>
      <vt:lpstr>Counting Inversions</vt:lpstr>
      <vt:lpstr>Counting Inversions</vt:lpstr>
      <vt:lpstr>Counting Inversions</vt:lpstr>
      <vt:lpstr>Counting Inversions</vt:lpstr>
      <vt:lpstr>Counting Inversions</vt:lpstr>
      <vt:lpstr>Counting Inversions</vt:lpstr>
      <vt:lpstr>Counting Inversions</vt:lpstr>
      <vt:lpstr>Counting Inversions</vt:lpstr>
      <vt:lpstr>Counting Inversions</vt:lpstr>
      <vt:lpstr>Counting Inversions</vt:lpstr>
      <vt:lpstr>Counting Inversions</vt:lpstr>
      <vt:lpstr>Counting Inversions</vt:lpstr>
      <vt:lpstr>Counting Inversions</vt:lpstr>
      <vt:lpstr>Counting Inversions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Srinidhi</dc:creator>
  <cp:lastModifiedBy>ADMIN</cp:lastModifiedBy>
  <cp:revision>1</cp:revision>
  <dcterms:created xsi:type="dcterms:W3CDTF">2023-06-20T03:57:47Z</dcterms:created>
  <dcterms:modified xsi:type="dcterms:W3CDTF">2023-06-20T04:11:35Z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2015-03-30T00:00:00Z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2023-06-20T00:00:00Z</vt:filetime>
  </property>
</Properties>
</file>