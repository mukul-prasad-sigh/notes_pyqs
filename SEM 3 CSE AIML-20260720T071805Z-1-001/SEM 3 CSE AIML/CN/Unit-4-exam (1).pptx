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2" r:id="rId1"/>
  </p:sldMasterIdLst>
  <p:notesMasterIdLst>
    <p:notesMasterId r:id="rId55"/>
  </p:notesMasterIdLst>
  <p:sldIdLst>
    <p:sldId id="256" r:id="rId2"/>
    <p:sldId id="435" r:id="rId3"/>
    <p:sldId id="539" r:id="rId4"/>
    <p:sldId id="540" r:id="rId5"/>
    <p:sldId id="541" r:id="rId6"/>
    <p:sldId id="542" r:id="rId7"/>
    <p:sldId id="543" r:id="rId8"/>
    <p:sldId id="544" r:id="rId9"/>
    <p:sldId id="545" r:id="rId10"/>
    <p:sldId id="546" r:id="rId11"/>
    <p:sldId id="553" r:id="rId12"/>
    <p:sldId id="554" r:id="rId13"/>
    <p:sldId id="555" r:id="rId14"/>
    <p:sldId id="556" r:id="rId15"/>
    <p:sldId id="663" r:id="rId16"/>
    <p:sldId id="664" r:id="rId17"/>
    <p:sldId id="665" r:id="rId18"/>
    <p:sldId id="666" r:id="rId19"/>
    <p:sldId id="667" r:id="rId20"/>
    <p:sldId id="668" r:id="rId21"/>
    <p:sldId id="669" r:id="rId22"/>
    <p:sldId id="670" r:id="rId23"/>
    <p:sldId id="689" r:id="rId24"/>
    <p:sldId id="690" r:id="rId25"/>
    <p:sldId id="691" r:id="rId26"/>
    <p:sldId id="692" r:id="rId27"/>
    <p:sldId id="697" r:id="rId28"/>
    <p:sldId id="711" r:id="rId29"/>
    <p:sldId id="712" r:id="rId30"/>
    <p:sldId id="731" r:id="rId31"/>
    <p:sldId id="732" r:id="rId32"/>
    <p:sldId id="733" r:id="rId33"/>
    <p:sldId id="734" r:id="rId34"/>
    <p:sldId id="765" r:id="rId35"/>
    <p:sldId id="766" r:id="rId36"/>
    <p:sldId id="767" r:id="rId37"/>
    <p:sldId id="768" r:id="rId38"/>
    <p:sldId id="769" r:id="rId39"/>
    <p:sldId id="770" r:id="rId40"/>
    <p:sldId id="771" r:id="rId41"/>
    <p:sldId id="772" r:id="rId42"/>
    <p:sldId id="773" r:id="rId43"/>
    <p:sldId id="774" r:id="rId44"/>
    <p:sldId id="775" r:id="rId45"/>
    <p:sldId id="776" r:id="rId46"/>
    <p:sldId id="777" r:id="rId47"/>
    <p:sldId id="778" r:id="rId48"/>
    <p:sldId id="779" r:id="rId49"/>
    <p:sldId id="780" r:id="rId50"/>
    <p:sldId id="781" r:id="rId51"/>
    <p:sldId id="782" r:id="rId52"/>
    <p:sldId id="783" r:id="rId53"/>
    <p:sldId id="784"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9933"/>
    <a:srgbClr val="007033"/>
    <a:srgbClr val="76B531"/>
    <a:srgbClr val="990000"/>
    <a:srgbClr val="CC6600"/>
    <a:srgbClr val="99FF33"/>
    <a:srgbClr val="00FFCC"/>
    <a:srgbClr val="FFFF66"/>
    <a:srgbClr val="00FF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81004" autoAdjust="0"/>
  </p:normalViewPr>
  <p:slideViewPr>
    <p:cSldViewPr>
      <p:cViewPr varScale="1">
        <p:scale>
          <a:sx n="69" d="100"/>
          <a:sy n="69" d="100"/>
        </p:scale>
        <p:origin x="-1272" y="-108"/>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23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6FAC23-E1DC-4390-A344-A3C249DC07EC}" type="datetimeFigureOut">
              <a:rPr lang="en-US" smtClean="0"/>
              <a:pPr/>
              <a:t>6/19/2023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5DD572-C993-48CE-B837-79040D94BC8A}" type="slidenum">
              <a:rPr lang="en-US" smtClean="0"/>
              <a:pPr/>
              <a:t>‹#›</a:t>
            </a:fld>
            <a:endParaRPr lang="en-US"/>
          </a:p>
        </p:txBody>
      </p:sp>
    </p:spTree>
    <p:extLst>
      <p:ext uri="{BB962C8B-B14F-4D97-AF65-F5344CB8AC3E}">
        <p14:creationId xmlns:p14="http://schemas.microsoft.com/office/powerpoint/2010/main" xmlns="" val="664143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sz="1200" kern="1200" baseline="0" dirty="0" smtClean="0">
                <a:solidFill>
                  <a:schemeClr val="tx1"/>
                </a:solidFill>
                <a:latin typeface="+mn-lt"/>
                <a:ea typeface="+mn-ea"/>
                <a:cs typeface="+mn-cs"/>
              </a:rPr>
              <a:t>Whenever bits flow from one point to another, they are subject to unpredictable changes because of </a:t>
            </a:r>
            <a:r>
              <a:rPr lang="en-IN" sz="1200" b="1" kern="1200" baseline="0" dirty="0" smtClean="0">
                <a:solidFill>
                  <a:schemeClr val="tx1"/>
                </a:solidFill>
                <a:latin typeface="+mn-lt"/>
                <a:ea typeface="+mn-ea"/>
                <a:cs typeface="+mn-cs"/>
              </a:rPr>
              <a:t>interference</a:t>
            </a:r>
            <a:r>
              <a:rPr lang="en-IN" sz="1200" b="1" i="1" kern="1200" baseline="0" dirty="0" smtClean="0">
                <a:solidFill>
                  <a:schemeClr val="tx1"/>
                </a:solidFill>
                <a:latin typeface="+mn-lt"/>
                <a:ea typeface="+mn-ea"/>
                <a:cs typeface="+mn-cs"/>
              </a:rPr>
              <a:t>. This interference can change the shape of the signal.</a:t>
            </a:r>
          </a:p>
          <a:p>
            <a:r>
              <a:rPr lang="en-IN" sz="1200" kern="1200" baseline="0" dirty="0" smtClean="0">
                <a:solidFill>
                  <a:schemeClr val="tx1"/>
                </a:solidFill>
                <a:latin typeface="+mn-lt"/>
                <a:ea typeface="+mn-ea"/>
                <a:cs typeface="+mn-cs"/>
              </a:rPr>
              <a:t>The term </a:t>
            </a:r>
            <a:r>
              <a:rPr lang="en-IN" sz="1200" b="1" i="1" kern="1200" baseline="0" dirty="0" smtClean="0">
                <a:solidFill>
                  <a:schemeClr val="tx1"/>
                </a:solidFill>
                <a:latin typeface="+mn-lt"/>
                <a:ea typeface="+mn-ea"/>
                <a:cs typeface="+mn-cs"/>
              </a:rPr>
              <a:t>single-bit error means that only 1 bit of a given data unit (such as a byte, </a:t>
            </a:r>
            <a:r>
              <a:rPr lang="en-IN" sz="1200" kern="1200" baseline="0" dirty="0" smtClean="0">
                <a:solidFill>
                  <a:schemeClr val="tx1"/>
                </a:solidFill>
                <a:latin typeface="+mn-lt"/>
                <a:ea typeface="+mn-ea"/>
                <a:cs typeface="+mn-cs"/>
              </a:rPr>
              <a:t>character, or packet) is changed from 1 to 0 or from 0 to 1. The term </a:t>
            </a:r>
            <a:r>
              <a:rPr lang="en-IN" sz="1200" b="1" i="1" kern="1200" baseline="0" dirty="0" smtClean="0">
                <a:solidFill>
                  <a:schemeClr val="tx1"/>
                </a:solidFill>
                <a:latin typeface="+mn-lt"/>
                <a:ea typeface="+mn-ea"/>
                <a:cs typeface="+mn-cs"/>
              </a:rPr>
              <a:t>burst error means </a:t>
            </a:r>
            <a:r>
              <a:rPr lang="en-IN" sz="1200" kern="1200" baseline="0" dirty="0" smtClean="0">
                <a:solidFill>
                  <a:schemeClr val="tx1"/>
                </a:solidFill>
                <a:latin typeface="+mn-lt"/>
                <a:ea typeface="+mn-ea"/>
                <a:cs typeface="+mn-cs"/>
              </a:rPr>
              <a:t>that 2 or more bits in the data unit have changed from 1 to 0 or from 0 to 1. Figure 10.1</a:t>
            </a:r>
          </a:p>
          <a:p>
            <a:r>
              <a:rPr lang="en-IN" sz="1200" kern="1200" baseline="0" dirty="0" smtClean="0">
                <a:solidFill>
                  <a:schemeClr val="tx1"/>
                </a:solidFill>
                <a:latin typeface="+mn-lt"/>
                <a:ea typeface="+mn-ea"/>
                <a:cs typeface="+mn-cs"/>
              </a:rPr>
              <a:t>shows the effect of a single-bit and a burst error on a data unit.</a:t>
            </a:r>
          </a:p>
          <a:p>
            <a:endParaRPr lang="en-IN" sz="1200" kern="1200" baseline="0" dirty="0" smtClean="0">
              <a:solidFill>
                <a:schemeClr val="tx1"/>
              </a:solidFill>
              <a:latin typeface="+mn-lt"/>
              <a:ea typeface="+mn-ea"/>
              <a:cs typeface="+mn-cs"/>
            </a:endParaRPr>
          </a:p>
          <a:p>
            <a:r>
              <a:rPr lang="en-IN" sz="1200" kern="1200" baseline="0" dirty="0" smtClean="0">
                <a:solidFill>
                  <a:schemeClr val="tx1"/>
                </a:solidFill>
                <a:latin typeface="+mn-lt"/>
                <a:ea typeface="+mn-ea"/>
                <a:cs typeface="+mn-cs"/>
              </a:rPr>
              <a:t>A burst error is more likely to occur than a single-bit error because the duration of the noise signal is normally longer than the duration of 1 bit, which means that when noise affects data, it affects a set of bits. The number of bits affected depends on the data rate and duration of noise. For example, if we are sending data at 1 kbps, a noise of 1/100 second can affect 10 bits; if we are sending data at 1 Mbps, the same noise can affect 10,000 bits.</a:t>
            </a:r>
            <a:endParaRPr lang="en-IN"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17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sz="1200" kern="1200" baseline="0" dirty="0" smtClean="0">
                <a:solidFill>
                  <a:schemeClr val="tx1"/>
                </a:solidFill>
                <a:latin typeface="+mn-lt"/>
                <a:ea typeface="+mn-ea"/>
                <a:cs typeface="+mn-cs"/>
              </a:rPr>
              <a:t>To be able to detect or correct errors, we need to send some extra bits with our data. These redundant</a:t>
            </a:r>
          </a:p>
          <a:p>
            <a:r>
              <a:rPr lang="en-IN" sz="1200" kern="1200" baseline="0" dirty="0" smtClean="0">
                <a:solidFill>
                  <a:schemeClr val="tx1"/>
                </a:solidFill>
                <a:latin typeface="+mn-lt"/>
                <a:ea typeface="+mn-ea"/>
                <a:cs typeface="+mn-cs"/>
              </a:rPr>
              <a:t>bits are added by the sender and removed by the receiver. Their presence allows the receiver to detect or correct corrupted bits.</a:t>
            </a:r>
            <a:endParaRPr lang="en-IN"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18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sz="1200" kern="1200" baseline="0" dirty="0" smtClean="0">
                <a:solidFill>
                  <a:schemeClr val="tx1"/>
                </a:solidFill>
                <a:latin typeface="+mn-lt"/>
                <a:ea typeface="+mn-ea"/>
                <a:cs typeface="+mn-cs"/>
              </a:rPr>
              <a:t>Redundancy is achieved through various coding schemes. The sender adds redundant bits through a. The receiver checks the relationships between the two sets of bits to detect errors. The ratio of redundant bits to data bits and the robustness of the process are important factors in any coding scheme.</a:t>
            </a:r>
          </a:p>
          <a:p>
            <a:r>
              <a:rPr lang="en-IN" sz="1200" kern="1200" baseline="0" dirty="0" smtClean="0">
                <a:solidFill>
                  <a:schemeClr val="tx1"/>
                </a:solidFill>
                <a:latin typeface="+mn-lt"/>
                <a:ea typeface="+mn-ea"/>
                <a:cs typeface="+mn-cs"/>
              </a:rPr>
              <a:t>We can divide coding schemes into two broad categories: </a:t>
            </a:r>
            <a:r>
              <a:rPr lang="en-IN" sz="1200" b="1" kern="1200" baseline="0" dirty="0" smtClean="0">
                <a:solidFill>
                  <a:schemeClr val="tx1"/>
                </a:solidFill>
                <a:latin typeface="+mn-lt"/>
                <a:ea typeface="+mn-ea"/>
                <a:cs typeface="+mn-cs"/>
              </a:rPr>
              <a:t>block coding and convolution coding</a:t>
            </a:r>
            <a:r>
              <a:rPr lang="en-IN" sz="1200" b="1" i="1" kern="1200" baseline="0" dirty="0" smtClean="0">
                <a:solidFill>
                  <a:schemeClr val="tx1"/>
                </a:solidFill>
                <a:latin typeface="+mn-lt"/>
                <a:ea typeface="+mn-ea"/>
                <a:cs typeface="+mn-cs"/>
              </a:rPr>
              <a:t>. In this book, we concentrate on block coding; convolution coding is </a:t>
            </a:r>
            <a:r>
              <a:rPr lang="en-IN" sz="1200" kern="1200" baseline="0" dirty="0" smtClean="0">
                <a:solidFill>
                  <a:schemeClr val="tx1"/>
                </a:solidFill>
                <a:latin typeface="+mn-lt"/>
                <a:ea typeface="+mn-ea"/>
                <a:cs typeface="+mn-cs"/>
              </a:rPr>
              <a:t>more complex and beyond the scope of this book.</a:t>
            </a:r>
            <a:endParaRPr lang="en-IN"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19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N" sz="1200" kern="1200" baseline="0" dirty="0" smtClean="0">
                <a:solidFill>
                  <a:schemeClr val="tx1"/>
                </a:solidFill>
                <a:latin typeface="+mn-lt"/>
                <a:ea typeface="+mn-ea"/>
                <a:cs typeface="+mn-cs"/>
              </a:rPr>
              <a:t>The. In. The answer is a simple yes or no. We are not even interested in the number of corrupted bits. A single-bit error is the same for us as a</a:t>
            </a:r>
          </a:p>
          <a:p>
            <a:r>
              <a:rPr lang="en-IN" sz="1200" kern="1200" baseline="0" dirty="0" smtClean="0">
                <a:solidFill>
                  <a:schemeClr val="tx1"/>
                </a:solidFill>
                <a:latin typeface="+mn-lt"/>
                <a:ea typeface="+mn-ea"/>
                <a:cs typeface="+mn-cs"/>
              </a:rPr>
              <a:t>burst error. In</a:t>
            </a:r>
            <a:endParaRPr lang="en-IN" sz="1200" b="1" i="1" kern="1200" baseline="0" dirty="0" smtClean="0">
              <a:solidFill>
                <a:schemeClr val="tx1"/>
              </a:solidFill>
              <a:latin typeface="+mn-lt"/>
              <a:ea typeface="+mn-ea"/>
              <a:cs typeface="+mn-cs"/>
            </a:endParaRPr>
          </a:p>
          <a:p>
            <a:r>
              <a:rPr lang="en-IN" sz="1200" kern="1200" baseline="0" dirty="0" smtClean="0">
                <a:solidFill>
                  <a:schemeClr val="tx1"/>
                </a:solidFill>
                <a:latin typeface="+mn-lt"/>
                <a:ea typeface="+mn-ea"/>
                <a:cs typeface="+mn-cs"/>
              </a:rPr>
              <a:t>and, more importantly,. The number of errors and the size of the message are important factors. If we need in an 8-bit</a:t>
            </a:r>
          </a:p>
          <a:p>
            <a:r>
              <a:rPr lang="en-IN" sz="1200" kern="1200" baseline="0" dirty="0" smtClean="0">
                <a:solidFill>
                  <a:schemeClr val="tx1"/>
                </a:solidFill>
                <a:latin typeface="+mn-lt"/>
                <a:ea typeface="+mn-ea"/>
                <a:cs typeface="+mn-cs"/>
              </a:rPr>
              <a:t>data unit, we; if we need to correct two errors in a data unit of the same size, we need to consider 28 (permutation of 8 by 2) possibilities. You can imagine the receiver’s difficulty in finding 10 errors in a data unit of 1000 bits.</a:t>
            </a:r>
            <a:endParaRPr lang="en-IN"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20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In the encoder, the </a:t>
            </a:r>
            <a:r>
              <a:rPr lang="en-US" sz="1200" kern="1200" baseline="0" dirty="0" err="1" smtClean="0">
                <a:solidFill>
                  <a:schemeClr val="tx1"/>
                </a:solidFill>
                <a:latin typeface="+mn-lt"/>
                <a:ea typeface="+mn-ea"/>
                <a:cs typeface="+mn-cs"/>
              </a:rPr>
              <a:t>dataword</a:t>
            </a:r>
            <a:r>
              <a:rPr lang="en-US" sz="1200" kern="1200" baseline="0" dirty="0" smtClean="0">
                <a:solidFill>
                  <a:schemeClr val="tx1"/>
                </a:solidFill>
                <a:latin typeface="+mn-lt"/>
                <a:ea typeface="+mn-ea"/>
                <a:cs typeface="+mn-cs"/>
              </a:rPr>
              <a:t> has </a:t>
            </a:r>
            <a:r>
              <a:rPr lang="en-US" sz="1200" i="1" kern="1200" baseline="0" dirty="0" smtClean="0">
                <a:solidFill>
                  <a:schemeClr val="tx1"/>
                </a:solidFill>
                <a:latin typeface="+mn-lt"/>
                <a:ea typeface="+mn-ea"/>
                <a:cs typeface="+mn-cs"/>
              </a:rPr>
              <a:t>k bits (4 here); the codeword has n bits (7 here). </a:t>
            </a:r>
            <a:r>
              <a:rPr lang="en-US" sz="1200" kern="1200" baseline="0" dirty="0" smtClean="0">
                <a:solidFill>
                  <a:schemeClr val="tx1"/>
                </a:solidFill>
                <a:latin typeface="+mn-lt"/>
                <a:ea typeface="+mn-ea"/>
                <a:cs typeface="+mn-cs"/>
              </a:rPr>
              <a:t>The size of the </a:t>
            </a:r>
            <a:r>
              <a:rPr lang="en-US" sz="1200" kern="1200" baseline="0" dirty="0" err="1" smtClean="0">
                <a:solidFill>
                  <a:schemeClr val="tx1"/>
                </a:solidFill>
                <a:latin typeface="+mn-lt"/>
                <a:ea typeface="+mn-ea"/>
                <a:cs typeface="+mn-cs"/>
              </a:rPr>
              <a:t>dataword</a:t>
            </a:r>
            <a:r>
              <a:rPr lang="en-US" sz="1200" kern="1200" baseline="0" dirty="0" smtClean="0">
                <a:solidFill>
                  <a:schemeClr val="tx1"/>
                </a:solidFill>
                <a:latin typeface="+mn-lt"/>
                <a:ea typeface="+mn-ea"/>
                <a:cs typeface="+mn-cs"/>
              </a:rPr>
              <a:t> is augmented by adding </a:t>
            </a:r>
            <a:r>
              <a:rPr lang="en-US" sz="1200" i="1" kern="1200" baseline="0" dirty="0" smtClean="0">
                <a:solidFill>
                  <a:schemeClr val="tx1"/>
                </a:solidFill>
                <a:latin typeface="+mn-lt"/>
                <a:ea typeface="+mn-ea"/>
                <a:cs typeface="+mn-cs"/>
              </a:rPr>
              <a:t>n − k (3 here) 0s to the right-hand side </a:t>
            </a:r>
            <a:r>
              <a:rPr lang="en-US" sz="1200" kern="1200" baseline="0" dirty="0" smtClean="0">
                <a:solidFill>
                  <a:schemeClr val="tx1"/>
                </a:solidFill>
                <a:latin typeface="+mn-lt"/>
                <a:ea typeface="+mn-ea"/>
                <a:cs typeface="+mn-cs"/>
              </a:rPr>
              <a:t>of the word. The </a:t>
            </a:r>
            <a:r>
              <a:rPr lang="en-US" sz="1200" i="1" kern="1200" baseline="0" dirty="0" smtClean="0">
                <a:solidFill>
                  <a:schemeClr val="tx1"/>
                </a:solidFill>
                <a:latin typeface="+mn-lt"/>
                <a:ea typeface="+mn-ea"/>
                <a:cs typeface="+mn-cs"/>
              </a:rPr>
              <a:t>n-bit result is fed into the generator. The generator uses a divisor of size n − k + 1 (4 here), predefined and agreed upon. The generator divides the augmented </a:t>
            </a:r>
            <a:r>
              <a:rPr lang="en-US" sz="1200" kern="1200" baseline="0" dirty="0" err="1" smtClean="0">
                <a:solidFill>
                  <a:schemeClr val="tx1"/>
                </a:solidFill>
                <a:latin typeface="+mn-lt"/>
                <a:ea typeface="+mn-ea"/>
                <a:cs typeface="+mn-cs"/>
              </a:rPr>
              <a:t>dataword</a:t>
            </a:r>
            <a:r>
              <a:rPr lang="en-US" sz="1200" kern="1200" baseline="0" dirty="0" smtClean="0">
                <a:solidFill>
                  <a:schemeClr val="tx1"/>
                </a:solidFill>
                <a:latin typeface="+mn-lt"/>
                <a:ea typeface="+mn-ea"/>
                <a:cs typeface="+mn-cs"/>
              </a:rPr>
              <a:t> by the divisor (modulo-2 division). The quotient of the division is discarded; the remainder (</a:t>
            </a:r>
            <a:r>
              <a:rPr lang="en-US" sz="1200" i="1" kern="1200" baseline="0" dirty="0" smtClean="0">
                <a:solidFill>
                  <a:schemeClr val="tx1"/>
                </a:solidFill>
                <a:latin typeface="+mn-lt"/>
                <a:ea typeface="+mn-ea"/>
                <a:cs typeface="+mn-cs"/>
              </a:rPr>
              <a:t>r2r1r0) is appended to the </a:t>
            </a:r>
            <a:r>
              <a:rPr lang="en-US" sz="1200" i="1" kern="1200" baseline="0" dirty="0" err="1" smtClean="0">
                <a:solidFill>
                  <a:schemeClr val="tx1"/>
                </a:solidFill>
                <a:latin typeface="+mn-lt"/>
                <a:ea typeface="+mn-ea"/>
                <a:cs typeface="+mn-cs"/>
              </a:rPr>
              <a:t>dataword</a:t>
            </a:r>
            <a:r>
              <a:rPr lang="en-US" sz="1200" i="1" kern="1200" baseline="0" dirty="0" smtClean="0">
                <a:solidFill>
                  <a:schemeClr val="tx1"/>
                </a:solidFill>
                <a:latin typeface="+mn-lt"/>
                <a:ea typeface="+mn-ea"/>
                <a:cs typeface="+mn-cs"/>
              </a:rPr>
              <a:t> to create the codeword.</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decoder receives the codeword (possibly corrupted in transition). A copy of all </a:t>
            </a:r>
            <a:r>
              <a:rPr lang="en-US" sz="1200" i="1" kern="1200" baseline="0" dirty="0" smtClean="0">
                <a:solidFill>
                  <a:schemeClr val="tx1"/>
                </a:solidFill>
                <a:latin typeface="+mn-lt"/>
                <a:ea typeface="+mn-ea"/>
                <a:cs typeface="+mn-cs"/>
              </a:rPr>
              <a:t>n bits is fed to the checker, which is a replica of the generator. The remainder produced </a:t>
            </a:r>
            <a:r>
              <a:rPr lang="en-US" sz="1200" kern="1200" baseline="0" dirty="0" smtClean="0">
                <a:solidFill>
                  <a:schemeClr val="tx1"/>
                </a:solidFill>
                <a:latin typeface="+mn-lt"/>
                <a:ea typeface="+mn-ea"/>
                <a:cs typeface="+mn-cs"/>
              </a:rPr>
              <a:t>by the checker is a syndrome of </a:t>
            </a:r>
            <a:r>
              <a:rPr lang="en-US" sz="1200" i="1" kern="1200" baseline="0" dirty="0" smtClean="0">
                <a:solidFill>
                  <a:schemeClr val="tx1"/>
                </a:solidFill>
                <a:latin typeface="+mn-lt"/>
                <a:ea typeface="+mn-ea"/>
                <a:cs typeface="+mn-cs"/>
              </a:rPr>
              <a:t>n − k (3 here) bits, which is fed to the decision logic </a:t>
            </a:r>
            <a:r>
              <a:rPr lang="en-US" sz="1200" kern="1200" baseline="0" dirty="0" smtClean="0">
                <a:solidFill>
                  <a:schemeClr val="tx1"/>
                </a:solidFill>
                <a:latin typeface="+mn-lt"/>
                <a:ea typeface="+mn-ea"/>
                <a:cs typeface="+mn-cs"/>
              </a:rPr>
              <a:t>analyzer. The analyzer has a simple function. If the syndrome bits are all 0s, the 4 leftmost bits of the codeword are accepted as the </a:t>
            </a:r>
            <a:r>
              <a:rPr lang="en-US" sz="1200" kern="1200" baseline="0" dirty="0" err="1" smtClean="0">
                <a:solidFill>
                  <a:schemeClr val="tx1"/>
                </a:solidFill>
                <a:latin typeface="+mn-lt"/>
                <a:ea typeface="+mn-ea"/>
                <a:cs typeface="+mn-cs"/>
              </a:rPr>
              <a:t>dataword</a:t>
            </a:r>
            <a:r>
              <a:rPr lang="en-US" sz="1200" kern="1200" baseline="0" dirty="0" smtClean="0">
                <a:solidFill>
                  <a:schemeClr val="tx1"/>
                </a:solidFill>
                <a:latin typeface="+mn-lt"/>
                <a:ea typeface="+mn-ea"/>
                <a:cs typeface="+mn-cs"/>
              </a:rPr>
              <a:t> (interpreted as no error); otherwise, the 4 bits are discarded (error). </a:t>
            </a:r>
            <a:endParaRPr lang="en-US"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24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process of modulo-2 binary division is the same as the familiar division process we use for decimal numbers. However, addition and subtraction in this case are the same; we use the XOR operation to do both. As in decimal division, the process is done step by step. In each step, a copy of the divisor is </a:t>
            </a:r>
            <a:r>
              <a:rPr lang="en-US" sz="1200" kern="1200" baseline="0" dirty="0" err="1" smtClean="0">
                <a:solidFill>
                  <a:schemeClr val="tx1"/>
                </a:solidFill>
                <a:latin typeface="+mn-lt"/>
                <a:ea typeface="+mn-ea"/>
                <a:cs typeface="+mn-cs"/>
              </a:rPr>
              <a:t>XORed</a:t>
            </a:r>
            <a:r>
              <a:rPr lang="en-US" sz="1200" kern="1200" baseline="0" dirty="0" smtClean="0">
                <a:solidFill>
                  <a:schemeClr val="tx1"/>
                </a:solidFill>
                <a:latin typeface="+mn-lt"/>
                <a:ea typeface="+mn-ea"/>
                <a:cs typeface="+mn-cs"/>
              </a:rPr>
              <a:t> with the 4 bits of the dividend. The result of the XOR operation (remainder) is 3 bits (in this case), which is used for the next step after 1 extra bit is pulled down to make it 4 bits long. There is one important point we need to remember in this type of division. If the leftmost bit of the dividend (or the part used in each step) is 0, the step cannot use the regular divisor; we need to use an all-0s divisor.</a:t>
            </a:r>
          </a:p>
          <a:p>
            <a:r>
              <a:rPr lang="en-US" sz="1200" kern="1200" baseline="0" dirty="0" smtClean="0">
                <a:solidFill>
                  <a:schemeClr val="tx1"/>
                </a:solidFill>
                <a:latin typeface="+mn-lt"/>
                <a:ea typeface="+mn-ea"/>
                <a:cs typeface="+mn-cs"/>
              </a:rPr>
              <a:t>When there are no bits left to pull down, we have a result. The 3-bit remainder forms the </a:t>
            </a:r>
            <a:r>
              <a:rPr lang="en-US" sz="1200" b="1" kern="1200" baseline="0" dirty="0" smtClean="0">
                <a:solidFill>
                  <a:schemeClr val="tx1"/>
                </a:solidFill>
                <a:latin typeface="+mn-lt"/>
                <a:ea typeface="+mn-ea"/>
                <a:cs typeface="+mn-cs"/>
              </a:rPr>
              <a:t>check bits (</a:t>
            </a:r>
            <a:r>
              <a:rPr lang="en-US" sz="1200" b="1" i="1" kern="1200" baseline="0" dirty="0" smtClean="0">
                <a:solidFill>
                  <a:schemeClr val="tx1"/>
                </a:solidFill>
                <a:latin typeface="+mn-lt"/>
                <a:ea typeface="+mn-ea"/>
                <a:cs typeface="+mn-cs"/>
              </a:rPr>
              <a:t>r2, r1, and r0). They are appended to the </a:t>
            </a:r>
            <a:r>
              <a:rPr lang="en-US" sz="1200" b="1" i="1" kern="1200" baseline="0" dirty="0" err="1" smtClean="0">
                <a:solidFill>
                  <a:schemeClr val="tx1"/>
                </a:solidFill>
                <a:latin typeface="+mn-lt"/>
                <a:ea typeface="+mn-ea"/>
                <a:cs typeface="+mn-cs"/>
              </a:rPr>
              <a:t>dataword</a:t>
            </a:r>
            <a:r>
              <a:rPr lang="en-US" sz="1200" b="1" i="1" kern="1200" baseline="0" dirty="0" smtClean="0">
                <a:solidFill>
                  <a:schemeClr val="tx1"/>
                </a:solidFill>
                <a:latin typeface="+mn-lt"/>
                <a:ea typeface="+mn-ea"/>
                <a:cs typeface="+mn-cs"/>
              </a:rPr>
              <a:t> to create the </a:t>
            </a:r>
            <a:r>
              <a:rPr lang="en-US" sz="1200" kern="1200" baseline="0" dirty="0" smtClean="0">
                <a:solidFill>
                  <a:schemeClr val="tx1"/>
                </a:solidFill>
                <a:latin typeface="+mn-lt"/>
                <a:ea typeface="+mn-ea"/>
                <a:cs typeface="+mn-cs"/>
              </a:rPr>
              <a:t>codeword.</a:t>
            </a:r>
          </a:p>
          <a:p>
            <a:r>
              <a:rPr lang="en-US" sz="1200" b="1" i="1" kern="1200" baseline="0" dirty="0" smtClean="0">
                <a:solidFill>
                  <a:schemeClr val="tx1"/>
                </a:solidFill>
                <a:latin typeface="+mn-lt"/>
                <a:ea typeface="+mn-ea"/>
                <a:cs typeface="+mn-cs"/>
              </a:rPr>
              <a:t>Divisor: </a:t>
            </a:r>
            <a:r>
              <a:rPr lang="en-US" sz="1200" kern="1200" baseline="0" dirty="0" smtClean="0">
                <a:solidFill>
                  <a:schemeClr val="tx1"/>
                </a:solidFill>
                <a:latin typeface="+mn-lt"/>
                <a:ea typeface="+mn-ea"/>
                <a:cs typeface="+mn-cs"/>
              </a:rPr>
              <a:t>We may be wondering how the divisor 1011 is chosen. This depends on the expectation we have from the code. We will show some standard divisors later in the chapter (Table 10.4) after we discuss polynomials.</a:t>
            </a:r>
            <a:endParaRPr lang="en-US"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25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codeword can change during transmission. The decoder does the same division process as the encoder. The remainder of the division is the syndrome. If the syndrome is all 0s, there is no error with a high probability; the </a:t>
            </a:r>
            <a:r>
              <a:rPr lang="en-US" sz="1200" kern="1200" baseline="0" dirty="0" err="1" smtClean="0">
                <a:solidFill>
                  <a:schemeClr val="tx1"/>
                </a:solidFill>
                <a:latin typeface="+mn-lt"/>
                <a:ea typeface="+mn-ea"/>
                <a:cs typeface="+mn-cs"/>
              </a:rPr>
              <a:t>dataword</a:t>
            </a:r>
            <a:r>
              <a:rPr lang="en-US" sz="1200" kern="1200" baseline="0" dirty="0" smtClean="0">
                <a:solidFill>
                  <a:schemeClr val="tx1"/>
                </a:solidFill>
                <a:latin typeface="+mn-lt"/>
                <a:ea typeface="+mn-ea"/>
                <a:cs typeface="+mn-cs"/>
              </a:rPr>
              <a:t> is separated from the received codeword and accepted. Otherwise, everything is discarded. Figure 10.7 shows two cases: The left-hand figure shows the value of the syndrome when no error has occurred; the syndrome is 000. The right-hand part of the figure shows the case in which there is a single error. The syndrome is not all 0s (it is 011).</a:t>
            </a:r>
            <a:endParaRPr lang="en-US"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26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result is </a:t>
            </a:r>
            <a:r>
              <a:rPr lang="en-US" sz="1200" i="1" kern="1200" baseline="0" dirty="0" smtClean="0">
                <a:solidFill>
                  <a:schemeClr val="tx1"/>
                </a:solidFill>
                <a:latin typeface="+mn-lt"/>
                <a:ea typeface="+mn-ea"/>
                <a:cs typeface="+mn-cs"/>
              </a:rPr>
              <a:t>x6 + x3. Division is straightforward. We </a:t>
            </a:r>
            <a:r>
              <a:rPr lang="en-US" sz="1200" kern="1200" baseline="0" dirty="0" smtClean="0">
                <a:solidFill>
                  <a:schemeClr val="tx1"/>
                </a:solidFill>
                <a:latin typeface="+mn-lt"/>
                <a:ea typeface="+mn-ea"/>
                <a:cs typeface="+mn-cs"/>
              </a:rPr>
              <a:t>divide the first term of the dividend, </a:t>
            </a:r>
            <a:r>
              <a:rPr lang="en-US" sz="1200" i="1" kern="1200" baseline="0" dirty="0" smtClean="0">
                <a:solidFill>
                  <a:schemeClr val="tx1"/>
                </a:solidFill>
                <a:latin typeface="+mn-lt"/>
                <a:ea typeface="+mn-ea"/>
                <a:cs typeface="+mn-cs"/>
              </a:rPr>
              <a:t>x6, by the first term of the divisor, x3. The first term</a:t>
            </a:r>
          </a:p>
          <a:p>
            <a:r>
              <a:rPr lang="en-US" sz="1200" kern="1200" baseline="0" dirty="0" smtClean="0">
                <a:solidFill>
                  <a:schemeClr val="tx1"/>
                </a:solidFill>
                <a:latin typeface="+mn-lt"/>
                <a:ea typeface="+mn-ea"/>
                <a:cs typeface="+mn-cs"/>
              </a:rPr>
              <a:t>of the quotient is then </a:t>
            </a:r>
            <a:r>
              <a:rPr lang="en-US" sz="1200" i="1" kern="1200" baseline="0" dirty="0" smtClean="0">
                <a:solidFill>
                  <a:schemeClr val="tx1"/>
                </a:solidFill>
                <a:latin typeface="+mn-lt"/>
                <a:ea typeface="+mn-ea"/>
                <a:cs typeface="+mn-cs"/>
              </a:rPr>
              <a:t>x6/x3, or x3. Then we multiply x3 by the divisor and subtract </a:t>
            </a:r>
            <a:r>
              <a:rPr lang="en-US" sz="1200" kern="1200" baseline="0" dirty="0" smtClean="0">
                <a:solidFill>
                  <a:schemeClr val="tx1"/>
                </a:solidFill>
                <a:latin typeface="+mn-lt"/>
                <a:ea typeface="+mn-ea"/>
                <a:cs typeface="+mn-cs"/>
              </a:rPr>
              <a:t>(according to our previous definition of subtraction) the result from the dividend. The result is </a:t>
            </a:r>
            <a:r>
              <a:rPr lang="en-US" sz="1200" i="1" kern="1200" baseline="0" dirty="0" smtClean="0">
                <a:solidFill>
                  <a:schemeClr val="tx1"/>
                </a:solidFill>
                <a:latin typeface="+mn-lt"/>
                <a:ea typeface="+mn-ea"/>
                <a:cs typeface="+mn-cs"/>
              </a:rPr>
              <a:t>x4, with a degree greater than the divisor’s degree; we continue to divide until </a:t>
            </a:r>
            <a:r>
              <a:rPr lang="en-US" sz="1200" kern="1200" baseline="0" dirty="0" smtClean="0">
                <a:solidFill>
                  <a:schemeClr val="tx1"/>
                </a:solidFill>
                <a:latin typeface="+mn-lt"/>
                <a:ea typeface="+mn-ea"/>
                <a:cs typeface="+mn-cs"/>
              </a:rPr>
              <a:t>the degree of the remainder is less than the degree of the divisor.</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It can be seen that the polynomial representation can easily simplify the operation of division in this case, because the two steps involving all-0s divisors are not needed here. (Of course, one could argue that the all-0s divisor step can also be eliminated in binary division.) In a polynomial representation, the divisor is normally referred to as the </a:t>
            </a:r>
            <a:r>
              <a:rPr lang="en-US" sz="1200" b="1" i="1" kern="1200" baseline="0" dirty="0" smtClean="0">
                <a:solidFill>
                  <a:schemeClr val="tx1"/>
                </a:solidFill>
                <a:latin typeface="+mn-lt"/>
                <a:ea typeface="+mn-ea"/>
                <a:cs typeface="+mn-cs"/>
              </a:rPr>
              <a:t>generator polynomial t(x).</a:t>
            </a:r>
            <a:endParaRPr lang="en-US"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27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a:lnSpc>
                <a:spcPct val="100000"/>
              </a:lnSpc>
            </a:pPr>
            <a:r>
              <a:rPr lang="en-US" sz="1200" spc="10" dirty="0" smtClean="0">
                <a:solidFill>
                  <a:srgbClr val="3E3E3E"/>
                </a:solidFill>
                <a:latin typeface="+mn-lt"/>
                <a:cs typeface="Calibri"/>
              </a:rPr>
              <a:t>Simple cyclic codes (discussed till now) - the check bits and syndromes can be calculated by simple algebra</a:t>
            </a:r>
            <a:endParaRPr lang="en-US" sz="1200" dirty="0" smtClean="0">
              <a:latin typeface="+mn-lt"/>
              <a:cs typeface="Calibri"/>
            </a:endParaRPr>
          </a:p>
          <a:p>
            <a:pPr marL="0">
              <a:lnSpc>
                <a:spcPct val="100000"/>
              </a:lnSpc>
            </a:pPr>
            <a:r>
              <a:rPr lang="en-US" sz="1200" spc="10" dirty="0" smtClean="0">
                <a:solidFill>
                  <a:srgbClr val="3E3E3E"/>
                </a:solidFill>
                <a:latin typeface="+mn-lt"/>
                <a:cs typeface="Calibri"/>
              </a:rPr>
              <a:t>Reed- Solomon code - More powerful polynomials that are based on abstract algebra involving Galois fields</a:t>
            </a:r>
            <a:endParaRPr lang="en-US" sz="1200" dirty="0" smtClean="0">
              <a:latin typeface="+mn-lt"/>
              <a:cs typeface="Calibri"/>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spc="10" dirty="0" smtClean="0">
                <a:solidFill>
                  <a:srgbClr val="3E3E3E"/>
                </a:solidFill>
                <a:latin typeface="+mn-lt"/>
                <a:cs typeface="Calibri"/>
              </a:rPr>
              <a:t>used today for both detection and correction</a:t>
            </a:r>
            <a:endParaRPr lang="en-US" sz="1200" dirty="0" smtClean="0">
              <a:latin typeface="+mn-lt"/>
              <a:cs typeface="Calibri"/>
            </a:endParaRPr>
          </a:p>
          <a:p>
            <a:endParaRPr lang="en-US" dirty="0"/>
          </a:p>
        </p:txBody>
      </p:sp>
      <p:sp>
        <p:nvSpPr>
          <p:cNvPr id="4" name="Slide Number Placeholder 3"/>
          <p:cNvSpPr>
            <a:spLocks noGrp="1"/>
          </p:cNvSpPr>
          <p:nvPr>
            <p:ph type="sldNum" sz="quarter" idx="10"/>
          </p:nvPr>
        </p:nvSpPr>
        <p:spPr/>
        <p:txBody>
          <a:bodyPr/>
          <a:lstStyle/>
          <a:p>
            <a:fld id="{1B5DD572-C993-48CE-B837-79040D94BC8A}"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2441448"/>
          </a:xfrm>
        </p:spPr>
        <p:txBody>
          <a:bodyPr anchor="b">
            <a:normAutofit/>
          </a:bodyPr>
          <a:lstStyle>
            <a:lvl1pPr algn="l">
              <a:lnSpc>
                <a:spcPct val="85000"/>
              </a:lnSpc>
              <a:defRPr sz="72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95800"/>
            <a:ext cx="7543800" cy="1447800"/>
          </a:xfrm>
        </p:spPr>
        <p:txBody>
          <a:bodyPr lIns="91440" rIns="91440">
            <a:normAutofit/>
          </a:bodyPr>
          <a:lstStyle>
            <a:lvl1pPr marL="0" indent="0" algn="r">
              <a:buNone/>
              <a:defRPr sz="2800" b="1" i="1" cap="none" spc="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53EB9878-0156-450F-AF36-82B960D45CCB}" type="datetime1">
              <a:rPr lang="en-US" smtClean="0"/>
              <a:pPr/>
              <a:t>6/19/2023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cxnSp>
        <p:nvCxnSpPr>
          <p:cNvPr id="9" name="Straight Connector 8"/>
          <p:cNvCxnSpPr/>
          <p:nvPr/>
        </p:nvCxnSpPr>
        <p:spPr>
          <a:xfrm>
            <a:off x="905744" y="3200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480585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dirty="0"/>
              <a:t>Click to edit Master title style</a:t>
            </a:r>
          </a:p>
        </p:txBody>
      </p:sp>
      <p:sp>
        <p:nvSpPr>
          <p:cNvPr id="3" name="Content Placeholder 2"/>
          <p:cNvSpPr>
            <a:spLocks noGrp="1"/>
          </p:cNvSpPr>
          <p:nvPr>
            <p:ph idx="1"/>
          </p:nvPr>
        </p:nvSpPr>
        <p:spPr>
          <a:xfrm>
            <a:off x="198303" y="1345139"/>
            <a:ext cx="8780444" cy="4523955"/>
          </a:xfrm>
        </p:spPr>
        <p:txBody>
          <a:bodyPr>
            <a:normAutofit/>
          </a:bodyPr>
          <a:lstStyle>
            <a:lvl1pPr marL="231775" indent="-176213">
              <a:buFont typeface="Arial" panose="020B0604020202020204" pitchFamily="34" charset="0"/>
              <a:buChar char="•"/>
              <a:defRPr sz="2800"/>
            </a:lvl1pPr>
            <a:lvl2pPr marL="461963" indent="-182563">
              <a:defRPr sz="2400"/>
            </a:lvl2pPr>
            <a:lvl3pPr marL="682625" indent="-182563">
              <a:defRPr sz="1800"/>
            </a:lvl3pPr>
            <a:lvl4pPr marL="858838" indent="-182563">
              <a:defRPr sz="1800"/>
            </a:lvl4pPr>
            <a:lvl5pPr marL="1090613" indent="-182563">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25AB199-F982-4E58-9303-D0E607FDD927}" type="datetime1">
              <a:rPr lang="en-US" smtClean="0"/>
              <a:pPr/>
              <a:t>6/19/2023</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xmlns="" val="117706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2E5544-04A8-46DD-A0DF-C55B306828B2}" type="datetime1">
              <a:rPr lang="en-US" smtClean="0"/>
              <a:pPr/>
              <a:t>6/19/2023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538438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09320" y="286605"/>
            <a:ext cx="8780444" cy="96843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09320" y="1388125"/>
            <a:ext cx="4316960" cy="4480969"/>
          </a:xfrm>
        </p:spPr>
        <p:txBody>
          <a:bodyPr>
            <a:normAutofit/>
          </a:bodyPr>
          <a:lstStyle>
            <a:lvl1pPr marL="176213" indent="-176213">
              <a:buFont typeface="Arial" panose="020B0604020202020204" pitchFamily="34" charset="0"/>
              <a:buChar char="•"/>
              <a:defRPr sz="2400"/>
            </a:lvl1pPr>
            <a:lvl2pPr>
              <a:defRPr sz="2000"/>
            </a:lvl2pPr>
            <a:lvl3pPr>
              <a:defRPr sz="16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3439" y="1388126"/>
            <a:ext cx="4326325" cy="4480970"/>
          </a:xfrm>
        </p:spPr>
        <p:txBody>
          <a:bodyPr>
            <a:normAutofit/>
          </a:bodyPr>
          <a:lstStyle>
            <a:lvl1pPr marL="176213" indent="-176213">
              <a:buFont typeface="Arial" panose="020B0604020202020204" pitchFamily="34" charset="0"/>
              <a:buChar char="•"/>
              <a:defRPr sz="2400"/>
            </a:lvl1pPr>
            <a:lvl2pPr>
              <a:defRPr sz="2000"/>
            </a:lvl2pPr>
            <a:lvl3pPr>
              <a:defRPr sz="1600"/>
            </a:lvl3pPr>
            <a:lvl4pPr>
              <a:defRPr sz="16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8E349463-599D-4A45-8A92-757BC420B215}" type="datetime1">
              <a:rPr lang="en-US" smtClean="0"/>
              <a:pPr/>
              <a:t>6/19/2023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180785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98304" y="286605"/>
            <a:ext cx="8769426" cy="9687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98304" y="1344058"/>
            <a:ext cx="4327976" cy="647584"/>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8304" y="2080339"/>
            <a:ext cx="4327976" cy="37887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44058"/>
            <a:ext cx="4304290" cy="647584"/>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080339"/>
            <a:ext cx="4304290" cy="37887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FEFE8C-7BAD-4FD8-8F68-52FF2619C559}" type="datetime1">
              <a:rPr lang="en-US" smtClean="0"/>
              <a:pPr/>
              <a:t>6/19/2023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492227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3D7DA5-49DF-4EC4-8EBF-FBFB08A529EC}" type="datetime1">
              <a:rPr lang="en-US" smtClean="0"/>
              <a:pPr/>
              <a:t>6/19/2023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944584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8D7F1B8-F9EC-475F-A5B2-48706A1A0353}" type="datetime1">
              <a:rPr lang="en-US" smtClean="0"/>
              <a:pPr/>
              <a:t>6/19/2023</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780564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BF02C669-F485-4FE6-8C05-13097599D497}" type="datetime1">
              <a:rPr lang="en-US" smtClean="0"/>
              <a:pPr/>
              <a:t>6/19/2023</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25344" y="6459786"/>
            <a:ext cx="984019" cy="365125"/>
          </a:xfrm>
          <a:prstGeom prst="rect">
            <a:avLst/>
          </a:prstGeom>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248776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extLst>
                <a:ext uri="{28A0092B-C50C-407E-A947-70E740481C1C}">
                  <a14:useLocalDpi xmlns:a14="http://schemas.microsoft.com/office/drawing/2010/main" xmlns="" val="0"/>
                </a:ext>
              </a:extLst>
            </a:blip>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375E2F1-A2DD-4C6C-B002-F37189101480}" type="datetime1">
              <a:rPr lang="en-US" smtClean="0"/>
              <a:pPr/>
              <a:t>6/19/2023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1429258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1FBA6FE-FC75-40A5-9BB9-1FE8BCF42E52}" type="datetime1">
              <a:rPr lang="en-US" smtClean="0"/>
              <a:pPr/>
              <a:t>6/19/2023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2303133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100ACB-FD78-4096-9A8F-7C3FCC0EBD44}" type="datetime1">
              <a:rPr lang="en-US" smtClean="0"/>
              <a:pPr/>
              <a:t>6/19/2023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425344" y="6459786"/>
            <a:ext cx="984019" cy="365125"/>
          </a:xfrm>
          <a:prstGeom prst="rect">
            <a:avLst/>
          </a:prstGeo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xmlns="" val="39813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98303" y="228600"/>
            <a:ext cx="8780443" cy="91515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98303" y="1345139"/>
            <a:ext cx="8780444" cy="4523955"/>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E67C515C-A6DD-4B19-82D0-806A58EB767A}" type="datetime1">
              <a:rPr lang="en-US" smtClean="0"/>
              <a:pPr/>
              <a:t>6/19/2023</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cxnSp>
        <p:nvCxnSpPr>
          <p:cNvPr id="10" name="Straight Connector 9"/>
          <p:cNvCxnSpPr/>
          <p:nvPr/>
        </p:nvCxnSpPr>
        <p:spPr>
          <a:xfrm flipV="1">
            <a:off x="201087" y="1143753"/>
            <a:ext cx="8777659" cy="819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8747393" y="6544018"/>
            <a:ext cx="341760" cy="25391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57F1E4F-1CFF-5643-939E-217C01CDF565}" type="slidenum">
              <a:rPr lang="en-US" sz="1050" kern="1200" smtClean="0">
                <a:solidFill>
                  <a:srgbClr val="FFFFFF"/>
                </a:solidFill>
                <a:latin typeface="+mn-lt"/>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lang="en-US" sz="1050" kern="1200" dirty="0">
              <a:solidFill>
                <a:srgbClr val="FFFFFF"/>
              </a:solidFill>
              <a:latin typeface="+mn-lt"/>
              <a:ea typeface="+mn-ea"/>
              <a:cs typeface="+mn-cs"/>
            </a:endParaRPr>
          </a:p>
        </p:txBody>
      </p:sp>
    </p:spTree>
    <p:extLst>
      <p:ext uri="{BB962C8B-B14F-4D97-AF65-F5344CB8AC3E}">
        <p14:creationId xmlns:p14="http://schemas.microsoft.com/office/powerpoint/2010/main" xmlns="" val="376727847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hdr="0" ftr="0" dt="0"/>
  <p:txStyles>
    <p:titleStyle>
      <a:lvl1pPr algn="l" defTabSz="914400" rtl="0" eaLnBrk="1" latinLnBrk="0" hangingPunct="1">
        <a:lnSpc>
          <a:spcPct val="85000"/>
        </a:lnSpc>
        <a:spcBef>
          <a:spcPct val="0"/>
        </a:spcBef>
        <a:buNone/>
        <a:defRPr sz="5400" b="1" kern="1200" spc="-50" baseline="0">
          <a:solidFill>
            <a:schemeClr val="tx1">
              <a:lumMod val="75000"/>
              <a:lumOff val="25000"/>
            </a:schemeClr>
          </a:solidFill>
          <a:effectLst>
            <a:outerShdw blurRad="38100" dist="38100" dir="2700000" algn="tl">
              <a:srgbClr val="000000">
                <a:alpha val="43137"/>
              </a:srgbClr>
            </a:outerShdw>
          </a:effectLst>
          <a:latin typeface="+mj-lt"/>
          <a:ea typeface="+mj-ea"/>
          <a:cs typeface="+mj-cs"/>
        </a:defRPr>
      </a:lvl1pPr>
    </p:titleStyle>
    <p:bodyStyle>
      <a:lvl1pPr marL="176213" indent="-176213"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10F77E-C959-4680-9C8E-617BE5BF9925}"/>
              </a:ext>
            </a:extLst>
          </p:cNvPr>
          <p:cNvSpPr>
            <a:spLocks noGrp="1"/>
          </p:cNvSpPr>
          <p:nvPr>
            <p:ph type="ctrTitle"/>
          </p:nvPr>
        </p:nvSpPr>
        <p:spPr/>
        <p:txBody>
          <a:bodyPr>
            <a:noAutofit/>
          </a:bodyPr>
          <a:lstStyle/>
          <a:p>
            <a:r>
              <a:rPr lang="en-US" sz="5400" dirty="0" smtClean="0">
                <a:solidFill>
                  <a:srgbClr val="C00000"/>
                </a:solidFill>
              </a:rPr>
              <a:t>Data Link Control (DLC)</a:t>
            </a:r>
            <a:endParaRPr lang="en-US" sz="5400" dirty="0">
              <a:solidFill>
                <a:srgbClr val="C00000"/>
              </a:solidFill>
            </a:endParaRPr>
          </a:p>
        </p:txBody>
      </p:sp>
      <p:sp>
        <p:nvSpPr>
          <p:cNvPr id="6" name="TextBox 5">
            <a:extLst>
              <a:ext uri="{FF2B5EF4-FFF2-40B4-BE49-F238E27FC236}">
                <a16:creationId xmlns:a16="http://schemas.microsoft.com/office/drawing/2014/main" xmlns="" id="{15A623F6-8E78-4D86-8CB7-DC326FEAEE45}"/>
              </a:ext>
            </a:extLst>
          </p:cNvPr>
          <p:cNvSpPr txBox="1"/>
          <p:nvPr/>
        </p:nvSpPr>
        <p:spPr>
          <a:xfrm>
            <a:off x="1143000" y="3224561"/>
            <a:ext cx="6298455" cy="461665"/>
          </a:xfrm>
          <a:prstGeom prst="rect">
            <a:avLst/>
          </a:prstGeom>
          <a:noFill/>
        </p:spPr>
        <p:txBody>
          <a:bodyPr wrap="none" rtlCol="0">
            <a:spAutoFit/>
          </a:bodyPr>
          <a:lstStyle/>
          <a:p>
            <a:r>
              <a:rPr lang="en-US" sz="2400" dirty="0" smtClean="0"/>
              <a:t>AI42/AD42</a:t>
            </a:r>
            <a:r>
              <a:rPr lang="en-US" sz="2400" dirty="0" smtClean="0"/>
              <a:t> </a:t>
            </a:r>
            <a:r>
              <a:rPr lang="en-US" sz="2400" dirty="0"/>
              <a:t>Data </a:t>
            </a:r>
            <a:r>
              <a:rPr lang="en-US" sz="2400" dirty="0" smtClean="0"/>
              <a:t>Communication and Networking</a:t>
            </a:r>
            <a:endParaRPr lang="en-US" sz="2400" dirty="0"/>
          </a:p>
        </p:txBody>
      </p:sp>
    </p:spTree>
    <p:extLst>
      <p:ext uri="{BB962C8B-B14F-4D97-AF65-F5344CB8AC3E}">
        <p14:creationId xmlns:p14="http://schemas.microsoft.com/office/powerpoint/2010/main" xmlns="" val="40663629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Framing</a:t>
            </a:r>
            <a:endParaRPr lang="en-US" dirty="0"/>
          </a:p>
        </p:txBody>
      </p:sp>
      <p:sp>
        <p:nvSpPr>
          <p:cNvPr id="3" name="Content Placeholder 2"/>
          <p:cNvSpPr>
            <a:spLocks noGrp="1"/>
          </p:cNvSpPr>
          <p:nvPr>
            <p:ph idx="1"/>
          </p:nvPr>
        </p:nvSpPr>
        <p:spPr>
          <a:xfrm>
            <a:off x="198303" y="1345139"/>
            <a:ext cx="8780444" cy="4979461"/>
          </a:xfrm>
        </p:spPr>
        <p:txBody>
          <a:bodyPr>
            <a:normAutofit fontScale="92500" lnSpcReduction="10000"/>
          </a:bodyPr>
          <a:lstStyle/>
          <a:p>
            <a:r>
              <a:rPr lang="en-US" i="1" dirty="0" smtClean="0"/>
              <a:t>Framing in the data-link layer separates a message from one source to a destination </a:t>
            </a:r>
            <a:r>
              <a:rPr lang="en-US" dirty="0" smtClean="0"/>
              <a:t>by adding a sender address and a destination address</a:t>
            </a:r>
          </a:p>
          <a:p>
            <a:pPr lvl="1"/>
            <a:r>
              <a:rPr lang="en-US" dirty="0" smtClean="0"/>
              <a:t>The destination address defines where the packet is to go</a:t>
            </a:r>
          </a:p>
          <a:p>
            <a:pPr lvl="1"/>
            <a:r>
              <a:rPr lang="en-US" dirty="0" smtClean="0"/>
              <a:t>The sender address helps the recipient acknowledge the receipt</a:t>
            </a:r>
          </a:p>
          <a:p>
            <a:r>
              <a:rPr lang="en-US" dirty="0" smtClean="0"/>
              <a:t>Why the whole message not packed in one frame?</a:t>
            </a:r>
          </a:p>
          <a:p>
            <a:pPr lvl="1"/>
            <a:r>
              <a:rPr lang="en-US" dirty="0" smtClean="0"/>
              <a:t>A frame can be very large, making flow and error control very inefficient </a:t>
            </a:r>
          </a:p>
          <a:p>
            <a:pPr lvl="1"/>
            <a:r>
              <a:rPr lang="en-US" dirty="0" smtClean="0"/>
              <a:t>When a message is carried in one very large frame, even a single-bit error would require the retransmission of the whole frame</a:t>
            </a:r>
          </a:p>
          <a:p>
            <a:r>
              <a:rPr lang="en-US" dirty="0" smtClean="0"/>
              <a:t>When a message is divided into smaller frames, a single-bit error affects only that small frame</a:t>
            </a:r>
          </a:p>
          <a:p>
            <a:pPr lvl="1"/>
            <a:r>
              <a:rPr lang="en-US" dirty="0" smtClean="0"/>
              <a:t>Frame Size?</a:t>
            </a:r>
          </a:p>
          <a:p>
            <a:pPr lvl="2"/>
            <a:r>
              <a:rPr lang="en-US" dirty="0" smtClean="0">
                <a:solidFill>
                  <a:srgbClr val="0033CC"/>
                </a:solidFill>
                <a:latin typeface="Times New Roman" pitchFamily="18" charset="0"/>
              </a:rPr>
              <a:t>Fixed-Size Framing</a:t>
            </a:r>
            <a:endParaRPr lang="fr-FR" dirty="0" smtClean="0">
              <a:solidFill>
                <a:srgbClr val="0033CC"/>
              </a:solidFill>
              <a:latin typeface="Times New Roman" pitchFamily="18" charset="0"/>
            </a:endParaRPr>
          </a:p>
          <a:p>
            <a:pPr lvl="2"/>
            <a:r>
              <a:rPr lang="fr-FR" dirty="0" smtClean="0">
                <a:solidFill>
                  <a:srgbClr val="0033CC"/>
                </a:solidFill>
                <a:latin typeface="Times New Roman" pitchFamily="18" charset="0"/>
              </a:rPr>
              <a:t>Variable-Size </a:t>
            </a:r>
            <a:r>
              <a:rPr lang="fr-FR" dirty="0" err="1" smtClean="0">
                <a:solidFill>
                  <a:srgbClr val="0033CC"/>
                </a:solidFill>
                <a:latin typeface="Times New Roman" pitchFamily="18" charset="0"/>
              </a:rPr>
              <a:t>Framing</a:t>
            </a:r>
            <a:endParaRPr lang="en-US" dirty="0" smtClean="0">
              <a:solidFill>
                <a:srgbClr val="0033CC"/>
              </a:solidFill>
              <a:latin typeface="Times New Roman" pitchFamily="18" charset="0"/>
            </a:endParaRPr>
          </a:p>
          <a:p>
            <a:pPr lvl="1"/>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Framing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solidFill>
                  <a:srgbClr val="0033CC"/>
                </a:solidFill>
                <a:latin typeface="Times New Roman" pitchFamily="18" charset="0"/>
              </a:rPr>
              <a:t>Fixed-Size Framing</a:t>
            </a:r>
            <a:endParaRPr lang="fr-FR" dirty="0" smtClean="0">
              <a:solidFill>
                <a:srgbClr val="0033CC"/>
              </a:solidFill>
              <a:latin typeface="Times New Roman" pitchFamily="18" charset="0"/>
            </a:endParaRPr>
          </a:p>
          <a:p>
            <a:pPr lvl="1"/>
            <a:r>
              <a:rPr lang="en-US" dirty="0" smtClean="0"/>
              <a:t>no need for defining the boundaries of the frames</a:t>
            </a:r>
          </a:p>
          <a:p>
            <a:pPr lvl="1"/>
            <a:r>
              <a:rPr lang="en-US" dirty="0" smtClean="0"/>
              <a:t>the size itself can be used as a delimiter</a:t>
            </a:r>
          </a:p>
          <a:p>
            <a:pPr lvl="1"/>
            <a:r>
              <a:rPr lang="en-US" dirty="0" smtClean="0"/>
              <a:t>An example of this type of framing is the ATM WAN, which uses frames of fixed size called </a:t>
            </a:r>
            <a:r>
              <a:rPr lang="en-US" i="1" dirty="0" smtClean="0"/>
              <a:t>cells</a:t>
            </a:r>
          </a:p>
          <a:p>
            <a:pPr lvl="2"/>
            <a:r>
              <a:rPr lang="en-US" dirty="0" smtClean="0"/>
              <a:t>ATM: Asynchronous Transfer Mode( connection oriented, high-speed network technology that is used in both LAN and WAN over optical fiber and operates </a:t>
            </a:r>
            <a:r>
              <a:rPr lang="en-US" dirty="0" err="1" smtClean="0"/>
              <a:t>upto</a:t>
            </a:r>
            <a:r>
              <a:rPr lang="en-US" dirty="0" smtClean="0"/>
              <a:t> gigabit speed )</a:t>
            </a:r>
            <a:endParaRPr lang="en-US" i="1" dirty="0" smtClean="0"/>
          </a:p>
          <a:p>
            <a:r>
              <a:rPr lang="fr-FR" dirty="0" smtClean="0">
                <a:solidFill>
                  <a:srgbClr val="0033CC"/>
                </a:solidFill>
                <a:latin typeface="Times New Roman" pitchFamily="18" charset="0"/>
              </a:rPr>
              <a:t>Variable-Size </a:t>
            </a:r>
            <a:r>
              <a:rPr lang="en-US" dirty="0" smtClean="0">
                <a:solidFill>
                  <a:srgbClr val="0033CC"/>
                </a:solidFill>
                <a:latin typeface="Times New Roman" pitchFamily="18" charset="0"/>
              </a:rPr>
              <a:t>Framing - </a:t>
            </a:r>
          </a:p>
          <a:p>
            <a:pPr lvl="1"/>
            <a:r>
              <a:rPr lang="en-US" dirty="0" smtClean="0"/>
              <a:t>need a way to define the end of one frame and the beginning of the next</a:t>
            </a:r>
          </a:p>
          <a:p>
            <a:pPr lvl="1"/>
            <a:r>
              <a:rPr lang="en-US" dirty="0" smtClean="0"/>
              <a:t>Historically, two approaches were used for this purpose: </a:t>
            </a:r>
          </a:p>
          <a:p>
            <a:pPr lvl="2"/>
            <a:r>
              <a:rPr lang="en-US" dirty="0" smtClean="0"/>
              <a:t>a character-oriented </a:t>
            </a:r>
            <a:r>
              <a:rPr lang="en-US" i="1" dirty="0" smtClean="0"/>
              <a:t>(or byte-oriented) </a:t>
            </a:r>
            <a:r>
              <a:rPr lang="en-US" dirty="0" smtClean="0"/>
              <a:t>approach </a:t>
            </a:r>
          </a:p>
          <a:p>
            <a:pPr lvl="2"/>
            <a:r>
              <a:rPr lang="en-US" dirty="0" smtClean="0"/>
              <a:t>a bit-oriented approach</a:t>
            </a:r>
          </a:p>
          <a:p>
            <a:pPr lvl="1"/>
            <a:r>
              <a:rPr lang="en-US" dirty="0" smtClean="0"/>
              <a:t>prevalent in local-area networks</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Character-Oriented Framing</a:t>
            </a:r>
            <a:endParaRPr lang="en-US" dirty="0"/>
          </a:p>
        </p:txBody>
      </p:sp>
      <p:sp>
        <p:nvSpPr>
          <p:cNvPr id="3" name="Content Placeholder 2"/>
          <p:cNvSpPr>
            <a:spLocks noGrp="1"/>
          </p:cNvSpPr>
          <p:nvPr>
            <p:ph idx="1"/>
          </p:nvPr>
        </p:nvSpPr>
        <p:spPr/>
        <p:txBody>
          <a:bodyPr>
            <a:normAutofit/>
          </a:bodyPr>
          <a:lstStyle/>
          <a:p>
            <a:r>
              <a:rPr lang="en-US" dirty="0" smtClean="0"/>
              <a:t>Data to be carried are 8-bit characters from a coding system such as ASCII </a:t>
            </a:r>
          </a:p>
          <a:p>
            <a:r>
              <a:rPr lang="en-US" dirty="0" smtClean="0"/>
              <a:t>The header (also multiples of 8 bits) normally carries </a:t>
            </a:r>
          </a:p>
          <a:p>
            <a:pPr lvl="1"/>
            <a:r>
              <a:rPr lang="en-US" dirty="0" smtClean="0"/>
              <a:t>the source and destination addresses </a:t>
            </a:r>
          </a:p>
          <a:p>
            <a:pPr lvl="1"/>
            <a:r>
              <a:rPr lang="en-US" dirty="0" smtClean="0"/>
              <a:t>other control information</a:t>
            </a:r>
          </a:p>
          <a:p>
            <a:pPr lvl="1"/>
            <a:r>
              <a:rPr lang="en-US" dirty="0" smtClean="0"/>
              <a:t>the trailer, which carries error detection redundant bits </a:t>
            </a:r>
          </a:p>
          <a:p>
            <a:r>
              <a:rPr lang="en-US" dirty="0" smtClean="0"/>
              <a:t>To separate one frame from the next, an 8-bit (1-byte) flag is added at the beginning and the end of a frame</a:t>
            </a:r>
          </a:p>
          <a:p>
            <a:pPr lvl="1"/>
            <a:r>
              <a:rPr lang="en-US" dirty="0" smtClean="0"/>
              <a:t>The flag composed of protocol-dependent special characters</a:t>
            </a:r>
          </a:p>
        </p:txBody>
      </p:sp>
      <p:pic>
        <p:nvPicPr>
          <p:cNvPr id="4" name="Picture 6"/>
          <p:cNvPicPr>
            <a:picLocks noChangeAspect="1" noChangeArrowheads="1"/>
          </p:cNvPicPr>
          <p:nvPr/>
        </p:nvPicPr>
        <p:blipFill>
          <a:blip r:embed="rId2"/>
          <a:srcRect/>
          <a:stretch>
            <a:fillRect/>
          </a:stretch>
        </p:blipFill>
        <p:spPr bwMode="auto">
          <a:xfrm>
            <a:off x="685800" y="5334000"/>
            <a:ext cx="6781800" cy="94154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with flag </a:t>
            </a:r>
            <a:endParaRPr lang="en-US" dirty="0"/>
          </a:p>
        </p:txBody>
      </p:sp>
      <p:sp>
        <p:nvSpPr>
          <p:cNvPr id="3" name="Content Placeholder 2"/>
          <p:cNvSpPr>
            <a:spLocks noGrp="1"/>
          </p:cNvSpPr>
          <p:nvPr>
            <p:ph idx="1"/>
          </p:nvPr>
        </p:nvSpPr>
        <p:spPr/>
        <p:txBody>
          <a:bodyPr>
            <a:normAutofit/>
          </a:bodyPr>
          <a:lstStyle/>
          <a:p>
            <a:r>
              <a:rPr lang="en-US" dirty="0" smtClean="0"/>
              <a:t>Text communication:  flag could be selected to be any character not used for text communication</a:t>
            </a:r>
          </a:p>
          <a:p>
            <a:r>
              <a:rPr lang="en-US" dirty="0" smtClean="0"/>
              <a:t>Sending other types of information such as graphs, audio, and video: any character used for the flag could also be part of the information</a:t>
            </a:r>
          </a:p>
          <a:p>
            <a:r>
              <a:rPr lang="en-US" dirty="0" smtClean="0"/>
              <a:t>If flag is  a part of the information, the receiver, when it encounters this pattern in the middle of the data, thinks it has reached the end of the frame</a:t>
            </a:r>
          </a:p>
          <a:p>
            <a:pPr>
              <a:buNone/>
            </a:pPr>
            <a:endParaRPr lang="en-US" dirty="0" smtClean="0"/>
          </a:p>
          <a:p>
            <a:pPr>
              <a:buNone/>
            </a:pPr>
            <a:endParaRPr 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to Flag Problem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Add a byte-stuffing strategy to character-oriented framing</a:t>
            </a:r>
          </a:p>
          <a:p>
            <a:r>
              <a:rPr lang="en-US" dirty="0" smtClean="0"/>
              <a:t>In </a:t>
            </a:r>
            <a:r>
              <a:rPr lang="en-US" b="1" dirty="0" smtClean="0"/>
              <a:t>byte stuffing (or character stuffing), a special </a:t>
            </a:r>
            <a:r>
              <a:rPr lang="en-US" dirty="0" smtClean="0"/>
              <a:t>byte is added to the data section of the frame when there is a character with the same pattern as the flag</a:t>
            </a:r>
          </a:p>
          <a:p>
            <a:r>
              <a:rPr lang="en-US" dirty="0" smtClean="0"/>
              <a:t>The data section is stuffed with an extra byte</a:t>
            </a:r>
          </a:p>
          <a:p>
            <a:pPr lvl="1"/>
            <a:r>
              <a:rPr lang="en-US" dirty="0" smtClean="0"/>
              <a:t>called the </a:t>
            </a:r>
            <a:r>
              <a:rPr lang="en-US" i="1" dirty="0" smtClean="0"/>
              <a:t>escape character (ESC) and has a predefined bit pattern</a:t>
            </a:r>
          </a:p>
          <a:p>
            <a:r>
              <a:rPr lang="en-US" i="1" dirty="0" smtClean="0"/>
              <a:t>Whenever the </a:t>
            </a:r>
            <a:r>
              <a:rPr lang="en-US" dirty="0" smtClean="0"/>
              <a:t>receiver encounters the ESC character, it removes it from the data section and treats the next character as data, not as a delimiting flag</a:t>
            </a:r>
          </a:p>
          <a:p>
            <a:r>
              <a:rPr lang="en-US" dirty="0" smtClean="0"/>
              <a:t>If the escape character is part of the text, an extra one is added to show that the second one is part of the text</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rPr>
              <a:t>Byte stuffing and </a:t>
            </a:r>
            <a:r>
              <a:rPr lang="en-US" dirty="0" err="1" smtClean="0">
                <a:latin typeface="Times New Roman" pitchFamily="18" charset="0"/>
              </a:rPr>
              <a:t>unstuffing</a:t>
            </a:r>
            <a:endParaRPr lang="en-US" dirty="0"/>
          </a:p>
        </p:txBody>
      </p:sp>
      <p:sp>
        <p:nvSpPr>
          <p:cNvPr id="3" name="Content Placeholder 2"/>
          <p:cNvSpPr>
            <a:spLocks noGrp="1"/>
          </p:cNvSpPr>
          <p:nvPr>
            <p:ph idx="1"/>
          </p:nvPr>
        </p:nvSpPr>
        <p:spPr>
          <a:xfrm>
            <a:off x="152400" y="5410200"/>
            <a:ext cx="8780444" cy="916094"/>
          </a:xfrm>
        </p:spPr>
        <p:txBody>
          <a:bodyPr>
            <a:normAutofit fontScale="85000" lnSpcReduction="20000"/>
          </a:bodyPr>
          <a:lstStyle/>
          <a:p>
            <a:r>
              <a:rPr lang="en-US" dirty="0" smtClean="0"/>
              <a:t>The universal coding systems in use today, such as Unicode, have 16-bit and 32-bit characters that conflict with 8-bit characters</a:t>
            </a:r>
          </a:p>
          <a:p>
            <a:pPr lvl="1"/>
            <a:r>
              <a:rPr lang="en-US" dirty="0" smtClean="0"/>
              <a:t>bit-oriented protocols</a:t>
            </a:r>
            <a:endParaRPr lang="en-US" dirty="0"/>
          </a:p>
        </p:txBody>
      </p:sp>
      <p:pic>
        <p:nvPicPr>
          <p:cNvPr id="4" name="Picture 6"/>
          <p:cNvPicPr>
            <a:picLocks noChangeAspect="1" noChangeArrowheads="1"/>
          </p:cNvPicPr>
          <p:nvPr/>
        </p:nvPicPr>
        <p:blipFill>
          <a:blip r:embed="rId2"/>
          <a:srcRect/>
          <a:stretch>
            <a:fillRect/>
          </a:stretch>
        </p:blipFill>
        <p:spPr bwMode="auto">
          <a:xfrm>
            <a:off x="762000" y="1143000"/>
            <a:ext cx="7331075" cy="406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Bit-Oriented Framing</a:t>
            </a:r>
            <a:endParaRPr lang="en-US" dirty="0"/>
          </a:p>
        </p:txBody>
      </p:sp>
      <p:sp>
        <p:nvSpPr>
          <p:cNvPr id="3" name="Content Placeholder 2"/>
          <p:cNvSpPr>
            <a:spLocks noGrp="1"/>
          </p:cNvSpPr>
          <p:nvPr>
            <p:ph idx="1"/>
          </p:nvPr>
        </p:nvSpPr>
        <p:spPr/>
        <p:txBody>
          <a:bodyPr/>
          <a:lstStyle/>
          <a:p>
            <a:r>
              <a:rPr lang="en-US" dirty="0" smtClean="0"/>
              <a:t>Data section of a frame is a sequence of bits to be interpreted by the upper layer as text, graphic, audio, video, and so on</a:t>
            </a:r>
          </a:p>
          <a:p>
            <a:r>
              <a:rPr lang="en-US" dirty="0" smtClean="0"/>
              <a:t>In addition to headers (and possible trailers), need a delimiter to separate one frame from the other</a:t>
            </a:r>
          </a:p>
          <a:p>
            <a:pPr lvl="1"/>
            <a:r>
              <a:rPr lang="en-US" dirty="0" smtClean="0"/>
              <a:t>Most protocols use a special 8-bit pattern flag, 01111110, as the delimiter to define the beginning and the end of the frame</a:t>
            </a:r>
            <a:endParaRPr lang="en-US" dirty="0"/>
          </a:p>
        </p:txBody>
      </p:sp>
      <p:pic>
        <p:nvPicPr>
          <p:cNvPr id="4" name="Picture 6"/>
          <p:cNvPicPr>
            <a:picLocks noChangeAspect="1" noChangeArrowheads="1"/>
          </p:cNvPicPr>
          <p:nvPr/>
        </p:nvPicPr>
        <p:blipFill>
          <a:blip r:embed="rId2"/>
          <a:srcRect/>
          <a:stretch>
            <a:fillRect/>
          </a:stretch>
        </p:blipFill>
        <p:spPr bwMode="auto">
          <a:xfrm>
            <a:off x="609600" y="4572000"/>
            <a:ext cx="6800850" cy="12604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Bit-Oriented Framing</a:t>
            </a:r>
            <a:endParaRPr lang="en-US" dirty="0"/>
          </a:p>
        </p:txBody>
      </p:sp>
      <p:sp>
        <p:nvSpPr>
          <p:cNvPr id="3" name="Content Placeholder 2"/>
          <p:cNvSpPr>
            <a:spLocks noGrp="1"/>
          </p:cNvSpPr>
          <p:nvPr>
            <p:ph idx="1"/>
          </p:nvPr>
        </p:nvSpPr>
        <p:spPr/>
        <p:txBody>
          <a:bodyPr/>
          <a:lstStyle/>
          <a:p>
            <a:r>
              <a:rPr lang="en-US" dirty="0" smtClean="0"/>
              <a:t>Bit stuffing is the process of adding one extra 0 whenever five consecutive 1s follow a 0 in the data, so that the receiver does not mistake the pattern 0111110 for a flag</a:t>
            </a:r>
          </a:p>
          <a:p>
            <a:r>
              <a:rPr lang="en-US" dirty="0" smtClean="0"/>
              <a:t>If the </a:t>
            </a:r>
            <a:r>
              <a:rPr lang="en-US" dirty="0" err="1" smtClean="0"/>
              <a:t>flaglike</a:t>
            </a:r>
            <a:r>
              <a:rPr lang="en-US" dirty="0" smtClean="0"/>
              <a:t> pattern 01111110 appears in the data, it will change to 011111010 (stuffed) and is not mistaken for a flag by the receiver</a:t>
            </a:r>
          </a:p>
          <a:p>
            <a:pPr lvl="1"/>
            <a:r>
              <a:rPr lang="en-US" dirty="0" smtClean="0"/>
              <a:t> The real flag 01111110 is not stuffed by the sender and is recognized by the receiver</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Bit-Oriented Framing</a:t>
            </a:r>
            <a:endParaRPr lang="en-US" dirty="0"/>
          </a:p>
        </p:txBody>
      </p:sp>
      <p:sp>
        <p:nvSpPr>
          <p:cNvPr id="3" name="Content Placeholder 2"/>
          <p:cNvSpPr>
            <a:spLocks noGrp="1"/>
          </p:cNvSpPr>
          <p:nvPr>
            <p:ph idx="1"/>
          </p:nvPr>
        </p:nvSpPr>
        <p:spPr/>
        <p:txBody>
          <a:bodyPr/>
          <a:lstStyle/>
          <a:p>
            <a:endParaRPr lang="en-US"/>
          </a:p>
        </p:txBody>
      </p:sp>
      <p:pic>
        <p:nvPicPr>
          <p:cNvPr id="4" name="Picture 6"/>
          <p:cNvPicPr>
            <a:picLocks noChangeAspect="1" noChangeArrowheads="1"/>
          </p:cNvPicPr>
          <p:nvPr/>
        </p:nvPicPr>
        <p:blipFill>
          <a:blip r:embed="rId2"/>
          <a:srcRect/>
          <a:stretch>
            <a:fillRect/>
          </a:stretch>
        </p:blipFill>
        <p:spPr bwMode="auto">
          <a:xfrm>
            <a:off x="1081088" y="1697038"/>
            <a:ext cx="5776912" cy="409416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a:t>
            </a:r>
            <a:endParaRPr lang="en-US" dirty="0"/>
          </a:p>
        </p:txBody>
      </p:sp>
      <p:sp>
        <p:nvSpPr>
          <p:cNvPr id="3" name="Content Placeholder 2"/>
          <p:cNvSpPr>
            <a:spLocks noGrp="1"/>
          </p:cNvSpPr>
          <p:nvPr>
            <p:ph idx="1"/>
          </p:nvPr>
        </p:nvSpPr>
        <p:spPr/>
        <p:txBody>
          <a:bodyPr/>
          <a:lstStyle/>
          <a:p>
            <a:r>
              <a:rPr lang="en-US" dirty="0" smtClean="0"/>
              <a:t>Byte-stuff the following frame payload in which </a:t>
            </a:r>
          </a:p>
          <a:p>
            <a:pPr lvl="1"/>
            <a:r>
              <a:rPr lang="en-US" dirty="0" smtClean="0"/>
              <a:t>E is the escape byte</a:t>
            </a:r>
          </a:p>
          <a:p>
            <a:pPr lvl="1"/>
            <a:r>
              <a:rPr lang="en-US" dirty="0" smtClean="0"/>
              <a:t>F is the flag byte</a:t>
            </a:r>
          </a:p>
          <a:p>
            <a:pPr lvl="1"/>
            <a:r>
              <a:rPr lang="en-US" dirty="0" smtClean="0"/>
              <a:t>D is a data byte </a:t>
            </a:r>
          </a:p>
          <a:p>
            <a:pPr lvl="1"/>
            <a:r>
              <a:rPr lang="en-US" dirty="0" smtClean="0"/>
              <a:t>other than an escape or a flag character.</a:t>
            </a:r>
          </a:p>
          <a:p>
            <a:pPr lvl="1"/>
            <a:endParaRPr lang="en-US" dirty="0" smtClean="0"/>
          </a:p>
          <a:p>
            <a:pPr lvl="1"/>
            <a:endParaRPr lang="en-US" dirty="0" smtClean="0"/>
          </a:p>
          <a:p>
            <a:pPr lvl="1"/>
            <a:endParaRPr lang="en-US" dirty="0" smtClean="0"/>
          </a:p>
        </p:txBody>
      </p:sp>
      <p:pic>
        <p:nvPicPr>
          <p:cNvPr id="1026" name="Picture 2"/>
          <p:cNvPicPr>
            <a:picLocks noChangeAspect="1" noChangeArrowheads="1"/>
          </p:cNvPicPr>
          <p:nvPr/>
        </p:nvPicPr>
        <p:blipFill>
          <a:blip r:embed="rId2"/>
          <a:srcRect/>
          <a:stretch>
            <a:fillRect/>
          </a:stretch>
        </p:blipFill>
        <p:spPr bwMode="auto">
          <a:xfrm>
            <a:off x="2362200" y="3733800"/>
            <a:ext cx="4000500" cy="381000"/>
          </a:xfrm>
          <a:prstGeom prst="rect">
            <a:avLst/>
          </a:prstGeom>
          <a:noFill/>
          <a:ln w="9525">
            <a:noFill/>
            <a:miter lim="800000"/>
            <a:headEnd/>
            <a:tailEnd/>
          </a:ln>
          <a:effectLst/>
        </p:spPr>
      </p:pic>
      <p:sp>
        <p:nvSpPr>
          <p:cNvPr id="5" name="Rectangle 4"/>
          <p:cNvSpPr/>
          <p:nvPr/>
        </p:nvSpPr>
        <p:spPr>
          <a:xfrm>
            <a:off x="2209800" y="4953000"/>
            <a:ext cx="3918060" cy="369332"/>
          </a:xfrm>
          <a:prstGeom prst="rect">
            <a:avLst/>
          </a:prstGeom>
        </p:spPr>
        <p:txBody>
          <a:bodyPr wrap="none">
            <a:spAutoFit/>
          </a:bodyPr>
          <a:lstStyle/>
          <a:p>
            <a:pPr lvl="1"/>
            <a:r>
              <a:rPr lang="en-US" dirty="0" smtClean="0"/>
              <a:t>F D E </a:t>
            </a:r>
            <a:r>
              <a:rPr lang="en-US" dirty="0" err="1" smtClean="0"/>
              <a:t>E</a:t>
            </a:r>
            <a:r>
              <a:rPr lang="en-US" dirty="0" smtClean="0"/>
              <a:t> D </a:t>
            </a:r>
            <a:r>
              <a:rPr lang="en-US" dirty="0" err="1" smtClean="0"/>
              <a:t>D</a:t>
            </a:r>
            <a:r>
              <a:rPr lang="en-US" dirty="0" smtClean="0"/>
              <a:t> E F D </a:t>
            </a:r>
            <a:r>
              <a:rPr lang="en-US" dirty="0" err="1" smtClean="0"/>
              <a:t>D</a:t>
            </a:r>
            <a:r>
              <a:rPr lang="en-US" dirty="0" smtClean="0"/>
              <a:t> E </a:t>
            </a:r>
            <a:r>
              <a:rPr lang="en-US" dirty="0" err="1" smtClean="0"/>
              <a:t>E</a:t>
            </a:r>
            <a:r>
              <a:rPr lang="en-US" dirty="0" smtClean="0"/>
              <a:t> </a:t>
            </a:r>
            <a:r>
              <a:rPr lang="en-US" dirty="0" err="1" smtClean="0"/>
              <a:t>E</a:t>
            </a:r>
            <a:r>
              <a:rPr lang="en-US" dirty="0" smtClean="0"/>
              <a:t> </a:t>
            </a:r>
            <a:r>
              <a:rPr lang="en-US" dirty="0" err="1" smtClean="0"/>
              <a:t>E</a:t>
            </a:r>
            <a:r>
              <a:rPr lang="en-US" dirty="0" smtClean="0"/>
              <a:t> D E F D F</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lstStyle/>
          <a:p>
            <a:r>
              <a:rPr lang="en-US" dirty="0" err="1" smtClean="0"/>
              <a:t>Unstuff</a:t>
            </a:r>
            <a:r>
              <a:rPr lang="en-US" dirty="0" smtClean="0"/>
              <a:t> the following frame payload in which </a:t>
            </a:r>
          </a:p>
          <a:p>
            <a:pPr lvl="1"/>
            <a:r>
              <a:rPr lang="en-US" dirty="0" smtClean="0"/>
              <a:t>E is the escape byte</a:t>
            </a:r>
          </a:p>
          <a:p>
            <a:pPr lvl="1"/>
            <a:r>
              <a:rPr lang="en-US" dirty="0" smtClean="0"/>
              <a:t>F is the flag byte</a:t>
            </a:r>
          </a:p>
          <a:p>
            <a:pPr lvl="1"/>
            <a:r>
              <a:rPr lang="en-US" dirty="0" smtClean="0"/>
              <a:t>D is a data byte </a:t>
            </a:r>
          </a:p>
          <a:p>
            <a:pPr lvl="1"/>
            <a:r>
              <a:rPr lang="en-US" dirty="0" smtClean="0"/>
              <a:t>other than an escape or a flag character.</a:t>
            </a:r>
            <a:endParaRPr lang="en-US" dirty="0"/>
          </a:p>
        </p:txBody>
      </p:sp>
      <p:pic>
        <p:nvPicPr>
          <p:cNvPr id="2050" name="Picture 2"/>
          <p:cNvPicPr>
            <a:picLocks noChangeAspect="1" noChangeArrowheads="1"/>
          </p:cNvPicPr>
          <p:nvPr/>
        </p:nvPicPr>
        <p:blipFill>
          <a:blip r:embed="rId2"/>
          <a:srcRect/>
          <a:stretch>
            <a:fillRect/>
          </a:stretch>
        </p:blipFill>
        <p:spPr bwMode="auto">
          <a:xfrm>
            <a:off x="2057400" y="3657600"/>
            <a:ext cx="3505200" cy="247650"/>
          </a:xfrm>
          <a:prstGeom prst="rect">
            <a:avLst/>
          </a:prstGeom>
          <a:noFill/>
          <a:ln w="9525">
            <a:noFill/>
            <a:miter lim="800000"/>
            <a:headEnd/>
            <a:tailEnd/>
          </a:ln>
          <a:effectLst/>
        </p:spPr>
      </p:pic>
      <p:sp>
        <p:nvSpPr>
          <p:cNvPr id="5" name="Rectangle 4"/>
          <p:cNvSpPr/>
          <p:nvPr/>
        </p:nvSpPr>
        <p:spPr>
          <a:xfrm>
            <a:off x="2209800" y="4953000"/>
            <a:ext cx="2520242" cy="369332"/>
          </a:xfrm>
          <a:prstGeom prst="rect">
            <a:avLst/>
          </a:prstGeom>
        </p:spPr>
        <p:txBody>
          <a:bodyPr wrap="none">
            <a:spAutoFit/>
          </a:bodyPr>
          <a:lstStyle/>
          <a:p>
            <a:pPr lvl="1"/>
            <a:r>
              <a:rPr lang="en-US" dirty="0" smtClean="0"/>
              <a:t>E  D F D </a:t>
            </a:r>
            <a:r>
              <a:rPr lang="en-US" dirty="0" err="1" smtClean="0"/>
              <a:t>D</a:t>
            </a:r>
            <a:r>
              <a:rPr lang="en-US" dirty="0" smtClean="0"/>
              <a:t> F E D </a:t>
            </a:r>
            <a:r>
              <a:rPr lang="en-US" dirty="0" err="1" smtClean="0"/>
              <a:t>D</a:t>
            </a:r>
            <a:r>
              <a:rPr lang="en-US" dirty="0" smtClean="0"/>
              <a:t> </a:t>
            </a:r>
            <a:r>
              <a:rPr lang="en-US" dirty="0" err="1" smtClean="0"/>
              <a:t>D</a:t>
            </a:r>
            <a:r>
              <a:rPr lang="en-US" dirty="0" smtClean="0"/>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3</a:t>
            </a:r>
            <a:endParaRPr lang="en-US" dirty="0"/>
          </a:p>
        </p:txBody>
      </p:sp>
      <p:sp>
        <p:nvSpPr>
          <p:cNvPr id="3" name="Content Placeholder 2"/>
          <p:cNvSpPr>
            <a:spLocks noGrp="1"/>
          </p:cNvSpPr>
          <p:nvPr>
            <p:ph idx="1"/>
          </p:nvPr>
        </p:nvSpPr>
        <p:spPr/>
        <p:txBody>
          <a:bodyPr/>
          <a:lstStyle/>
          <a:p>
            <a:r>
              <a:rPr lang="en-US" dirty="0" smtClean="0"/>
              <a:t>Bit-stuff the following frame payload:</a:t>
            </a:r>
          </a:p>
          <a:p>
            <a:pPr>
              <a:buNone/>
            </a:pPr>
            <a:r>
              <a:rPr lang="en-US" dirty="0" smtClean="0"/>
              <a:t>		0001111111001111101000111111111110000111</a:t>
            </a:r>
          </a:p>
          <a:p>
            <a:endParaRPr lang="en-US" dirty="0"/>
          </a:p>
        </p:txBody>
      </p:sp>
      <p:sp>
        <p:nvSpPr>
          <p:cNvPr id="6" name="Rectangle 5"/>
          <p:cNvSpPr/>
          <p:nvPr/>
        </p:nvSpPr>
        <p:spPr>
          <a:xfrm>
            <a:off x="609600" y="3886200"/>
            <a:ext cx="8225329" cy="523220"/>
          </a:xfrm>
          <a:prstGeom prst="rect">
            <a:avLst/>
          </a:prstGeom>
        </p:spPr>
        <p:txBody>
          <a:bodyPr wrap="none">
            <a:spAutoFit/>
          </a:bodyPr>
          <a:lstStyle/>
          <a:p>
            <a:pPr marL="0" lvl="1"/>
            <a:r>
              <a:rPr lang="en-US" sz="2800" dirty="0" smtClean="0">
                <a:solidFill>
                  <a:schemeClr val="tx1">
                    <a:lumMod val="75000"/>
                    <a:lumOff val="25000"/>
                  </a:schemeClr>
                </a:solidFill>
              </a:rPr>
              <a:t>00011111</a:t>
            </a:r>
            <a:r>
              <a:rPr lang="en-US" sz="2800" dirty="0" smtClean="0">
                <a:solidFill>
                  <a:srgbClr val="FF0000"/>
                </a:solidFill>
              </a:rPr>
              <a:t>0</a:t>
            </a:r>
            <a:r>
              <a:rPr lang="en-US" sz="2800" dirty="0" smtClean="0">
                <a:solidFill>
                  <a:schemeClr val="tx1">
                    <a:lumMod val="75000"/>
                    <a:lumOff val="25000"/>
                  </a:schemeClr>
                </a:solidFill>
              </a:rPr>
              <a:t>110011111</a:t>
            </a:r>
            <a:r>
              <a:rPr lang="en-US" sz="2800" dirty="0" smtClean="0">
                <a:solidFill>
                  <a:srgbClr val="FF0000"/>
                </a:solidFill>
              </a:rPr>
              <a:t>0</a:t>
            </a:r>
            <a:r>
              <a:rPr lang="en-US" sz="2800" dirty="0" smtClean="0">
                <a:solidFill>
                  <a:schemeClr val="tx1">
                    <a:lumMod val="75000"/>
                    <a:lumOff val="25000"/>
                  </a:schemeClr>
                </a:solidFill>
              </a:rPr>
              <a:t>0100011111</a:t>
            </a:r>
            <a:r>
              <a:rPr lang="en-US" sz="2800" dirty="0" smtClean="0">
                <a:solidFill>
                  <a:srgbClr val="FF0000"/>
                </a:solidFill>
              </a:rPr>
              <a:t>0</a:t>
            </a:r>
            <a:r>
              <a:rPr lang="en-US" sz="2800" dirty="0" smtClean="0">
                <a:solidFill>
                  <a:schemeClr val="tx1">
                    <a:lumMod val="75000"/>
                    <a:lumOff val="25000"/>
                  </a:schemeClr>
                </a:solidFill>
              </a:rPr>
              <a:t>11111</a:t>
            </a:r>
            <a:r>
              <a:rPr lang="en-US" sz="2800" dirty="0" smtClean="0">
                <a:solidFill>
                  <a:srgbClr val="FF0000"/>
                </a:solidFill>
              </a:rPr>
              <a:t>0</a:t>
            </a:r>
            <a:r>
              <a:rPr lang="en-US" sz="2800" dirty="0" smtClean="0">
                <a:solidFill>
                  <a:schemeClr val="tx1">
                    <a:lumMod val="75000"/>
                    <a:lumOff val="25000"/>
                  </a:schemeClr>
                </a:solidFill>
              </a:rPr>
              <a:t>10000111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4</a:t>
            </a:r>
            <a:endParaRPr lang="en-US" dirty="0"/>
          </a:p>
        </p:txBody>
      </p:sp>
      <p:sp>
        <p:nvSpPr>
          <p:cNvPr id="3" name="Content Placeholder 2"/>
          <p:cNvSpPr>
            <a:spLocks noGrp="1"/>
          </p:cNvSpPr>
          <p:nvPr>
            <p:ph idx="1"/>
          </p:nvPr>
        </p:nvSpPr>
        <p:spPr/>
        <p:txBody>
          <a:bodyPr/>
          <a:lstStyle/>
          <a:p>
            <a:r>
              <a:rPr lang="en-US" dirty="0" err="1" smtClean="0"/>
              <a:t>Unstuff</a:t>
            </a:r>
            <a:r>
              <a:rPr lang="en-US" dirty="0" smtClean="0"/>
              <a:t> the following frame payload:</a:t>
            </a:r>
          </a:p>
          <a:p>
            <a:pPr>
              <a:buNone/>
            </a:pPr>
            <a:r>
              <a:rPr lang="en-US" dirty="0" smtClean="0"/>
              <a:t>	00011111000001111101110100111011111000001111</a:t>
            </a:r>
            <a:endParaRPr lang="en-US" dirty="0"/>
          </a:p>
        </p:txBody>
      </p:sp>
      <p:sp>
        <p:nvSpPr>
          <p:cNvPr id="4" name="Rectangle 3"/>
          <p:cNvSpPr/>
          <p:nvPr/>
        </p:nvSpPr>
        <p:spPr>
          <a:xfrm>
            <a:off x="609600" y="2971800"/>
            <a:ext cx="8225329" cy="954107"/>
          </a:xfrm>
          <a:prstGeom prst="rect">
            <a:avLst/>
          </a:prstGeom>
        </p:spPr>
        <p:txBody>
          <a:bodyPr wrap="none">
            <a:spAutoFit/>
          </a:bodyPr>
          <a:lstStyle/>
          <a:p>
            <a:pPr>
              <a:buNone/>
            </a:pPr>
            <a:r>
              <a:rPr lang="en-US" sz="2800" dirty="0" smtClean="0"/>
              <a:t>00011111</a:t>
            </a:r>
            <a:r>
              <a:rPr lang="en-US" sz="2800" dirty="0" smtClean="0">
                <a:solidFill>
                  <a:srgbClr val="FF0000"/>
                </a:solidFill>
              </a:rPr>
              <a:t>0</a:t>
            </a:r>
            <a:r>
              <a:rPr lang="en-US" sz="2800" dirty="0" smtClean="0"/>
              <a:t>000011111</a:t>
            </a:r>
            <a:r>
              <a:rPr lang="en-US" sz="2800" dirty="0" smtClean="0">
                <a:solidFill>
                  <a:srgbClr val="FF0000"/>
                </a:solidFill>
              </a:rPr>
              <a:t>0</a:t>
            </a:r>
            <a:r>
              <a:rPr lang="en-US" sz="2800" dirty="0" smtClean="0"/>
              <a:t>1110100111011111</a:t>
            </a:r>
            <a:r>
              <a:rPr lang="en-US" sz="2800" dirty="0" smtClean="0">
                <a:solidFill>
                  <a:srgbClr val="FF0000"/>
                </a:solidFill>
              </a:rPr>
              <a:t>0</a:t>
            </a:r>
            <a:r>
              <a:rPr lang="en-US" sz="2800" dirty="0" smtClean="0"/>
              <a:t>00001111</a:t>
            </a:r>
            <a:endParaRPr lang="en-US" sz="2800" dirty="0" smtClean="0">
              <a:solidFill>
                <a:schemeClr val="tx1">
                  <a:lumMod val="75000"/>
                  <a:lumOff val="25000"/>
                </a:schemeClr>
              </a:solidFill>
            </a:endParaRPr>
          </a:p>
          <a:p>
            <a:pPr>
              <a:buNone/>
            </a:pPr>
            <a:r>
              <a:rPr lang="en-US" sz="2800" dirty="0" smtClean="0">
                <a:solidFill>
                  <a:schemeClr val="tx1">
                    <a:lumMod val="75000"/>
                    <a:lumOff val="25000"/>
                  </a:schemeClr>
                </a:solidFill>
              </a:rPr>
              <a:t>00011111000011111111010011101111100001111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r>
              <a:rPr lang="en-US" b="0" dirty="0"/>
              <a:t>Error Control</a:t>
            </a:r>
          </a:p>
        </p:txBody>
      </p:sp>
      <p:sp>
        <p:nvSpPr>
          <p:cNvPr id="405507" name="Rectangle 3"/>
          <p:cNvSpPr>
            <a:spLocks noGrp="1" noChangeArrowheads="1"/>
          </p:cNvSpPr>
          <p:nvPr>
            <p:ph type="body" idx="1"/>
          </p:nvPr>
        </p:nvSpPr>
        <p:spPr>
          <a:xfrm>
            <a:off x="198303" y="1345139"/>
            <a:ext cx="8780444" cy="4979461"/>
          </a:xfrm>
        </p:spPr>
        <p:txBody>
          <a:bodyPr>
            <a:normAutofit fontScale="85000" lnSpcReduction="20000"/>
          </a:bodyPr>
          <a:lstStyle/>
          <a:p>
            <a:r>
              <a:rPr lang="en-IN" dirty="0" smtClean="0"/>
              <a:t>At the data-link layer, corrupted frame needs to be corrected before it continues its journey to other nodes</a:t>
            </a:r>
            <a:endParaRPr lang="en-US" dirty="0" smtClean="0"/>
          </a:p>
          <a:p>
            <a:r>
              <a:rPr lang="en-US" dirty="0" smtClean="0"/>
              <a:t>Detecting errors </a:t>
            </a:r>
          </a:p>
          <a:p>
            <a:pPr lvl="1"/>
            <a:r>
              <a:rPr lang="en-IN" dirty="0" smtClean="0"/>
              <a:t>block coding</a:t>
            </a:r>
          </a:p>
          <a:p>
            <a:pPr lvl="1"/>
            <a:r>
              <a:rPr lang="en-IN" dirty="0" smtClean="0"/>
              <a:t>cyclic codes – CRC</a:t>
            </a:r>
          </a:p>
          <a:p>
            <a:pPr lvl="1"/>
            <a:r>
              <a:rPr lang="en-IN" dirty="0" smtClean="0"/>
              <a:t>checksums</a:t>
            </a:r>
            <a:endParaRPr lang="en-US" dirty="0"/>
          </a:p>
          <a:p>
            <a:r>
              <a:rPr lang="en-US" dirty="0"/>
              <a:t>Correcting errors</a:t>
            </a:r>
          </a:p>
          <a:p>
            <a:pPr lvl="1"/>
            <a:r>
              <a:rPr lang="en-US" dirty="0"/>
              <a:t>Forward error </a:t>
            </a:r>
            <a:r>
              <a:rPr lang="en-US" dirty="0" smtClean="0"/>
              <a:t>correction</a:t>
            </a:r>
          </a:p>
          <a:p>
            <a:pPr lvl="2"/>
            <a:r>
              <a:rPr lang="en-IN" dirty="0" smtClean="0"/>
              <a:t>Hamming distance</a:t>
            </a:r>
          </a:p>
          <a:p>
            <a:pPr lvl="2"/>
            <a:r>
              <a:rPr lang="en-IN" dirty="0" err="1" smtClean="0"/>
              <a:t>XORing</a:t>
            </a:r>
            <a:r>
              <a:rPr lang="en-IN" dirty="0" smtClean="0"/>
              <a:t> of packets</a:t>
            </a:r>
          </a:p>
          <a:p>
            <a:pPr lvl="2"/>
            <a:r>
              <a:rPr lang="en-IN" dirty="0" smtClean="0"/>
              <a:t>interleaving chunks</a:t>
            </a:r>
          </a:p>
          <a:p>
            <a:pPr lvl="2"/>
            <a:r>
              <a:rPr lang="en-IN" dirty="0" smtClean="0"/>
              <a:t>compounding high and low resolutions packets</a:t>
            </a:r>
            <a:endParaRPr lang="en-US" dirty="0"/>
          </a:p>
          <a:p>
            <a:pPr lvl="1"/>
            <a:r>
              <a:rPr lang="en-US" dirty="0"/>
              <a:t>Automatic repeat request (ARQ</a:t>
            </a:r>
            <a:r>
              <a:rPr lang="en-US" dirty="0" smtClean="0"/>
              <a:t>)</a:t>
            </a:r>
          </a:p>
          <a:p>
            <a:r>
              <a:rPr lang="en-IN" dirty="0" smtClean="0"/>
              <a:t>Most link-layer protocols simply discard the frame and let the upper-layer protocols handle the retransmission of the frame</a:t>
            </a:r>
            <a:endParaRPr lang="en-US" dirty="0" smtClean="0"/>
          </a:p>
        </p:txBody>
      </p:sp>
      <p:sp>
        <p:nvSpPr>
          <p:cNvPr id="2" name="Rectangle: Rounded Corners 1">
            <a:extLst>
              <a:ext uri="{FF2B5EF4-FFF2-40B4-BE49-F238E27FC236}">
                <a16:creationId xmlns:a16="http://schemas.microsoft.com/office/drawing/2014/main" xmlns="" id="{79B705B6-D3C5-46BD-AD44-F75B5D3191D9}"/>
              </a:ext>
            </a:extLst>
          </p:cNvPr>
          <p:cNvSpPr/>
          <p:nvPr/>
        </p:nvSpPr>
        <p:spPr>
          <a:xfrm>
            <a:off x="122103" y="1981200"/>
            <a:ext cx="5059497" cy="289560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84355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228600"/>
            <a:ext cx="9144000" cy="915153"/>
          </a:xfrm>
        </p:spPr>
        <p:txBody>
          <a:bodyPr>
            <a:noAutofit/>
          </a:bodyPr>
          <a:lstStyle/>
          <a:p>
            <a:r>
              <a:rPr lang="en-IN" sz="4000" b="0" dirty="0" smtClean="0"/>
              <a:t>Error Detection and Correction Issues</a:t>
            </a:r>
            <a:endParaRPr lang="en-IN" sz="4000" b="0" dirty="0"/>
          </a:p>
        </p:txBody>
      </p:sp>
      <p:sp>
        <p:nvSpPr>
          <p:cNvPr id="3" name="Content Placeholder 2"/>
          <p:cNvSpPr>
            <a:spLocks noGrp="1"/>
          </p:cNvSpPr>
          <p:nvPr>
            <p:ph idx="1"/>
          </p:nvPr>
        </p:nvSpPr>
        <p:spPr/>
        <p:txBody>
          <a:bodyPr/>
          <a:lstStyle/>
          <a:p>
            <a:r>
              <a:rPr lang="en-IN" dirty="0" smtClean="0">
                <a:solidFill>
                  <a:schemeClr val="tx1"/>
                </a:solidFill>
              </a:rPr>
              <a:t>Types of Errors</a:t>
            </a:r>
          </a:p>
          <a:p>
            <a:pPr lvl="1"/>
            <a:r>
              <a:rPr lang="en-IN" dirty="0" smtClean="0">
                <a:solidFill>
                  <a:schemeClr val="tx1"/>
                </a:solidFill>
              </a:rPr>
              <a:t>Single-bit and burst error</a:t>
            </a:r>
          </a:p>
          <a:p>
            <a:r>
              <a:rPr lang="en-IN" dirty="0" smtClean="0">
                <a:solidFill>
                  <a:schemeClr val="tx1"/>
                </a:solidFill>
              </a:rPr>
              <a:t>Redundancy</a:t>
            </a:r>
          </a:p>
          <a:p>
            <a:pPr lvl="1"/>
            <a:r>
              <a:rPr lang="en-IN" dirty="0" smtClean="0">
                <a:solidFill>
                  <a:schemeClr val="tx1"/>
                </a:solidFill>
              </a:rPr>
              <a:t>some extra bits with our data</a:t>
            </a:r>
          </a:p>
          <a:p>
            <a:r>
              <a:rPr lang="en-IN" dirty="0" smtClean="0">
                <a:solidFill>
                  <a:schemeClr val="tx1"/>
                </a:solidFill>
              </a:rPr>
              <a:t>Detection versus Correction</a:t>
            </a:r>
          </a:p>
          <a:p>
            <a:r>
              <a:rPr lang="en-IN" dirty="0" smtClean="0">
                <a:solidFill>
                  <a:schemeClr val="tx1"/>
                </a:solidFill>
              </a:rPr>
              <a:t>Coding</a:t>
            </a:r>
          </a:p>
          <a:p>
            <a:pPr lvl="1"/>
            <a:r>
              <a:rPr lang="en-IN" dirty="0" smtClean="0">
                <a:solidFill>
                  <a:schemeClr val="tx1"/>
                </a:solidFill>
              </a:rPr>
              <a:t>block coding and convolution coding</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ChangeArrowheads="1"/>
          </p:cNvSpPr>
          <p:nvPr>
            <p:ph type="title"/>
          </p:nvPr>
        </p:nvSpPr>
        <p:spPr/>
        <p:txBody>
          <a:bodyPr/>
          <a:lstStyle/>
          <a:p>
            <a:r>
              <a:rPr lang="en-US" b="0" dirty="0"/>
              <a:t>Types of Errors</a:t>
            </a:r>
          </a:p>
        </p:txBody>
      </p:sp>
      <p:sp>
        <p:nvSpPr>
          <p:cNvPr id="399363" name="Rectangle 3"/>
          <p:cNvSpPr>
            <a:spLocks noGrp="1" noChangeArrowheads="1"/>
          </p:cNvSpPr>
          <p:nvPr>
            <p:ph type="body" idx="1"/>
          </p:nvPr>
        </p:nvSpPr>
        <p:spPr>
          <a:xfrm>
            <a:off x="304800" y="1219200"/>
            <a:ext cx="8610600" cy="4953000"/>
          </a:xfrm>
        </p:spPr>
        <p:txBody>
          <a:bodyPr/>
          <a:lstStyle/>
          <a:p>
            <a:r>
              <a:rPr lang="en-US" dirty="0"/>
              <a:t>Single-bit </a:t>
            </a:r>
            <a:r>
              <a:rPr lang="en-US" dirty="0" smtClean="0">
                <a:solidFill>
                  <a:schemeClr val="tx1"/>
                </a:solidFill>
              </a:rPr>
              <a:t>errors:  </a:t>
            </a:r>
            <a:r>
              <a:rPr lang="en-IN" dirty="0" smtClean="0">
                <a:solidFill>
                  <a:schemeClr val="tx1"/>
                </a:solidFill>
              </a:rPr>
              <a:t>only 1 bit of a given data unit is changed from 1 to 0 or from 0 to 1</a:t>
            </a:r>
            <a:endParaRPr lang="en-US" dirty="0">
              <a:solidFill>
                <a:schemeClr val="tx1"/>
              </a:solidFill>
            </a:endParaRPr>
          </a:p>
          <a:p>
            <a:pPr lvl="1"/>
            <a:endParaRPr lang="en-US" dirty="0"/>
          </a:p>
          <a:p>
            <a:pPr lvl="1"/>
            <a:endParaRPr lang="en-US" dirty="0"/>
          </a:p>
          <a:p>
            <a:pPr lvl="1"/>
            <a:endParaRPr lang="en-US" dirty="0"/>
          </a:p>
          <a:p>
            <a:r>
              <a:rPr lang="en-US" dirty="0"/>
              <a:t>Burst </a:t>
            </a:r>
            <a:r>
              <a:rPr lang="en-US" dirty="0" smtClean="0"/>
              <a:t>errors: </a:t>
            </a:r>
            <a:r>
              <a:rPr lang="en-IN" dirty="0" smtClean="0">
                <a:solidFill>
                  <a:schemeClr val="tx1"/>
                </a:solidFill>
              </a:rPr>
              <a:t>2 or more bits in the data unit is changed from 1 to 0 or from 0 to 1</a:t>
            </a:r>
            <a:endParaRPr lang="en-US" dirty="0"/>
          </a:p>
        </p:txBody>
      </p:sp>
      <p:pic>
        <p:nvPicPr>
          <p:cNvPr id="399364"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676400" y="2057400"/>
            <a:ext cx="5715000" cy="1177869"/>
          </a:xfrm>
          <a:prstGeom prst="rect">
            <a:avLst/>
          </a:prstGeom>
          <a:noFill/>
          <a:ln w="9525">
            <a:noFill/>
            <a:miter lim="800000"/>
            <a:headEnd/>
            <a:tailEnd/>
          </a:ln>
          <a:effectLst/>
        </p:spPr>
      </p:pic>
      <p:pic>
        <p:nvPicPr>
          <p:cNvPr id="399365" name="Picture 5"/>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a:stretch>
            <a:fillRect/>
          </a:stretch>
        </p:blipFill>
        <p:spPr bwMode="auto">
          <a:xfrm>
            <a:off x="4408020" y="3886200"/>
            <a:ext cx="4735980" cy="2286000"/>
          </a:xfrm>
          <a:prstGeom prst="rect">
            <a:avLst/>
          </a:prstGeom>
          <a:noFill/>
          <a:ln w="9525">
            <a:noFill/>
            <a:miter lim="800000"/>
            <a:headEnd/>
            <a:tailEnd/>
          </a:ln>
          <a:effectLst/>
        </p:spPr>
      </p:pic>
      <p:sp>
        <p:nvSpPr>
          <p:cNvPr id="6" name="Rectangle 5"/>
          <p:cNvSpPr/>
          <p:nvPr/>
        </p:nvSpPr>
        <p:spPr>
          <a:xfrm>
            <a:off x="76200" y="4114800"/>
            <a:ext cx="4191000" cy="2308324"/>
          </a:xfrm>
          <a:prstGeom prst="rect">
            <a:avLst/>
          </a:prstGeom>
        </p:spPr>
        <p:txBody>
          <a:bodyPr wrap="square">
            <a:spAutoFit/>
          </a:bodyPr>
          <a:lstStyle/>
          <a:p>
            <a:pPr marL="171450" indent="-171450">
              <a:buFont typeface="Arial" pitchFamily="34" charset="0"/>
              <a:buChar char="•"/>
            </a:pPr>
            <a:r>
              <a:rPr lang="en-IN" dirty="0" smtClean="0"/>
              <a:t>more likely to occur because the duration of the noise signal is normally longer than the duration of 1 bit</a:t>
            </a:r>
          </a:p>
          <a:p>
            <a:pPr marL="171450" indent="-171450">
              <a:buFont typeface="Arial" pitchFamily="34" charset="0"/>
              <a:buChar char="•"/>
            </a:pPr>
            <a:r>
              <a:rPr lang="en-IN" dirty="0" smtClean="0"/>
              <a:t>The number of bits affected depends on the data rate and duration of noise</a:t>
            </a:r>
          </a:p>
          <a:p>
            <a:pPr marL="171450" indent="-171450">
              <a:buFont typeface="Arial" pitchFamily="34" charset="0"/>
              <a:buChar char="•"/>
            </a:pPr>
            <a:r>
              <a:rPr lang="en-IN" dirty="0" smtClean="0"/>
              <a:t>Consider a noise of 1/100 second, 1 kbps data rate can affect 10 bits whereas 1 Mbps data rate affect 10,000 bits</a:t>
            </a:r>
            <a:endParaRPr lang="en-IN" dirty="0"/>
          </a:p>
        </p:txBody>
      </p:sp>
    </p:spTree>
    <p:extLst>
      <p:ext uri="{BB962C8B-B14F-4D97-AF65-F5344CB8AC3E}">
        <p14:creationId xmlns:p14="http://schemas.microsoft.com/office/powerpoint/2010/main" xmlns="" val="2564328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6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936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3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r>
              <a:rPr lang="en-US" b="0" dirty="0"/>
              <a:t>Redundancy</a:t>
            </a:r>
          </a:p>
        </p:txBody>
      </p:sp>
      <p:sp>
        <p:nvSpPr>
          <p:cNvPr id="400387" name="Rectangle 3"/>
          <p:cNvSpPr>
            <a:spLocks noGrp="1" noChangeArrowheads="1"/>
          </p:cNvSpPr>
          <p:nvPr>
            <p:ph type="body" idx="1"/>
          </p:nvPr>
        </p:nvSpPr>
        <p:spPr>
          <a:xfrm>
            <a:off x="152400" y="1345139"/>
            <a:ext cx="8945697" cy="4523955"/>
          </a:xfrm>
        </p:spPr>
        <p:txBody>
          <a:bodyPr/>
          <a:lstStyle/>
          <a:p>
            <a:r>
              <a:rPr lang="en-US" dirty="0"/>
              <a:t>To detect or correct errors, redundant </a:t>
            </a:r>
            <a:r>
              <a:rPr lang="en-US" dirty="0" smtClean="0"/>
              <a:t>bits (</a:t>
            </a:r>
            <a:r>
              <a:rPr lang="en-IN" dirty="0" smtClean="0">
                <a:solidFill>
                  <a:schemeClr val="tx1"/>
                </a:solidFill>
              </a:rPr>
              <a:t>some extra bits)</a:t>
            </a:r>
            <a:r>
              <a:rPr lang="en-US" dirty="0" smtClean="0"/>
              <a:t> </a:t>
            </a:r>
            <a:r>
              <a:rPr lang="en-US" dirty="0"/>
              <a:t>of data must be </a:t>
            </a:r>
            <a:r>
              <a:rPr lang="en-US" dirty="0" smtClean="0"/>
              <a:t>added </a:t>
            </a:r>
            <a:r>
              <a:rPr lang="en-IN" dirty="0" smtClean="0">
                <a:solidFill>
                  <a:schemeClr val="tx1"/>
                </a:solidFill>
              </a:rPr>
              <a:t>by sender and removed by receiver</a:t>
            </a:r>
          </a:p>
          <a:p>
            <a:pPr lvl="1"/>
            <a:r>
              <a:rPr lang="en-IN" dirty="0" smtClean="0">
                <a:solidFill>
                  <a:schemeClr val="tx1"/>
                </a:solidFill>
              </a:rPr>
              <a:t>allows the receiver to detect or correct corrupted bits</a:t>
            </a:r>
            <a:endParaRPr lang="en-US" dirty="0"/>
          </a:p>
        </p:txBody>
      </p:sp>
      <p:pic>
        <p:nvPicPr>
          <p:cNvPr id="40038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33400" y="2895600"/>
            <a:ext cx="7947025" cy="3205163"/>
          </a:xfrm>
          <a:prstGeom prst="rect">
            <a:avLst/>
          </a:prstGeom>
          <a:noFill/>
          <a:ln w="9525">
            <a:noFill/>
            <a:miter lim="800000"/>
            <a:headEnd/>
            <a:tailEnd/>
          </a:ln>
          <a:effectLst/>
        </p:spPr>
      </p:pic>
    </p:spTree>
    <p:extLst>
      <p:ext uri="{BB962C8B-B14F-4D97-AF65-F5344CB8AC3E}">
        <p14:creationId xmlns:p14="http://schemas.microsoft.com/office/powerpoint/2010/main" xmlns="" val="17707404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r>
              <a:rPr lang="en-US" b="0" dirty="0"/>
              <a:t>Coding</a:t>
            </a:r>
          </a:p>
        </p:txBody>
      </p:sp>
      <p:sp>
        <p:nvSpPr>
          <p:cNvPr id="401411" name="Rectangle 3"/>
          <p:cNvSpPr>
            <a:spLocks noGrp="1" noChangeArrowheads="1"/>
          </p:cNvSpPr>
          <p:nvPr>
            <p:ph type="body" idx="1"/>
          </p:nvPr>
        </p:nvSpPr>
        <p:spPr/>
        <p:txBody>
          <a:bodyPr>
            <a:normAutofit lnSpcReduction="10000"/>
          </a:bodyPr>
          <a:lstStyle/>
          <a:p>
            <a:r>
              <a:rPr lang="en-US" sz="2800" dirty="0"/>
              <a:t>Process of adding redundancy for error detection or </a:t>
            </a:r>
            <a:r>
              <a:rPr lang="en-US" sz="2800" dirty="0" smtClean="0"/>
              <a:t>correction </a:t>
            </a:r>
            <a:r>
              <a:rPr lang="en-IN" dirty="0" smtClean="0">
                <a:solidFill>
                  <a:schemeClr val="tx1"/>
                </a:solidFill>
              </a:rPr>
              <a:t>creates a relationship between the redundant bits and the actual data bits</a:t>
            </a:r>
            <a:endParaRPr lang="en-US" sz="2800" dirty="0"/>
          </a:p>
          <a:p>
            <a:r>
              <a:rPr lang="en-US" sz="2800" dirty="0"/>
              <a:t>Two types:</a:t>
            </a:r>
          </a:p>
          <a:p>
            <a:pPr lvl="1"/>
            <a:r>
              <a:rPr lang="en-US" sz="2400" dirty="0"/>
              <a:t>Block codes</a:t>
            </a:r>
          </a:p>
          <a:p>
            <a:pPr lvl="2"/>
            <a:r>
              <a:rPr lang="en-US" sz="2000" dirty="0"/>
              <a:t>Divides the data to be sent into a set of blocks</a:t>
            </a:r>
          </a:p>
          <a:p>
            <a:pPr lvl="2"/>
            <a:r>
              <a:rPr lang="en-US" sz="2000" dirty="0"/>
              <a:t>Extra information attached to each block</a:t>
            </a:r>
          </a:p>
          <a:p>
            <a:pPr lvl="2"/>
            <a:r>
              <a:rPr lang="en-US" sz="2000" dirty="0"/>
              <a:t>Memoryless</a:t>
            </a:r>
          </a:p>
          <a:p>
            <a:pPr lvl="1"/>
            <a:r>
              <a:rPr lang="en-US" sz="2400" dirty="0"/>
              <a:t>Convolutional codes</a:t>
            </a:r>
          </a:p>
          <a:p>
            <a:pPr lvl="2"/>
            <a:r>
              <a:rPr lang="en-US" sz="2000" dirty="0"/>
              <a:t>Treats data as a series of bits, and computes a code over a continuous series</a:t>
            </a:r>
          </a:p>
          <a:p>
            <a:pPr lvl="2"/>
            <a:r>
              <a:rPr lang="en-US" sz="2000" dirty="0"/>
              <a:t>The code computed for a set of bits depends on the current and previous input</a:t>
            </a:r>
          </a:p>
        </p:txBody>
      </p:sp>
      <p:sp>
        <p:nvSpPr>
          <p:cNvPr id="5" name="Rectangle: Rounded Corners 4">
            <a:extLst>
              <a:ext uri="{FF2B5EF4-FFF2-40B4-BE49-F238E27FC236}">
                <a16:creationId xmlns:a16="http://schemas.microsoft.com/office/drawing/2014/main" xmlns="" id="{AF6FCE0F-4305-487B-8454-FE00F65F7BEA}"/>
              </a:ext>
            </a:extLst>
          </p:cNvPr>
          <p:cNvSpPr/>
          <p:nvPr/>
        </p:nvSpPr>
        <p:spPr>
          <a:xfrm>
            <a:off x="228600" y="2971800"/>
            <a:ext cx="8488497" cy="160020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85035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0" dirty="0" smtClean="0"/>
              <a:t>Detection versus Correction</a:t>
            </a:r>
            <a:endParaRPr lang="en-IN" b="0" dirty="0"/>
          </a:p>
        </p:txBody>
      </p:sp>
      <p:sp>
        <p:nvSpPr>
          <p:cNvPr id="3" name="Content Placeholder 2"/>
          <p:cNvSpPr>
            <a:spLocks noGrp="1"/>
          </p:cNvSpPr>
          <p:nvPr>
            <p:ph idx="1"/>
          </p:nvPr>
        </p:nvSpPr>
        <p:spPr/>
        <p:txBody>
          <a:bodyPr>
            <a:normAutofit lnSpcReduction="10000"/>
          </a:bodyPr>
          <a:lstStyle/>
          <a:p>
            <a:r>
              <a:rPr lang="en-IN" dirty="0" smtClean="0">
                <a:solidFill>
                  <a:schemeClr val="tx1"/>
                </a:solidFill>
              </a:rPr>
              <a:t>correction of errors is more difficult than the detection</a:t>
            </a:r>
          </a:p>
          <a:p>
            <a:r>
              <a:rPr lang="en-IN" dirty="0" smtClean="0">
                <a:solidFill>
                  <a:schemeClr val="tx1"/>
                </a:solidFill>
              </a:rPr>
              <a:t>error detection </a:t>
            </a:r>
            <a:r>
              <a:rPr lang="en-IN" dirty="0" smtClean="0">
                <a:solidFill>
                  <a:schemeClr val="tx1"/>
                </a:solidFill>
                <a:sym typeface="Wingdings" pitchFamily="2" charset="2"/>
              </a:rPr>
              <a:t></a:t>
            </a:r>
            <a:r>
              <a:rPr lang="en-IN" dirty="0" smtClean="0">
                <a:solidFill>
                  <a:schemeClr val="tx1"/>
                </a:solidFill>
              </a:rPr>
              <a:t> only looking to see if any error has occurred not the number of corrupted bits</a:t>
            </a:r>
          </a:p>
          <a:p>
            <a:pPr lvl="1"/>
            <a:r>
              <a:rPr lang="en-IN" dirty="0" smtClean="0">
                <a:solidFill>
                  <a:schemeClr val="tx1"/>
                </a:solidFill>
              </a:rPr>
              <a:t>No difference between a single-bit error and a burst error</a:t>
            </a:r>
          </a:p>
          <a:p>
            <a:r>
              <a:rPr lang="en-IN" dirty="0" smtClean="0">
                <a:solidFill>
                  <a:schemeClr val="tx1"/>
                </a:solidFill>
              </a:rPr>
              <a:t>error correction</a:t>
            </a:r>
            <a:r>
              <a:rPr lang="en-IN" dirty="0" smtClean="0">
                <a:solidFill>
                  <a:schemeClr val="tx1"/>
                </a:solidFill>
                <a:sym typeface="Wingdings" pitchFamily="2" charset="2"/>
              </a:rPr>
              <a:t> </a:t>
            </a:r>
            <a:r>
              <a:rPr lang="en-IN" dirty="0" smtClean="0">
                <a:solidFill>
                  <a:schemeClr val="tx1"/>
                </a:solidFill>
              </a:rPr>
              <a:t>need to know the exact number of bits that are corrupted  with their location in the message</a:t>
            </a:r>
          </a:p>
          <a:p>
            <a:pPr lvl="1"/>
            <a:r>
              <a:rPr lang="en-IN" dirty="0" smtClean="0">
                <a:solidFill>
                  <a:schemeClr val="tx1"/>
                </a:solidFill>
              </a:rPr>
              <a:t>8-bit data unit</a:t>
            </a:r>
          </a:p>
          <a:p>
            <a:pPr lvl="2"/>
            <a:r>
              <a:rPr lang="en-IN" dirty="0" smtClean="0">
                <a:solidFill>
                  <a:schemeClr val="tx1"/>
                </a:solidFill>
              </a:rPr>
              <a:t>to correct a single error </a:t>
            </a:r>
            <a:r>
              <a:rPr lang="en-IN" dirty="0" smtClean="0">
                <a:solidFill>
                  <a:schemeClr val="tx1"/>
                </a:solidFill>
                <a:sym typeface="Wingdings" pitchFamily="2" charset="2"/>
              </a:rPr>
              <a:t></a:t>
            </a:r>
            <a:r>
              <a:rPr lang="en-IN" dirty="0" smtClean="0">
                <a:solidFill>
                  <a:schemeClr val="tx1"/>
                </a:solidFill>
              </a:rPr>
              <a:t> need to consider eight possible error locations</a:t>
            </a:r>
          </a:p>
          <a:p>
            <a:pPr lvl="2"/>
            <a:r>
              <a:rPr lang="en-IN" dirty="0" smtClean="0">
                <a:solidFill>
                  <a:schemeClr val="tx1"/>
                </a:solidFill>
              </a:rPr>
              <a:t>to correct two errors </a:t>
            </a:r>
            <a:r>
              <a:rPr lang="en-IN" dirty="0" smtClean="0">
                <a:solidFill>
                  <a:schemeClr val="tx1"/>
                </a:solidFill>
                <a:sym typeface="Wingdings" pitchFamily="2" charset="2"/>
              </a:rPr>
              <a:t></a:t>
            </a:r>
            <a:r>
              <a:rPr lang="en-IN" dirty="0" smtClean="0">
                <a:solidFill>
                  <a:schemeClr val="tx1"/>
                </a:solidFill>
              </a:rPr>
              <a:t> need to consider 28 (permutation of 8 by 2) possible error locations</a:t>
            </a:r>
          </a:p>
          <a:p>
            <a:pPr lvl="1"/>
            <a:r>
              <a:rPr lang="en-IN" dirty="0" smtClean="0">
                <a:solidFill>
                  <a:schemeClr val="tx1"/>
                </a:solidFill>
              </a:rPr>
              <a:t>Receiver find difficulty to correct 10 errors in a data unit of 1000 bits</a:t>
            </a:r>
          </a:p>
          <a:p>
            <a:pPr lvl="2"/>
            <a:endParaRPr lang="en-IN" dirty="0" smtClean="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US" b="0" i="1" dirty="0"/>
              <a:t>Notes</a:t>
            </a:r>
          </a:p>
        </p:txBody>
      </p:sp>
      <p:sp>
        <p:nvSpPr>
          <p:cNvPr id="411651" name="Rectangle 3"/>
          <p:cNvSpPr>
            <a:spLocks noGrp="1" noChangeArrowheads="1"/>
          </p:cNvSpPr>
          <p:nvPr>
            <p:ph type="body" idx="1"/>
          </p:nvPr>
        </p:nvSpPr>
        <p:spPr/>
        <p:txBody>
          <a:bodyPr/>
          <a:lstStyle/>
          <a:p>
            <a:r>
              <a:rPr lang="en-US" dirty="0"/>
              <a:t>An error-detecting/correcting code can detect/correct only the types of errors for which it is designed</a:t>
            </a:r>
          </a:p>
          <a:p>
            <a:pPr lvl="1"/>
            <a:r>
              <a:rPr lang="en-US" dirty="0"/>
              <a:t>Other types of errors may remain undetected.</a:t>
            </a:r>
          </a:p>
          <a:p>
            <a:r>
              <a:rPr lang="en-US" dirty="0">
                <a:solidFill>
                  <a:srgbClr val="FF0000"/>
                </a:solidFill>
              </a:rPr>
              <a:t>There is no way to detect/correct every possible error!</a:t>
            </a:r>
          </a:p>
        </p:txBody>
      </p:sp>
    </p:spTree>
    <p:extLst>
      <p:ext uri="{BB962C8B-B14F-4D97-AF65-F5344CB8AC3E}">
        <p14:creationId xmlns:p14="http://schemas.microsoft.com/office/powerpoint/2010/main" xmlns="" val="31740409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r>
              <a:rPr lang="en-US" b="0" dirty="0"/>
              <a:t>XOR Operation</a:t>
            </a:r>
          </a:p>
        </p:txBody>
      </p:sp>
      <p:sp>
        <p:nvSpPr>
          <p:cNvPr id="402435" name="Rectangle 3"/>
          <p:cNvSpPr>
            <a:spLocks noGrp="1" noChangeArrowheads="1"/>
          </p:cNvSpPr>
          <p:nvPr>
            <p:ph type="body" idx="1"/>
          </p:nvPr>
        </p:nvSpPr>
        <p:spPr/>
        <p:txBody>
          <a:bodyPr/>
          <a:lstStyle/>
          <a:p>
            <a:r>
              <a:rPr lang="en-US" dirty="0"/>
              <a:t>Main operation for computing error detection/correction codes</a:t>
            </a:r>
          </a:p>
          <a:p>
            <a:pPr lvl="1"/>
            <a:r>
              <a:rPr lang="en-US" dirty="0"/>
              <a:t>Simpler and faster than addition; no carry bit!</a:t>
            </a:r>
          </a:p>
          <a:p>
            <a:r>
              <a:rPr lang="en-US" dirty="0"/>
              <a:t>Similar to modulo-2 addition</a:t>
            </a:r>
          </a:p>
        </p:txBody>
      </p:sp>
      <p:pic>
        <p:nvPicPr>
          <p:cNvPr id="402436"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90600" y="3300412"/>
            <a:ext cx="7380288" cy="1804988"/>
          </a:xfrm>
          <a:prstGeom prst="rect">
            <a:avLst/>
          </a:prstGeom>
          <a:noFill/>
          <a:ln w="9525">
            <a:noFill/>
            <a:miter lim="800000"/>
            <a:headEnd/>
            <a:tailEnd/>
          </a:ln>
          <a:effectLst/>
        </p:spPr>
      </p:pic>
    </p:spTree>
    <p:extLst>
      <p:ext uri="{BB962C8B-B14F-4D97-AF65-F5344CB8AC3E}">
        <p14:creationId xmlns:p14="http://schemas.microsoft.com/office/powerpoint/2010/main" xmlns="" val="15240017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noAutofit/>
          </a:bodyPr>
          <a:lstStyle/>
          <a:p>
            <a:r>
              <a:rPr lang="en-US" sz="4400" b="0" dirty="0"/>
              <a:t>Cyclic Redundancy Check (CRC)</a:t>
            </a:r>
          </a:p>
        </p:txBody>
      </p:sp>
      <p:sp>
        <p:nvSpPr>
          <p:cNvPr id="437251" name="Rectangle 3"/>
          <p:cNvSpPr>
            <a:spLocks noGrp="1" noChangeArrowheads="1"/>
          </p:cNvSpPr>
          <p:nvPr>
            <p:ph type="body" idx="1"/>
          </p:nvPr>
        </p:nvSpPr>
        <p:spPr>
          <a:xfrm>
            <a:off x="211156" y="1268939"/>
            <a:ext cx="8780444" cy="1855261"/>
          </a:xfrm>
        </p:spPr>
        <p:txBody>
          <a:bodyPr>
            <a:normAutofit fontScale="92500" lnSpcReduction="20000"/>
          </a:bodyPr>
          <a:lstStyle/>
          <a:p>
            <a:r>
              <a:rPr lang="en-US" dirty="0" smtClean="0">
                <a:solidFill>
                  <a:schemeClr val="tx1"/>
                </a:solidFill>
              </a:rPr>
              <a:t>A subset of cyclic codes </a:t>
            </a:r>
          </a:p>
          <a:p>
            <a:r>
              <a:rPr lang="en-US" dirty="0" smtClean="0">
                <a:solidFill>
                  <a:schemeClr val="tx1"/>
                </a:solidFill>
              </a:rPr>
              <a:t>Has </a:t>
            </a:r>
            <a:r>
              <a:rPr lang="en-US" dirty="0" smtClean="0"/>
              <a:t>both the linear and cyclic properties</a:t>
            </a:r>
            <a:endParaRPr lang="en-US" dirty="0" smtClean="0">
              <a:solidFill>
                <a:schemeClr val="tx1"/>
              </a:solidFill>
            </a:endParaRPr>
          </a:p>
          <a:p>
            <a:r>
              <a:rPr lang="en-US" b="1" dirty="0" smtClean="0">
                <a:solidFill>
                  <a:schemeClr val="tx1"/>
                </a:solidFill>
              </a:rPr>
              <a:t>Used in networks  </a:t>
            </a:r>
            <a:r>
              <a:rPr lang="en-US" dirty="0" smtClean="0">
                <a:solidFill>
                  <a:schemeClr val="tx1"/>
                </a:solidFill>
              </a:rPr>
              <a:t>such as LANs and WANs</a:t>
            </a:r>
            <a:endParaRPr lang="en-US" dirty="0" smtClean="0"/>
          </a:p>
          <a:p>
            <a:r>
              <a:rPr lang="en-US" i="1" dirty="0" smtClean="0"/>
              <a:t>A CRC code with C(7, 4)</a:t>
            </a:r>
            <a:endParaRPr lang="en-US" dirty="0"/>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19200" y="3048000"/>
            <a:ext cx="6629400" cy="3250148"/>
          </a:xfrm>
          <a:prstGeom prst="rect">
            <a:avLst/>
          </a:prstGeom>
          <a:noFill/>
          <a:ln w="9525">
            <a:noFill/>
            <a:miter lim="800000"/>
            <a:headEnd/>
            <a:tailEnd/>
          </a:ln>
          <a:effectLst/>
        </p:spPr>
      </p:pic>
    </p:spTree>
    <p:extLst>
      <p:ext uri="{BB962C8B-B14F-4D97-AF65-F5344CB8AC3E}">
        <p14:creationId xmlns:p14="http://schemas.microsoft.com/office/powerpoint/2010/main" xmlns="" val="3116116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r>
              <a:rPr lang="en-US" b="0" dirty="0"/>
              <a:t>CRC Encoder/Decoder</a:t>
            </a:r>
          </a:p>
        </p:txBody>
      </p:sp>
      <p:pic>
        <p:nvPicPr>
          <p:cNvPr id="441349" name="Picture 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28600" y="1752600"/>
            <a:ext cx="8355013" cy="4386262"/>
          </a:xfrm>
          <a:prstGeom prst="rect">
            <a:avLst/>
          </a:prstGeom>
          <a:noFill/>
          <a:ln w="9525">
            <a:noFill/>
            <a:miter lim="800000"/>
            <a:headEnd/>
            <a:tailEnd/>
          </a:ln>
          <a:effectLst/>
        </p:spPr>
      </p:pic>
      <p:sp>
        <p:nvSpPr>
          <p:cNvPr id="4" name="Rectangle 3"/>
          <p:cNvSpPr/>
          <p:nvPr/>
        </p:nvSpPr>
        <p:spPr>
          <a:xfrm>
            <a:off x="304800" y="1524000"/>
            <a:ext cx="2109873" cy="369332"/>
          </a:xfrm>
          <a:prstGeom prst="rect">
            <a:avLst/>
          </a:prstGeom>
        </p:spPr>
        <p:txBody>
          <a:bodyPr wrap="none">
            <a:spAutoFit/>
          </a:bodyPr>
          <a:lstStyle/>
          <a:p>
            <a:r>
              <a:rPr lang="en-US" dirty="0" smtClean="0"/>
              <a:t>One possible design:</a:t>
            </a:r>
            <a:endParaRPr lang="en-US" dirty="0"/>
          </a:p>
        </p:txBody>
      </p:sp>
      <p:sp>
        <p:nvSpPr>
          <p:cNvPr id="5" name="Rectangle 4"/>
          <p:cNvSpPr/>
          <p:nvPr/>
        </p:nvSpPr>
        <p:spPr>
          <a:xfrm>
            <a:off x="1524000" y="2336884"/>
            <a:ext cx="1066800" cy="253916"/>
          </a:xfrm>
          <a:prstGeom prst="rect">
            <a:avLst/>
          </a:prstGeom>
        </p:spPr>
        <p:txBody>
          <a:bodyPr wrap="square">
            <a:spAutoFit/>
          </a:bodyPr>
          <a:lstStyle/>
          <a:p>
            <a:r>
              <a:rPr lang="en-US" sz="1050" i="1" dirty="0" smtClean="0"/>
              <a:t>k bits (4 here)</a:t>
            </a:r>
            <a:endParaRPr lang="en-US" sz="1050" dirty="0"/>
          </a:p>
        </p:txBody>
      </p:sp>
      <p:sp>
        <p:nvSpPr>
          <p:cNvPr id="6" name="Rectangle 5"/>
          <p:cNvSpPr/>
          <p:nvPr/>
        </p:nvSpPr>
        <p:spPr>
          <a:xfrm>
            <a:off x="1905000" y="5986790"/>
            <a:ext cx="990599" cy="261610"/>
          </a:xfrm>
          <a:prstGeom prst="rect">
            <a:avLst/>
          </a:prstGeom>
        </p:spPr>
        <p:txBody>
          <a:bodyPr wrap="square">
            <a:spAutoFit/>
          </a:bodyPr>
          <a:lstStyle/>
          <a:p>
            <a:r>
              <a:rPr lang="en-US" sz="1100" i="1" dirty="0" smtClean="0"/>
              <a:t>n bits (7 here)</a:t>
            </a:r>
            <a:endParaRPr lang="en-US" sz="1100" dirty="0"/>
          </a:p>
        </p:txBody>
      </p:sp>
      <p:sp>
        <p:nvSpPr>
          <p:cNvPr id="7" name="Rectangle 6"/>
          <p:cNvSpPr/>
          <p:nvPr/>
        </p:nvSpPr>
        <p:spPr>
          <a:xfrm>
            <a:off x="1828800" y="2743200"/>
            <a:ext cx="1447800" cy="646331"/>
          </a:xfrm>
          <a:prstGeom prst="rect">
            <a:avLst/>
          </a:prstGeom>
        </p:spPr>
        <p:txBody>
          <a:bodyPr wrap="square">
            <a:spAutoFit/>
          </a:bodyPr>
          <a:lstStyle/>
          <a:p>
            <a:r>
              <a:rPr lang="en-US" sz="1200" dirty="0" smtClean="0"/>
              <a:t>Added </a:t>
            </a:r>
            <a:r>
              <a:rPr lang="en-US" sz="1200" i="1" dirty="0" smtClean="0"/>
              <a:t>n − k (3 here) 0s to the right-hand side</a:t>
            </a:r>
            <a:endParaRPr lang="en-US" sz="1200" dirty="0"/>
          </a:p>
        </p:txBody>
      </p:sp>
      <p:sp>
        <p:nvSpPr>
          <p:cNvPr id="8" name="Rectangle 7"/>
          <p:cNvSpPr/>
          <p:nvPr/>
        </p:nvSpPr>
        <p:spPr>
          <a:xfrm>
            <a:off x="3352800" y="3468469"/>
            <a:ext cx="1600200" cy="646331"/>
          </a:xfrm>
          <a:prstGeom prst="rect">
            <a:avLst/>
          </a:prstGeom>
        </p:spPr>
        <p:txBody>
          <a:bodyPr wrap="square">
            <a:spAutoFit/>
          </a:bodyPr>
          <a:lstStyle/>
          <a:p>
            <a:r>
              <a:rPr lang="en-US" sz="1200" i="1" dirty="0" smtClean="0"/>
              <a:t>divisor of size n − k + 1 (4 here), predefined and agreed upon</a:t>
            </a:r>
            <a:endParaRPr lang="en-US" sz="1200" dirty="0"/>
          </a:p>
        </p:txBody>
      </p:sp>
      <p:sp>
        <p:nvSpPr>
          <p:cNvPr id="9" name="Rectangle 8"/>
          <p:cNvSpPr/>
          <p:nvPr/>
        </p:nvSpPr>
        <p:spPr>
          <a:xfrm>
            <a:off x="3352800" y="3304401"/>
            <a:ext cx="1398140" cy="276999"/>
          </a:xfrm>
          <a:prstGeom prst="rect">
            <a:avLst/>
          </a:prstGeom>
        </p:spPr>
        <p:txBody>
          <a:bodyPr wrap="none">
            <a:spAutoFit/>
          </a:bodyPr>
          <a:lstStyle/>
          <a:p>
            <a:r>
              <a:rPr lang="en-US" sz="1200" dirty="0" smtClean="0"/>
              <a:t>(modulo-2 division)</a:t>
            </a:r>
            <a:endParaRPr lang="en-US" sz="1200" dirty="0"/>
          </a:p>
        </p:txBody>
      </p:sp>
      <p:sp>
        <p:nvSpPr>
          <p:cNvPr id="10" name="Rectangle 9"/>
          <p:cNvSpPr/>
          <p:nvPr/>
        </p:nvSpPr>
        <p:spPr>
          <a:xfrm>
            <a:off x="3276600" y="4572001"/>
            <a:ext cx="1676400" cy="830997"/>
          </a:xfrm>
          <a:prstGeom prst="rect">
            <a:avLst/>
          </a:prstGeom>
        </p:spPr>
        <p:txBody>
          <a:bodyPr wrap="square">
            <a:spAutoFit/>
          </a:bodyPr>
          <a:lstStyle/>
          <a:p>
            <a:r>
              <a:rPr lang="en-US" sz="1200" dirty="0" smtClean="0"/>
              <a:t>Quotient  is discarded; remainder (</a:t>
            </a:r>
            <a:r>
              <a:rPr lang="en-US" sz="1200" i="1" dirty="0" smtClean="0"/>
              <a:t>r2r1r0) is appended to </a:t>
            </a:r>
            <a:r>
              <a:rPr lang="en-US" sz="1200" i="1" dirty="0" err="1" smtClean="0"/>
              <a:t>dataword</a:t>
            </a:r>
            <a:r>
              <a:rPr lang="en-US" sz="1200" i="1" dirty="0" smtClean="0"/>
              <a:t> to create codeword</a:t>
            </a:r>
            <a:endParaRPr lang="en-US" sz="1200" dirty="0"/>
          </a:p>
        </p:txBody>
      </p:sp>
      <p:sp>
        <p:nvSpPr>
          <p:cNvPr id="11" name="Rectangle 10"/>
          <p:cNvSpPr/>
          <p:nvPr/>
        </p:nvSpPr>
        <p:spPr>
          <a:xfrm>
            <a:off x="5638800" y="5405735"/>
            <a:ext cx="1676400" cy="461665"/>
          </a:xfrm>
          <a:prstGeom prst="rect">
            <a:avLst/>
          </a:prstGeom>
        </p:spPr>
        <p:txBody>
          <a:bodyPr wrap="square">
            <a:spAutoFit/>
          </a:bodyPr>
          <a:lstStyle/>
          <a:p>
            <a:r>
              <a:rPr lang="en-US" sz="1200" dirty="0" smtClean="0">
                <a:solidFill>
                  <a:srgbClr val="FF0000"/>
                </a:solidFill>
              </a:rPr>
              <a:t>copy of all </a:t>
            </a:r>
            <a:r>
              <a:rPr lang="en-US" sz="1200" i="1" dirty="0" smtClean="0">
                <a:solidFill>
                  <a:srgbClr val="FF0000"/>
                </a:solidFill>
              </a:rPr>
              <a:t>n bits is fed to the checker</a:t>
            </a:r>
            <a:endParaRPr lang="en-US" sz="1200" dirty="0">
              <a:solidFill>
                <a:srgbClr val="FF0000"/>
              </a:solidFill>
            </a:endParaRPr>
          </a:p>
        </p:txBody>
      </p:sp>
      <p:sp>
        <p:nvSpPr>
          <p:cNvPr id="12" name="Rectangle 11"/>
          <p:cNvSpPr/>
          <p:nvPr/>
        </p:nvSpPr>
        <p:spPr>
          <a:xfrm>
            <a:off x="4876800" y="3957935"/>
            <a:ext cx="1447800" cy="461665"/>
          </a:xfrm>
          <a:prstGeom prst="rect">
            <a:avLst/>
          </a:prstGeom>
        </p:spPr>
        <p:txBody>
          <a:bodyPr wrap="square">
            <a:spAutoFit/>
          </a:bodyPr>
          <a:lstStyle/>
          <a:p>
            <a:r>
              <a:rPr lang="en-US" sz="1200" i="1" dirty="0" smtClean="0">
                <a:solidFill>
                  <a:srgbClr val="FF0000"/>
                </a:solidFill>
              </a:rPr>
              <a:t>remainder produced </a:t>
            </a:r>
            <a:r>
              <a:rPr lang="en-US" sz="1200" dirty="0" smtClean="0">
                <a:solidFill>
                  <a:srgbClr val="FF0000"/>
                </a:solidFill>
              </a:rPr>
              <a:t>by checker </a:t>
            </a:r>
            <a:endParaRPr lang="en-US" sz="1200" dirty="0">
              <a:solidFill>
                <a:srgbClr val="FF0000"/>
              </a:solidFill>
            </a:endParaRPr>
          </a:p>
        </p:txBody>
      </p:sp>
      <p:sp>
        <p:nvSpPr>
          <p:cNvPr id="13" name="Rectangle 12"/>
          <p:cNvSpPr/>
          <p:nvPr/>
        </p:nvSpPr>
        <p:spPr>
          <a:xfrm>
            <a:off x="4876800" y="1295400"/>
            <a:ext cx="3657600" cy="646331"/>
          </a:xfrm>
          <a:prstGeom prst="rect">
            <a:avLst/>
          </a:prstGeom>
        </p:spPr>
        <p:txBody>
          <a:bodyPr wrap="square">
            <a:spAutoFit/>
          </a:bodyPr>
          <a:lstStyle/>
          <a:p>
            <a:r>
              <a:rPr lang="en-US" sz="1200" dirty="0" smtClean="0"/>
              <a:t>If the syndrome bits are all 0s, the 4 leftmost bits of the codeword are accepted as the </a:t>
            </a:r>
            <a:r>
              <a:rPr lang="en-US" sz="1200" dirty="0" err="1" smtClean="0"/>
              <a:t>dataword</a:t>
            </a:r>
            <a:r>
              <a:rPr lang="en-US" sz="1200" dirty="0" smtClean="0"/>
              <a:t> (interpreted as no error); otherwise, the 4 bits are discarded (error). </a:t>
            </a:r>
            <a:endParaRPr lang="en-US" sz="1200" dirty="0"/>
          </a:p>
        </p:txBody>
      </p:sp>
    </p:spTree>
    <p:extLst>
      <p:ext uri="{BB962C8B-B14F-4D97-AF65-F5344CB8AC3E}">
        <p14:creationId xmlns:p14="http://schemas.microsoft.com/office/powerpoint/2010/main" xmlns="" val="1503410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p:cNvSpPr>
            <a:spLocks noGrp="1" noChangeArrowheads="1"/>
          </p:cNvSpPr>
          <p:nvPr>
            <p:ph type="title"/>
          </p:nvPr>
        </p:nvSpPr>
        <p:spPr/>
        <p:txBody>
          <a:bodyPr/>
          <a:lstStyle/>
          <a:p>
            <a:r>
              <a:rPr lang="en-US" b="0" dirty="0"/>
              <a:t>CRC Generator</a:t>
            </a:r>
          </a:p>
        </p:txBody>
      </p:sp>
      <p:sp>
        <p:nvSpPr>
          <p:cNvPr id="4" name="Rectangle 3"/>
          <p:cNvSpPr/>
          <p:nvPr/>
        </p:nvSpPr>
        <p:spPr>
          <a:xfrm>
            <a:off x="228600" y="1219200"/>
            <a:ext cx="2421689" cy="369332"/>
          </a:xfrm>
          <a:prstGeom prst="rect">
            <a:avLst/>
          </a:prstGeom>
        </p:spPr>
        <p:txBody>
          <a:bodyPr wrap="none">
            <a:spAutoFit/>
          </a:bodyPr>
          <a:lstStyle/>
          <a:p>
            <a:r>
              <a:rPr lang="en-US" i="1" dirty="0" smtClean="0"/>
              <a:t>Division in CRC encoder:</a:t>
            </a:r>
            <a:endParaRPr lang="en-US" dirty="0"/>
          </a:p>
        </p:txBody>
      </p:sp>
      <p:sp>
        <p:nvSpPr>
          <p:cNvPr id="5" name="Rectangle 4"/>
          <p:cNvSpPr/>
          <p:nvPr/>
        </p:nvSpPr>
        <p:spPr>
          <a:xfrm>
            <a:off x="4648200" y="1219200"/>
            <a:ext cx="4495799" cy="5078313"/>
          </a:xfrm>
          <a:prstGeom prst="rect">
            <a:avLst/>
          </a:prstGeom>
        </p:spPr>
        <p:txBody>
          <a:bodyPr wrap="square">
            <a:spAutoFit/>
          </a:bodyPr>
          <a:lstStyle/>
          <a:p>
            <a:pPr marL="120650" indent="-120650">
              <a:buFont typeface="Arial" pitchFamily="34" charset="0"/>
              <a:buChar char="•"/>
            </a:pPr>
            <a:r>
              <a:rPr lang="en-US" dirty="0" smtClean="0"/>
              <a:t>Modulo-2 binary division</a:t>
            </a:r>
          </a:p>
          <a:p>
            <a:pPr marL="120650" indent="-120650">
              <a:buFont typeface="Arial" pitchFamily="34" charset="0"/>
              <a:buChar char="•"/>
            </a:pPr>
            <a:r>
              <a:rPr lang="en-US" dirty="0" smtClean="0"/>
              <a:t>Addition and subtraction are the same </a:t>
            </a:r>
            <a:r>
              <a:rPr lang="en-US" dirty="0" smtClean="0">
                <a:sym typeface="Wingdings" pitchFamily="2" charset="2"/>
              </a:rPr>
              <a:t> </a:t>
            </a:r>
            <a:r>
              <a:rPr lang="en-US" dirty="0" smtClean="0"/>
              <a:t>use XOR operation to do both </a:t>
            </a:r>
          </a:p>
          <a:p>
            <a:pPr marL="120650" indent="-120650">
              <a:buFont typeface="Arial" pitchFamily="34" charset="0"/>
              <a:buChar char="•"/>
            </a:pPr>
            <a:r>
              <a:rPr lang="en-US" dirty="0" smtClean="0"/>
              <a:t>Each step: a copy of the divisor is </a:t>
            </a:r>
            <a:r>
              <a:rPr lang="en-US" dirty="0" err="1" smtClean="0"/>
              <a:t>XORed</a:t>
            </a:r>
            <a:r>
              <a:rPr lang="en-US" dirty="0" smtClean="0"/>
              <a:t> with the 4 bits of the dividend</a:t>
            </a:r>
          </a:p>
          <a:p>
            <a:pPr marL="577850" lvl="1" indent="-120650">
              <a:buFont typeface="Arial" pitchFamily="34" charset="0"/>
              <a:buChar char="•"/>
            </a:pPr>
            <a:r>
              <a:rPr lang="en-US" dirty="0" smtClean="0"/>
              <a:t>Result (remainder) is 3 bits (in this case), which is used for the next step after 1 extra bit is pulled down to make it 4 bits long</a:t>
            </a:r>
          </a:p>
          <a:p>
            <a:pPr marL="577850" lvl="1" indent="-120650">
              <a:buFont typeface="Arial" pitchFamily="34" charset="0"/>
              <a:buChar char="•"/>
            </a:pPr>
            <a:r>
              <a:rPr lang="en-US" dirty="0" smtClean="0"/>
              <a:t>Note: If the leftmost bit of the dividend (or the part used in each step) is 0, the step cannot use the regular divisor; we need to use an all-0s divisor</a:t>
            </a:r>
          </a:p>
          <a:p>
            <a:pPr marL="577850" lvl="1" indent="-120650">
              <a:buFont typeface="Arial" pitchFamily="34" charset="0"/>
              <a:buChar char="•"/>
            </a:pPr>
            <a:r>
              <a:rPr lang="en-US" dirty="0" smtClean="0"/>
              <a:t>When there are no bits left to pull down, we have a result</a:t>
            </a:r>
          </a:p>
          <a:p>
            <a:pPr marL="120650" indent="-120650">
              <a:buFont typeface="Arial" pitchFamily="34" charset="0"/>
              <a:buChar char="•"/>
            </a:pPr>
            <a:r>
              <a:rPr lang="en-US" dirty="0" smtClean="0"/>
              <a:t>3-bit remainder forms the check bits (</a:t>
            </a:r>
            <a:r>
              <a:rPr lang="en-US" i="1" dirty="0" smtClean="0"/>
              <a:t>r2, r1, and r0). They are appended to the </a:t>
            </a:r>
            <a:r>
              <a:rPr lang="en-US" i="1" dirty="0" err="1" smtClean="0"/>
              <a:t>dataword</a:t>
            </a:r>
            <a:r>
              <a:rPr lang="en-US" i="1" dirty="0" smtClean="0"/>
              <a:t> to create the </a:t>
            </a:r>
            <a:r>
              <a:rPr lang="en-US" dirty="0" smtClean="0"/>
              <a:t>codeword</a:t>
            </a:r>
            <a:endParaRPr lang="en-US" dirty="0"/>
          </a:p>
        </p:txBody>
      </p:sp>
      <p:pic>
        <p:nvPicPr>
          <p:cNvPr id="2050" name="Picture 2"/>
          <p:cNvPicPr>
            <a:picLocks noChangeAspect="1" noChangeArrowheads="1"/>
          </p:cNvPicPr>
          <p:nvPr/>
        </p:nvPicPr>
        <p:blipFill>
          <a:blip r:embed="rId3"/>
          <a:srcRect/>
          <a:stretch>
            <a:fillRect/>
          </a:stretch>
        </p:blipFill>
        <p:spPr bwMode="auto">
          <a:xfrm>
            <a:off x="0" y="1600200"/>
            <a:ext cx="4724400" cy="3516457"/>
          </a:xfrm>
          <a:prstGeom prst="rect">
            <a:avLst/>
          </a:prstGeom>
          <a:noFill/>
          <a:ln w="9525">
            <a:noFill/>
            <a:miter lim="800000"/>
            <a:headEnd/>
            <a:tailEnd/>
          </a:ln>
          <a:effectLst/>
        </p:spPr>
      </p:pic>
      <p:sp>
        <p:nvSpPr>
          <p:cNvPr id="7" name="Rectangle 6"/>
          <p:cNvSpPr/>
          <p:nvPr/>
        </p:nvSpPr>
        <p:spPr>
          <a:xfrm>
            <a:off x="0" y="5172670"/>
            <a:ext cx="4572000" cy="923330"/>
          </a:xfrm>
          <a:prstGeom prst="rect">
            <a:avLst/>
          </a:prstGeom>
        </p:spPr>
        <p:txBody>
          <a:bodyPr>
            <a:spAutoFit/>
          </a:bodyPr>
          <a:lstStyle/>
          <a:p>
            <a:r>
              <a:rPr lang="en-US" dirty="0" smtClean="0"/>
              <a:t>How  the divisor 1011 is chosen?</a:t>
            </a:r>
          </a:p>
          <a:p>
            <a:r>
              <a:rPr lang="en-US" dirty="0" smtClean="0"/>
              <a:t>Depends on the expectation we have from the code- we will discuss this in polynomials.</a:t>
            </a:r>
            <a:endParaRPr lang="en-US" dirty="0"/>
          </a:p>
        </p:txBody>
      </p:sp>
    </p:spTree>
    <p:extLst>
      <p:ext uri="{BB962C8B-B14F-4D97-AF65-F5344CB8AC3E}">
        <p14:creationId xmlns:p14="http://schemas.microsoft.com/office/powerpoint/2010/main" xmlns="" val="1594449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en-US" b="0" dirty="0"/>
              <a:t>Checking CRC</a:t>
            </a:r>
          </a:p>
        </p:txBody>
      </p:sp>
      <p:sp>
        <p:nvSpPr>
          <p:cNvPr id="5" name="Rectangle 4"/>
          <p:cNvSpPr/>
          <p:nvPr/>
        </p:nvSpPr>
        <p:spPr>
          <a:xfrm>
            <a:off x="32632" y="1143000"/>
            <a:ext cx="7050841" cy="369332"/>
          </a:xfrm>
          <a:prstGeom prst="rect">
            <a:avLst/>
          </a:prstGeom>
        </p:spPr>
        <p:txBody>
          <a:bodyPr wrap="none">
            <a:spAutoFit/>
          </a:bodyPr>
          <a:lstStyle/>
          <a:p>
            <a:r>
              <a:rPr lang="en-US" i="1" dirty="0" smtClean="0"/>
              <a:t>Division in the CRC decoder for two cases: </a:t>
            </a:r>
            <a:r>
              <a:rPr lang="en-US" dirty="0" smtClean="0"/>
              <a:t>division process as the encoder</a:t>
            </a:r>
            <a:endParaRPr lang="en-US" dirty="0"/>
          </a:p>
        </p:txBody>
      </p:sp>
      <p:pic>
        <p:nvPicPr>
          <p:cNvPr id="1026" name="Picture 2"/>
          <p:cNvPicPr>
            <a:picLocks noChangeAspect="1" noChangeArrowheads="1"/>
          </p:cNvPicPr>
          <p:nvPr/>
        </p:nvPicPr>
        <p:blipFill>
          <a:blip r:embed="rId3"/>
          <a:srcRect/>
          <a:stretch>
            <a:fillRect/>
          </a:stretch>
        </p:blipFill>
        <p:spPr bwMode="auto">
          <a:xfrm>
            <a:off x="533400" y="1752599"/>
            <a:ext cx="6781800" cy="4025169"/>
          </a:xfrm>
          <a:prstGeom prst="rect">
            <a:avLst/>
          </a:prstGeom>
          <a:noFill/>
          <a:ln w="9525">
            <a:noFill/>
            <a:miter lim="800000"/>
            <a:headEnd/>
            <a:tailEnd/>
          </a:ln>
          <a:effectLst/>
        </p:spPr>
      </p:pic>
      <p:sp>
        <p:nvSpPr>
          <p:cNvPr id="7" name="Rectangle 6"/>
          <p:cNvSpPr/>
          <p:nvPr/>
        </p:nvSpPr>
        <p:spPr>
          <a:xfrm>
            <a:off x="1447800" y="5943600"/>
            <a:ext cx="4138569" cy="369332"/>
          </a:xfrm>
          <a:prstGeom prst="rect">
            <a:avLst/>
          </a:prstGeom>
        </p:spPr>
        <p:txBody>
          <a:bodyPr wrap="none">
            <a:spAutoFit/>
          </a:bodyPr>
          <a:lstStyle/>
          <a:p>
            <a:r>
              <a:rPr lang="en-US" dirty="0" smtClean="0"/>
              <a:t>Remainder of the division is the syndrome</a:t>
            </a:r>
            <a:endParaRPr lang="en-US" dirty="0"/>
          </a:p>
        </p:txBody>
      </p:sp>
      <p:sp>
        <p:nvSpPr>
          <p:cNvPr id="8" name="Oval 7"/>
          <p:cNvSpPr/>
          <p:nvPr/>
        </p:nvSpPr>
        <p:spPr>
          <a:xfrm>
            <a:off x="1447800" y="4724400"/>
            <a:ext cx="2057400" cy="5334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648200" y="4724400"/>
            <a:ext cx="2362200" cy="4572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8704" y="5181600"/>
            <a:ext cx="1008096" cy="369332"/>
          </a:xfrm>
          <a:prstGeom prst="rect">
            <a:avLst/>
          </a:prstGeom>
        </p:spPr>
        <p:txBody>
          <a:bodyPr wrap="none">
            <a:spAutoFit/>
          </a:bodyPr>
          <a:lstStyle/>
          <a:p>
            <a:r>
              <a:rPr lang="en-US" dirty="0" smtClean="0"/>
              <a:t>no error </a:t>
            </a:r>
            <a:endParaRPr lang="en-US" dirty="0"/>
          </a:p>
        </p:txBody>
      </p:sp>
      <p:sp>
        <p:nvSpPr>
          <p:cNvPr id="11" name="Rectangle 10"/>
          <p:cNvSpPr/>
          <p:nvPr/>
        </p:nvSpPr>
        <p:spPr>
          <a:xfrm>
            <a:off x="6477000" y="5562600"/>
            <a:ext cx="1416863" cy="369332"/>
          </a:xfrm>
          <a:prstGeom prst="rect">
            <a:avLst/>
          </a:prstGeom>
        </p:spPr>
        <p:txBody>
          <a:bodyPr wrap="none">
            <a:spAutoFit/>
          </a:bodyPr>
          <a:lstStyle/>
          <a:p>
            <a:r>
              <a:rPr lang="en-US" dirty="0" smtClean="0"/>
              <a:t>a single error</a:t>
            </a:r>
            <a:endParaRPr lang="en-US" dirty="0"/>
          </a:p>
        </p:txBody>
      </p:sp>
      <p:cxnSp>
        <p:nvCxnSpPr>
          <p:cNvPr id="13" name="Straight Arrow Connector 12"/>
          <p:cNvCxnSpPr/>
          <p:nvPr/>
        </p:nvCxnSpPr>
        <p:spPr>
          <a:xfrm rot="10800000" flipV="1">
            <a:off x="838200" y="5029200"/>
            <a:ext cx="1600200" cy="2286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943600" y="5029200"/>
            <a:ext cx="762000" cy="6096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0283388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0" dirty="0" smtClean="0"/>
              <a:t>Cyclic Code Encoder Using Polynomials</a:t>
            </a:r>
            <a:endParaRPr lang="en-US" sz="3600" b="0" dirty="0"/>
          </a:p>
        </p:txBody>
      </p:sp>
      <p:sp>
        <p:nvSpPr>
          <p:cNvPr id="3" name="Content Placeholder 2"/>
          <p:cNvSpPr>
            <a:spLocks noGrp="1"/>
          </p:cNvSpPr>
          <p:nvPr>
            <p:ph idx="1"/>
          </p:nvPr>
        </p:nvSpPr>
        <p:spPr>
          <a:xfrm>
            <a:off x="152400" y="1219200"/>
            <a:ext cx="8780444" cy="4523955"/>
          </a:xfrm>
        </p:spPr>
        <p:txBody>
          <a:bodyPr/>
          <a:lstStyle/>
          <a:p>
            <a:r>
              <a:rPr lang="en-US" dirty="0" smtClean="0"/>
              <a:t>Creation of a codeword from a </a:t>
            </a:r>
            <a:r>
              <a:rPr lang="en-US" dirty="0" err="1" smtClean="0"/>
              <a:t>dataword</a:t>
            </a:r>
            <a:endParaRPr lang="en-US" dirty="0"/>
          </a:p>
        </p:txBody>
      </p:sp>
      <p:pic>
        <p:nvPicPr>
          <p:cNvPr id="4" name="Picture 2"/>
          <p:cNvPicPr>
            <a:picLocks noChangeAspect="1" noChangeArrowheads="1"/>
          </p:cNvPicPr>
          <p:nvPr/>
        </p:nvPicPr>
        <p:blipFill>
          <a:blip r:embed="rId3"/>
          <a:srcRect/>
          <a:stretch>
            <a:fillRect/>
          </a:stretch>
        </p:blipFill>
        <p:spPr bwMode="auto">
          <a:xfrm>
            <a:off x="76200" y="2209006"/>
            <a:ext cx="4724400" cy="3516457"/>
          </a:xfrm>
          <a:prstGeom prst="rect">
            <a:avLst/>
          </a:prstGeom>
          <a:noFill/>
          <a:ln w="9525">
            <a:noFill/>
            <a:miter lim="800000"/>
            <a:headEnd/>
            <a:tailEnd/>
          </a:ln>
          <a:effectLst/>
        </p:spPr>
      </p:pic>
      <p:pic>
        <p:nvPicPr>
          <p:cNvPr id="5122" name="Picture 2"/>
          <p:cNvPicPr>
            <a:picLocks noChangeAspect="1" noChangeArrowheads="1"/>
          </p:cNvPicPr>
          <p:nvPr/>
        </p:nvPicPr>
        <p:blipFill>
          <a:blip r:embed="rId4"/>
          <a:srcRect/>
          <a:stretch>
            <a:fillRect/>
          </a:stretch>
        </p:blipFill>
        <p:spPr bwMode="auto">
          <a:xfrm>
            <a:off x="5133975" y="2056606"/>
            <a:ext cx="4010025" cy="2705100"/>
          </a:xfrm>
          <a:prstGeom prst="rect">
            <a:avLst/>
          </a:prstGeom>
          <a:noFill/>
          <a:ln w="9525">
            <a:noFill/>
            <a:miter lim="800000"/>
            <a:headEnd/>
            <a:tailEnd/>
          </a:ln>
          <a:effectLst/>
        </p:spPr>
      </p:pic>
      <p:graphicFrame>
        <p:nvGraphicFramePr>
          <p:cNvPr id="6" name="Table 5"/>
          <p:cNvGraphicFramePr>
            <a:graphicFrameLocks noGrp="1"/>
          </p:cNvGraphicFramePr>
          <p:nvPr/>
        </p:nvGraphicFramePr>
        <p:xfrm>
          <a:off x="152400" y="1675606"/>
          <a:ext cx="8839200" cy="370840"/>
        </p:xfrm>
        <a:graphic>
          <a:graphicData uri="http://schemas.openxmlformats.org/drawingml/2006/table">
            <a:tbl>
              <a:tblPr firstRow="1" bandRow="1">
                <a:tableStyleId>{5C22544A-7EE6-4342-B048-85BDC9FD1C3A}</a:tableStyleId>
              </a:tblPr>
              <a:tblGrid>
                <a:gridCol w="4724400">
                  <a:extLst>
                    <a:ext uri="{9D8B030D-6E8A-4147-A177-3AD203B41FA5}">
                      <a16:colId xmlns:a16="http://schemas.microsoft.com/office/drawing/2014/main" xmlns="" val="20000"/>
                    </a:ext>
                  </a:extLst>
                </a:gridCol>
                <a:gridCol w="4114800">
                  <a:extLst>
                    <a:ext uri="{9D8B030D-6E8A-4147-A177-3AD203B41FA5}">
                      <a16:colId xmlns:a16="http://schemas.microsoft.com/office/drawing/2014/main" xmlns="" val="20001"/>
                    </a:ext>
                  </a:extLst>
                </a:gridCol>
              </a:tblGrid>
              <a:tr h="370840">
                <a:tc>
                  <a:txBody>
                    <a:bodyPr/>
                    <a:lstStyle/>
                    <a:p>
                      <a:r>
                        <a:rPr lang="en-US" sz="1800" b="1" i="1" kern="1200" baseline="0" dirty="0" smtClean="0">
                          <a:solidFill>
                            <a:schemeClr val="lt1"/>
                          </a:solidFill>
                          <a:latin typeface="+mn-lt"/>
                          <a:ea typeface="+mn-ea"/>
                          <a:cs typeface="+mn-cs"/>
                        </a:rPr>
                        <a:t>Binary Division in CRC encoder</a:t>
                      </a:r>
                      <a:endParaRPr lang="en-US" dirty="0"/>
                    </a:p>
                  </a:txBody>
                  <a:tcPr/>
                </a:tc>
                <a:tc>
                  <a:txBody>
                    <a:bodyPr/>
                    <a:lstStyle/>
                    <a:p>
                      <a:r>
                        <a:rPr lang="en-US" sz="1800" b="1" i="1" kern="1200" baseline="0" dirty="0" smtClean="0">
                          <a:solidFill>
                            <a:schemeClr val="lt1"/>
                          </a:solidFill>
                          <a:latin typeface="+mn-lt"/>
                          <a:ea typeface="+mn-ea"/>
                          <a:cs typeface="+mn-cs"/>
                        </a:rPr>
                        <a:t>CRC division using polynomials</a:t>
                      </a:r>
                      <a:endParaRPr lang="en-US" dirty="0"/>
                    </a:p>
                  </a:txBody>
                  <a:tcPr/>
                </a:tc>
                <a:extLst>
                  <a:ext uri="{0D108BD9-81ED-4DB2-BD59-A6C34878D82A}">
                    <a16:rowId xmlns:a16="http://schemas.microsoft.com/office/drawing/2014/main" xmlns="" val="10000"/>
                  </a:ext>
                </a:extLst>
              </a:tr>
            </a:tbl>
          </a:graphicData>
        </a:graphic>
      </p:graphicFrame>
      <p:cxnSp>
        <p:nvCxnSpPr>
          <p:cNvPr id="9" name="Straight Connector 8"/>
          <p:cNvCxnSpPr/>
          <p:nvPr/>
        </p:nvCxnSpPr>
        <p:spPr>
          <a:xfrm rot="5400000">
            <a:off x="2780506" y="4075906"/>
            <a:ext cx="4191794" cy="794"/>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4953000" y="4544655"/>
            <a:ext cx="4191000" cy="1600438"/>
          </a:xfrm>
          <a:prstGeom prst="rect">
            <a:avLst/>
          </a:prstGeom>
        </p:spPr>
        <p:txBody>
          <a:bodyPr wrap="square">
            <a:spAutoFit/>
          </a:bodyPr>
          <a:lstStyle/>
          <a:p>
            <a:pPr marL="120650" indent="-120650">
              <a:buFont typeface="Arial" pitchFamily="34" charset="0"/>
              <a:buChar char="•"/>
            </a:pPr>
            <a:r>
              <a:rPr lang="en-US" sz="1400" dirty="0" smtClean="0"/>
              <a:t>Process is shorter</a:t>
            </a:r>
          </a:p>
          <a:p>
            <a:pPr marL="120650" indent="-120650">
              <a:buFont typeface="Arial" pitchFamily="34" charset="0"/>
              <a:buChar char="•"/>
            </a:pPr>
            <a:r>
              <a:rPr lang="en-US" sz="1400" dirty="0" err="1" smtClean="0"/>
              <a:t>Dataword</a:t>
            </a:r>
            <a:r>
              <a:rPr lang="en-US" sz="1400" dirty="0" smtClean="0"/>
              <a:t> 1001 is represented as x</a:t>
            </a:r>
            <a:r>
              <a:rPr lang="en-US" sz="1400" baseline="30000" dirty="0" smtClean="0"/>
              <a:t>3</a:t>
            </a:r>
            <a:r>
              <a:rPr lang="en-US" sz="1400" dirty="0" smtClean="0"/>
              <a:t> + 1</a:t>
            </a:r>
          </a:p>
          <a:p>
            <a:pPr marL="120650" indent="-120650">
              <a:buFont typeface="Arial" pitchFamily="34" charset="0"/>
              <a:buChar char="•"/>
            </a:pPr>
            <a:r>
              <a:rPr lang="en-US" sz="1400" dirty="0" smtClean="0"/>
              <a:t>Divisor 1011 is represented as x</a:t>
            </a:r>
            <a:r>
              <a:rPr lang="en-US" sz="1400" baseline="30000" dirty="0" smtClean="0"/>
              <a:t>3</a:t>
            </a:r>
            <a:r>
              <a:rPr lang="en-US" sz="1400" dirty="0" smtClean="0"/>
              <a:t> + x + 1</a:t>
            </a:r>
          </a:p>
          <a:p>
            <a:pPr marL="120650" indent="-120650">
              <a:buFont typeface="Arial" pitchFamily="34" charset="0"/>
              <a:buChar char="•"/>
            </a:pPr>
            <a:r>
              <a:rPr lang="en-US" sz="1400" dirty="0" smtClean="0"/>
              <a:t>Augmented </a:t>
            </a:r>
            <a:r>
              <a:rPr lang="en-US" sz="1400" dirty="0" err="1" smtClean="0"/>
              <a:t>dataword</a:t>
            </a:r>
            <a:r>
              <a:rPr lang="en-US" sz="1400" dirty="0" smtClean="0"/>
              <a:t> is x</a:t>
            </a:r>
            <a:r>
              <a:rPr lang="en-US" sz="1400" baseline="30000" dirty="0" smtClean="0"/>
              <a:t>6</a:t>
            </a:r>
            <a:r>
              <a:rPr lang="en-US" sz="1400" dirty="0" smtClean="0"/>
              <a:t> + x</a:t>
            </a:r>
            <a:r>
              <a:rPr lang="en-US" sz="1400" baseline="30000" dirty="0" smtClean="0"/>
              <a:t>3</a:t>
            </a:r>
            <a:r>
              <a:rPr lang="en-US" sz="1400" dirty="0" smtClean="0"/>
              <a:t>  </a:t>
            </a:r>
            <a:r>
              <a:rPr lang="en-US" sz="1400" dirty="0" smtClean="0">
                <a:sym typeface="Wingdings" pitchFamily="2" charset="2"/>
              </a:rPr>
              <a:t> </a:t>
            </a:r>
            <a:r>
              <a:rPr lang="en-US" sz="1400" dirty="0" smtClean="0"/>
              <a:t>we have left-shifted the </a:t>
            </a:r>
            <a:r>
              <a:rPr lang="en-US" sz="1400" dirty="0" err="1" smtClean="0"/>
              <a:t>dataword</a:t>
            </a:r>
            <a:r>
              <a:rPr lang="en-US" sz="1400" dirty="0" smtClean="0"/>
              <a:t> 3 bits (multiplying by x</a:t>
            </a:r>
            <a:r>
              <a:rPr lang="en-US" sz="1400" baseline="30000" dirty="0" smtClean="0"/>
              <a:t>3)</a:t>
            </a:r>
          </a:p>
          <a:p>
            <a:pPr marL="120650" indent="-120650">
              <a:buFont typeface="Arial" pitchFamily="34" charset="0"/>
              <a:buChar char="•"/>
            </a:pPr>
            <a:r>
              <a:rPr lang="en-US" sz="1400" dirty="0" smtClean="0"/>
              <a:t>Continue to divide until the degree of the remainder is less than the degree of the divisor</a:t>
            </a:r>
            <a:endParaRPr lang="en-US" sz="1400" dirty="0"/>
          </a:p>
        </p:txBody>
      </p:sp>
      <p:sp>
        <p:nvSpPr>
          <p:cNvPr id="10" name="Rectangle 9"/>
          <p:cNvSpPr/>
          <p:nvPr/>
        </p:nvSpPr>
        <p:spPr>
          <a:xfrm>
            <a:off x="0" y="6019800"/>
            <a:ext cx="9144000" cy="646331"/>
          </a:xfrm>
          <a:prstGeom prst="rect">
            <a:avLst/>
          </a:prstGeom>
        </p:spPr>
        <p:txBody>
          <a:bodyPr wrap="square">
            <a:spAutoFit/>
          </a:bodyPr>
          <a:lstStyle/>
          <a:p>
            <a:r>
              <a:rPr lang="en-US" dirty="0" smtClean="0"/>
              <a:t>In a polynomial representation, the divisor is normally referred to as the </a:t>
            </a:r>
            <a:r>
              <a:rPr lang="en-US" i="1" dirty="0" smtClean="0"/>
              <a:t>generator polynomial </a:t>
            </a:r>
          </a:p>
          <a:p>
            <a:r>
              <a:rPr lang="en-US" dirty="0" smtClean="0"/>
              <a:t>The divisor in a cyclic code is normally called the </a:t>
            </a:r>
            <a:r>
              <a:rPr lang="en-US" i="1" dirty="0" smtClean="0"/>
              <a:t>generator polynomial </a:t>
            </a:r>
            <a:r>
              <a:rPr lang="en-US" dirty="0" smtClean="0"/>
              <a:t>or simply the </a:t>
            </a:r>
            <a:r>
              <a:rPr lang="en-US" i="1" dirty="0" smtClean="0"/>
              <a:t>generator</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a:lnSpc>
                <a:spcPct val="100000"/>
              </a:lnSpc>
            </a:pPr>
            <a:r>
              <a:rPr lang="en-US" b="0" spc="10" dirty="0" smtClean="0">
                <a:solidFill>
                  <a:srgbClr val="3E3E3E"/>
                </a:solidFill>
                <a:latin typeface="Arial"/>
                <a:cs typeface="Arial"/>
              </a:rPr>
              <a:t>Standard CRC Polynomials</a:t>
            </a:r>
            <a:endParaRPr lang="en-US" b="0" dirty="0"/>
          </a:p>
        </p:txBody>
      </p:sp>
      <p:sp>
        <p:nvSpPr>
          <p:cNvPr id="3" name="Content Placeholder 2"/>
          <p:cNvSpPr>
            <a:spLocks noGrp="1"/>
          </p:cNvSpPr>
          <p:nvPr>
            <p:ph idx="1"/>
          </p:nvPr>
        </p:nvSpPr>
        <p:spPr/>
        <p:txBody>
          <a:bodyPr/>
          <a:lstStyle/>
          <a:p>
            <a:r>
              <a:rPr lang="en-US" spc="10" dirty="0" smtClean="0">
                <a:solidFill>
                  <a:srgbClr val="3E3E3E"/>
                </a:solidFill>
                <a:cs typeface="Calibri"/>
              </a:rPr>
              <a:t>Some standard polynomials used by popular protocols for CRC generation along with the corresponding bit pattern</a:t>
            </a:r>
            <a:endParaRPr lang="en-US" dirty="0" smtClean="0">
              <a:cs typeface="Calibri"/>
            </a:endParaRPr>
          </a:p>
          <a:p>
            <a:endParaRPr lang="en-US" dirty="0" smtClean="0">
              <a:cs typeface="Calibri"/>
            </a:endParaRPr>
          </a:p>
          <a:p>
            <a:endParaRPr lang="en-US" dirty="0"/>
          </a:p>
        </p:txBody>
      </p:sp>
      <p:pic>
        <p:nvPicPr>
          <p:cNvPr id="4" name="Image"/>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52400" y="2362200"/>
            <a:ext cx="8717280" cy="3352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a:lnSpc>
                <a:spcPct val="100000"/>
              </a:lnSpc>
            </a:pPr>
            <a:r>
              <a:rPr lang="en-US" b="0" spc="10" dirty="0" smtClean="0">
                <a:solidFill>
                  <a:srgbClr val="3E3E3E"/>
                </a:solidFill>
                <a:latin typeface="Arial"/>
                <a:cs typeface="Arial"/>
              </a:rPr>
              <a:t>Advantages of Cyclic Codes</a:t>
            </a:r>
            <a:endParaRPr lang="en-US" b="0" dirty="0"/>
          </a:p>
        </p:txBody>
      </p:sp>
      <p:sp>
        <p:nvSpPr>
          <p:cNvPr id="3" name="Content Placeholder 2"/>
          <p:cNvSpPr>
            <a:spLocks noGrp="1"/>
          </p:cNvSpPr>
          <p:nvPr>
            <p:ph idx="1"/>
          </p:nvPr>
        </p:nvSpPr>
        <p:spPr>
          <a:xfrm>
            <a:off x="198303" y="1345139"/>
            <a:ext cx="8780444" cy="4827061"/>
          </a:xfrm>
        </p:spPr>
        <p:txBody>
          <a:bodyPr>
            <a:normAutofit lnSpcReduction="10000"/>
          </a:bodyPr>
          <a:lstStyle/>
          <a:p>
            <a:r>
              <a:rPr lang="en-US" spc="10" dirty="0" smtClean="0">
                <a:solidFill>
                  <a:srgbClr val="3E3E3E"/>
                </a:solidFill>
                <a:cs typeface="Calibri"/>
              </a:rPr>
              <a:t>A very good performance in detecting single-bit errors, double errors, an odd number of errors, and burst errors. </a:t>
            </a:r>
            <a:endParaRPr lang="en-US" dirty="0" smtClean="0">
              <a:cs typeface="Calibri"/>
            </a:endParaRPr>
          </a:p>
          <a:p>
            <a:r>
              <a:rPr lang="en-US" spc="10" dirty="0" smtClean="0">
                <a:solidFill>
                  <a:srgbClr val="3E3E3E"/>
                </a:solidFill>
                <a:cs typeface="Calibri"/>
              </a:rPr>
              <a:t>Easily implemented in hardware and software</a:t>
            </a:r>
          </a:p>
          <a:p>
            <a:r>
              <a:rPr lang="en-US" spc="10" dirty="0" smtClean="0">
                <a:solidFill>
                  <a:srgbClr val="3E3E3E"/>
                </a:solidFill>
                <a:cs typeface="Calibri"/>
              </a:rPr>
              <a:t>Fast when implemented in hardware</a:t>
            </a:r>
          </a:p>
          <a:p>
            <a:r>
              <a:rPr lang="en-US" spc="10" dirty="0" smtClean="0">
                <a:solidFill>
                  <a:srgbClr val="3E3E3E"/>
                </a:solidFill>
                <a:cs typeface="Calibri"/>
              </a:rPr>
              <a:t>This has made cyclic codes a good candidate for many networks</a:t>
            </a:r>
          </a:p>
          <a:p>
            <a:r>
              <a:rPr lang="en-US" spc="10" dirty="0" smtClean="0">
                <a:solidFill>
                  <a:srgbClr val="3E3E3E"/>
                </a:solidFill>
                <a:cs typeface="Calibri"/>
              </a:rPr>
              <a:t>Other Cyclic Codes</a:t>
            </a:r>
          </a:p>
          <a:p>
            <a:pPr marL="450850" lvl="2">
              <a:lnSpc>
                <a:spcPct val="100000"/>
              </a:lnSpc>
            </a:pPr>
            <a:r>
              <a:rPr lang="en-US" spc="10" dirty="0" smtClean="0">
                <a:solidFill>
                  <a:srgbClr val="3E3E3E"/>
                </a:solidFill>
                <a:cs typeface="Calibri"/>
              </a:rPr>
              <a:t>Simple cyclic codes (discussed till now) - the check bits and syndromes can be calculated by simple algebra</a:t>
            </a:r>
            <a:endParaRPr lang="en-US" dirty="0" smtClean="0">
              <a:cs typeface="Calibri"/>
            </a:endParaRPr>
          </a:p>
          <a:p>
            <a:pPr marL="450850" lvl="2">
              <a:lnSpc>
                <a:spcPct val="100000"/>
              </a:lnSpc>
            </a:pPr>
            <a:r>
              <a:rPr lang="en-US" spc="10" dirty="0" smtClean="0">
                <a:solidFill>
                  <a:srgbClr val="3E3E3E"/>
                </a:solidFill>
                <a:cs typeface="Calibri"/>
              </a:rPr>
              <a:t>Reed- Solomon code - More powerful polynomials that are based on abstract algebra involving Galois fields</a:t>
            </a:r>
          </a:p>
          <a:p>
            <a:pPr marL="627063" lvl="3">
              <a:lnSpc>
                <a:spcPct val="100000"/>
              </a:lnSpc>
            </a:pPr>
            <a:r>
              <a:rPr lang="en-US" spc="10" dirty="0" smtClean="0">
                <a:solidFill>
                  <a:srgbClr val="3E3E3E"/>
                </a:solidFill>
                <a:cs typeface="Calibri"/>
              </a:rPr>
              <a:t>used today for both detection and correction</a:t>
            </a:r>
            <a:endParaRPr lang="en-US" dirty="0" smtClean="0">
              <a:cs typeface="Calibri"/>
            </a:endParaRPr>
          </a:p>
        </p:txBody>
      </p:sp>
      <p:pic>
        <p:nvPicPr>
          <p:cNvPr id="4" name="Image"/>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0" y="7173001"/>
            <a:ext cx="9144000" cy="65999"/>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Multiple Access Control (MAC)</a:t>
            </a:r>
            <a:endParaRPr lang="en-IN" dirty="0"/>
          </a:p>
        </p:txBody>
      </p:sp>
      <p:sp>
        <p:nvSpPr>
          <p:cNvPr id="3" name="Content Placeholder 2"/>
          <p:cNvSpPr>
            <a:spLocks noGrp="1"/>
          </p:cNvSpPr>
          <p:nvPr>
            <p:ph idx="1"/>
          </p:nvPr>
        </p:nvSpPr>
        <p:spPr>
          <a:xfrm>
            <a:off x="198303" y="1345139"/>
            <a:ext cx="8780444" cy="4979461"/>
          </a:xfrm>
        </p:spPr>
        <p:txBody>
          <a:bodyPr>
            <a:normAutofit/>
          </a:bodyPr>
          <a:lstStyle/>
          <a:p>
            <a:pPr>
              <a:spcBef>
                <a:spcPct val="50000"/>
              </a:spcBef>
              <a:buClrTx/>
              <a:buSzTx/>
              <a:buFont typeface="Wingdings" pitchFamily="2" charset="2"/>
              <a:buChar char="§"/>
            </a:pPr>
            <a:r>
              <a:rPr lang="en-US" sz="2000" b="1" dirty="0" smtClean="0">
                <a:latin typeface="Times New Roman" pitchFamily="18" charset="0"/>
                <a:cs typeface="Times New Roman" pitchFamily="18" charset="0"/>
              </a:rPr>
              <a:t>Problem</a:t>
            </a:r>
            <a:r>
              <a:rPr lang="en-US" sz="2000" dirty="0" smtClean="0">
                <a:latin typeface="Times New Roman" pitchFamily="18" charset="0"/>
                <a:cs typeface="Times New Roman" pitchFamily="18" charset="0"/>
              </a:rPr>
              <a:t>: When two or more nodes transmit at the same time, their frames </a:t>
            </a:r>
            <a:r>
              <a:rPr lang="en-US" sz="2000" u="sng" dirty="0" smtClean="0">
                <a:latin typeface="Times New Roman" pitchFamily="18" charset="0"/>
                <a:cs typeface="Times New Roman" pitchFamily="18" charset="0"/>
              </a:rPr>
              <a:t>will collide</a:t>
            </a:r>
            <a:r>
              <a:rPr lang="en-US" sz="2000" dirty="0" smtClean="0">
                <a:latin typeface="Times New Roman" pitchFamily="18" charset="0"/>
                <a:cs typeface="Times New Roman" pitchFamily="18" charset="0"/>
              </a:rPr>
              <a:t> and the link bandwidth is</a:t>
            </a:r>
            <a:r>
              <a:rPr lang="en-US" sz="2000" b="1" dirty="0" smtClean="0">
                <a:latin typeface="Times New Roman" pitchFamily="18" charset="0"/>
                <a:cs typeface="Times New Roman" pitchFamily="18" charset="0"/>
              </a:rPr>
              <a:t> wasted</a:t>
            </a:r>
            <a:r>
              <a:rPr lang="en-US" sz="2000" dirty="0" smtClean="0">
                <a:latin typeface="Times New Roman" pitchFamily="18" charset="0"/>
                <a:cs typeface="Times New Roman" pitchFamily="18" charset="0"/>
              </a:rPr>
              <a:t> during collision</a:t>
            </a:r>
          </a:p>
          <a:p>
            <a:pPr>
              <a:spcBef>
                <a:spcPct val="50000"/>
              </a:spcBef>
              <a:buClrTx/>
              <a:buSzTx/>
              <a:buFont typeface="Wingdings" pitchFamily="2" charset="2"/>
              <a:buChar char="§"/>
            </a:pPr>
            <a:r>
              <a:rPr lang="en-IN" sz="2000" dirty="0" smtClean="0"/>
              <a:t>how to determine who gets to use the channel when there is competition for it ?</a:t>
            </a:r>
            <a:endParaRPr lang="en-US" sz="2000" dirty="0" smtClean="0">
              <a:latin typeface="Times New Roman" pitchFamily="18" charset="0"/>
              <a:cs typeface="Times New Roman" pitchFamily="18" charset="0"/>
            </a:endParaRPr>
          </a:p>
          <a:p>
            <a:pPr lvl="1">
              <a:spcBef>
                <a:spcPct val="50000"/>
              </a:spcBef>
              <a:buClrTx/>
              <a:buSzTx/>
              <a:buFont typeface="Wingdings" pitchFamily="2" charset="2"/>
              <a:buChar char="§"/>
            </a:pPr>
            <a:r>
              <a:rPr lang="en-US" sz="2000" dirty="0" smtClean="0">
                <a:latin typeface="Times New Roman" pitchFamily="18" charset="0"/>
                <a:cs typeface="Times New Roman" pitchFamily="18" charset="0"/>
              </a:rPr>
              <a:t> How to coordinate the access of multiple sending/receiving nodes to the shared link</a:t>
            </a:r>
            <a:r>
              <a:rPr lang="en-US" sz="2000" b="1" dirty="0" smtClean="0">
                <a:latin typeface="Times New Roman" pitchFamily="18" charset="0"/>
                <a:cs typeface="Times New Roman" pitchFamily="18" charset="0"/>
              </a:rPr>
              <a:t>???</a:t>
            </a:r>
          </a:p>
          <a:p>
            <a:r>
              <a:rPr lang="en-US" sz="2000" b="1" dirty="0" smtClean="0">
                <a:latin typeface="Times New Roman" pitchFamily="18" charset="0"/>
                <a:cs typeface="Times New Roman" pitchFamily="18" charset="0"/>
              </a:rPr>
              <a:t>Solution</a:t>
            </a:r>
            <a:r>
              <a:rPr lang="en-US" sz="2000" dirty="0" smtClean="0">
                <a:latin typeface="Times New Roman" pitchFamily="18" charset="0"/>
                <a:cs typeface="Times New Roman" pitchFamily="18" charset="0"/>
              </a:rPr>
              <a:t>: We need a </a:t>
            </a:r>
            <a:r>
              <a:rPr lang="en-US" sz="2000" b="1" dirty="0" smtClean="0">
                <a:latin typeface="Times New Roman" pitchFamily="18" charset="0"/>
                <a:cs typeface="Times New Roman" pitchFamily="18" charset="0"/>
              </a:rPr>
              <a:t>protocol</a:t>
            </a:r>
            <a:r>
              <a:rPr lang="en-US" sz="2000" dirty="0" smtClean="0">
                <a:latin typeface="Times New Roman" pitchFamily="18" charset="0"/>
                <a:cs typeface="Times New Roman" pitchFamily="18" charset="0"/>
              </a:rPr>
              <a:t> to coordinate the transmission of the active nodes</a:t>
            </a:r>
          </a:p>
          <a:p>
            <a:r>
              <a:rPr lang="en-US" sz="2000" dirty="0" smtClean="0">
                <a:latin typeface="Times New Roman" pitchFamily="18" charset="0"/>
                <a:cs typeface="Times New Roman" pitchFamily="18" charset="0"/>
              </a:rPr>
              <a:t>These protocols are called </a:t>
            </a:r>
            <a:r>
              <a:rPr lang="en-US" sz="2000" b="1" dirty="0" smtClean="0">
                <a:latin typeface="Times New Roman" pitchFamily="18" charset="0"/>
                <a:cs typeface="Times New Roman" pitchFamily="18" charset="0"/>
              </a:rPr>
              <a:t>Medium or Multiple Access Control (MAC) Protocols</a:t>
            </a:r>
            <a:r>
              <a:rPr lang="en-US" sz="2000" dirty="0" smtClean="0">
                <a:latin typeface="Times New Roman" pitchFamily="18" charset="0"/>
                <a:cs typeface="Times New Roman" pitchFamily="18" charset="0"/>
              </a:rPr>
              <a:t> belong to a </a:t>
            </a:r>
            <a:r>
              <a:rPr lang="en-US" sz="2000" b="1" dirty="0" err="1" smtClean="0">
                <a:latin typeface="Times New Roman" pitchFamily="18" charset="0"/>
                <a:cs typeface="Times New Roman" pitchFamily="18" charset="0"/>
              </a:rPr>
              <a:t>sublayer</a:t>
            </a:r>
            <a:r>
              <a:rPr lang="en-US" sz="2000" dirty="0" smtClean="0">
                <a:latin typeface="Times New Roman" pitchFamily="18" charset="0"/>
                <a:cs typeface="Times New Roman" pitchFamily="18" charset="0"/>
              </a:rPr>
              <a:t> of the data link layer called </a:t>
            </a:r>
            <a:r>
              <a:rPr lang="en-US" sz="2000" b="1" dirty="0" smtClean="0">
                <a:latin typeface="Times New Roman" pitchFamily="18" charset="0"/>
                <a:cs typeface="Times New Roman" pitchFamily="18" charset="0"/>
              </a:rPr>
              <a:t>MAC</a:t>
            </a:r>
            <a:r>
              <a:rPr lang="en-US" sz="2000" dirty="0" smtClean="0">
                <a:latin typeface="Times New Roman" pitchFamily="18" charset="0"/>
                <a:cs typeface="Times New Roman" pitchFamily="18" charset="0"/>
              </a:rPr>
              <a:t> (Medium Access Control)</a:t>
            </a:r>
          </a:p>
          <a:p>
            <a:r>
              <a:rPr lang="en-US" sz="2000" dirty="0" smtClean="0">
                <a:latin typeface="Times New Roman" pitchFamily="18" charset="0"/>
                <a:cs typeface="Times New Roman" pitchFamily="18" charset="0"/>
              </a:rPr>
              <a:t>What is expected from Multiple Access Protocols:</a:t>
            </a:r>
          </a:p>
          <a:p>
            <a:pPr lvl="1"/>
            <a:r>
              <a:rPr lang="en-US" sz="1800" dirty="0" smtClean="0">
                <a:latin typeface="Times New Roman" pitchFamily="18" charset="0"/>
                <a:cs typeface="Times New Roman" pitchFamily="18" charset="0"/>
              </a:rPr>
              <a:t>Main task is to </a:t>
            </a:r>
            <a:r>
              <a:rPr lang="en-US" sz="1800" b="1" dirty="0" smtClean="0">
                <a:latin typeface="Times New Roman" pitchFamily="18" charset="0"/>
                <a:cs typeface="Times New Roman" pitchFamily="18" charset="0"/>
              </a:rPr>
              <a:t>minimize collisions </a:t>
            </a:r>
            <a:r>
              <a:rPr lang="en-US" sz="1800" dirty="0" smtClean="0">
                <a:latin typeface="Times New Roman" pitchFamily="18" charset="0"/>
                <a:cs typeface="Times New Roman" pitchFamily="18" charset="0"/>
              </a:rPr>
              <a:t>in order to </a:t>
            </a:r>
            <a:r>
              <a:rPr lang="en-US" sz="1800" b="1" dirty="0" smtClean="0">
                <a:latin typeface="Times New Roman" pitchFamily="18" charset="0"/>
                <a:cs typeface="Times New Roman" pitchFamily="18" charset="0"/>
              </a:rPr>
              <a:t>utilize the bandwidth</a:t>
            </a:r>
            <a:r>
              <a:rPr lang="en-US" sz="1800" dirty="0" smtClean="0">
                <a:latin typeface="Times New Roman" pitchFamily="18" charset="0"/>
                <a:cs typeface="Times New Roman" pitchFamily="18" charset="0"/>
              </a:rPr>
              <a:t> by: </a:t>
            </a:r>
          </a:p>
          <a:p>
            <a:pPr lvl="2"/>
            <a:r>
              <a:rPr lang="en-US" sz="1600" dirty="0" smtClean="0">
                <a:latin typeface="Times New Roman" pitchFamily="18" charset="0"/>
                <a:cs typeface="Times New Roman" pitchFamily="18" charset="0"/>
              </a:rPr>
              <a:t>Determining </a:t>
            </a:r>
            <a:r>
              <a:rPr lang="en-US" sz="1600" b="1" dirty="0" smtClean="0">
                <a:latin typeface="Times New Roman" pitchFamily="18" charset="0"/>
                <a:cs typeface="Times New Roman" pitchFamily="18" charset="0"/>
              </a:rPr>
              <a:t>when </a:t>
            </a:r>
            <a:r>
              <a:rPr lang="en-US" sz="1600" dirty="0" smtClean="0">
                <a:latin typeface="Times New Roman" pitchFamily="18" charset="0"/>
                <a:cs typeface="Times New Roman" pitchFamily="18" charset="0"/>
              </a:rPr>
              <a:t> a station can use the link (medium)</a:t>
            </a:r>
          </a:p>
          <a:p>
            <a:pPr lvl="2"/>
            <a:r>
              <a:rPr lang="en-US" sz="1600" b="1" dirty="0" smtClean="0">
                <a:latin typeface="Times New Roman" pitchFamily="18" charset="0"/>
                <a:cs typeface="Times New Roman" pitchFamily="18" charset="0"/>
              </a:rPr>
              <a:t>what </a:t>
            </a:r>
            <a:r>
              <a:rPr lang="en-US" sz="1600" dirty="0" smtClean="0">
                <a:latin typeface="Times New Roman" pitchFamily="18" charset="0"/>
                <a:cs typeface="Times New Roman" pitchFamily="18" charset="0"/>
              </a:rPr>
              <a:t>a station should do when the link is </a:t>
            </a:r>
            <a:r>
              <a:rPr lang="en-US" sz="1600" b="1" dirty="0" smtClean="0">
                <a:latin typeface="Times New Roman" pitchFamily="18" charset="0"/>
                <a:cs typeface="Times New Roman" pitchFamily="18" charset="0"/>
              </a:rPr>
              <a:t>busy</a:t>
            </a:r>
          </a:p>
          <a:p>
            <a:pPr lvl="2"/>
            <a:r>
              <a:rPr lang="en-US" sz="1600" b="1" dirty="0" smtClean="0">
                <a:latin typeface="Times New Roman" pitchFamily="18" charset="0"/>
                <a:cs typeface="Times New Roman" pitchFamily="18" charset="0"/>
              </a:rPr>
              <a:t>what</a:t>
            </a:r>
            <a:r>
              <a:rPr lang="en-US" sz="1600" dirty="0" smtClean="0">
                <a:latin typeface="Times New Roman" pitchFamily="18" charset="0"/>
                <a:cs typeface="Times New Roman" pitchFamily="18" charset="0"/>
              </a:rPr>
              <a:t> the station should do when it is involved in </a:t>
            </a:r>
            <a:r>
              <a:rPr lang="en-US" sz="1600" b="1" dirty="0" smtClean="0">
                <a:latin typeface="Times New Roman" pitchFamily="18" charset="0"/>
                <a:cs typeface="Times New Roman" pitchFamily="18" charset="0"/>
              </a:rPr>
              <a:t>collision</a:t>
            </a:r>
            <a:r>
              <a:rPr lang="en-US" sz="1600" dirty="0" smtClean="0">
                <a:latin typeface="Times New Roman" pitchFamily="18" charset="0"/>
                <a:cs typeface="Times New Roman" pitchFamily="18" charset="0"/>
              </a:rPr>
              <a:t> </a:t>
            </a:r>
          </a:p>
          <a:p>
            <a:pPr lvl="1">
              <a:buNone/>
            </a:pPr>
            <a:endParaRPr lang="en-US" sz="1800" dirty="0" smtClean="0">
              <a:latin typeface="Times New Roman" pitchFamily="18" charset="0"/>
              <a:cs typeface="Times New Roman" pitchFamily="18" charset="0"/>
            </a:endParaRPr>
          </a:p>
          <a:p>
            <a:endParaRPr lang="en-IN"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b="0" dirty="0" smtClean="0">
                <a:latin typeface="Times New Roman" pitchFamily="18" charset="0"/>
              </a:rPr>
              <a:t>Taxonomy of multiple-access protocols</a:t>
            </a:r>
            <a:endParaRPr lang="en-IN" sz="4400" b="0" dirty="0"/>
          </a:p>
        </p:txBody>
      </p:sp>
      <p:sp>
        <p:nvSpPr>
          <p:cNvPr id="3" name="Content Placeholder 2"/>
          <p:cNvSpPr>
            <a:spLocks noGrp="1"/>
          </p:cNvSpPr>
          <p:nvPr>
            <p:ph idx="1"/>
          </p:nvPr>
        </p:nvSpPr>
        <p:spPr/>
        <p:txBody>
          <a:bodyPr/>
          <a:lstStyle/>
          <a:p>
            <a:endParaRPr lang="en-IN"/>
          </a:p>
        </p:txBody>
      </p:sp>
      <p:pic>
        <p:nvPicPr>
          <p:cNvPr id="4" name="Picture 6"/>
          <p:cNvPicPr>
            <a:picLocks noChangeAspect="1" noChangeArrowheads="1"/>
          </p:cNvPicPr>
          <p:nvPr/>
        </p:nvPicPr>
        <p:blipFill>
          <a:blip r:embed="rId2"/>
          <a:srcRect/>
          <a:stretch>
            <a:fillRect/>
          </a:stretch>
        </p:blipFill>
        <p:spPr bwMode="auto">
          <a:xfrm>
            <a:off x="990600" y="1897063"/>
            <a:ext cx="6554788" cy="3284537"/>
          </a:xfrm>
          <a:prstGeom prst="rect">
            <a:avLst/>
          </a:prstGeom>
          <a:noFill/>
          <a:ln w="9525">
            <a:noFill/>
            <a:miter lim="800000"/>
            <a:headEnd/>
            <a:tailEnd/>
          </a:ln>
        </p:spPr>
      </p:pic>
      <p:sp>
        <p:nvSpPr>
          <p:cNvPr id="5" name="Rectangle 6"/>
          <p:cNvSpPr>
            <a:spLocks noChangeArrowheads="1"/>
          </p:cNvSpPr>
          <p:nvPr/>
        </p:nvSpPr>
        <p:spPr bwMode="auto">
          <a:xfrm>
            <a:off x="2286000" y="4876800"/>
            <a:ext cx="1066800" cy="381000"/>
          </a:xfrm>
          <a:prstGeom prst="rect">
            <a:avLst/>
          </a:prstGeom>
          <a:noFill/>
          <a:ln w="9525" algn="ctr">
            <a:solidFill>
              <a:schemeClr val="tx1"/>
            </a:solidFill>
            <a:round/>
            <a:headEnd/>
            <a:tailEnd/>
          </a:ln>
        </p:spPr>
        <p:txBody>
          <a:bodyPr/>
          <a:lstStyle/>
          <a:p>
            <a:endParaRPr lang="en-US"/>
          </a:p>
        </p:txBody>
      </p:sp>
      <p:cxnSp>
        <p:nvCxnSpPr>
          <p:cNvPr id="6" name="Straight Arrow Connector 8"/>
          <p:cNvCxnSpPr>
            <a:cxnSpLocks noChangeShapeType="1"/>
          </p:cNvCxnSpPr>
          <p:nvPr/>
        </p:nvCxnSpPr>
        <p:spPr bwMode="auto">
          <a:xfrm>
            <a:off x="3276600" y="5334000"/>
            <a:ext cx="914400" cy="457200"/>
          </a:xfrm>
          <a:prstGeom prst="straightConnector1">
            <a:avLst/>
          </a:prstGeom>
          <a:noFill/>
          <a:ln w="9525" algn="ctr">
            <a:solidFill>
              <a:schemeClr val="tx1"/>
            </a:solidFill>
            <a:round/>
            <a:headEnd type="triangle" w="med" len="med"/>
            <a:tailEnd/>
          </a:ln>
        </p:spPr>
      </p:cxnSp>
      <p:sp>
        <p:nvSpPr>
          <p:cNvPr id="7" name="TextBox 9"/>
          <p:cNvSpPr txBox="1">
            <a:spLocks noChangeArrowheads="1"/>
          </p:cNvSpPr>
          <p:nvPr/>
        </p:nvSpPr>
        <p:spPr bwMode="auto">
          <a:xfrm>
            <a:off x="4191000" y="5562600"/>
            <a:ext cx="2209800" cy="369332"/>
          </a:xfrm>
          <a:prstGeom prst="rect">
            <a:avLst/>
          </a:prstGeom>
          <a:noFill/>
          <a:ln w="9525">
            <a:noFill/>
            <a:miter lim="800000"/>
            <a:headEnd/>
            <a:tailEnd/>
          </a:ln>
        </p:spPr>
        <p:txBody>
          <a:bodyPr>
            <a:spAutoFit/>
          </a:bodyPr>
          <a:lstStyle/>
          <a:p>
            <a:r>
              <a:rPr lang="en-US" dirty="0"/>
              <a:t>For </a:t>
            </a:r>
            <a:r>
              <a:rPr lang="en-US" dirty="0" smtClean="0"/>
              <a:t>wireless</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Random Access</a:t>
            </a:r>
            <a:endParaRPr lang="en-IN" b="0" dirty="0"/>
          </a:p>
        </p:txBody>
      </p:sp>
      <p:sp>
        <p:nvSpPr>
          <p:cNvPr id="3" name="Content Placeholder 2"/>
          <p:cNvSpPr>
            <a:spLocks noGrp="1"/>
          </p:cNvSpPr>
          <p:nvPr>
            <p:ph idx="1"/>
          </p:nvPr>
        </p:nvSpPr>
        <p:spPr>
          <a:xfrm>
            <a:off x="198303" y="1219201"/>
            <a:ext cx="8780444" cy="5181600"/>
          </a:xfrm>
        </p:spPr>
        <p:txBody>
          <a:bodyPr>
            <a:normAutofit/>
          </a:bodyPr>
          <a:lstStyle/>
          <a:p>
            <a:pPr>
              <a:lnSpc>
                <a:spcPct val="80000"/>
              </a:lnSpc>
            </a:pPr>
            <a:r>
              <a:rPr lang="en-US" sz="3200" dirty="0" smtClean="0">
                <a:latin typeface="Times New Roman" pitchFamily="18" charset="0"/>
                <a:cs typeface="Times New Roman" pitchFamily="18" charset="0"/>
              </a:rPr>
              <a:t>Random Access (or contention) Protocols: </a:t>
            </a:r>
          </a:p>
          <a:p>
            <a:pPr lvl="1">
              <a:lnSpc>
                <a:spcPct val="80000"/>
              </a:lnSpc>
            </a:pPr>
            <a:r>
              <a:rPr lang="en-US" sz="2800" dirty="0" smtClean="0">
                <a:latin typeface="Times New Roman" pitchFamily="18" charset="0"/>
                <a:cs typeface="Times New Roman" pitchFamily="18" charset="0"/>
              </a:rPr>
              <a:t>No station is superior to another station and none is assigned the control over another</a:t>
            </a:r>
          </a:p>
          <a:p>
            <a:pPr lvl="1">
              <a:lnSpc>
                <a:spcPct val="80000"/>
              </a:lnSpc>
            </a:pPr>
            <a:r>
              <a:rPr lang="en-US" sz="2800" dirty="0" smtClean="0">
                <a:latin typeface="Times New Roman" pitchFamily="18" charset="0"/>
                <a:cs typeface="Times New Roman" pitchFamily="18" charset="0"/>
              </a:rPr>
              <a:t>A station with a frame to be transmitted can use the link directly based on a procedure defined by the protocol to make a decision on whether or not to send. </a:t>
            </a:r>
          </a:p>
          <a:p>
            <a:pPr>
              <a:lnSpc>
                <a:spcPct val="80000"/>
              </a:lnSpc>
            </a:pPr>
            <a:r>
              <a:rPr lang="en-US" sz="3200" dirty="0" smtClean="0">
                <a:latin typeface="Times New Roman" pitchFamily="18" charset="0"/>
                <a:cs typeface="Times New Roman" pitchFamily="18" charset="0"/>
              </a:rPr>
              <a:t>Two features</a:t>
            </a:r>
          </a:p>
          <a:p>
            <a:pPr lvl="1"/>
            <a:r>
              <a:rPr lang="en-IN" sz="2800" dirty="0" smtClean="0">
                <a:latin typeface="Times New Roman" pitchFamily="18" charset="0"/>
                <a:cs typeface="Times New Roman" pitchFamily="18" charset="0"/>
              </a:rPr>
              <a:t>No scheduled time for a station to transmit - Random Transmission</a:t>
            </a:r>
          </a:p>
          <a:p>
            <a:pPr lvl="1"/>
            <a:r>
              <a:rPr lang="en-IN" sz="2800" dirty="0" smtClean="0">
                <a:latin typeface="Times New Roman" pitchFamily="18" charset="0"/>
                <a:cs typeface="Times New Roman" pitchFamily="18" charset="0"/>
              </a:rPr>
              <a:t>No rules specify which station should send next</a:t>
            </a:r>
          </a:p>
          <a:p>
            <a:pPr lvl="2"/>
            <a:r>
              <a:rPr lang="en-IN" sz="2800" dirty="0" smtClean="0">
                <a:latin typeface="Times New Roman" pitchFamily="18" charset="0"/>
                <a:cs typeface="Times New Roman" pitchFamily="18" charset="0"/>
              </a:rPr>
              <a:t>Stations compete with one another to access the medium - contention methods</a:t>
            </a:r>
          </a:p>
          <a:p>
            <a:pPr lvl="1">
              <a:lnSpc>
                <a:spcPct val="80000"/>
              </a:lnSpc>
              <a:buNone/>
            </a:pPr>
            <a:endParaRPr lang="en-US" sz="1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000" b="0" dirty="0" smtClean="0"/>
              <a:t>Evolution of random-access methods </a:t>
            </a:r>
            <a:endParaRPr lang="en-IN" sz="4000" b="0" dirty="0"/>
          </a:p>
        </p:txBody>
      </p:sp>
      <p:sp>
        <p:nvSpPr>
          <p:cNvPr id="3" name="Content Placeholder 2"/>
          <p:cNvSpPr>
            <a:spLocks noGrp="1"/>
          </p:cNvSpPr>
          <p:nvPr>
            <p:ph idx="1"/>
          </p:nvPr>
        </p:nvSpPr>
        <p:spPr>
          <a:xfrm>
            <a:off x="198303" y="1345139"/>
            <a:ext cx="8780444" cy="4979461"/>
          </a:xfrm>
        </p:spPr>
        <p:txBody>
          <a:bodyPr>
            <a:normAutofit/>
          </a:bodyPr>
          <a:lstStyle/>
          <a:p>
            <a:r>
              <a:rPr lang="en-IN" dirty="0" smtClean="0"/>
              <a:t>ALOHA -used a very simple procedure called multiple access (MA)</a:t>
            </a:r>
          </a:p>
          <a:p>
            <a:pPr lvl="1"/>
            <a:r>
              <a:rPr lang="en-IN" dirty="0" smtClean="0"/>
              <a:t>Pure ALOHA - each station sends a frame whenever it has a frame to send </a:t>
            </a:r>
          </a:p>
          <a:p>
            <a:pPr lvl="1"/>
            <a:r>
              <a:rPr lang="en-IN" dirty="0" smtClean="0"/>
              <a:t>Slotted ALOHA - divide the time into slots and force the station to send only at the beginning of the time slot</a:t>
            </a:r>
          </a:p>
          <a:p>
            <a:r>
              <a:rPr lang="en-IN" dirty="0" smtClean="0"/>
              <a:t>Carrier sense multiple access (CSMA) - improved ALOHA </a:t>
            </a:r>
          </a:p>
          <a:p>
            <a:pPr lvl="1"/>
            <a:r>
              <a:rPr lang="en-IN" dirty="0" smtClean="0"/>
              <a:t>forces the station to sense the medium before transmitting</a:t>
            </a:r>
          </a:p>
          <a:p>
            <a:pPr lvl="1"/>
            <a:r>
              <a:rPr lang="en-IN" dirty="0" smtClean="0"/>
              <a:t>Two parallel evolved methods</a:t>
            </a:r>
          </a:p>
          <a:p>
            <a:pPr lvl="2"/>
            <a:r>
              <a:rPr lang="en-IN" dirty="0" smtClean="0"/>
              <a:t>carrier sense multiple access with collision detection (CSMA/CD)</a:t>
            </a:r>
          </a:p>
          <a:p>
            <a:pPr lvl="3"/>
            <a:r>
              <a:rPr lang="en-IN" dirty="0" smtClean="0"/>
              <a:t>tells the station what to do when a collision is detected</a:t>
            </a:r>
          </a:p>
          <a:p>
            <a:pPr lvl="2"/>
            <a:r>
              <a:rPr lang="en-IN" dirty="0" smtClean="0"/>
              <a:t>carrier sense multiple access with collision avoidance (CSMA/CA)</a:t>
            </a:r>
          </a:p>
          <a:p>
            <a:pPr lvl="3"/>
            <a:r>
              <a:rPr lang="en-IN" dirty="0" smtClean="0"/>
              <a:t>tries to avoid the collision</a:t>
            </a:r>
            <a:endParaRPr lang="en-IN"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303" y="228600"/>
            <a:ext cx="8780443" cy="1066800"/>
          </a:xfrm>
        </p:spPr>
        <p:txBody>
          <a:bodyPr>
            <a:noAutofit/>
          </a:bodyPr>
          <a:lstStyle/>
          <a:p>
            <a:r>
              <a:rPr lang="en-IN" sz="4400" b="0" dirty="0" smtClean="0"/>
              <a:t>Carrier sense multiple access with collision detection (CSMA/CD)</a:t>
            </a:r>
            <a:endParaRPr lang="en-IN" sz="4400" b="0" dirty="0"/>
          </a:p>
        </p:txBody>
      </p:sp>
      <p:sp>
        <p:nvSpPr>
          <p:cNvPr id="3" name="Content Placeholder 2"/>
          <p:cNvSpPr>
            <a:spLocks noGrp="1"/>
          </p:cNvSpPr>
          <p:nvPr>
            <p:ph idx="1"/>
          </p:nvPr>
        </p:nvSpPr>
        <p:spPr/>
        <p:txBody>
          <a:bodyPr>
            <a:normAutofit/>
          </a:bodyPr>
          <a:lstStyle/>
          <a:p>
            <a:r>
              <a:rPr lang="en-IN" dirty="0" smtClean="0"/>
              <a:t>The CSMA method does not specify the procedure following a collision</a:t>
            </a:r>
          </a:p>
          <a:p>
            <a:r>
              <a:rPr lang="en-IN" dirty="0" smtClean="0"/>
              <a:t>CSMA/CD augments the algorithm to handle the collision</a:t>
            </a:r>
          </a:p>
          <a:p>
            <a:pPr lvl="1"/>
            <a:r>
              <a:rPr lang="en-IN" dirty="0" smtClean="0"/>
              <a:t>A station monitors the medium after it sends a frame to see if the transmission was successful</a:t>
            </a:r>
          </a:p>
          <a:p>
            <a:pPr lvl="1"/>
            <a:r>
              <a:rPr lang="en-IN" dirty="0" smtClean="0"/>
              <a:t>If so, the station is finished</a:t>
            </a:r>
          </a:p>
          <a:p>
            <a:pPr lvl="1"/>
            <a:r>
              <a:rPr lang="en-IN" dirty="0" smtClean="0"/>
              <a:t>If there is a collision, the frame is sent again</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CSMA/CD ...</a:t>
            </a:r>
            <a:endParaRPr lang="en-IN" dirty="0"/>
          </a:p>
        </p:txBody>
      </p:sp>
      <p:sp>
        <p:nvSpPr>
          <p:cNvPr id="3" name="Content Placeholder 2"/>
          <p:cNvSpPr>
            <a:spLocks noGrp="1"/>
          </p:cNvSpPr>
          <p:nvPr>
            <p:ph idx="1"/>
          </p:nvPr>
        </p:nvSpPr>
        <p:spPr/>
        <p:txBody>
          <a:bodyPr/>
          <a:lstStyle/>
          <a:p>
            <a:r>
              <a:rPr lang="en-IN" dirty="0" smtClean="0"/>
              <a:t>Look at the first bits transmitted by the two stations involved in the collision</a:t>
            </a:r>
          </a:p>
          <a:p>
            <a:pPr lvl="1"/>
            <a:r>
              <a:rPr lang="en-IN" dirty="0" smtClean="0"/>
              <a:t>each station continues to send bits in the frame until it detects the collision</a:t>
            </a:r>
          </a:p>
          <a:p>
            <a:endParaRPr lang="en-IN" dirty="0"/>
          </a:p>
        </p:txBody>
      </p:sp>
      <p:pic>
        <p:nvPicPr>
          <p:cNvPr id="4" name="Picture 7"/>
          <p:cNvPicPr>
            <a:picLocks noChangeAspect="1" noChangeArrowheads="1"/>
          </p:cNvPicPr>
          <p:nvPr/>
        </p:nvPicPr>
        <p:blipFill>
          <a:blip r:embed="rId2"/>
          <a:srcRect/>
          <a:stretch>
            <a:fillRect/>
          </a:stretch>
        </p:blipFill>
        <p:spPr bwMode="auto">
          <a:xfrm>
            <a:off x="0" y="3657600"/>
            <a:ext cx="9058275" cy="26146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CSMA/CD ...</a:t>
            </a:r>
            <a:endParaRPr lang="en-IN" dirty="0"/>
          </a:p>
        </p:txBody>
      </p:sp>
      <p:sp>
        <p:nvSpPr>
          <p:cNvPr id="3" name="Content Placeholder 2"/>
          <p:cNvSpPr>
            <a:spLocks noGrp="1"/>
          </p:cNvSpPr>
          <p:nvPr>
            <p:ph idx="1"/>
          </p:nvPr>
        </p:nvSpPr>
        <p:spPr/>
        <p:txBody>
          <a:bodyPr>
            <a:normAutofit fontScale="77500" lnSpcReduction="20000"/>
          </a:bodyPr>
          <a:lstStyle/>
          <a:p>
            <a:r>
              <a:rPr lang="en-IN" dirty="0" smtClean="0"/>
              <a:t>At time t1, station A has executed its persistence procedure and starts sending the bits of its frame</a:t>
            </a:r>
          </a:p>
          <a:p>
            <a:r>
              <a:rPr lang="en-IN" dirty="0" smtClean="0"/>
              <a:t>At time t2, station C has not yet sensed the first bit sent by A</a:t>
            </a:r>
          </a:p>
          <a:p>
            <a:r>
              <a:rPr lang="en-IN" dirty="0" smtClean="0"/>
              <a:t>Station C executes its persistence procedure and starts sending the bits in its frame, which propagate both to the left and to the right</a:t>
            </a:r>
          </a:p>
          <a:p>
            <a:r>
              <a:rPr lang="en-IN" dirty="0" smtClean="0"/>
              <a:t>The collision occurs sometime after time t2</a:t>
            </a:r>
          </a:p>
          <a:p>
            <a:r>
              <a:rPr lang="en-IN" dirty="0" smtClean="0"/>
              <a:t>Station C detects a collision at time t3 when it receives the first bit of A’s frame</a:t>
            </a:r>
          </a:p>
          <a:p>
            <a:r>
              <a:rPr lang="en-IN" dirty="0" smtClean="0"/>
              <a:t>Station C immediately (or after a short time, but we assume immediately) aborts transmission</a:t>
            </a:r>
          </a:p>
          <a:p>
            <a:r>
              <a:rPr lang="en-IN" dirty="0" smtClean="0"/>
              <a:t>Station A detects collision at time t4 when it receives the first bit of C’s frame - immediately aborts transmission</a:t>
            </a:r>
          </a:p>
          <a:p>
            <a:r>
              <a:rPr lang="en-IN" dirty="0" smtClean="0"/>
              <a:t>A transmits for the duration t4 − t1; C transmits for the duration t3 − t2</a:t>
            </a:r>
            <a:endParaRPr lang="en-IN"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400" b="0" dirty="0" smtClean="0"/>
              <a:t>CSMA/CD - </a:t>
            </a:r>
            <a:r>
              <a:rPr lang="en-US" sz="4400" b="0" dirty="0" smtClean="0"/>
              <a:t>Collision and abortion </a:t>
            </a:r>
            <a:endParaRPr lang="en-IN" sz="4400" b="0" dirty="0"/>
          </a:p>
        </p:txBody>
      </p:sp>
      <p:sp>
        <p:nvSpPr>
          <p:cNvPr id="3" name="Content Placeholder 2"/>
          <p:cNvSpPr>
            <a:spLocks noGrp="1"/>
          </p:cNvSpPr>
          <p:nvPr>
            <p:ph idx="1"/>
          </p:nvPr>
        </p:nvSpPr>
        <p:spPr/>
        <p:txBody>
          <a:bodyPr/>
          <a:lstStyle/>
          <a:p>
            <a:endParaRPr lang="en-IN"/>
          </a:p>
        </p:txBody>
      </p:sp>
      <p:pic>
        <p:nvPicPr>
          <p:cNvPr id="4" name="Picture 7"/>
          <p:cNvPicPr>
            <a:picLocks noChangeAspect="1" noChangeArrowheads="1"/>
          </p:cNvPicPr>
          <p:nvPr/>
        </p:nvPicPr>
        <p:blipFill>
          <a:blip r:embed="rId2"/>
          <a:srcRect/>
          <a:stretch>
            <a:fillRect/>
          </a:stretch>
        </p:blipFill>
        <p:spPr bwMode="auto">
          <a:xfrm>
            <a:off x="149225" y="2743200"/>
            <a:ext cx="8994775" cy="29479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400" b="0" dirty="0" smtClean="0"/>
              <a:t>CSMA/CD  -</a:t>
            </a:r>
            <a:r>
              <a:rPr lang="en-IN" sz="4400" b="0" i="1" dirty="0" smtClean="0"/>
              <a:t>Minimum Frame Size</a:t>
            </a:r>
            <a:endParaRPr lang="en-IN" sz="4400" b="0" dirty="0"/>
          </a:p>
        </p:txBody>
      </p:sp>
      <p:sp>
        <p:nvSpPr>
          <p:cNvPr id="3" name="Content Placeholder 2"/>
          <p:cNvSpPr>
            <a:spLocks noGrp="1"/>
          </p:cNvSpPr>
          <p:nvPr>
            <p:ph idx="1"/>
          </p:nvPr>
        </p:nvSpPr>
        <p:spPr/>
        <p:txBody>
          <a:bodyPr>
            <a:normAutofit fontScale="92500" lnSpcReduction="10000"/>
          </a:bodyPr>
          <a:lstStyle/>
          <a:p>
            <a:r>
              <a:rPr lang="en-IN" dirty="0" smtClean="0"/>
              <a:t>Need a restriction on the frame size</a:t>
            </a:r>
          </a:p>
          <a:p>
            <a:r>
              <a:rPr lang="en-IN" dirty="0" smtClean="0"/>
              <a:t>Before sending the last bit of the frame, the sending station must detect a collision, if any, and abort the transmission</a:t>
            </a:r>
          </a:p>
          <a:p>
            <a:pPr lvl="1"/>
            <a:r>
              <a:rPr lang="en-IN" dirty="0" smtClean="0"/>
              <a:t>because the station, once the entire frame is sent, does not keep a copy of the frame and does not monitor the line for collision detection</a:t>
            </a:r>
          </a:p>
          <a:p>
            <a:pPr lvl="1"/>
            <a:r>
              <a:rPr lang="en-IN" dirty="0" smtClean="0"/>
              <a:t>The frame transmission time </a:t>
            </a:r>
            <a:r>
              <a:rPr lang="en-IN" i="1" dirty="0" err="1" smtClean="0"/>
              <a:t>T</a:t>
            </a:r>
            <a:r>
              <a:rPr lang="en-IN" sz="2000" i="1" baseline="-25000" dirty="0" err="1" smtClean="0"/>
              <a:t>fr</a:t>
            </a:r>
            <a:r>
              <a:rPr lang="en-IN" sz="2000" i="1" dirty="0" smtClean="0"/>
              <a:t> </a:t>
            </a:r>
            <a:r>
              <a:rPr lang="en-IN" i="1" dirty="0" smtClean="0"/>
              <a:t>must be at least two times the maximum propagation time </a:t>
            </a:r>
            <a:r>
              <a:rPr lang="en-IN" i="1" dirty="0" err="1" smtClean="0"/>
              <a:t>T</a:t>
            </a:r>
            <a:r>
              <a:rPr lang="en-IN" sz="2000" i="1" dirty="0" err="1" smtClean="0"/>
              <a:t>p</a:t>
            </a:r>
            <a:endParaRPr lang="en-IN" i="1" dirty="0" smtClean="0"/>
          </a:p>
          <a:p>
            <a:pPr lvl="1"/>
            <a:r>
              <a:rPr lang="en-IN" dirty="0" smtClean="0"/>
              <a:t>Worst-case scenario. If the two stations involved in a collision are the maximum distance apart, the signal from the first takes time </a:t>
            </a:r>
            <a:r>
              <a:rPr lang="en-IN" i="1" dirty="0" err="1" smtClean="0"/>
              <a:t>T</a:t>
            </a:r>
            <a:r>
              <a:rPr lang="en-IN" sz="2000" i="1" dirty="0" err="1" smtClean="0"/>
              <a:t>p</a:t>
            </a:r>
            <a:r>
              <a:rPr lang="en-IN" sz="2000" i="1" dirty="0" smtClean="0"/>
              <a:t> </a:t>
            </a:r>
            <a:r>
              <a:rPr lang="en-IN" i="1" dirty="0" smtClean="0"/>
              <a:t>to reach </a:t>
            </a:r>
            <a:r>
              <a:rPr lang="en-IN" dirty="0" smtClean="0"/>
              <a:t>the second, and the effect of the collision takes another time </a:t>
            </a:r>
            <a:r>
              <a:rPr lang="en-IN" i="1" dirty="0" smtClean="0"/>
              <a:t>T</a:t>
            </a:r>
            <a:r>
              <a:rPr lang="en-IN" sz="2000" i="1" dirty="0" smtClean="0"/>
              <a:t>P </a:t>
            </a:r>
            <a:r>
              <a:rPr lang="en-IN" i="1" dirty="0" smtClean="0"/>
              <a:t>to reach the first</a:t>
            </a:r>
          </a:p>
          <a:p>
            <a:pPr lvl="1"/>
            <a:r>
              <a:rPr lang="en-IN" i="1" dirty="0" smtClean="0"/>
              <a:t>So the </a:t>
            </a:r>
            <a:r>
              <a:rPr lang="en-IN" dirty="0" smtClean="0"/>
              <a:t>requirement is that the first station must still be transmitting after 2</a:t>
            </a:r>
            <a:r>
              <a:rPr lang="en-IN" i="1" dirty="0" smtClean="0"/>
              <a:t>T</a:t>
            </a:r>
            <a:r>
              <a:rPr lang="en-IN" sz="2000" i="1" dirty="0" smtClean="0"/>
              <a:t>p</a:t>
            </a:r>
            <a:endParaRPr lang="en-IN"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CSMA/CD Example</a:t>
            </a:r>
            <a:endParaRPr lang="en-IN" dirty="0"/>
          </a:p>
        </p:txBody>
      </p:sp>
      <p:sp>
        <p:nvSpPr>
          <p:cNvPr id="3" name="Content Placeholder 2"/>
          <p:cNvSpPr>
            <a:spLocks noGrp="1"/>
          </p:cNvSpPr>
          <p:nvPr>
            <p:ph idx="1"/>
          </p:nvPr>
        </p:nvSpPr>
        <p:spPr/>
        <p:txBody>
          <a:bodyPr>
            <a:normAutofit lnSpcReduction="10000"/>
          </a:bodyPr>
          <a:lstStyle/>
          <a:p>
            <a:r>
              <a:rPr lang="en-IN" dirty="0" smtClean="0"/>
              <a:t>A network using CSMA/CD has a bandwidth of 10 Mbps</a:t>
            </a:r>
          </a:p>
          <a:p>
            <a:r>
              <a:rPr lang="en-IN" dirty="0" smtClean="0"/>
              <a:t>If the maximum propagation time (including the delays in the devices and ignoring the time needed to send a jamming signal is 25.6 </a:t>
            </a:r>
            <a:r>
              <a:rPr lang="en-IN" dirty="0" err="1" smtClean="0"/>
              <a:t>μs</a:t>
            </a:r>
            <a:r>
              <a:rPr lang="en-IN" dirty="0" smtClean="0"/>
              <a:t>, what is the minimum size of the frame?</a:t>
            </a:r>
          </a:p>
          <a:p>
            <a:r>
              <a:rPr lang="en-IN" b="1" dirty="0" smtClean="0"/>
              <a:t>Solution</a:t>
            </a:r>
          </a:p>
          <a:p>
            <a:pPr lvl="1"/>
            <a:r>
              <a:rPr lang="en-IN" dirty="0" smtClean="0"/>
              <a:t>The minimum frame transmission time is </a:t>
            </a:r>
            <a:r>
              <a:rPr lang="en-IN" i="1" dirty="0" err="1" smtClean="0"/>
              <a:t>T</a:t>
            </a:r>
            <a:r>
              <a:rPr lang="en-IN" i="1" baseline="-25000" dirty="0" err="1" smtClean="0"/>
              <a:t>fr</a:t>
            </a:r>
            <a:r>
              <a:rPr lang="en-IN" i="1" dirty="0" smtClean="0"/>
              <a:t> = 2 × </a:t>
            </a:r>
            <a:r>
              <a:rPr lang="en-IN" i="1" dirty="0" err="1" smtClean="0"/>
              <a:t>Tp</a:t>
            </a:r>
            <a:r>
              <a:rPr lang="en-IN" i="1" dirty="0" smtClean="0"/>
              <a:t> = 51.2 </a:t>
            </a:r>
            <a:r>
              <a:rPr lang="en-IN" i="1" dirty="0" err="1" smtClean="0"/>
              <a:t>μs</a:t>
            </a:r>
            <a:endParaRPr lang="en-IN" i="1" dirty="0" smtClean="0"/>
          </a:p>
          <a:p>
            <a:pPr lvl="1"/>
            <a:r>
              <a:rPr lang="en-IN" i="1" dirty="0" smtClean="0"/>
              <a:t>The worst case, a </a:t>
            </a:r>
            <a:r>
              <a:rPr lang="en-IN" dirty="0" smtClean="0"/>
              <a:t>station needs to transmit for a period of 51.2 </a:t>
            </a:r>
            <a:r>
              <a:rPr lang="en-IN" dirty="0" err="1" smtClean="0"/>
              <a:t>μs</a:t>
            </a:r>
            <a:r>
              <a:rPr lang="en-IN" dirty="0" smtClean="0"/>
              <a:t> to detect the collision</a:t>
            </a:r>
          </a:p>
          <a:p>
            <a:pPr lvl="1"/>
            <a:r>
              <a:rPr lang="en-IN" dirty="0" smtClean="0"/>
              <a:t>The minimum size of the frame is 10 Mbps × 51.2 </a:t>
            </a:r>
            <a:r>
              <a:rPr lang="en-IN" dirty="0" err="1" smtClean="0"/>
              <a:t>μs</a:t>
            </a:r>
            <a:r>
              <a:rPr lang="en-IN" dirty="0" smtClean="0"/>
              <a:t> = 512 bits or 64 bytes</a:t>
            </a:r>
          </a:p>
          <a:p>
            <a:pPr lvl="2"/>
            <a:r>
              <a:rPr lang="en-IN" dirty="0" smtClean="0"/>
              <a:t>This is actually the minimum size of the frame for Standard Ethernet</a:t>
            </a:r>
            <a:endParaRPr lang="en-IN"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Flow diagram for CSMA/CD</a:t>
            </a:r>
            <a:endParaRPr lang="en-IN" dirty="0"/>
          </a:p>
        </p:txBody>
      </p:sp>
      <p:sp>
        <p:nvSpPr>
          <p:cNvPr id="3" name="Content Placeholder 2"/>
          <p:cNvSpPr>
            <a:spLocks noGrp="1"/>
          </p:cNvSpPr>
          <p:nvPr>
            <p:ph idx="1"/>
          </p:nvPr>
        </p:nvSpPr>
        <p:spPr/>
        <p:txBody>
          <a:bodyPr/>
          <a:lstStyle/>
          <a:p>
            <a:endParaRPr lang="en-IN"/>
          </a:p>
        </p:txBody>
      </p:sp>
      <p:pic>
        <p:nvPicPr>
          <p:cNvPr id="4" name="Picture 7"/>
          <p:cNvPicPr>
            <a:picLocks noChangeAspect="1" noChangeArrowheads="1"/>
          </p:cNvPicPr>
          <p:nvPr/>
        </p:nvPicPr>
        <p:blipFill>
          <a:blip r:embed="rId2"/>
          <a:srcRect/>
          <a:stretch>
            <a:fillRect/>
          </a:stretch>
        </p:blipFill>
        <p:spPr bwMode="auto">
          <a:xfrm>
            <a:off x="1219200" y="1219200"/>
            <a:ext cx="6769638" cy="54641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Flow diagram for CSMA/CD</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Similar to the one for the ALOHA protocol with 3-differences</a:t>
            </a:r>
          </a:p>
          <a:p>
            <a:pPr lvl="1"/>
            <a:r>
              <a:rPr lang="en-IN" dirty="0" smtClean="0"/>
              <a:t>addition of the persistence process - sense the channel before start sending the frame by using one of the persistence processes (</a:t>
            </a:r>
            <a:r>
              <a:rPr lang="en-IN" dirty="0" err="1" smtClean="0"/>
              <a:t>nonpersistent</a:t>
            </a:r>
            <a:r>
              <a:rPr lang="en-IN" dirty="0" smtClean="0"/>
              <a:t>, 1-persistent, or </a:t>
            </a:r>
            <a:r>
              <a:rPr lang="en-IN" i="1" dirty="0" smtClean="0"/>
              <a:t>p-persistent)</a:t>
            </a:r>
            <a:endParaRPr lang="en-IN" dirty="0" smtClean="0"/>
          </a:p>
          <a:p>
            <a:pPr lvl="1"/>
            <a:r>
              <a:rPr lang="en-IN" dirty="0" smtClean="0"/>
              <a:t>frame transmission </a:t>
            </a:r>
          </a:p>
          <a:p>
            <a:pPr lvl="2"/>
            <a:r>
              <a:rPr lang="en-IN" dirty="0" smtClean="0"/>
              <a:t>In ALOHA, first transmit the entire frame and then wait for an acknowledgment</a:t>
            </a:r>
          </a:p>
          <a:p>
            <a:pPr lvl="2"/>
            <a:r>
              <a:rPr lang="en-IN" dirty="0" smtClean="0"/>
              <a:t>In CSMA/CD, transmission and collision detection are continuous processes ( shown as a loop) </a:t>
            </a:r>
          </a:p>
          <a:p>
            <a:pPr lvl="3"/>
            <a:r>
              <a:rPr lang="en-IN" dirty="0" smtClean="0"/>
              <a:t>constantly monitor in order to detect one of two conditions to stop transmission </a:t>
            </a:r>
          </a:p>
          <a:p>
            <a:pPr lvl="4"/>
            <a:r>
              <a:rPr lang="en-IN" dirty="0" smtClean="0"/>
              <a:t>either transmission is finished or</a:t>
            </a:r>
          </a:p>
          <a:p>
            <a:pPr lvl="4"/>
            <a:r>
              <a:rPr lang="en-IN" dirty="0" smtClean="0"/>
              <a:t>a collision is detected</a:t>
            </a:r>
          </a:p>
          <a:p>
            <a:pPr lvl="3"/>
            <a:r>
              <a:rPr lang="en-IN" dirty="0" smtClean="0"/>
              <a:t>On loop exit, if a collision has not been detected, it means that transmission is complete; the entire frame is transmitted. Otherwise, a collision has occurred</a:t>
            </a:r>
          </a:p>
          <a:p>
            <a:pPr lvl="1"/>
            <a:r>
              <a:rPr lang="en-IN" dirty="0" smtClean="0"/>
              <a:t>Sending of a short </a:t>
            </a:r>
            <a:r>
              <a:rPr lang="en-IN" b="1" dirty="0" smtClean="0"/>
              <a:t>jamming signal to make sure that all </a:t>
            </a:r>
            <a:r>
              <a:rPr lang="en-IN" dirty="0" smtClean="0"/>
              <a:t>other stations become aware of the collision</a:t>
            </a:r>
            <a:endParaRPr lang="en-IN"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CSMA/CD - </a:t>
            </a:r>
            <a:r>
              <a:rPr lang="en-IN" i="1" dirty="0" smtClean="0"/>
              <a:t>Energy Level</a:t>
            </a:r>
            <a:endParaRPr lang="en-IN" dirty="0"/>
          </a:p>
        </p:txBody>
      </p:sp>
      <p:sp>
        <p:nvSpPr>
          <p:cNvPr id="3" name="Content Placeholder 2"/>
          <p:cNvSpPr>
            <a:spLocks noGrp="1"/>
          </p:cNvSpPr>
          <p:nvPr>
            <p:ph idx="1"/>
          </p:nvPr>
        </p:nvSpPr>
        <p:spPr>
          <a:xfrm>
            <a:off x="198303" y="1345139"/>
            <a:ext cx="8780444" cy="3379261"/>
          </a:xfrm>
        </p:spPr>
        <p:txBody>
          <a:bodyPr>
            <a:normAutofit lnSpcReduction="10000"/>
          </a:bodyPr>
          <a:lstStyle/>
          <a:p>
            <a:r>
              <a:rPr lang="en-IN" dirty="0" smtClean="0"/>
              <a:t>The level of energy in a channel can have three values: </a:t>
            </a:r>
          </a:p>
          <a:p>
            <a:pPr lvl="1"/>
            <a:r>
              <a:rPr lang="en-IN" dirty="0" smtClean="0"/>
              <a:t>Zero - the channel is idle</a:t>
            </a:r>
          </a:p>
          <a:p>
            <a:pPr lvl="1"/>
            <a:r>
              <a:rPr lang="en-IN" dirty="0" smtClean="0"/>
              <a:t>Normal - station has successfully captured the channel and is sending its frame </a:t>
            </a:r>
          </a:p>
          <a:p>
            <a:pPr lvl="1"/>
            <a:r>
              <a:rPr lang="en-IN" dirty="0" smtClean="0"/>
              <a:t>Abnormal –there is a collision and the level of the energy is twice the normal level</a:t>
            </a:r>
          </a:p>
          <a:p>
            <a:r>
              <a:rPr lang="en-IN" dirty="0" smtClean="0"/>
              <a:t>A station that has a frame to send or is sending a frame needs to monitor the energy level to determine if the channel is idle, busy, or in collision mode</a:t>
            </a:r>
            <a:endParaRPr lang="en-IN" dirty="0"/>
          </a:p>
        </p:txBody>
      </p:sp>
      <p:pic>
        <p:nvPicPr>
          <p:cNvPr id="5122" name="Picture 2"/>
          <p:cNvPicPr>
            <a:picLocks noChangeAspect="1" noChangeArrowheads="1"/>
          </p:cNvPicPr>
          <p:nvPr/>
        </p:nvPicPr>
        <p:blipFill>
          <a:blip r:embed="rId2"/>
          <a:srcRect/>
          <a:stretch>
            <a:fillRect/>
          </a:stretch>
        </p:blipFill>
        <p:spPr bwMode="auto">
          <a:xfrm>
            <a:off x="992841" y="4648200"/>
            <a:ext cx="5788959" cy="160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CSMA/CD - </a:t>
            </a:r>
            <a:r>
              <a:rPr lang="en-IN" i="1" dirty="0" smtClean="0"/>
              <a:t>Throughput</a:t>
            </a:r>
            <a:endParaRPr lang="en-IN" dirty="0"/>
          </a:p>
        </p:txBody>
      </p:sp>
      <p:sp>
        <p:nvSpPr>
          <p:cNvPr id="3" name="Content Placeholder 2"/>
          <p:cNvSpPr>
            <a:spLocks noGrp="1"/>
          </p:cNvSpPr>
          <p:nvPr>
            <p:ph idx="1"/>
          </p:nvPr>
        </p:nvSpPr>
        <p:spPr/>
        <p:txBody>
          <a:bodyPr>
            <a:normAutofit lnSpcReduction="10000"/>
          </a:bodyPr>
          <a:lstStyle/>
          <a:p>
            <a:r>
              <a:rPr lang="en-IN" dirty="0" smtClean="0"/>
              <a:t>greater than that of pure or slotted ALOHA</a:t>
            </a:r>
          </a:p>
          <a:p>
            <a:r>
              <a:rPr lang="en-IN" dirty="0" smtClean="0"/>
              <a:t>The maximum throughput occurs at a different value of </a:t>
            </a:r>
            <a:r>
              <a:rPr lang="en-IN" i="1" dirty="0" smtClean="0"/>
              <a:t>G and is based on the persistence </a:t>
            </a:r>
            <a:r>
              <a:rPr lang="en-IN" dirty="0" smtClean="0"/>
              <a:t>method and the value of </a:t>
            </a:r>
            <a:r>
              <a:rPr lang="en-IN" i="1" dirty="0" smtClean="0"/>
              <a:t>p in the p-persistent approach</a:t>
            </a:r>
          </a:p>
          <a:p>
            <a:pPr lvl="1"/>
            <a:r>
              <a:rPr lang="en-IN" i="1" dirty="0" smtClean="0"/>
              <a:t>For the 1-persistent method, the </a:t>
            </a:r>
            <a:r>
              <a:rPr lang="en-IN" dirty="0" smtClean="0"/>
              <a:t>maximum throughput is around 50 percent when </a:t>
            </a:r>
            <a:r>
              <a:rPr lang="en-IN" i="1" dirty="0" smtClean="0"/>
              <a:t>G = 1</a:t>
            </a:r>
          </a:p>
          <a:p>
            <a:pPr lvl="1"/>
            <a:r>
              <a:rPr lang="en-IN" i="1" dirty="0" smtClean="0"/>
              <a:t>For the </a:t>
            </a:r>
            <a:r>
              <a:rPr lang="en-IN" i="1" dirty="0" err="1" smtClean="0"/>
              <a:t>nonpersistent</a:t>
            </a:r>
            <a:r>
              <a:rPr lang="en-IN" i="1" dirty="0" smtClean="0"/>
              <a:t> method, </a:t>
            </a:r>
            <a:r>
              <a:rPr lang="en-IN" dirty="0" smtClean="0"/>
              <a:t>the maximum throughput can go up to 90 percent when </a:t>
            </a:r>
            <a:r>
              <a:rPr lang="en-IN" i="1" dirty="0" smtClean="0"/>
              <a:t>G is between 3 and 8</a:t>
            </a:r>
          </a:p>
          <a:p>
            <a:r>
              <a:rPr lang="en-IN" i="1" dirty="0" smtClean="0"/>
              <a:t>Traditional Ethernet is a </a:t>
            </a:r>
            <a:r>
              <a:rPr lang="en-IN" dirty="0" smtClean="0"/>
              <a:t>broadcast LAN that used the 1-persistence method to control access to the common media with the data rate of 10 Mbps</a:t>
            </a:r>
          </a:p>
          <a:p>
            <a:pPr lvl="1"/>
            <a:endParaRPr lang="en-IN"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303" y="152400"/>
            <a:ext cx="8780443" cy="1143000"/>
          </a:xfrm>
        </p:spPr>
        <p:txBody>
          <a:bodyPr>
            <a:noAutofit/>
          </a:bodyPr>
          <a:lstStyle/>
          <a:p>
            <a:r>
              <a:rPr lang="en-IN" sz="4000" b="0" dirty="0" smtClean="0"/>
              <a:t>Carrier sense multiple access with collision avoidance - CSMA/CA</a:t>
            </a:r>
            <a:endParaRPr lang="en-IN" sz="4000" b="0" dirty="0"/>
          </a:p>
        </p:txBody>
      </p:sp>
      <p:sp>
        <p:nvSpPr>
          <p:cNvPr id="3" name="Content Placeholder 2"/>
          <p:cNvSpPr>
            <a:spLocks noGrp="1"/>
          </p:cNvSpPr>
          <p:nvPr>
            <p:ph idx="1"/>
          </p:nvPr>
        </p:nvSpPr>
        <p:spPr>
          <a:xfrm>
            <a:off x="76200" y="1345139"/>
            <a:ext cx="3992697" cy="4523955"/>
          </a:xfrm>
        </p:spPr>
        <p:txBody>
          <a:bodyPr>
            <a:normAutofit/>
          </a:bodyPr>
          <a:lstStyle/>
          <a:p>
            <a:r>
              <a:rPr lang="en-IN" b="1" dirty="0" smtClean="0"/>
              <a:t>Invented </a:t>
            </a:r>
            <a:r>
              <a:rPr lang="en-IN" dirty="0" smtClean="0"/>
              <a:t>for wireless networks</a:t>
            </a:r>
          </a:p>
          <a:p>
            <a:r>
              <a:rPr lang="en-IN" dirty="0" smtClean="0"/>
              <a:t>Collisions are avoided through the use of CSMA/CA’s three strategies:</a:t>
            </a:r>
          </a:p>
          <a:p>
            <a:pPr lvl="1"/>
            <a:r>
              <a:rPr lang="en-IN" dirty="0" smtClean="0"/>
              <a:t>the </a:t>
            </a:r>
            <a:r>
              <a:rPr lang="en-IN" dirty="0" err="1" smtClean="0"/>
              <a:t>interframe</a:t>
            </a:r>
            <a:r>
              <a:rPr lang="en-IN" dirty="0" smtClean="0"/>
              <a:t> space</a:t>
            </a:r>
          </a:p>
          <a:p>
            <a:pPr lvl="1"/>
            <a:r>
              <a:rPr lang="en-IN" dirty="0" smtClean="0"/>
              <a:t>the contention window</a:t>
            </a:r>
          </a:p>
          <a:p>
            <a:pPr lvl="1"/>
            <a:r>
              <a:rPr lang="en-IN" dirty="0" smtClean="0"/>
              <a:t>acknowledgments</a:t>
            </a:r>
            <a:endParaRPr lang="en-IN" dirty="0"/>
          </a:p>
        </p:txBody>
      </p:sp>
      <p:pic>
        <p:nvPicPr>
          <p:cNvPr id="6146" name="Picture 2"/>
          <p:cNvPicPr>
            <a:picLocks noChangeAspect="1" noChangeArrowheads="1"/>
          </p:cNvPicPr>
          <p:nvPr/>
        </p:nvPicPr>
        <p:blipFill>
          <a:blip r:embed="rId2"/>
          <a:srcRect/>
          <a:stretch>
            <a:fillRect/>
          </a:stretch>
        </p:blipFill>
        <p:spPr bwMode="auto">
          <a:xfrm>
            <a:off x="3733800" y="1219201"/>
            <a:ext cx="5335398" cy="5486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400" b="0" dirty="0" smtClean="0"/>
              <a:t>CSMA/CA- </a:t>
            </a:r>
            <a:r>
              <a:rPr lang="en-IN" sz="4400" b="0" i="1" dirty="0" err="1" smtClean="0"/>
              <a:t>Interframe</a:t>
            </a:r>
            <a:r>
              <a:rPr lang="en-IN" sz="4400" b="0" i="1" dirty="0" smtClean="0"/>
              <a:t> Space (IFS)</a:t>
            </a:r>
            <a:endParaRPr lang="en-IN" sz="4400" b="0" dirty="0"/>
          </a:p>
        </p:txBody>
      </p:sp>
      <p:sp>
        <p:nvSpPr>
          <p:cNvPr id="3" name="Content Placeholder 2"/>
          <p:cNvSpPr>
            <a:spLocks noGrp="1"/>
          </p:cNvSpPr>
          <p:nvPr>
            <p:ph idx="1"/>
          </p:nvPr>
        </p:nvSpPr>
        <p:spPr/>
        <p:txBody>
          <a:bodyPr>
            <a:normAutofit fontScale="92500" lnSpcReduction="20000"/>
          </a:bodyPr>
          <a:lstStyle/>
          <a:p>
            <a:r>
              <a:rPr lang="en-IN" i="1" dirty="0" smtClean="0"/>
              <a:t>Avoids collisions by deferring transmission even </a:t>
            </a:r>
            <a:r>
              <a:rPr lang="en-IN" dirty="0" smtClean="0"/>
              <a:t>if the channel is found idle</a:t>
            </a:r>
          </a:p>
          <a:p>
            <a:r>
              <a:rPr lang="en-IN" dirty="0" smtClean="0"/>
              <a:t>When an idle channel is found, the station waits for a period of </a:t>
            </a:r>
            <a:r>
              <a:rPr lang="en-IN" i="1" dirty="0" smtClean="0"/>
              <a:t>IFS </a:t>
            </a:r>
            <a:r>
              <a:rPr lang="en-IN" dirty="0" smtClean="0"/>
              <a:t>time </a:t>
            </a:r>
          </a:p>
          <a:p>
            <a:r>
              <a:rPr lang="en-IN" dirty="0" smtClean="0"/>
              <a:t>IFS time allows the front of the transmitted signal by the distant station to reach this station</a:t>
            </a:r>
          </a:p>
          <a:p>
            <a:r>
              <a:rPr lang="en-IN" dirty="0" smtClean="0"/>
              <a:t>After waiting an IFS time, if the channel is still idle, the station can send, but it still needs to wait a time equal to the contention window</a:t>
            </a:r>
          </a:p>
          <a:p>
            <a:r>
              <a:rPr lang="en-IN" dirty="0" smtClean="0"/>
              <a:t>The IFS variable can also be used to prioritize stations or frame types</a:t>
            </a:r>
          </a:p>
          <a:p>
            <a:pPr lvl="1"/>
            <a:r>
              <a:rPr lang="en-IN" dirty="0" smtClean="0"/>
              <a:t>For example, a station that is assigned a shorter IFS has a higher priority</a:t>
            </a:r>
            <a:endParaRPr lang="en-IN"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400" dirty="0" smtClean="0"/>
              <a:t>CSMA/CA - </a:t>
            </a:r>
            <a:r>
              <a:rPr lang="en-IN" sz="4400" i="1" dirty="0" smtClean="0"/>
              <a:t>Contention Window</a:t>
            </a:r>
            <a:endParaRPr lang="en-IN" sz="4400" dirty="0"/>
          </a:p>
        </p:txBody>
      </p:sp>
      <p:sp>
        <p:nvSpPr>
          <p:cNvPr id="5" name="Content Placeholder 4"/>
          <p:cNvSpPr>
            <a:spLocks noGrp="1"/>
          </p:cNvSpPr>
          <p:nvPr>
            <p:ph idx="1"/>
          </p:nvPr>
        </p:nvSpPr>
        <p:spPr/>
        <p:txBody>
          <a:bodyPr>
            <a:normAutofit fontScale="77500" lnSpcReduction="20000"/>
          </a:bodyPr>
          <a:lstStyle/>
          <a:p>
            <a:r>
              <a:rPr lang="en-IN" b="1" i="1" dirty="0" smtClean="0"/>
              <a:t>An amount of time divided into </a:t>
            </a:r>
            <a:r>
              <a:rPr lang="en-IN" dirty="0" smtClean="0"/>
              <a:t>slots</a:t>
            </a:r>
          </a:p>
          <a:p>
            <a:r>
              <a:rPr lang="en-IN" dirty="0" smtClean="0"/>
              <a:t>A station that is ready to send chooses a random number of slots as its wait time</a:t>
            </a:r>
          </a:p>
          <a:p>
            <a:r>
              <a:rPr lang="en-IN" dirty="0" smtClean="0"/>
              <a:t>The number of slots in the window changes according to the binary exponential </a:t>
            </a:r>
            <a:r>
              <a:rPr lang="en-IN" dirty="0" err="1" smtClean="0"/>
              <a:t>backoff</a:t>
            </a:r>
            <a:r>
              <a:rPr lang="en-IN" dirty="0" smtClean="0"/>
              <a:t> strategy</a:t>
            </a:r>
          </a:p>
          <a:p>
            <a:pPr lvl="1"/>
            <a:r>
              <a:rPr lang="en-IN" dirty="0" smtClean="0"/>
              <a:t>It is set to one slot the first time and then doubles each time the station cannot detect an idle channel after the IFS time</a:t>
            </a:r>
          </a:p>
          <a:p>
            <a:pPr lvl="1"/>
            <a:r>
              <a:rPr lang="en-IN" dirty="0" smtClean="0"/>
              <a:t>Very similar to the </a:t>
            </a:r>
            <a:r>
              <a:rPr lang="en-IN" i="1" dirty="0" smtClean="0"/>
              <a:t>p-persistent method except that a random outcome defines the </a:t>
            </a:r>
            <a:r>
              <a:rPr lang="en-IN" dirty="0" smtClean="0"/>
              <a:t>number of slots taken by the waiting station</a:t>
            </a:r>
          </a:p>
          <a:p>
            <a:r>
              <a:rPr lang="en-IN" dirty="0" smtClean="0"/>
              <a:t>The station needs to sense the channel after each time slot</a:t>
            </a:r>
          </a:p>
          <a:p>
            <a:r>
              <a:rPr lang="en-IN" dirty="0" smtClean="0"/>
              <a:t>However, if the station finds the channel busy, it does not restart the process; it just stops the timer and restarts it when the channel is sensed as idle</a:t>
            </a:r>
          </a:p>
          <a:p>
            <a:r>
              <a:rPr lang="en-IN" dirty="0" smtClean="0"/>
              <a:t>This gives priority to the station with the longest waiting time</a:t>
            </a:r>
            <a:endParaRPr lang="en-IN"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CSMA/CA - </a:t>
            </a:r>
            <a:r>
              <a:rPr lang="en-US" dirty="0" smtClean="0"/>
              <a:t>Timing </a:t>
            </a:r>
            <a:endParaRPr lang="en-IN" dirty="0"/>
          </a:p>
        </p:txBody>
      </p:sp>
      <p:sp>
        <p:nvSpPr>
          <p:cNvPr id="3" name="Content Placeholder 2"/>
          <p:cNvSpPr>
            <a:spLocks noGrp="1"/>
          </p:cNvSpPr>
          <p:nvPr>
            <p:ph idx="1"/>
          </p:nvPr>
        </p:nvSpPr>
        <p:spPr/>
        <p:txBody>
          <a:bodyPr/>
          <a:lstStyle/>
          <a:p>
            <a:endParaRPr lang="en-IN"/>
          </a:p>
        </p:txBody>
      </p:sp>
      <p:pic>
        <p:nvPicPr>
          <p:cNvPr id="4" name="Picture 7"/>
          <p:cNvPicPr>
            <a:picLocks noChangeAspect="1" noChangeArrowheads="1"/>
          </p:cNvPicPr>
          <p:nvPr/>
        </p:nvPicPr>
        <p:blipFill>
          <a:blip r:embed="rId2"/>
          <a:srcRect/>
          <a:stretch>
            <a:fillRect/>
          </a:stretch>
        </p:blipFill>
        <p:spPr bwMode="auto">
          <a:xfrm>
            <a:off x="252413" y="2438400"/>
            <a:ext cx="8510587" cy="19446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800" b="0" dirty="0" smtClean="0"/>
              <a:t>CSMA/CA - </a:t>
            </a:r>
            <a:r>
              <a:rPr lang="en-IN" sz="4800" b="0" i="1" dirty="0" smtClean="0"/>
              <a:t>Acknowledgment</a:t>
            </a:r>
            <a:endParaRPr lang="en-IN" sz="4800" b="0" dirty="0"/>
          </a:p>
        </p:txBody>
      </p:sp>
      <p:sp>
        <p:nvSpPr>
          <p:cNvPr id="3" name="Content Placeholder 2"/>
          <p:cNvSpPr>
            <a:spLocks noGrp="1"/>
          </p:cNvSpPr>
          <p:nvPr>
            <p:ph idx="1"/>
          </p:nvPr>
        </p:nvSpPr>
        <p:spPr/>
        <p:txBody>
          <a:bodyPr/>
          <a:lstStyle/>
          <a:p>
            <a:r>
              <a:rPr lang="en-IN" dirty="0" smtClean="0"/>
              <a:t>With all these precautions, there still may be a collision resulting in destroyed data</a:t>
            </a:r>
          </a:p>
          <a:p>
            <a:r>
              <a:rPr lang="en-IN" dirty="0" smtClean="0"/>
              <a:t>In addition, the data may be corrupted during the transmission</a:t>
            </a:r>
          </a:p>
          <a:p>
            <a:r>
              <a:rPr lang="en-IN" dirty="0" smtClean="0"/>
              <a:t>The positive acknowledgment and the time-out timer can help guarantee that the receiver has received the frame</a:t>
            </a:r>
            <a:endParaRPr lang="en-IN"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0" dirty="0" smtClean="0"/>
              <a:t>CSMA/CA -</a:t>
            </a:r>
            <a:r>
              <a:rPr lang="en-IN" sz="3600" b="0" i="1" dirty="0" smtClean="0"/>
              <a:t>Frame Exchange Time Line</a:t>
            </a:r>
            <a:endParaRPr lang="en-IN" sz="3600" b="0" dirty="0"/>
          </a:p>
        </p:txBody>
      </p:sp>
      <p:sp>
        <p:nvSpPr>
          <p:cNvPr id="3" name="Content Placeholder 2"/>
          <p:cNvSpPr>
            <a:spLocks noGrp="1"/>
          </p:cNvSpPr>
          <p:nvPr>
            <p:ph idx="1"/>
          </p:nvPr>
        </p:nvSpPr>
        <p:spPr/>
        <p:txBody>
          <a:bodyPr/>
          <a:lstStyle/>
          <a:p>
            <a:endParaRPr lang="en-IN"/>
          </a:p>
        </p:txBody>
      </p:sp>
      <p:pic>
        <p:nvPicPr>
          <p:cNvPr id="7170" name="Picture 2"/>
          <p:cNvPicPr>
            <a:picLocks noChangeAspect="1" noChangeArrowheads="1"/>
          </p:cNvPicPr>
          <p:nvPr/>
        </p:nvPicPr>
        <p:blipFill>
          <a:blip r:embed="rId2"/>
          <a:srcRect/>
          <a:stretch>
            <a:fillRect/>
          </a:stretch>
        </p:blipFill>
        <p:spPr bwMode="auto">
          <a:xfrm>
            <a:off x="1676400" y="1752600"/>
            <a:ext cx="5523379" cy="403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0" dirty="0" smtClean="0"/>
              <a:t>CSMA/CA -</a:t>
            </a:r>
            <a:r>
              <a:rPr lang="en-IN" sz="3600" b="0" i="1" dirty="0" smtClean="0"/>
              <a:t>Frame Exchange Time Line</a:t>
            </a:r>
            <a:endParaRPr lang="en-IN" sz="3600" b="0" dirty="0"/>
          </a:p>
        </p:txBody>
      </p:sp>
      <p:sp>
        <p:nvSpPr>
          <p:cNvPr id="3" name="Content Placeholder 2"/>
          <p:cNvSpPr>
            <a:spLocks noGrp="1"/>
          </p:cNvSpPr>
          <p:nvPr>
            <p:ph idx="1"/>
          </p:nvPr>
        </p:nvSpPr>
        <p:spPr>
          <a:xfrm>
            <a:off x="198303" y="1345139"/>
            <a:ext cx="8780444" cy="4903261"/>
          </a:xfrm>
        </p:spPr>
        <p:txBody>
          <a:bodyPr>
            <a:normAutofit fontScale="85000" lnSpcReduction="10000"/>
          </a:bodyPr>
          <a:lstStyle/>
          <a:p>
            <a:r>
              <a:rPr lang="en-IN" dirty="0" smtClean="0"/>
              <a:t>Exchange of data and control frames in time.</a:t>
            </a:r>
          </a:p>
          <a:p>
            <a:pPr lvl="1">
              <a:buNone/>
            </a:pPr>
            <a:r>
              <a:rPr lang="en-IN" dirty="0" smtClean="0"/>
              <a:t>1. Before sending a frame, the source station senses the medium by checking the energy level at the carrier frequency</a:t>
            </a:r>
          </a:p>
          <a:p>
            <a:pPr lvl="1">
              <a:buNone/>
            </a:pPr>
            <a:r>
              <a:rPr lang="en-IN" dirty="0" smtClean="0"/>
              <a:t>	a. The channel uses a persistence strategy with </a:t>
            </a:r>
            <a:r>
              <a:rPr lang="en-IN" dirty="0" err="1" smtClean="0"/>
              <a:t>backoff</a:t>
            </a:r>
            <a:r>
              <a:rPr lang="en-IN" dirty="0" smtClean="0"/>
              <a:t> until the channel is idle</a:t>
            </a:r>
          </a:p>
          <a:p>
            <a:pPr lvl="1">
              <a:buNone/>
            </a:pPr>
            <a:r>
              <a:rPr lang="en-IN" dirty="0" smtClean="0"/>
              <a:t>	b. After the station is found to be idle, the station waits for a period of time called the </a:t>
            </a:r>
            <a:r>
              <a:rPr lang="en-IN" i="1" dirty="0" smtClean="0"/>
              <a:t>DCF </a:t>
            </a:r>
            <a:r>
              <a:rPr lang="en-IN" i="1" dirty="0" err="1" smtClean="0"/>
              <a:t>interframe</a:t>
            </a:r>
            <a:r>
              <a:rPr lang="en-IN" i="1" dirty="0" smtClean="0"/>
              <a:t> space (DIFS); then the station sends a control frame called </a:t>
            </a:r>
            <a:r>
              <a:rPr lang="en-IN" dirty="0" smtClean="0"/>
              <a:t>the </a:t>
            </a:r>
            <a:r>
              <a:rPr lang="en-IN" i="1" dirty="0" smtClean="0"/>
              <a:t>request to send (RTS).</a:t>
            </a:r>
          </a:p>
          <a:p>
            <a:pPr lvl="1">
              <a:buNone/>
            </a:pPr>
            <a:r>
              <a:rPr lang="en-IN" dirty="0" smtClean="0"/>
              <a:t>2. After receiving the RTS and waiting a period of time called the </a:t>
            </a:r>
            <a:r>
              <a:rPr lang="en-IN" i="1" dirty="0" smtClean="0"/>
              <a:t>short </a:t>
            </a:r>
            <a:r>
              <a:rPr lang="en-IN" i="1" dirty="0" err="1" smtClean="0"/>
              <a:t>interframe</a:t>
            </a:r>
            <a:r>
              <a:rPr lang="en-IN" i="1" dirty="0" smtClean="0"/>
              <a:t> space (SIFS), the destination station sends a control frame, called the clear to send (CTS), to the source station. This control frame indicates that the destination </a:t>
            </a:r>
            <a:r>
              <a:rPr lang="en-IN" dirty="0" smtClean="0"/>
              <a:t>station is ready to receive data.</a:t>
            </a:r>
          </a:p>
          <a:p>
            <a:pPr lvl="1">
              <a:buNone/>
            </a:pPr>
            <a:r>
              <a:rPr lang="en-IN" dirty="0" smtClean="0"/>
              <a:t>3. The source station sends data after waiting an amount of time equal to SIFS.</a:t>
            </a:r>
          </a:p>
          <a:p>
            <a:pPr lvl="1">
              <a:buNone/>
            </a:pPr>
            <a:r>
              <a:rPr lang="en-IN" dirty="0" smtClean="0"/>
              <a:t>4. The destination station, after waiting an amount of time equal to SIFS, sends an acknowledgment to show that the frame has been received. Acknowledgment is needed in this protocol because the station does not have any means to check for the successful arrival of its data at the destination. On the other hand, the lack of collision is a kind of indication to the source that data have arrived.</a:t>
            </a:r>
            <a:endParaRPr lang="en-IN"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000" b="0" dirty="0" smtClean="0"/>
              <a:t>CSMA/CA - </a:t>
            </a:r>
            <a:r>
              <a:rPr lang="en-IN" sz="4000" b="0" i="1" dirty="0" smtClean="0"/>
              <a:t>Network Allocation Vector</a:t>
            </a:r>
            <a:endParaRPr lang="en-IN" sz="4000" b="0" dirty="0"/>
          </a:p>
        </p:txBody>
      </p:sp>
      <p:sp>
        <p:nvSpPr>
          <p:cNvPr id="3" name="Content Placeholder 2"/>
          <p:cNvSpPr>
            <a:spLocks noGrp="1"/>
          </p:cNvSpPr>
          <p:nvPr>
            <p:ph idx="1"/>
          </p:nvPr>
        </p:nvSpPr>
        <p:spPr/>
        <p:txBody>
          <a:bodyPr>
            <a:normAutofit fontScale="92500" lnSpcReduction="10000"/>
          </a:bodyPr>
          <a:lstStyle/>
          <a:p>
            <a:r>
              <a:rPr lang="en-IN" dirty="0" smtClean="0"/>
              <a:t>How do other stations defer sending their data if one station acquires access? </a:t>
            </a:r>
          </a:p>
          <a:p>
            <a:r>
              <a:rPr lang="en-IN" dirty="0" smtClean="0"/>
              <a:t>how is the </a:t>
            </a:r>
            <a:r>
              <a:rPr lang="en-IN" i="1" dirty="0" smtClean="0"/>
              <a:t>collision avoidance aspect of this protocol accomplished? </a:t>
            </a:r>
          </a:p>
          <a:p>
            <a:r>
              <a:rPr lang="en-IN" i="1" dirty="0" smtClean="0"/>
              <a:t>Use key </a:t>
            </a:r>
            <a:r>
              <a:rPr lang="en-IN" dirty="0" smtClean="0"/>
              <a:t>feature </a:t>
            </a:r>
            <a:r>
              <a:rPr lang="en-IN" i="1" dirty="0" smtClean="0"/>
              <a:t>Network Allocation Vector (NAV): </a:t>
            </a:r>
          </a:p>
          <a:p>
            <a:pPr lvl="1"/>
            <a:r>
              <a:rPr lang="en-IN" dirty="0" smtClean="0"/>
              <a:t>When a station sends an RTS frame, it includes the duration of time that it needs to occupy the channel</a:t>
            </a:r>
          </a:p>
          <a:p>
            <a:pPr lvl="1"/>
            <a:r>
              <a:rPr lang="en-IN" dirty="0" smtClean="0"/>
              <a:t>The stations that are affected by this transmission create a timer called a </a:t>
            </a:r>
            <a:r>
              <a:rPr lang="en-IN" b="1" dirty="0" smtClean="0"/>
              <a:t>network allocation vector (NAV) that shows how much time must pass before </a:t>
            </a:r>
            <a:r>
              <a:rPr lang="en-IN" dirty="0" smtClean="0"/>
              <a:t>these stations are allowed to check the channel for idleness</a:t>
            </a:r>
          </a:p>
          <a:p>
            <a:pPr lvl="1"/>
            <a:r>
              <a:rPr lang="en-IN" dirty="0" smtClean="0"/>
              <a:t>Each time a station accesses the system and sends an RTS frame, other stations start their NAV</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0" dirty="0" smtClean="0"/>
              <a:t>CSMA/CA -</a:t>
            </a:r>
            <a:r>
              <a:rPr lang="en-IN" sz="3600" b="0" i="1" dirty="0" smtClean="0"/>
              <a:t>Collision During Handshaking</a:t>
            </a:r>
            <a:endParaRPr lang="en-IN" sz="3600" b="0" dirty="0"/>
          </a:p>
        </p:txBody>
      </p:sp>
      <p:sp>
        <p:nvSpPr>
          <p:cNvPr id="3" name="Content Placeholder 2"/>
          <p:cNvSpPr>
            <a:spLocks noGrp="1"/>
          </p:cNvSpPr>
          <p:nvPr>
            <p:ph idx="1"/>
          </p:nvPr>
        </p:nvSpPr>
        <p:spPr>
          <a:xfrm>
            <a:off x="76200" y="1345139"/>
            <a:ext cx="8945697" cy="4523955"/>
          </a:xfrm>
        </p:spPr>
        <p:txBody>
          <a:bodyPr>
            <a:normAutofit lnSpcReduction="10000"/>
          </a:bodyPr>
          <a:lstStyle/>
          <a:p>
            <a:r>
              <a:rPr lang="en-IN" i="1" dirty="0" smtClean="0"/>
              <a:t>handshaking period - </a:t>
            </a:r>
            <a:r>
              <a:rPr lang="en-IN" dirty="0" smtClean="0"/>
              <a:t>time when RTS or CTS control frames are in transition</a:t>
            </a:r>
            <a:endParaRPr lang="en-IN" i="1" dirty="0" smtClean="0"/>
          </a:p>
          <a:p>
            <a:r>
              <a:rPr lang="en-IN" dirty="0" smtClean="0"/>
              <a:t>What happens if there is a collision during </a:t>
            </a:r>
            <a:r>
              <a:rPr lang="en-IN" i="1" dirty="0" smtClean="0"/>
              <a:t>handshaking period ?</a:t>
            </a:r>
            <a:endParaRPr lang="en-IN" dirty="0" smtClean="0"/>
          </a:p>
          <a:p>
            <a:r>
              <a:rPr lang="en-IN" i="1" dirty="0" smtClean="0"/>
              <a:t>Indicates two or more stations may try to </a:t>
            </a:r>
            <a:r>
              <a:rPr lang="en-IN" dirty="0" smtClean="0"/>
              <a:t>send RTS frames at the same time which may collides</a:t>
            </a:r>
          </a:p>
          <a:p>
            <a:r>
              <a:rPr lang="en-IN" dirty="0" smtClean="0"/>
              <a:t>No mechanism for collision detection, the sender assumes there has been a collision if it has not received a CTS frame from the receiver</a:t>
            </a:r>
          </a:p>
          <a:p>
            <a:r>
              <a:rPr lang="en-IN" dirty="0" smtClean="0"/>
              <a:t>The </a:t>
            </a:r>
            <a:r>
              <a:rPr lang="en-IN" dirty="0" err="1" smtClean="0"/>
              <a:t>backoff</a:t>
            </a:r>
            <a:r>
              <a:rPr lang="en-IN" dirty="0" smtClean="0"/>
              <a:t> strategy is employed, and the sender tries again</a:t>
            </a:r>
            <a:endParaRPr lang="en-IN"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4000" b="0" dirty="0" smtClean="0"/>
              <a:t>CSMA/CA - Hidden-Station Problem</a:t>
            </a:r>
            <a:endParaRPr lang="en-IN" sz="4000" b="0" dirty="0"/>
          </a:p>
        </p:txBody>
      </p:sp>
      <p:sp>
        <p:nvSpPr>
          <p:cNvPr id="3" name="Content Placeholder 2"/>
          <p:cNvSpPr>
            <a:spLocks noGrp="1"/>
          </p:cNvSpPr>
          <p:nvPr>
            <p:ph idx="1"/>
          </p:nvPr>
        </p:nvSpPr>
        <p:spPr>
          <a:xfrm>
            <a:off x="198303" y="1345139"/>
            <a:ext cx="8780444" cy="2845861"/>
          </a:xfrm>
        </p:spPr>
        <p:txBody>
          <a:bodyPr>
            <a:normAutofit fontScale="92500" lnSpcReduction="10000"/>
          </a:bodyPr>
          <a:lstStyle/>
          <a:p>
            <a:r>
              <a:rPr lang="en-IN" dirty="0" smtClean="0"/>
              <a:t>Use of the handshake frames (RTS and CTS)</a:t>
            </a:r>
          </a:p>
          <a:p>
            <a:r>
              <a:rPr lang="en-IN" dirty="0" smtClean="0"/>
              <a:t>The RTS message from B reaches A, but not C.</a:t>
            </a:r>
          </a:p>
          <a:p>
            <a:r>
              <a:rPr lang="en-IN" dirty="0" smtClean="0"/>
              <a:t>However, because both B and C are within the range of A, the CTS message, which contains the duration of data transmission from B to A, reaches C</a:t>
            </a:r>
          </a:p>
          <a:p>
            <a:r>
              <a:rPr lang="en-IN" dirty="0" smtClean="0"/>
              <a:t>Station C knows that some hidden station is using the channel and refrains from transmitting until that duration is over</a:t>
            </a:r>
            <a:endParaRPr lang="en-IN" dirty="0"/>
          </a:p>
        </p:txBody>
      </p:sp>
      <p:pic>
        <p:nvPicPr>
          <p:cNvPr id="4" name="Picture 2"/>
          <p:cNvPicPr>
            <a:picLocks noChangeAspect="1" noChangeArrowheads="1"/>
          </p:cNvPicPr>
          <p:nvPr/>
        </p:nvPicPr>
        <p:blipFill>
          <a:blip r:embed="rId2"/>
          <a:srcRect/>
          <a:stretch>
            <a:fillRect/>
          </a:stretch>
        </p:blipFill>
        <p:spPr bwMode="auto">
          <a:xfrm>
            <a:off x="3048000" y="4343400"/>
            <a:ext cx="2709582" cy="198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Custom 5">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A3CEED"/>
      </a:hlink>
      <a:folHlink>
        <a:srgbClr val="B26B02"/>
      </a:folHlink>
    </a:clrScheme>
    <a:fontScheme name="Eng-Thai Lecture Notes">
      <a:majorFont>
        <a:latin typeface="Calibri Light"/>
        <a:ea typeface=""/>
        <a:cs typeface="FreesiaUPC"/>
      </a:majorFont>
      <a:minorFont>
        <a:latin typeface="Calibri"/>
        <a:ea typeface=""/>
        <a:cs typeface="FreesiaUPC"/>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20745</TotalTime>
  <Words>4963</Words>
  <Application>Microsoft Office PowerPoint</Application>
  <PresentationFormat>On-screen Show (4:3)</PresentationFormat>
  <Paragraphs>375</Paragraphs>
  <Slides>53</Slides>
  <Notes>9</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Retrospect</vt:lpstr>
      <vt:lpstr>Data Link Control (DLC)</vt:lpstr>
      <vt:lpstr>Framing</vt:lpstr>
      <vt:lpstr>Framing …</vt:lpstr>
      <vt:lpstr>Character-Oriented Framing</vt:lpstr>
      <vt:lpstr>Problem with flag </vt:lpstr>
      <vt:lpstr>Solution to Flag Problem </vt:lpstr>
      <vt:lpstr>Byte stuffing and unstuffing</vt:lpstr>
      <vt:lpstr>Bit-Oriented Framing</vt:lpstr>
      <vt:lpstr>Bit-Oriented Framing</vt:lpstr>
      <vt:lpstr>Bit-Oriented Framing</vt:lpstr>
      <vt:lpstr>Example 1</vt:lpstr>
      <vt:lpstr>Example 2</vt:lpstr>
      <vt:lpstr>Example 3</vt:lpstr>
      <vt:lpstr>Example 4</vt:lpstr>
      <vt:lpstr>Error Control</vt:lpstr>
      <vt:lpstr>Error Detection and Correction Issues</vt:lpstr>
      <vt:lpstr>Types of Errors</vt:lpstr>
      <vt:lpstr>Redundancy</vt:lpstr>
      <vt:lpstr>Coding</vt:lpstr>
      <vt:lpstr>Detection versus Correction</vt:lpstr>
      <vt:lpstr>Notes</vt:lpstr>
      <vt:lpstr>XOR Operation</vt:lpstr>
      <vt:lpstr>Cyclic Redundancy Check (CRC)</vt:lpstr>
      <vt:lpstr>CRC Encoder/Decoder</vt:lpstr>
      <vt:lpstr>CRC Generator</vt:lpstr>
      <vt:lpstr>Checking CRC</vt:lpstr>
      <vt:lpstr>Cyclic Code Encoder Using Polynomials</vt:lpstr>
      <vt:lpstr>Standard CRC Polynomials</vt:lpstr>
      <vt:lpstr>Advantages of Cyclic Codes</vt:lpstr>
      <vt:lpstr>Multiple Access Control (MAC)</vt:lpstr>
      <vt:lpstr>Taxonomy of multiple-access protocols</vt:lpstr>
      <vt:lpstr>Random Access</vt:lpstr>
      <vt:lpstr>Evolution of random-access methods </vt:lpstr>
      <vt:lpstr>Carrier sense multiple access with collision detection (CSMA/CD)</vt:lpstr>
      <vt:lpstr>CSMA/CD ...</vt:lpstr>
      <vt:lpstr>CSMA/CD ...</vt:lpstr>
      <vt:lpstr>CSMA/CD - Collision and abortion </vt:lpstr>
      <vt:lpstr>CSMA/CD  -Minimum Frame Size</vt:lpstr>
      <vt:lpstr>CSMA/CD Example</vt:lpstr>
      <vt:lpstr>Flow diagram for CSMA/CD</vt:lpstr>
      <vt:lpstr>Flow diagram for CSMA/CD</vt:lpstr>
      <vt:lpstr>CSMA/CD - Energy Level</vt:lpstr>
      <vt:lpstr>CSMA/CD - Throughput</vt:lpstr>
      <vt:lpstr>Carrier sense multiple access with collision avoidance - CSMA/CA</vt:lpstr>
      <vt:lpstr>CSMA/CA- Interframe Space (IFS)</vt:lpstr>
      <vt:lpstr>CSMA/CA - Contention Window</vt:lpstr>
      <vt:lpstr>CSMA/CA - Timing </vt:lpstr>
      <vt:lpstr>CSMA/CA - Acknowledgment</vt:lpstr>
      <vt:lpstr>CSMA/CA -Frame Exchange Time Line</vt:lpstr>
      <vt:lpstr>CSMA/CA -Frame Exchange Time Line</vt:lpstr>
      <vt:lpstr>CSMA/CA - Network Allocation Vector</vt:lpstr>
      <vt:lpstr>CSMA/CA -Collision During Handshaking</vt:lpstr>
      <vt:lpstr>CSMA/CA - Hidden-Station Problem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Subroutines</dc:title>
  <dc:creator>cpj</dc:creator>
  <cp:lastModifiedBy>arunkumar.kawalgi@gmail.com</cp:lastModifiedBy>
  <cp:revision>720</cp:revision>
  <dcterms:created xsi:type="dcterms:W3CDTF">2016-06-19T03:03:20Z</dcterms:created>
  <dcterms:modified xsi:type="dcterms:W3CDTF">2023-06-19T12:08:04Z</dcterms:modified>
</cp:coreProperties>
</file>