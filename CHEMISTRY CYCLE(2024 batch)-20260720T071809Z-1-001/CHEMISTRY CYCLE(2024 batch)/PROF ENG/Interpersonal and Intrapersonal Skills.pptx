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E1EE-B611-4784-95C9-6B3D6F82C129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CA1DF-9E7C-4A32-8220-CDE79693F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24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CA1DF-9E7C-4A32-8220-CDE79693F37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06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F628-A7C3-DA0F-7B4D-9B76E54FF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29067-B001-BB0B-D84E-49DD447F1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FF6A2-B8BE-81FF-BC84-03DB8F87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9E18B-544F-F542-5F41-FD23109C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606C-295F-6A28-AFAF-18F86E45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33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994A-544E-39DC-537C-D25C2C5C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E0D0-9BC9-1C5B-CC72-D80ADC3E3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9F696-239A-5556-8B2D-48FCEE2E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611C8-0A5D-6138-388A-D0FEA223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FB05-DF69-2158-513C-E8750962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93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F758-5932-C1FD-A84C-525B1605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D6DA5-5DF1-35A8-5067-6A32CA3CE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455FC-3EE5-2134-DC10-EB8D17CB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7F36F-BD84-9A15-A364-FCE73BE23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7ADB7-4357-6E90-4D69-B0BCEA43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70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ADA5-2089-1E60-30B4-5ED5D672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48C88-6758-EDBD-9DBA-E784043C6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A603B-77C2-D18F-6FB6-D42727310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665DF-2E52-6F50-52C6-2E438DAC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84315-EDCB-DBAC-69D6-ACC204C7D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D4157-7DD1-D21F-0ED0-2ABEB589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53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2297A-B69D-4A3C-F8A3-FB823D64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C3425-4E4F-A192-8AA0-0B4408D50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D7803-00E3-DA61-9530-EBF24AF84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0800A-F5A0-BE0F-430E-D14A0262A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8F54C2-AA4E-EFBE-75D8-3F270D60D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002EA-65B8-A3E3-E307-558875C3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99AA9-B124-141F-3A71-1EE3816F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E623C-07C7-C27D-D83A-4BE390E6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09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3BAE-738F-95E6-DD71-77F46A65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CEC1A-855D-DCAF-D473-F0E01D4AD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8F6AD-1E7D-4FA8-8A56-29586ECC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A48E4-8BB6-0D74-EE32-3D28E550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16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0A3084-7480-239C-13DB-80024436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AD53D-7E00-B2A2-0374-1B42ABC2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FBAF-37F6-C835-07BB-DC30D0A5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18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F00BF-5548-FD7A-DA7D-EC1798EA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6E769-749E-C402-80C8-D036AE5A8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1DBA-BA83-C204-106A-264CAB327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63253-BB88-C25A-7B51-D97269D3C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EA2DF-39E1-7691-70C4-84520C8E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13C32-E0C4-D9E5-BC8B-46D6F054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27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B3D6-5598-6B05-E792-C2E835CB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A4BAF-CC10-A08B-3DB7-734CF037B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A1AF5-7770-E89A-1EFC-A87C5D7BE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2D103-1FAE-1B78-D694-552859DEF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BA31B-2773-28D2-EEB8-1BD0F4BB3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D1B74-D697-F4E8-A7B1-D1A3688D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7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677B-0DEA-DDB3-C439-00701A94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22830-CB82-ADA0-6DFE-C1E760092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BA0B9-CAC3-E4D6-92A2-96D29C3D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573F-0D32-60E7-9E9D-D42C4E9B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9B840-75A8-79BD-A6B3-2AB238E5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657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BC6C9-6CCD-BE2D-23B8-74F10D3B3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BD5EB-7E36-7C02-1909-8AC8BEF62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38023-9F40-F7CF-38D2-DC8FDA1D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ED078-AA8D-C131-D28A-6C580144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2DD3-86B5-1B32-A8CC-7CD48F05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1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1276E-4C85-C430-289A-7504AC35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04028-5888-EF15-641C-10D101988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8E299-F633-21FD-8654-91DA31071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1EC56-0642-41EC-A528-3F35776DE6F7}" type="datetimeFigureOut">
              <a:rPr lang="en-IN" smtClean="0"/>
              <a:t>23-08-2023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6470E-BCB8-C15D-9CE6-82E9384B5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D1F95-0E8D-36BC-2389-5CDDA25D9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81FD1-CA03-4935-8CAD-ACECDB332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20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iilo.com/blog/workplace-communication-20-ways-to-effectively-communicate-with-your-employees/" TargetMode="External"/><Relationship Id="rId2" Type="http://schemas.openxmlformats.org/officeDocument/2006/relationships/hyperlink" Target="https://haiilo.com/blog/5-ways-effective-internal-communication-can-boost-employee-productivity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aiilo.com/digital-workplace-platfor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aiilo.com/blog/what-is-the-true-cost-of-poor-employee-communicati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aiilo.com/blog/change-management-definition-best-practices-examples/" TargetMode="External"/><Relationship Id="rId2" Type="http://schemas.openxmlformats.org/officeDocument/2006/relationships/hyperlink" Target="https://www.apa.org/news/press/releases/2014/04/employee-distrust.asp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aiilo.com/blog/employee-recognition-progra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aiilo.com/blog/18-leadership-communication-trends-to-look-for-in-2020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8116-9097-8841-F697-88E082800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857" y="1122363"/>
            <a:ext cx="9416143" cy="1969180"/>
          </a:xfrm>
        </p:spPr>
        <p:txBody>
          <a:bodyPr>
            <a:normAutofit/>
          </a:bodyPr>
          <a:lstStyle/>
          <a:p>
            <a:r>
              <a:rPr lang="en-IN" sz="4400" b="1" dirty="0"/>
              <a:t>Interpersonal and Intrapersonal Skills</a:t>
            </a:r>
          </a:p>
        </p:txBody>
      </p:sp>
    </p:spTree>
    <p:extLst>
      <p:ext uri="{BB962C8B-B14F-4D97-AF65-F5344CB8AC3E}">
        <p14:creationId xmlns:p14="http://schemas.microsoft.com/office/powerpoint/2010/main" val="94819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6171-2774-9A25-E522-7FF4D857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02633"/>
                </a:solidFill>
                <a:effectLst/>
                <a:latin typeface="Matter"/>
              </a:rPr>
              <a:t>What Is Interpersonal Communication?</a:t>
            </a:r>
            <a:br>
              <a:rPr lang="en-IN" b="1" i="0" dirty="0">
                <a:solidFill>
                  <a:srgbClr val="302633"/>
                </a:solidFill>
                <a:effectLst/>
                <a:latin typeface="Matter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BDA85-35FA-96EA-9DED-28EA8D7CA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0" i="0" dirty="0">
                <a:effectLst/>
                <a:latin typeface="Matter"/>
              </a:rPr>
              <a:t>Interpersonal communication is the process of </a:t>
            </a:r>
            <a:r>
              <a:rPr lang="en-US" b="1" i="0" dirty="0">
                <a:effectLst/>
                <a:latin typeface="Matter"/>
              </a:rPr>
              <a:t>exchange of information</a:t>
            </a:r>
            <a:r>
              <a:rPr lang="en-US" b="0" i="0" dirty="0">
                <a:effectLst/>
                <a:latin typeface="Matter"/>
              </a:rPr>
              <a:t>, ideas, and feelings between two or more people through verbal or non-verbal methods.</a:t>
            </a:r>
          </a:p>
          <a:p>
            <a:pPr algn="just"/>
            <a:r>
              <a:rPr lang="en-US" b="0" i="0" dirty="0">
                <a:effectLst/>
                <a:latin typeface="Matter"/>
              </a:rPr>
              <a:t>It often includes face-to-face exchange of information, in the form of voice, facial expressions, body language, and gestures. The level of one’s interpersonal communication skills is measured through the </a:t>
            </a:r>
            <a:r>
              <a:rPr lang="en-US" b="1" i="0" dirty="0">
                <a:effectLst/>
                <a:latin typeface="Matter"/>
              </a:rPr>
              <a:t>effectiveness of transferring messages</a:t>
            </a:r>
            <a:r>
              <a:rPr lang="en-US" b="0" i="0" dirty="0">
                <a:effectLst/>
                <a:latin typeface="Matter"/>
              </a:rPr>
              <a:t> to others.</a:t>
            </a:r>
          </a:p>
          <a:p>
            <a:pPr algn="just"/>
            <a:r>
              <a:rPr lang="en-US" b="0" i="0" dirty="0">
                <a:effectLst/>
                <a:latin typeface="Matter"/>
              </a:rPr>
              <a:t>Commonly used interpersonal communication within an organization includes daily </a:t>
            </a:r>
            <a:r>
              <a:rPr lang="en-US" b="0" i="0" u="sng" dirty="0">
                <a:solidFill>
                  <a:srgbClr val="165860"/>
                </a:solidFill>
                <a:effectLst/>
                <a:latin typeface="Matter"/>
                <a:hlinkClick r:id="rId2"/>
              </a:rPr>
              <a:t>internal employee communication</a:t>
            </a:r>
            <a:r>
              <a:rPr lang="en-US" b="0" i="0" dirty="0">
                <a:effectLst/>
                <a:latin typeface="Matter"/>
              </a:rPr>
              <a:t>, client meetings, employee performance reviews, and project discussions. In addition, online conversations today make up a large portion of employees’ interpersonal </a:t>
            </a:r>
            <a:r>
              <a:rPr lang="en-US" b="0" i="0" u="sng" dirty="0">
                <a:solidFill>
                  <a:srgbClr val="165860"/>
                </a:solidFill>
                <a:effectLst/>
                <a:latin typeface="Matter"/>
                <a:hlinkClick r:id="rId3"/>
              </a:rPr>
              <a:t>communication in the workplace</a:t>
            </a:r>
            <a:r>
              <a:rPr lang="en-US" b="0" i="0" dirty="0">
                <a:effectLst/>
                <a:latin typeface="Matter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21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2867-0D6D-6473-1A49-1D47540C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b="1" i="0" dirty="0">
                <a:solidFill>
                  <a:srgbClr val="302633"/>
                </a:solidFill>
                <a:effectLst/>
                <a:latin typeface="Matter"/>
              </a:rPr>
              <a:t>The Importance of Interpersonal Communication in the Workplace</a:t>
            </a:r>
            <a:br>
              <a:rPr lang="en-US" sz="2800" b="1" i="0" dirty="0">
                <a:solidFill>
                  <a:srgbClr val="302633"/>
                </a:solidFill>
                <a:effectLst/>
                <a:latin typeface="Matter"/>
              </a:rPr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13A74-FC9B-7D10-DA16-665AA22B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Matter"/>
              </a:rPr>
              <a:t>There are many reasons why they are so valued; even though most workplace business is now conducted through </a:t>
            </a:r>
            <a:r>
              <a:rPr lang="en-US" b="0" i="0" u="sng" dirty="0">
                <a:solidFill>
                  <a:srgbClr val="165860"/>
                </a:solidFill>
                <a:effectLst/>
                <a:latin typeface="Matter"/>
                <a:hlinkClick r:id="rId2"/>
              </a:rPr>
              <a:t>online communication channels</a:t>
            </a:r>
            <a:r>
              <a:rPr lang="en-US" b="0" i="0" dirty="0">
                <a:effectLst/>
                <a:latin typeface="Matter"/>
              </a:rPr>
              <a:t>, it is still </a:t>
            </a:r>
            <a:r>
              <a:rPr lang="en-US" b="1" i="0" dirty="0">
                <a:effectLst/>
                <a:latin typeface="Matter"/>
              </a:rPr>
              <a:t>necessary to possess verbal skills</a:t>
            </a:r>
            <a:r>
              <a:rPr lang="en-US" b="0" i="0" dirty="0">
                <a:effectLst/>
                <a:latin typeface="Matter"/>
              </a:rPr>
              <a:t> in order to work effectively with your colleagues and bosses.</a:t>
            </a:r>
          </a:p>
          <a:p>
            <a:pPr marL="0" indent="0" algn="l">
              <a:buNone/>
            </a:pPr>
            <a:endParaRPr lang="en-US" b="0" i="0" dirty="0">
              <a:effectLst/>
              <a:latin typeface="Matter"/>
            </a:endParaRPr>
          </a:p>
          <a:p>
            <a:pPr algn="l"/>
            <a:r>
              <a:rPr lang="en-US" b="0" i="0" dirty="0">
                <a:effectLst/>
                <a:latin typeface="Matter"/>
              </a:rPr>
              <a:t>Therefore, interpersonal skills are crucial for business success.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59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42D3-4C1A-F8B3-56EF-852C9AE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Importance of Interpersonal Skills at the Workplace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550A-6D35-A7CA-6B66-82EBE799E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Problem-solving</a:t>
            </a:r>
          </a:p>
          <a:p>
            <a:pPr marL="0" indent="0" algn="just">
              <a:buNone/>
            </a:pPr>
            <a:r>
              <a:rPr lang="en-US" b="0" i="0" dirty="0">
                <a:effectLst/>
                <a:latin typeface="Matter"/>
              </a:rPr>
              <a:t>Interpersonal communication skills are necessary because they </a:t>
            </a:r>
            <a:r>
              <a:rPr lang="en-US" b="1" i="0" dirty="0">
                <a:effectLst/>
                <a:latin typeface="Matter"/>
              </a:rPr>
              <a:t>allow people to discuss problems</a:t>
            </a:r>
            <a:r>
              <a:rPr lang="en-US" b="0" i="0" dirty="0">
                <a:effectLst/>
                <a:latin typeface="Matter"/>
              </a:rPr>
              <a:t> and weigh the pros and cons of alternatives before coming up with the final solution.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Alignment with business goals</a:t>
            </a:r>
          </a:p>
          <a:p>
            <a:pPr marL="0" indent="0" algn="just">
              <a:buNone/>
            </a:pPr>
            <a:r>
              <a:rPr lang="en-US" b="0" i="0" u="sng" dirty="0">
                <a:solidFill>
                  <a:srgbClr val="165860"/>
                </a:solidFill>
                <a:effectLst/>
                <a:latin typeface="Matter"/>
                <a:hlinkClick r:id="rId2"/>
              </a:rPr>
              <a:t>Poor communication between employers and employees</a:t>
            </a:r>
            <a:r>
              <a:rPr lang="en-US" b="0" i="0" dirty="0">
                <a:effectLst/>
                <a:latin typeface="Matter"/>
              </a:rPr>
              <a:t> </a:t>
            </a:r>
            <a:r>
              <a:rPr lang="en-US" b="1" i="0" dirty="0">
                <a:effectLst/>
                <a:latin typeface="Matter"/>
              </a:rPr>
              <a:t>can harm the business in many ways</a:t>
            </a:r>
            <a:r>
              <a:rPr lang="en-US" b="0" i="0" dirty="0">
                <a:effectLst/>
                <a:latin typeface="Matter"/>
              </a:rPr>
              <a:t>. When managers and leaders are unable to clearly communicate tasks, workers can quickly become frustrated and disconnected with the business goals.</a:t>
            </a:r>
          </a:p>
          <a:p>
            <a:pPr marL="0" indent="0" algn="just">
              <a:buNone/>
            </a:pPr>
            <a:endParaRPr lang="en-US" b="0" i="0" dirty="0">
              <a:effectLst/>
              <a:latin typeface="Matter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2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D346-EF27-4FEF-6F5B-DA5A2138E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115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Importance of Interpersonal Skills at the Workplace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A134-C806-74F6-FF72-C866F5B26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Trust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Matter"/>
              </a:rPr>
              <a:t>According to the </a:t>
            </a:r>
            <a:r>
              <a:rPr lang="en-US" b="0" i="0" u="sng" dirty="0">
                <a:solidFill>
                  <a:srgbClr val="165860"/>
                </a:solidFill>
                <a:effectLst/>
                <a:latin typeface="Matter"/>
                <a:hlinkClick r:id="rId2"/>
              </a:rPr>
              <a:t>American Psychological Association</a:t>
            </a:r>
            <a:r>
              <a:rPr lang="en-US" b="0" i="0" dirty="0">
                <a:effectLst/>
                <a:latin typeface="Matter"/>
              </a:rPr>
              <a:t>, a quarter of employees in the US do not trust their employers, and only about 50% of them </a:t>
            </a:r>
            <a:r>
              <a:rPr lang="en-US" b="1" i="0" dirty="0">
                <a:effectLst/>
                <a:latin typeface="Matter"/>
              </a:rPr>
              <a:t>believe that their bosses are open</a:t>
            </a:r>
            <a:r>
              <a:rPr lang="en-US" b="0" i="0" dirty="0">
                <a:effectLst/>
                <a:latin typeface="Matter"/>
              </a:rPr>
              <a:t> with them.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Change management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Matter"/>
              </a:rPr>
              <a:t>Good interpersonal communication is very important during </a:t>
            </a:r>
            <a:r>
              <a:rPr lang="en-US" b="0" i="0" u="sng" dirty="0">
                <a:solidFill>
                  <a:srgbClr val="165860"/>
                </a:solidFill>
                <a:effectLst/>
                <a:latin typeface="Matter"/>
                <a:hlinkClick r:id="rId3"/>
              </a:rPr>
              <a:t>change management efforts</a:t>
            </a:r>
            <a:r>
              <a:rPr lang="en-US" b="0" i="0" dirty="0">
                <a:effectLst/>
                <a:latin typeface="Matter"/>
              </a:rPr>
              <a:t> within organizations.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Company culture</a:t>
            </a:r>
          </a:p>
          <a:p>
            <a:pPr marL="0" indent="0" algn="l">
              <a:buNone/>
            </a:pPr>
            <a:r>
              <a:rPr lang="en-US" b="0" i="0" dirty="0">
                <a:effectLst/>
                <a:latin typeface="Matter"/>
              </a:rPr>
              <a:t>Interpersonal relationships, especially when executed well, are important for an organizational culture to thrive.</a:t>
            </a:r>
          </a:p>
          <a:p>
            <a:pPr marL="0" indent="0" algn="l">
              <a:buNone/>
            </a:pPr>
            <a:endParaRPr lang="en-US" b="0" i="0" dirty="0">
              <a:effectLst/>
              <a:latin typeface="Matter"/>
            </a:endParaRPr>
          </a:p>
          <a:p>
            <a:pPr marL="0" indent="0" algn="l">
              <a:buNone/>
            </a:pPr>
            <a:endParaRPr lang="en-US" b="0" i="0" dirty="0">
              <a:effectLst/>
              <a:latin typeface="Matter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852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A7DA-888F-D25D-7C81-7AB17CAB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Importance of Interpersonal Skills at the Workplace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F9EA2-7A07-8F86-D65A-22874FC88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40" y="1534160"/>
            <a:ext cx="10601960" cy="4642803"/>
          </a:xfrm>
        </p:spPr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Employee recognition</a:t>
            </a:r>
          </a:p>
          <a:p>
            <a:pPr marL="0" indent="0" algn="just">
              <a:buNone/>
            </a:pPr>
            <a:r>
              <a:rPr lang="en-US" b="0" i="0" dirty="0">
                <a:effectLst/>
                <a:latin typeface="Matter"/>
              </a:rPr>
              <a:t>Good interpersonal communication </a:t>
            </a:r>
            <a:r>
              <a:rPr lang="en-US" b="1" i="0" dirty="0">
                <a:effectLst/>
                <a:latin typeface="Matter"/>
              </a:rPr>
              <a:t>drives more </a:t>
            </a:r>
            <a:r>
              <a:rPr lang="en-US" b="1" i="0" u="sng" dirty="0">
                <a:solidFill>
                  <a:srgbClr val="165860"/>
                </a:solidFill>
                <a:effectLst/>
                <a:latin typeface="Matter"/>
                <a:hlinkClick r:id="rId2"/>
              </a:rPr>
              <a:t>employee recognition</a:t>
            </a:r>
            <a:r>
              <a:rPr lang="en-US" b="0" i="0" dirty="0">
                <a:effectLst/>
                <a:latin typeface="Matter"/>
              </a:rPr>
              <a:t>. When employees have good interpersonal relationships with each other and their managers, they are more likely to recognize each others’ good work and give constructive feedback.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Workplace miscommunication</a:t>
            </a:r>
          </a:p>
          <a:p>
            <a:pPr marL="0" indent="0" algn="just">
              <a:buNone/>
            </a:pPr>
            <a:r>
              <a:rPr lang="en-US" b="0" i="0" dirty="0">
                <a:effectLst/>
                <a:latin typeface="Matter"/>
              </a:rPr>
              <a:t>Managers who maintain professionalism, open workplace communication and a positive attitude are more likely to be seen as approachable by their employees.</a:t>
            </a:r>
          </a:p>
          <a:p>
            <a:pPr marL="0" indent="0" algn="just">
              <a:buNone/>
            </a:pPr>
            <a:endParaRPr lang="en-US" b="0" i="0" dirty="0">
              <a:effectLst/>
              <a:latin typeface="Matter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174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438F-654B-7F61-7F91-50810730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Importance of Interpersonal Skills at the Workplace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F2294-3A5F-F771-8A7B-C916BE203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Effective management and leadership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302633"/>
                </a:solidFill>
                <a:effectLst/>
                <a:latin typeface="Matter"/>
              </a:rPr>
              <a:t>The ability to foster interpersonal relationships, establish trust and communicate clearly are all </a:t>
            </a:r>
            <a:r>
              <a:rPr lang="en-US" b="1" i="0" u="sng" dirty="0">
                <a:solidFill>
                  <a:srgbClr val="165860"/>
                </a:solidFill>
                <a:effectLst/>
                <a:latin typeface="Matter"/>
                <a:hlinkClick r:id="rId2"/>
              </a:rPr>
              <a:t>crucial skills for an effective leader</a:t>
            </a:r>
            <a:r>
              <a:rPr lang="en-US" b="0" i="0" dirty="0">
                <a:solidFill>
                  <a:srgbClr val="302633"/>
                </a:solidFill>
                <a:effectLst/>
                <a:latin typeface="Matter"/>
              </a:rPr>
              <a:t>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Conflict management</a:t>
            </a:r>
          </a:p>
          <a:p>
            <a:pPr marL="0" indent="0" algn="just">
              <a:buNone/>
            </a:pPr>
            <a:r>
              <a:rPr lang="en-US" b="0" i="0" dirty="0">
                <a:effectLst/>
                <a:latin typeface="Matter"/>
              </a:rPr>
              <a:t>Conflict is normal in the workplace, and we can’t always expect from our employees to </a:t>
            </a:r>
            <a:r>
              <a:rPr lang="en-US" b="1" i="0" dirty="0">
                <a:effectLst/>
                <a:latin typeface="Matter"/>
              </a:rPr>
              <a:t>resolve conflicts in a calm and timely manner</a:t>
            </a:r>
            <a:r>
              <a:rPr lang="en-US" b="0" i="0" dirty="0">
                <a:effectLst/>
                <a:latin typeface="Matter"/>
              </a:rPr>
              <a:t>. When conflicts like this arise, interpersonal communication becomes crucial for resolving them.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02633"/>
                </a:solidFill>
                <a:effectLst/>
                <a:latin typeface="Matter"/>
              </a:rPr>
              <a:t>Career development</a:t>
            </a:r>
          </a:p>
          <a:p>
            <a:pPr marL="0" indent="0" algn="just">
              <a:buNone/>
            </a:pPr>
            <a:r>
              <a:rPr lang="en-US" b="0" i="0" dirty="0">
                <a:effectLst/>
                <a:latin typeface="Matter"/>
              </a:rPr>
              <a:t>As many employers are looking for workers with good communication skills, continuous improvements of interpersonal communication skills can </a:t>
            </a:r>
            <a:r>
              <a:rPr lang="en-US" b="1" i="0" dirty="0">
                <a:effectLst/>
                <a:latin typeface="Matter"/>
              </a:rPr>
              <a:t>bring career progressions</a:t>
            </a:r>
            <a:r>
              <a:rPr lang="en-US" b="0" i="0" dirty="0">
                <a:effectLst/>
                <a:latin typeface="Matter"/>
              </a:rPr>
              <a:t> for many employees.</a:t>
            </a:r>
          </a:p>
          <a:p>
            <a:pPr marL="0" indent="0" algn="just">
              <a:buNone/>
            </a:pPr>
            <a:endParaRPr lang="en-US" b="0" i="0" dirty="0">
              <a:effectLst/>
              <a:latin typeface="Matter"/>
            </a:endParaRPr>
          </a:p>
          <a:p>
            <a:pPr marL="0" indent="0" algn="just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89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3D7E5-3E78-9F3B-5667-3AF7FE0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904"/>
          </a:xfrm>
        </p:spPr>
        <p:txBody>
          <a:bodyPr/>
          <a:lstStyle/>
          <a:p>
            <a:pPr algn="ctr"/>
            <a:r>
              <a:rPr lang="en-IN" b="1" dirty="0"/>
              <a:t>INTRAPERSONAL SKILLS AT THE WORKPLACE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A0C95-E123-AB41-313F-7391689AD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br>
              <a:rPr lang="en-US" dirty="0"/>
            </a:b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Intrapersonal skills, also known as "self-skills" or "self-management skills," refer to the abilities and qualities that enable an individual to understand and </a:t>
            </a:r>
            <a:r>
              <a:rPr lang="en-US" b="1" i="0" dirty="0">
                <a:solidFill>
                  <a:srgbClr val="FF0000"/>
                </a:solidFill>
                <a:effectLst/>
                <a:latin typeface="Söhne"/>
              </a:rPr>
              <a:t>manage their own thoughts, emotions, behaviors, and overall well-being in a productive and effective manner.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These skills play a crucial role in the workplace as they contribute to personal growth, job performance, and interpersonal relationships. Here are some important intrapersonal skills in the workplace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87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595</Words>
  <Application>Microsoft Office PowerPoint</Application>
  <PresentationFormat>Widescreen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Matter</vt:lpstr>
      <vt:lpstr>Söhne</vt:lpstr>
      <vt:lpstr>Office Theme</vt:lpstr>
      <vt:lpstr>Interpersonal and Intrapersonal Skills</vt:lpstr>
      <vt:lpstr>What Is Interpersonal Communication? </vt:lpstr>
      <vt:lpstr>The Importance of Interpersonal Communication in the Workplace </vt:lpstr>
      <vt:lpstr>Importance of Interpersonal Skills at the Workplace</vt:lpstr>
      <vt:lpstr>Importance of Interpersonal Skills at the Workplace</vt:lpstr>
      <vt:lpstr>Importance of Interpersonal Skills at the Workplace</vt:lpstr>
      <vt:lpstr>Importance of Interpersonal Skills at the Workplace</vt:lpstr>
      <vt:lpstr>INTRAPERSONAL SKILLS AT THE WORKPLACE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Interpersonal and Intrapersonal Skills</dc:title>
  <dc:creator>Diwakar P</dc:creator>
  <cp:lastModifiedBy>Diwakar P</cp:lastModifiedBy>
  <cp:revision>4</cp:revision>
  <dcterms:created xsi:type="dcterms:W3CDTF">2023-08-23T03:44:13Z</dcterms:created>
  <dcterms:modified xsi:type="dcterms:W3CDTF">2023-08-23T04:23:45Z</dcterms:modified>
</cp:coreProperties>
</file>