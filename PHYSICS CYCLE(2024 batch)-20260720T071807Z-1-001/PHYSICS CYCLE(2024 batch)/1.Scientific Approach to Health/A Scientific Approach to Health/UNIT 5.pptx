
<file path=[Content_Types].xml><?xml version="1.0" encoding="utf-8"?>
<Types xmlns="http://schemas.openxmlformats.org/package/2006/content-types">
  <Default Extension="png" ContentType="image/png"/>
  <Default Extension="webm" ContentType="video/webm"/>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59" r:id="rId3"/>
    <p:sldId id="256" r:id="rId4"/>
    <p:sldId id="264" r:id="rId5"/>
    <p:sldId id="272" r:id="rId6"/>
    <p:sldId id="263" r:id="rId7"/>
    <p:sldId id="270" r:id="rId8"/>
    <p:sldId id="271" r:id="rId9"/>
    <p:sldId id="267" r:id="rId10"/>
    <p:sldId id="265" r:id="rId11"/>
    <p:sldId id="262" r:id="rId12"/>
    <p:sldId id="269" r:id="rId13"/>
    <p:sldId id="273" r:id="rId14"/>
    <p:sldId id="274" r:id="rId15"/>
    <p:sldId id="316" r:id="rId16"/>
    <p:sldId id="277" r:id="rId17"/>
    <p:sldId id="278" r:id="rId18"/>
    <p:sldId id="315"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1" r:id="rId51"/>
    <p:sldId id="31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49" autoAdjust="0"/>
    <p:restoredTop sz="94660"/>
  </p:normalViewPr>
  <p:slideViewPr>
    <p:cSldViewPr snapToGrid="0">
      <p:cViewPr>
        <p:scale>
          <a:sx n="80" d="100"/>
          <a:sy n="80" d="100"/>
        </p:scale>
        <p:origin x="3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0DFB8F-18C9-4F6D-A74E-41DB4E4EA197}" type="doc">
      <dgm:prSet loTypeId="urn:microsoft.com/office/officeart/2005/8/layout/pyramid2" loCatId="pyramid" qsTypeId="urn:microsoft.com/office/officeart/2005/8/quickstyle/3d9" qsCatId="3D" csTypeId="urn:microsoft.com/office/officeart/2005/8/colors/colorful4" csCatId="colorful" phldr="1"/>
      <dgm:spPr/>
      <dgm:t>
        <a:bodyPr/>
        <a:lstStyle/>
        <a:p>
          <a:endParaRPr lang="en-US"/>
        </a:p>
      </dgm:t>
    </dgm:pt>
    <dgm:pt modelId="{0CB9813E-D5A4-44F7-A22A-55262A0739F8}">
      <dgm:prSet phldrT="[Text]"/>
      <dgm:spPr>
        <a:solidFill>
          <a:schemeClr val="accent1">
            <a:lumMod val="20000"/>
            <a:lumOff val="80000"/>
            <a:alpha val="90000"/>
          </a:schemeClr>
        </a:solidFill>
      </dgm:spPr>
      <dgm:t>
        <a:bodyPr/>
        <a:lstStyle/>
        <a:p>
          <a:pPr algn="ctr"/>
          <a:r>
            <a:rPr lang="en-US" dirty="0" smtClean="0"/>
            <a:t>PRIMARY</a:t>
          </a:r>
          <a:endParaRPr lang="en-US" dirty="0"/>
        </a:p>
      </dgm:t>
    </dgm:pt>
    <dgm:pt modelId="{E5242AF3-4D13-4DF4-B046-19D898C69054}" type="parTrans" cxnId="{60D8695B-9C6D-4527-9D58-22A16B1707E0}">
      <dgm:prSet/>
      <dgm:spPr/>
      <dgm:t>
        <a:bodyPr/>
        <a:lstStyle/>
        <a:p>
          <a:endParaRPr lang="en-US"/>
        </a:p>
      </dgm:t>
    </dgm:pt>
    <dgm:pt modelId="{4490A0BD-B0CA-4988-8FD5-B1EAE75A946A}" type="sibTrans" cxnId="{60D8695B-9C6D-4527-9D58-22A16B1707E0}">
      <dgm:prSet/>
      <dgm:spPr/>
      <dgm:t>
        <a:bodyPr/>
        <a:lstStyle/>
        <a:p>
          <a:endParaRPr lang="en-US"/>
        </a:p>
      </dgm:t>
    </dgm:pt>
    <dgm:pt modelId="{275B3A8E-A9EA-4602-BFA6-C8A9D7F14F7A}">
      <dgm:prSet phldrT="[Text]"/>
      <dgm:spPr>
        <a:solidFill>
          <a:schemeClr val="accent2">
            <a:lumMod val="40000"/>
            <a:lumOff val="60000"/>
            <a:alpha val="90000"/>
          </a:schemeClr>
        </a:solidFill>
      </dgm:spPr>
      <dgm:t>
        <a:bodyPr/>
        <a:lstStyle/>
        <a:p>
          <a:r>
            <a:rPr lang="en-US" dirty="0" smtClean="0"/>
            <a:t>SECONDARY</a:t>
          </a:r>
          <a:endParaRPr lang="en-US" dirty="0"/>
        </a:p>
      </dgm:t>
    </dgm:pt>
    <dgm:pt modelId="{B1A1BCD4-61C9-4D17-8E08-DD775DE32587}" type="parTrans" cxnId="{49881D2E-7E90-4A30-8E5A-228794BC2E77}">
      <dgm:prSet/>
      <dgm:spPr/>
      <dgm:t>
        <a:bodyPr/>
        <a:lstStyle/>
        <a:p>
          <a:endParaRPr lang="en-US"/>
        </a:p>
      </dgm:t>
    </dgm:pt>
    <dgm:pt modelId="{7091B5E6-411B-4299-B9E3-92918564A365}" type="sibTrans" cxnId="{49881D2E-7E90-4A30-8E5A-228794BC2E77}">
      <dgm:prSet/>
      <dgm:spPr/>
      <dgm:t>
        <a:bodyPr/>
        <a:lstStyle/>
        <a:p>
          <a:endParaRPr lang="en-US"/>
        </a:p>
      </dgm:t>
    </dgm:pt>
    <dgm:pt modelId="{1105DA9D-3C09-472C-AF0C-4583502C7518}">
      <dgm:prSet phldrT="[Text]"/>
      <dgm:spPr>
        <a:solidFill>
          <a:schemeClr val="accent6">
            <a:lumMod val="60000"/>
            <a:lumOff val="40000"/>
            <a:alpha val="90000"/>
          </a:schemeClr>
        </a:solidFill>
      </dgm:spPr>
      <dgm:t>
        <a:bodyPr/>
        <a:lstStyle/>
        <a:p>
          <a:r>
            <a:rPr lang="en-US" dirty="0" smtClean="0"/>
            <a:t>LOCAL	</a:t>
          </a:r>
          <a:endParaRPr lang="en-US" dirty="0"/>
        </a:p>
      </dgm:t>
    </dgm:pt>
    <dgm:pt modelId="{D2B43E12-87E8-4BDE-97B1-767EFA781340}" type="parTrans" cxnId="{98014FD7-DD64-42B3-BC53-37C8693E9EBA}">
      <dgm:prSet/>
      <dgm:spPr/>
      <dgm:t>
        <a:bodyPr/>
        <a:lstStyle/>
        <a:p>
          <a:endParaRPr lang="en-US"/>
        </a:p>
      </dgm:t>
    </dgm:pt>
    <dgm:pt modelId="{673F699D-D71C-4F97-8224-C8F6E392E510}" type="sibTrans" cxnId="{98014FD7-DD64-42B3-BC53-37C8693E9EBA}">
      <dgm:prSet/>
      <dgm:spPr/>
      <dgm:t>
        <a:bodyPr/>
        <a:lstStyle/>
        <a:p>
          <a:endParaRPr lang="en-US"/>
        </a:p>
      </dgm:t>
    </dgm:pt>
    <dgm:pt modelId="{7E043FB3-7E8F-4CB7-B498-1C31FCDFEF49}">
      <dgm:prSet/>
      <dgm:spPr>
        <a:solidFill>
          <a:schemeClr val="accent3">
            <a:lumMod val="75000"/>
            <a:alpha val="90000"/>
          </a:schemeClr>
        </a:solidFill>
      </dgm:spPr>
      <dgm:t>
        <a:bodyPr/>
        <a:lstStyle/>
        <a:p>
          <a:r>
            <a:rPr lang="en-US" dirty="0" smtClean="0"/>
            <a:t>ACUTE</a:t>
          </a:r>
          <a:endParaRPr lang="en-US" dirty="0"/>
        </a:p>
      </dgm:t>
    </dgm:pt>
    <dgm:pt modelId="{C8D49B33-B61F-482C-9062-D68CD584B9B3}" type="parTrans" cxnId="{4D2247FA-83DF-4148-838A-BA20DCA0D04E}">
      <dgm:prSet/>
      <dgm:spPr/>
      <dgm:t>
        <a:bodyPr/>
        <a:lstStyle/>
        <a:p>
          <a:endParaRPr lang="en-US"/>
        </a:p>
      </dgm:t>
    </dgm:pt>
    <dgm:pt modelId="{320419D0-7A0C-4C75-8FAF-F6D678104BE5}" type="sibTrans" cxnId="{4D2247FA-83DF-4148-838A-BA20DCA0D04E}">
      <dgm:prSet/>
      <dgm:spPr/>
      <dgm:t>
        <a:bodyPr/>
        <a:lstStyle/>
        <a:p>
          <a:endParaRPr lang="en-US"/>
        </a:p>
      </dgm:t>
    </dgm:pt>
    <dgm:pt modelId="{82E8D370-4148-4F82-98B3-4443594F4665}">
      <dgm:prSet/>
      <dgm:spPr>
        <a:solidFill>
          <a:schemeClr val="accent2">
            <a:alpha val="90000"/>
          </a:schemeClr>
        </a:solidFill>
      </dgm:spPr>
      <dgm:t>
        <a:bodyPr/>
        <a:lstStyle/>
        <a:p>
          <a:r>
            <a:rPr lang="en-US" dirty="0" smtClean="0"/>
            <a:t>CHRONIC</a:t>
          </a:r>
          <a:endParaRPr lang="en-US" dirty="0"/>
        </a:p>
      </dgm:t>
    </dgm:pt>
    <dgm:pt modelId="{08162294-826D-4C4D-BF6D-5411E4F20043}" type="parTrans" cxnId="{928A9CF0-1E0E-4126-A55D-5E2A06BEDD53}">
      <dgm:prSet/>
      <dgm:spPr/>
      <dgm:t>
        <a:bodyPr/>
        <a:lstStyle/>
        <a:p>
          <a:endParaRPr lang="en-US"/>
        </a:p>
      </dgm:t>
    </dgm:pt>
    <dgm:pt modelId="{E696C00C-8058-4AD1-8172-874192611E11}" type="sibTrans" cxnId="{928A9CF0-1E0E-4126-A55D-5E2A06BEDD53}">
      <dgm:prSet/>
      <dgm:spPr/>
      <dgm:t>
        <a:bodyPr/>
        <a:lstStyle/>
        <a:p>
          <a:endParaRPr lang="en-US"/>
        </a:p>
      </dgm:t>
    </dgm:pt>
    <dgm:pt modelId="{DDDDDE4E-2F82-4EFC-BFC2-B76BCB7CE5EA}" type="pres">
      <dgm:prSet presAssocID="{470DFB8F-18C9-4F6D-A74E-41DB4E4EA197}" presName="compositeShape" presStyleCnt="0">
        <dgm:presLayoutVars>
          <dgm:dir/>
          <dgm:resizeHandles/>
        </dgm:presLayoutVars>
      </dgm:prSet>
      <dgm:spPr/>
      <dgm:t>
        <a:bodyPr/>
        <a:lstStyle/>
        <a:p>
          <a:endParaRPr lang="en-US"/>
        </a:p>
      </dgm:t>
    </dgm:pt>
    <dgm:pt modelId="{AA779536-8BC4-4EBA-8075-78310A57758E}" type="pres">
      <dgm:prSet presAssocID="{470DFB8F-18C9-4F6D-A74E-41DB4E4EA197}" presName="pyramid" presStyleLbl="node1" presStyleIdx="0" presStyleCnt="1"/>
      <dgm:spPr/>
    </dgm:pt>
    <dgm:pt modelId="{13D17990-95DD-4E40-A2F6-11AAE0C48F67}" type="pres">
      <dgm:prSet presAssocID="{470DFB8F-18C9-4F6D-A74E-41DB4E4EA197}" presName="theList" presStyleCnt="0"/>
      <dgm:spPr/>
    </dgm:pt>
    <dgm:pt modelId="{9E2CF60A-137F-4BFC-AB98-091674AD05F6}" type="pres">
      <dgm:prSet presAssocID="{0CB9813E-D5A4-44F7-A22A-55262A0739F8}" presName="aNode" presStyleLbl="fgAcc1" presStyleIdx="0" presStyleCnt="5" custLinFactNeighborY="-12965">
        <dgm:presLayoutVars>
          <dgm:bulletEnabled val="1"/>
        </dgm:presLayoutVars>
      </dgm:prSet>
      <dgm:spPr/>
      <dgm:t>
        <a:bodyPr/>
        <a:lstStyle/>
        <a:p>
          <a:endParaRPr lang="en-US"/>
        </a:p>
      </dgm:t>
    </dgm:pt>
    <dgm:pt modelId="{F321F6A2-8215-48BF-9A86-F333ACEC731E}" type="pres">
      <dgm:prSet presAssocID="{0CB9813E-D5A4-44F7-A22A-55262A0739F8}" presName="aSpace" presStyleCnt="0"/>
      <dgm:spPr/>
    </dgm:pt>
    <dgm:pt modelId="{27468721-F358-43EC-9C78-D033F2662FC3}" type="pres">
      <dgm:prSet presAssocID="{275B3A8E-A9EA-4602-BFA6-C8A9D7F14F7A}" presName="aNode" presStyleLbl="fgAcc1" presStyleIdx="1" presStyleCnt="5" custLinFactNeighborX="1079">
        <dgm:presLayoutVars>
          <dgm:bulletEnabled val="1"/>
        </dgm:presLayoutVars>
      </dgm:prSet>
      <dgm:spPr/>
      <dgm:t>
        <a:bodyPr/>
        <a:lstStyle/>
        <a:p>
          <a:endParaRPr lang="en-US"/>
        </a:p>
      </dgm:t>
    </dgm:pt>
    <dgm:pt modelId="{D19B4CA7-C153-418A-A648-7ADC60EB6A5A}" type="pres">
      <dgm:prSet presAssocID="{275B3A8E-A9EA-4602-BFA6-C8A9D7F14F7A}" presName="aSpace" presStyleCnt="0"/>
      <dgm:spPr/>
    </dgm:pt>
    <dgm:pt modelId="{126A9C1F-4525-47F0-8FA5-AB14554A5264}" type="pres">
      <dgm:prSet presAssocID="{1105DA9D-3C09-472C-AF0C-4583502C7518}" presName="aNode" presStyleLbl="fgAcc1" presStyleIdx="2" presStyleCnt="5">
        <dgm:presLayoutVars>
          <dgm:bulletEnabled val="1"/>
        </dgm:presLayoutVars>
      </dgm:prSet>
      <dgm:spPr/>
      <dgm:t>
        <a:bodyPr/>
        <a:lstStyle/>
        <a:p>
          <a:endParaRPr lang="en-US"/>
        </a:p>
      </dgm:t>
    </dgm:pt>
    <dgm:pt modelId="{00398A64-8E9A-4344-9DE8-94259EED032E}" type="pres">
      <dgm:prSet presAssocID="{1105DA9D-3C09-472C-AF0C-4583502C7518}" presName="aSpace" presStyleCnt="0"/>
      <dgm:spPr/>
    </dgm:pt>
    <dgm:pt modelId="{DBD2E773-8218-4D60-99C3-34D9F3725D9C}" type="pres">
      <dgm:prSet presAssocID="{7E043FB3-7E8F-4CB7-B498-1C31FCDFEF49}" presName="aNode" presStyleLbl="fgAcc1" presStyleIdx="3" presStyleCnt="5">
        <dgm:presLayoutVars>
          <dgm:bulletEnabled val="1"/>
        </dgm:presLayoutVars>
      </dgm:prSet>
      <dgm:spPr/>
      <dgm:t>
        <a:bodyPr/>
        <a:lstStyle/>
        <a:p>
          <a:endParaRPr lang="en-US"/>
        </a:p>
      </dgm:t>
    </dgm:pt>
    <dgm:pt modelId="{59B1C241-D76F-4E09-8D3A-7A1CAB8C86E2}" type="pres">
      <dgm:prSet presAssocID="{7E043FB3-7E8F-4CB7-B498-1C31FCDFEF49}" presName="aSpace" presStyleCnt="0"/>
      <dgm:spPr/>
    </dgm:pt>
    <dgm:pt modelId="{C8AF774D-CF5B-47FE-84FC-C4AB8AEA8DAD}" type="pres">
      <dgm:prSet presAssocID="{82E8D370-4148-4F82-98B3-4443594F4665}" presName="aNode" presStyleLbl="fgAcc1" presStyleIdx="4" presStyleCnt="5">
        <dgm:presLayoutVars>
          <dgm:bulletEnabled val="1"/>
        </dgm:presLayoutVars>
      </dgm:prSet>
      <dgm:spPr/>
      <dgm:t>
        <a:bodyPr/>
        <a:lstStyle/>
        <a:p>
          <a:endParaRPr lang="en-US"/>
        </a:p>
      </dgm:t>
    </dgm:pt>
    <dgm:pt modelId="{4B34BF8A-87C0-4DAB-BF18-4865D9F4E20A}" type="pres">
      <dgm:prSet presAssocID="{82E8D370-4148-4F82-98B3-4443594F4665}" presName="aSpace" presStyleCnt="0"/>
      <dgm:spPr/>
    </dgm:pt>
  </dgm:ptLst>
  <dgm:cxnLst>
    <dgm:cxn modelId="{928A9CF0-1E0E-4126-A55D-5E2A06BEDD53}" srcId="{470DFB8F-18C9-4F6D-A74E-41DB4E4EA197}" destId="{82E8D370-4148-4F82-98B3-4443594F4665}" srcOrd="4" destOrd="0" parTransId="{08162294-826D-4C4D-BF6D-5411E4F20043}" sibTransId="{E696C00C-8058-4AD1-8172-874192611E11}"/>
    <dgm:cxn modelId="{98014FD7-DD64-42B3-BC53-37C8693E9EBA}" srcId="{470DFB8F-18C9-4F6D-A74E-41DB4E4EA197}" destId="{1105DA9D-3C09-472C-AF0C-4583502C7518}" srcOrd="2" destOrd="0" parTransId="{D2B43E12-87E8-4BDE-97B1-767EFA781340}" sibTransId="{673F699D-D71C-4F97-8224-C8F6E392E510}"/>
    <dgm:cxn modelId="{6C31B2AC-D53A-406B-818D-03EE3D514383}" type="presOf" srcId="{275B3A8E-A9EA-4602-BFA6-C8A9D7F14F7A}" destId="{27468721-F358-43EC-9C78-D033F2662FC3}" srcOrd="0" destOrd="0" presId="urn:microsoft.com/office/officeart/2005/8/layout/pyramid2"/>
    <dgm:cxn modelId="{A9815B2C-CC34-4CC4-9D46-7211DDF3CAC3}" type="presOf" srcId="{470DFB8F-18C9-4F6D-A74E-41DB4E4EA197}" destId="{DDDDDE4E-2F82-4EFC-BFC2-B76BCB7CE5EA}" srcOrd="0" destOrd="0" presId="urn:microsoft.com/office/officeart/2005/8/layout/pyramid2"/>
    <dgm:cxn modelId="{4D2247FA-83DF-4148-838A-BA20DCA0D04E}" srcId="{470DFB8F-18C9-4F6D-A74E-41DB4E4EA197}" destId="{7E043FB3-7E8F-4CB7-B498-1C31FCDFEF49}" srcOrd="3" destOrd="0" parTransId="{C8D49B33-B61F-482C-9062-D68CD584B9B3}" sibTransId="{320419D0-7A0C-4C75-8FAF-F6D678104BE5}"/>
    <dgm:cxn modelId="{60D8695B-9C6D-4527-9D58-22A16B1707E0}" srcId="{470DFB8F-18C9-4F6D-A74E-41DB4E4EA197}" destId="{0CB9813E-D5A4-44F7-A22A-55262A0739F8}" srcOrd="0" destOrd="0" parTransId="{E5242AF3-4D13-4DF4-B046-19D898C69054}" sibTransId="{4490A0BD-B0CA-4988-8FD5-B1EAE75A946A}"/>
    <dgm:cxn modelId="{B8B4E1BE-3295-4921-A4A6-4A4B8D7EEF4C}" type="presOf" srcId="{7E043FB3-7E8F-4CB7-B498-1C31FCDFEF49}" destId="{DBD2E773-8218-4D60-99C3-34D9F3725D9C}" srcOrd="0" destOrd="0" presId="urn:microsoft.com/office/officeart/2005/8/layout/pyramid2"/>
    <dgm:cxn modelId="{D1B01B39-0A16-4740-952F-0153EA6FB359}" type="presOf" srcId="{1105DA9D-3C09-472C-AF0C-4583502C7518}" destId="{126A9C1F-4525-47F0-8FA5-AB14554A5264}" srcOrd="0" destOrd="0" presId="urn:microsoft.com/office/officeart/2005/8/layout/pyramid2"/>
    <dgm:cxn modelId="{A0D5AD9A-0CB6-4A4F-8C7C-D44004A70FAD}" type="presOf" srcId="{82E8D370-4148-4F82-98B3-4443594F4665}" destId="{C8AF774D-CF5B-47FE-84FC-C4AB8AEA8DAD}" srcOrd="0" destOrd="0" presId="urn:microsoft.com/office/officeart/2005/8/layout/pyramid2"/>
    <dgm:cxn modelId="{F3FE3E58-1054-4CD4-8339-0D3FE5FBD9DF}" type="presOf" srcId="{0CB9813E-D5A4-44F7-A22A-55262A0739F8}" destId="{9E2CF60A-137F-4BFC-AB98-091674AD05F6}" srcOrd="0" destOrd="0" presId="urn:microsoft.com/office/officeart/2005/8/layout/pyramid2"/>
    <dgm:cxn modelId="{49881D2E-7E90-4A30-8E5A-228794BC2E77}" srcId="{470DFB8F-18C9-4F6D-A74E-41DB4E4EA197}" destId="{275B3A8E-A9EA-4602-BFA6-C8A9D7F14F7A}" srcOrd="1" destOrd="0" parTransId="{B1A1BCD4-61C9-4D17-8E08-DD775DE32587}" sibTransId="{7091B5E6-411B-4299-B9E3-92918564A365}"/>
    <dgm:cxn modelId="{7BBC567C-4390-499D-A765-73B02109FB55}" type="presParOf" srcId="{DDDDDE4E-2F82-4EFC-BFC2-B76BCB7CE5EA}" destId="{AA779536-8BC4-4EBA-8075-78310A57758E}" srcOrd="0" destOrd="0" presId="urn:microsoft.com/office/officeart/2005/8/layout/pyramid2"/>
    <dgm:cxn modelId="{72106655-6687-4371-8A7B-DB01E32C702E}" type="presParOf" srcId="{DDDDDE4E-2F82-4EFC-BFC2-B76BCB7CE5EA}" destId="{13D17990-95DD-4E40-A2F6-11AAE0C48F67}" srcOrd="1" destOrd="0" presId="urn:microsoft.com/office/officeart/2005/8/layout/pyramid2"/>
    <dgm:cxn modelId="{2FE07ACD-AA64-4FF9-BC40-C46F127F83F8}" type="presParOf" srcId="{13D17990-95DD-4E40-A2F6-11AAE0C48F67}" destId="{9E2CF60A-137F-4BFC-AB98-091674AD05F6}" srcOrd="0" destOrd="0" presId="urn:microsoft.com/office/officeart/2005/8/layout/pyramid2"/>
    <dgm:cxn modelId="{4E729432-7B5F-4BD2-AF89-2B942E8511FC}" type="presParOf" srcId="{13D17990-95DD-4E40-A2F6-11AAE0C48F67}" destId="{F321F6A2-8215-48BF-9A86-F333ACEC731E}" srcOrd="1" destOrd="0" presId="urn:microsoft.com/office/officeart/2005/8/layout/pyramid2"/>
    <dgm:cxn modelId="{F4849DBE-159E-4597-8B63-F38B80205EAD}" type="presParOf" srcId="{13D17990-95DD-4E40-A2F6-11AAE0C48F67}" destId="{27468721-F358-43EC-9C78-D033F2662FC3}" srcOrd="2" destOrd="0" presId="urn:microsoft.com/office/officeart/2005/8/layout/pyramid2"/>
    <dgm:cxn modelId="{B7091E13-357C-4848-86C6-D7BBCFA945D4}" type="presParOf" srcId="{13D17990-95DD-4E40-A2F6-11AAE0C48F67}" destId="{D19B4CA7-C153-418A-A648-7ADC60EB6A5A}" srcOrd="3" destOrd="0" presId="urn:microsoft.com/office/officeart/2005/8/layout/pyramid2"/>
    <dgm:cxn modelId="{538C32E1-2300-4EA1-A441-734CE7D705C1}" type="presParOf" srcId="{13D17990-95DD-4E40-A2F6-11AAE0C48F67}" destId="{126A9C1F-4525-47F0-8FA5-AB14554A5264}" srcOrd="4" destOrd="0" presId="urn:microsoft.com/office/officeart/2005/8/layout/pyramid2"/>
    <dgm:cxn modelId="{C8421E87-9C34-47C4-993A-772EB96A7572}" type="presParOf" srcId="{13D17990-95DD-4E40-A2F6-11AAE0C48F67}" destId="{00398A64-8E9A-4344-9DE8-94259EED032E}" srcOrd="5" destOrd="0" presId="urn:microsoft.com/office/officeart/2005/8/layout/pyramid2"/>
    <dgm:cxn modelId="{57993CEA-83D9-4AE3-9E65-9B1443B91106}" type="presParOf" srcId="{13D17990-95DD-4E40-A2F6-11AAE0C48F67}" destId="{DBD2E773-8218-4D60-99C3-34D9F3725D9C}" srcOrd="6" destOrd="0" presId="urn:microsoft.com/office/officeart/2005/8/layout/pyramid2"/>
    <dgm:cxn modelId="{DAD2023E-C9EB-41E5-AA4D-B947177FE46D}" type="presParOf" srcId="{13D17990-95DD-4E40-A2F6-11AAE0C48F67}" destId="{59B1C241-D76F-4E09-8D3A-7A1CAB8C86E2}" srcOrd="7" destOrd="0" presId="urn:microsoft.com/office/officeart/2005/8/layout/pyramid2"/>
    <dgm:cxn modelId="{553A2929-B751-4221-88F0-ED87361E7309}" type="presParOf" srcId="{13D17990-95DD-4E40-A2F6-11AAE0C48F67}" destId="{C8AF774D-CF5B-47FE-84FC-C4AB8AEA8DAD}" srcOrd="8" destOrd="0" presId="urn:microsoft.com/office/officeart/2005/8/layout/pyramid2"/>
    <dgm:cxn modelId="{4565B53A-7A79-4A0E-9353-95CA2E95AAE1}" type="presParOf" srcId="{13D17990-95DD-4E40-A2F6-11AAE0C48F67}" destId="{4B34BF8A-87C0-4DAB-BF18-4865D9F4E20A}" srcOrd="9" destOrd="0" presId="urn:microsoft.com/office/officeart/2005/8/layout/pyramid2"/>
  </dgm:cxnLst>
  <dgm:bg>
    <a:effectLst>
      <a:outerShdw blurRad="50800" dist="965200" sx="1000" sy="1000" algn="ctr" rotWithShape="0">
        <a:schemeClr val="tx1"/>
      </a:outerShdw>
    </a:effectLst>
  </dgm:bg>
  <dgm:whole>
    <a:effectLst>
      <a:reflection blurRad="6350" stA="50000" endA="300" endPos="10000" dist="50800" dir="5400000" sy="-100000" algn="bl" rotWithShape="0"/>
    </a:effectLst>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79536-8BC4-4EBA-8075-78310A57758E}">
      <dsp:nvSpPr>
        <dsp:cNvPr id="0" name=""/>
        <dsp:cNvSpPr/>
      </dsp:nvSpPr>
      <dsp:spPr>
        <a:xfrm>
          <a:off x="2094691" y="0"/>
          <a:ext cx="6741735" cy="6741735"/>
        </a:xfrm>
        <a:prstGeom prst="triangle">
          <a:avLst/>
        </a:prstGeom>
        <a:solidFill>
          <a:schemeClr val="accent4">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sp>
    <dsp:sp modelId="{9E2CF60A-137F-4BFC-AB98-091674AD05F6}">
      <dsp:nvSpPr>
        <dsp:cNvPr id="0" name=""/>
        <dsp:cNvSpPr/>
      </dsp:nvSpPr>
      <dsp:spPr>
        <a:xfrm>
          <a:off x="5465559" y="659296"/>
          <a:ext cx="4382127" cy="958590"/>
        </a:xfrm>
        <a:prstGeom prst="roundRect">
          <a:avLst/>
        </a:prstGeom>
        <a:solidFill>
          <a:schemeClr val="accent1">
            <a:lumMod val="20000"/>
            <a:lumOff val="80000"/>
            <a:alpha val="90000"/>
          </a:schemeClr>
        </a:solidFill>
        <a:ln w="6350" cap="flat" cmpd="sng" algn="ctr">
          <a:solidFill>
            <a:schemeClr val="accent4">
              <a:hueOff val="0"/>
              <a:satOff val="0"/>
              <a:lumOff val="0"/>
              <a:alphaOff val="0"/>
            </a:schemeClr>
          </a:solidFill>
          <a:prstDash val="solid"/>
          <a:miter lim="800000"/>
        </a:ln>
        <a:effectLst/>
        <a:sp3d prstMaterial="matte"/>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PRIMARY</a:t>
          </a:r>
          <a:endParaRPr lang="en-US" sz="4000" kern="1200" dirty="0"/>
        </a:p>
      </dsp:txBody>
      <dsp:txXfrm>
        <a:off x="5512354" y="706091"/>
        <a:ext cx="4288537" cy="865000"/>
      </dsp:txXfrm>
    </dsp:sp>
    <dsp:sp modelId="{27468721-F358-43EC-9C78-D033F2662FC3}">
      <dsp:nvSpPr>
        <dsp:cNvPr id="0" name=""/>
        <dsp:cNvSpPr/>
      </dsp:nvSpPr>
      <dsp:spPr>
        <a:xfrm>
          <a:off x="5512842" y="1753246"/>
          <a:ext cx="4382127" cy="958590"/>
        </a:xfrm>
        <a:prstGeom prst="roundRect">
          <a:avLst/>
        </a:prstGeom>
        <a:solidFill>
          <a:schemeClr val="accent2">
            <a:lumMod val="40000"/>
            <a:lumOff val="60000"/>
            <a:alpha val="90000"/>
          </a:schemeClr>
        </a:solidFill>
        <a:ln w="6350" cap="flat" cmpd="sng" algn="ctr">
          <a:solidFill>
            <a:schemeClr val="accent4">
              <a:hueOff val="2598923"/>
              <a:satOff val="-11992"/>
              <a:lumOff val="441"/>
              <a:alphaOff val="0"/>
            </a:schemeClr>
          </a:solidFill>
          <a:prstDash val="solid"/>
          <a:miter lim="800000"/>
        </a:ln>
        <a:effectLst/>
        <a:sp3d prstMaterial="matte"/>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SECONDARY</a:t>
          </a:r>
          <a:endParaRPr lang="en-US" sz="4000" kern="1200" dirty="0"/>
        </a:p>
      </dsp:txBody>
      <dsp:txXfrm>
        <a:off x="5559637" y="1800041"/>
        <a:ext cx="4288537" cy="865000"/>
      </dsp:txXfrm>
    </dsp:sp>
    <dsp:sp modelId="{126A9C1F-4525-47F0-8FA5-AB14554A5264}">
      <dsp:nvSpPr>
        <dsp:cNvPr id="0" name=""/>
        <dsp:cNvSpPr/>
      </dsp:nvSpPr>
      <dsp:spPr>
        <a:xfrm>
          <a:off x="5465559" y="2831660"/>
          <a:ext cx="4382127" cy="958590"/>
        </a:xfrm>
        <a:prstGeom prst="roundRect">
          <a:avLst/>
        </a:prstGeom>
        <a:solidFill>
          <a:schemeClr val="accent6">
            <a:lumMod val="60000"/>
            <a:lumOff val="40000"/>
            <a:alpha val="90000"/>
          </a:schemeClr>
        </a:solidFill>
        <a:ln w="6350" cap="flat" cmpd="sng" algn="ctr">
          <a:solidFill>
            <a:schemeClr val="accent4">
              <a:hueOff val="5197846"/>
              <a:satOff val="-23984"/>
              <a:lumOff val="883"/>
              <a:alphaOff val="0"/>
            </a:schemeClr>
          </a:solidFill>
          <a:prstDash val="solid"/>
          <a:miter lim="800000"/>
        </a:ln>
        <a:effectLst/>
        <a:sp3d prstMaterial="matte"/>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LOCAL	</a:t>
          </a:r>
          <a:endParaRPr lang="en-US" sz="4000" kern="1200" dirty="0"/>
        </a:p>
      </dsp:txBody>
      <dsp:txXfrm>
        <a:off x="5512354" y="2878455"/>
        <a:ext cx="4288537" cy="865000"/>
      </dsp:txXfrm>
    </dsp:sp>
    <dsp:sp modelId="{DBD2E773-8218-4D60-99C3-34D9F3725D9C}">
      <dsp:nvSpPr>
        <dsp:cNvPr id="0" name=""/>
        <dsp:cNvSpPr/>
      </dsp:nvSpPr>
      <dsp:spPr>
        <a:xfrm>
          <a:off x="5465559" y="3910074"/>
          <a:ext cx="4382127" cy="958590"/>
        </a:xfrm>
        <a:prstGeom prst="roundRect">
          <a:avLst/>
        </a:prstGeom>
        <a:solidFill>
          <a:schemeClr val="accent3">
            <a:lumMod val="75000"/>
            <a:alpha val="90000"/>
          </a:schemeClr>
        </a:solidFill>
        <a:ln w="6350" cap="flat" cmpd="sng" algn="ctr">
          <a:solidFill>
            <a:schemeClr val="accent4">
              <a:hueOff val="7796769"/>
              <a:satOff val="-35976"/>
              <a:lumOff val="1324"/>
              <a:alphaOff val="0"/>
            </a:schemeClr>
          </a:solidFill>
          <a:prstDash val="solid"/>
          <a:miter lim="800000"/>
        </a:ln>
        <a:effectLst/>
        <a:sp3d prstMaterial="matte"/>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ACUTE</a:t>
          </a:r>
          <a:endParaRPr lang="en-US" sz="4000" kern="1200" dirty="0"/>
        </a:p>
      </dsp:txBody>
      <dsp:txXfrm>
        <a:off x="5512354" y="3956869"/>
        <a:ext cx="4288537" cy="865000"/>
      </dsp:txXfrm>
    </dsp:sp>
    <dsp:sp modelId="{C8AF774D-CF5B-47FE-84FC-C4AB8AEA8DAD}">
      <dsp:nvSpPr>
        <dsp:cNvPr id="0" name=""/>
        <dsp:cNvSpPr/>
      </dsp:nvSpPr>
      <dsp:spPr>
        <a:xfrm>
          <a:off x="5465559" y="4988488"/>
          <a:ext cx="4382127" cy="958590"/>
        </a:xfrm>
        <a:prstGeom prst="roundRect">
          <a:avLst/>
        </a:prstGeom>
        <a:solidFill>
          <a:schemeClr val="accent2">
            <a:alpha val="90000"/>
          </a:schemeClr>
        </a:solidFill>
        <a:ln w="6350" cap="flat" cmpd="sng" algn="ctr">
          <a:solidFill>
            <a:schemeClr val="accent4">
              <a:hueOff val="10395692"/>
              <a:satOff val="-47968"/>
              <a:lumOff val="1765"/>
              <a:alphaOff val="0"/>
            </a:schemeClr>
          </a:solidFill>
          <a:prstDash val="solid"/>
          <a:miter lim="800000"/>
        </a:ln>
        <a:effectLst/>
        <a:sp3d prstMaterial="matte"/>
      </dsp:spPr>
      <dsp:style>
        <a:lnRef idx="1">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CHRONIC</a:t>
          </a:r>
          <a:endParaRPr lang="en-US" sz="4000" kern="1200" dirty="0"/>
        </a:p>
      </dsp:txBody>
      <dsp:txXfrm>
        <a:off x="5512354" y="5035283"/>
        <a:ext cx="4288537" cy="865000"/>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AB2D966-047B-4A77-90A2-CEAF6DCF7E5A}"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1492733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AB2D966-047B-4A77-90A2-CEAF6DCF7E5A}"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3513363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AB2D966-047B-4A77-90A2-CEAF6DCF7E5A}"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2780891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AB2D966-047B-4A77-90A2-CEAF6DCF7E5A}"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3800015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AB2D966-047B-4A77-90A2-CEAF6DCF7E5A}" type="datetimeFigureOut">
              <a:rPr lang="en-IN" smtClean="0"/>
              <a:t>03-08-2022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2262900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AB2D966-047B-4A77-90A2-CEAF6DCF7E5A}" type="datetimeFigureOut">
              <a:rPr lang="en-IN" smtClean="0"/>
              <a:t>03-08-2022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1570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B2D966-047B-4A77-90A2-CEAF6DCF7E5A}" type="datetimeFigureOut">
              <a:rPr lang="en-IN" smtClean="0"/>
              <a:t>03-08-2022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251372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B2D966-047B-4A77-90A2-CEAF6DCF7E5A}"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3694971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B2D966-047B-4A77-90A2-CEAF6DCF7E5A}"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47933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AB2D966-047B-4A77-90A2-CEAF6DCF7E5A}"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187504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AB2D966-047B-4A77-90A2-CEAF6DCF7E5A}"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A3DAB4-02D9-4951-9F80-B5B089862E10}" type="slidenum">
              <a:rPr lang="en-IN" smtClean="0"/>
              <a:t>‹#›</a:t>
            </a:fld>
            <a:endParaRPr lang="en-IN"/>
          </a:p>
        </p:txBody>
      </p:sp>
    </p:spTree>
    <p:extLst>
      <p:ext uri="{BB962C8B-B14F-4D97-AF65-F5344CB8AC3E}">
        <p14:creationId xmlns:p14="http://schemas.microsoft.com/office/powerpoint/2010/main" val="65319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B2D966-047B-4A77-90A2-CEAF6DCF7E5A}" type="datetimeFigureOut">
              <a:rPr lang="en-IN" smtClean="0"/>
              <a:t>03-08-2022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A3DAB4-02D9-4951-9F80-B5B089862E10}" type="slidenum">
              <a:rPr lang="en-IN" smtClean="0"/>
              <a:t>‹#›</a:t>
            </a:fld>
            <a:endParaRPr lang="en-IN"/>
          </a:p>
        </p:txBody>
      </p:sp>
    </p:spTree>
    <p:extLst>
      <p:ext uri="{BB962C8B-B14F-4D97-AF65-F5344CB8AC3E}">
        <p14:creationId xmlns:p14="http://schemas.microsoft.com/office/powerpoint/2010/main" val="3061572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webm"/><Relationship Id="rId1" Type="http://schemas.microsoft.com/office/2007/relationships/media" Target="../media/media1.webm"/><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684" y="365125"/>
            <a:ext cx="10515600" cy="1325563"/>
          </a:xfrm>
        </p:spPr>
        <p:txBody>
          <a:bodyPr>
            <a:normAutofit fontScale="90000"/>
          </a:bodyPr>
          <a:lstStyle/>
          <a:p>
            <a:pPr algn="ctr"/>
            <a:r>
              <a:rPr lang="en-US" b="1" dirty="0" smtClean="0">
                <a:latin typeface="Times New Roman" panose="02020603050405020304" pitchFamily="18" charset="0"/>
                <a:cs typeface="Times New Roman" panose="02020603050405020304" pitchFamily="18" charset="0"/>
              </a:rPr>
              <a:t>UNIT-V </a:t>
            </a:r>
            <a:br>
              <a:rPr lang="en-US" b="1"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sz="3600" b="1" dirty="0" smtClean="0">
                <a:latin typeface="Times New Roman" panose="02020603050405020304" pitchFamily="18" charset="0"/>
                <a:cs typeface="Times New Roman" panose="02020603050405020304" pitchFamily="18" charset="0"/>
              </a:rPr>
              <a:t>Preventing </a:t>
            </a:r>
            <a:r>
              <a:rPr lang="en-US" sz="3600" b="1" dirty="0">
                <a:latin typeface="Times New Roman" panose="02020603050405020304" pitchFamily="18" charset="0"/>
                <a:cs typeface="Times New Roman" panose="02020603050405020304" pitchFamily="18" charset="0"/>
              </a:rPr>
              <a:t>and fighting against diseases for good health</a:t>
            </a:r>
          </a:p>
        </p:txBody>
      </p:sp>
      <p:sp>
        <p:nvSpPr>
          <p:cNvPr id="4" name="Rectangle 3"/>
          <p:cNvSpPr/>
          <p:nvPr/>
        </p:nvSpPr>
        <p:spPr>
          <a:xfrm>
            <a:off x="1296473" y="2101077"/>
            <a:ext cx="6096000" cy="2554545"/>
          </a:xfrm>
          <a:prstGeom prst="rect">
            <a:avLst/>
          </a:prstGeom>
        </p:spPr>
        <p:txBody>
          <a:bodyPr>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Occurrence of infections and reasons, </a:t>
            </a:r>
            <a:endParaRPr lang="en-US"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protection </a:t>
            </a:r>
            <a:r>
              <a:rPr lang="en-US" sz="2000" dirty="0">
                <a:latin typeface="Times New Roman" panose="02020603050405020304" pitchFamily="18" charset="0"/>
                <a:cs typeface="Times New Roman" panose="02020603050405020304" pitchFamily="18" charset="0"/>
              </a:rPr>
              <a:t>from different types of transmitted </a:t>
            </a:r>
            <a:r>
              <a:rPr lang="en-US" sz="2000" dirty="0" smtClean="0">
                <a:latin typeface="Times New Roman" panose="02020603050405020304" pitchFamily="18" charset="0"/>
                <a:cs typeface="Times New Roman" panose="02020603050405020304" pitchFamily="18" charset="0"/>
              </a:rPr>
              <a:t>infections,</a:t>
            </a: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Current </a:t>
            </a:r>
            <a:r>
              <a:rPr lang="en-US" sz="2000" dirty="0">
                <a:latin typeface="Times New Roman" panose="02020603050405020304" pitchFamily="18" charset="0"/>
                <a:cs typeface="Times New Roman" panose="02020603050405020304" pitchFamily="18" charset="0"/>
              </a:rPr>
              <a:t>trends of socioeconomic impact, </a:t>
            </a:r>
            <a:endParaRPr lang="en-US"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Reducing </a:t>
            </a:r>
            <a:r>
              <a:rPr lang="en-US" sz="2000" dirty="0">
                <a:latin typeface="Times New Roman" panose="02020603050405020304" pitchFamily="18" charset="0"/>
                <a:cs typeface="Times New Roman" panose="02020603050405020304" pitchFamily="18" charset="0"/>
              </a:rPr>
              <a:t>risks and coping with chronic conditions, Management of chronic illness for Quality of life, </a:t>
            </a:r>
            <a:endParaRPr lang="en-US"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Health </a:t>
            </a:r>
            <a:r>
              <a:rPr lang="en-US" sz="2000" dirty="0">
                <a:latin typeface="Times New Roman" panose="02020603050405020304" pitchFamily="18" charset="0"/>
                <a:cs typeface="Times New Roman" panose="02020603050405020304" pitchFamily="18" charset="0"/>
              </a:rPr>
              <a:t>and Wellness of youth, </a:t>
            </a:r>
            <a:endParaRPr lang="en-US"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Measuring </a:t>
            </a:r>
            <a:r>
              <a:rPr lang="en-US" sz="2000" dirty="0">
                <a:latin typeface="Times New Roman" panose="02020603050405020304" pitchFamily="18" charset="0"/>
                <a:cs typeface="Times New Roman" panose="02020603050405020304" pitchFamily="18" charset="0"/>
              </a:rPr>
              <a:t>of health and wealth status.</a:t>
            </a:r>
          </a:p>
        </p:txBody>
      </p:sp>
    </p:spTree>
    <p:extLst>
      <p:ext uri="{BB962C8B-B14F-4D97-AF65-F5344CB8AC3E}">
        <p14:creationId xmlns:p14="http://schemas.microsoft.com/office/powerpoint/2010/main" val="27091071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5000" b="-19000"/>
          </a:stretch>
        </a:blipFill>
        <a:effectLst/>
      </p:bgPr>
    </p:bg>
    <p:spTree>
      <p:nvGrpSpPr>
        <p:cNvPr id="1" name=""/>
        <p:cNvGrpSpPr/>
        <p:nvPr/>
      </p:nvGrpSpPr>
      <p:grpSpPr>
        <a:xfrm>
          <a:off x="0" y="0"/>
          <a:ext cx="0" cy="0"/>
          <a:chOff x="0" y="0"/>
          <a:chExt cx="0" cy="0"/>
        </a:xfrm>
      </p:grpSpPr>
      <p:sp>
        <p:nvSpPr>
          <p:cNvPr id="4" name="Rectangle 3"/>
          <p:cNvSpPr/>
          <p:nvPr/>
        </p:nvSpPr>
        <p:spPr>
          <a:xfrm>
            <a:off x="167639" y="1138621"/>
            <a:ext cx="11811000" cy="4524315"/>
          </a:xfrm>
          <a:prstGeom prst="rect">
            <a:avLst/>
          </a:prstGeom>
        </p:spPr>
        <p:txBody>
          <a:bodyPr wrap="square">
            <a:spAutoFit/>
          </a:bodyPr>
          <a:lstStyle/>
          <a:p>
            <a:pPr marL="571500" indent="-571500" algn="just">
              <a:buFont typeface="Arial" panose="020B0604020202020204" pitchFamily="34" charset="0"/>
              <a:buChar char="•"/>
            </a:pPr>
            <a:r>
              <a:rPr lang="en-IN" sz="4000" b="0" i="0" dirty="0" smtClean="0">
                <a:solidFill>
                  <a:schemeClr val="accent5">
                    <a:lumMod val="50000"/>
                  </a:schemeClr>
                </a:solidFill>
                <a:effectLst/>
                <a:latin typeface="Times New Roman" panose="02020603050405020304" pitchFamily="18" charset="0"/>
                <a:cs typeface="Times New Roman" panose="02020603050405020304" pitchFamily="18" charset="0"/>
              </a:rPr>
              <a:t>Infection is a result of a </a:t>
            </a:r>
            <a:r>
              <a:rPr lang="en-IN" sz="4000" b="1" i="0" dirty="0" smtClean="0">
                <a:solidFill>
                  <a:schemeClr val="accent5">
                    <a:lumMod val="50000"/>
                  </a:schemeClr>
                </a:solidFill>
                <a:effectLst/>
                <a:latin typeface="Times New Roman" panose="02020603050405020304" pitchFamily="18" charset="0"/>
                <a:cs typeface="Times New Roman" panose="02020603050405020304" pitchFamily="18" charset="0"/>
              </a:rPr>
              <a:t>microorganism</a:t>
            </a:r>
            <a:r>
              <a:rPr lang="en-IN" sz="4000" b="0" i="0" dirty="0" smtClean="0">
                <a:solidFill>
                  <a:schemeClr val="accent5">
                    <a:lumMod val="50000"/>
                  </a:schemeClr>
                </a:solidFill>
                <a:effectLst/>
                <a:latin typeface="Times New Roman" panose="02020603050405020304" pitchFamily="18" charset="0"/>
                <a:cs typeface="Times New Roman" panose="02020603050405020304" pitchFamily="18" charset="0"/>
              </a:rPr>
              <a:t> (also called a </a:t>
            </a:r>
            <a:r>
              <a:rPr lang="en-IN" sz="4000" b="1" i="0" dirty="0" smtClean="0">
                <a:solidFill>
                  <a:schemeClr val="accent5">
                    <a:lumMod val="50000"/>
                  </a:schemeClr>
                </a:solidFill>
                <a:effectLst/>
                <a:latin typeface="Times New Roman" panose="02020603050405020304" pitchFamily="18" charset="0"/>
                <a:cs typeface="Times New Roman" panose="02020603050405020304" pitchFamily="18" charset="0"/>
              </a:rPr>
              <a:t>pathogen</a:t>
            </a:r>
            <a:r>
              <a:rPr lang="en-IN" sz="4000" b="0" i="0" dirty="0" smtClean="0">
                <a:solidFill>
                  <a:schemeClr val="accent5">
                    <a:lumMod val="50000"/>
                  </a:schemeClr>
                </a:solidFill>
                <a:effectLst/>
                <a:latin typeface="Times New Roman" panose="02020603050405020304" pitchFamily="18" charset="0"/>
                <a:cs typeface="Times New Roman" panose="02020603050405020304" pitchFamily="18" charset="0"/>
              </a:rPr>
              <a:t>) entering the body and causing harm. </a:t>
            </a:r>
          </a:p>
          <a:p>
            <a:pPr marL="571500" indent="-571500" algn="just">
              <a:buFont typeface="Arial" panose="020B0604020202020204" pitchFamily="34" charset="0"/>
              <a:buChar char="•"/>
            </a:pPr>
            <a:endParaRPr lang="en-IN" sz="4000" dirty="0">
              <a:solidFill>
                <a:schemeClr val="accent5">
                  <a:lumMod val="50000"/>
                </a:schemeClr>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IN" sz="4000" b="0" i="0" dirty="0" smtClean="0">
                <a:solidFill>
                  <a:schemeClr val="accent5">
                    <a:lumMod val="50000"/>
                  </a:schemeClr>
                </a:solidFill>
                <a:effectLst/>
                <a:latin typeface="Times New Roman" panose="02020603050405020304" pitchFamily="18" charset="0"/>
                <a:cs typeface="Times New Roman" panose="02020603050405020304" pitchFamily="18" charset="0"/>
              </a:rPr>
              <a:t>The organisms that cause infections are many and include things like viruses, bacteria, parasites, fungi</a:t>
            </a:r>
          </a:p>
          <a:p>
            <a:pPr algn="just"/>
            <a:endParaRPr lang="en-IN" sz="4400" b="0" i="0" dirty="0" smtClean="0">
              <a:solidFill>
                <a:schemeClr val="accent5">
                  <a:lumMod val="50000"/>
                </a:schemeClr>
              </a:solidFill>
              <a:effectLst/>
              <a:latin typeface="Matura MT Script Capitals" panose="03020802060602070202" pitchFamily="66" charset="0"/>
            </a:endParaRPr>
          </a:p>
          <a:p>
            <a:pPr algn="ctr"/>
            <a:r>
              <a:rPr lang="en-IN" sz="4400" b="1" dirty="0" smtClean="0">
                <a:solidFill>
                  <a:srgbClr val="FF0000"/>
                </a:solidFill>
                <a:latin typeface="Times New Roman" panose="02020603050405020304" pitchFamily="18" charset="0"/>
                <a:cs typeface="Times New Roman" panose="02020603050405020304" pitchFamily="18" charset="0"/>
              </a:rPr>
              <a:t>An Infection does not always cause illness</a:t>
            </a:r>
            <a:endParaRPr lang="en-IN" sz="4400" b="1" dirty="0">
              <a:solidFill>
                <a:srgbClr val="FF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3499357" y="215291"/>
            <a:ext cx="5147564" cy="923330"/>
          </a:xfrm>
          <a:prstGeom prst="rect">
            <a:avLst/>
          </a:prstGeom>
          <a:noFill/>
        </p:spPr>
        <p:txBody>
          <a:bodyPr wrap="none" lIns="91440" tIns="45720" rIns="91440" bIns="45720">
            <a:spAutoFit/>
          </a:bodyPr>
          <a:lstStyle/>
          <a:p>
            <a:pPr algn="ctr"/>
            <a:r>
              <a:rPr lang="en-US" sz="5400" b="1" dirty="0" smtClean="0">
                <a:ln w="9525">
                  <a:solidFill>
                    <a:schemeClr val="bg1"/>
                  </a:solidFill>
                  <a:prstDash val="solid"/>
                </a:ln>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INFECTION???</a:t>
            </a:r>
            <a:endParaRPr lang="en-US" sz="5400" b="1" cap="none" spc="0" dirty="0">
              <a:ln w="9525">
                <a:solidFill>
                  <a:schemeClr val="bg1"/>
                </a:solidFill>
                <a:prstDash val="solid"/>
              </a:ln>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8473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nfection-5096014-Final-eaf7a90b39fd4eb69b3a1776b721d97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90624" y="167640"/>
            <a:ext cx="9793119" cy="6507480"/>
          </a:xfrm>
          <a:prstGeom prst="rect">
            <a:avLst/>
          </a:prstGeom>
        </p:spPr>
      </p:pic>
    </p:spTree>
    <p:extLst>
      <p:ext uri="{BB962C8B-B14F-4D97-AF65-F5344CB8AC3E}">
        <p14:creationId xmlns:p14="http://schemas.microsoft.com/office/powerpoint/2010/main" val="346881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2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39972" y="109419"/>
            <a:ext cx="7297212" cy="6645551"/>
          </a:xfrm>
          <a:prstGeom prst="rect">
            <a:avLst/>
          </a:prstGeom>
        </p:spPr>
      </p:pic>
      <p:sp>
        <p:nvSpPr>
          <p:cNvPr id="2" name="TextBox 1"/>
          <p:cNvSpPr txBox="1"/>
          <p:nvPr/>
        </p:nvSpPr>
        <p:spPr>
          <a:xfrm>
            <a:off x="0" y="2026920"/>
            <a:ext cx="1847850" cy="2246769"/>
          </a:xfrm>
          <a:prstGeom prst="rect">
            <a:avLst/>
          </a:prstGeom>
          <a:solidFill>
            <a:schemeClr val="accent1">
              <a:lumMod val="20000"/>
              <a:lumOff val="80000"/>
            </a:schemeClr>
          </a:solidFill>
        </p:spPr>
        <p:txBody>
          <a:bodyPr wrap="square" rtlCol="0">
            <a:spAutoFit/>
          </a:bodyPr>
          <a:lstStyle/>
          <a:p>
            <a:pPr algn="ctr"/>
            <a:r>
              <a:rPr lang="en-IN" sz="2800" b="1" dirty="0" smtClean="0">
                <a:latin typeface="Times New Roman" panose="02020603050405020304" pitchFamily="18" charset="0"/>
                <a:cs typeface="Times New Roman" panose="02020603050405020304" pitchFamily="18" charset="0"/>
              </a:rPr>
              <a:t>What Happens when a person is infected</a:t>
            </a:r>
            <a:endParaRPr lang="en-IN" sz="2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9433560" y="365760"/>
            <a:ext cx="2590800" cy="6492240"/>
          </a:xfrm>
          <a:prstGeom prst="rect">
            <a:avLst/>
          </a:prstGeom>
        </p:spPr>
      </p:pic>
    </p:spTree>
    <p:extLst>
      <p:ext uri="{BB962C8B-B14F-4D97-AF65-F5344CB8AC3E}">
        <p14:creationId xmlns:p14="http://schemas.microsoft.com/office/powerpoint/2010/main" val="375785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14400" y="1154591"/>
            <a:ext cx="10180319" cy="5501640"/>
          </a:xfrm>
          <a:prstGeom prst="rect">
            <a:avLst/>
          </a:prstGeom>
        </p:spPr>
      </p:pic>
      <p:sp>
        <p:nvSpPr>
          <p:cNvPr id="2" name="Rectangle 1"/>
          <p:cNvSpPr/>
          <p:nvPr/>
        </p:nvSpPr>
        <p:spPr>
          <a:xfrm>
            <a:off x="914400" y="128230"/>
            <a:ext cx="9315563" cy="923330"/>
          </a:xfrm>
          <a:prstGeom prst="rect">
            <a:avLst/>
          </a:prstGeom>
        </p:spPr>
        <p:txBody>
          <a:bodyPr wrap="none">
            <a:spAutoFit/>
          </a:bodyPr>
          <a:lstStyle/>
          <a:p>
            <a:pPr algn="ctr"/>
            <a:r>
              <a:rPr lang="en-IN" sz="5400" b="1" dirty="0">
                <a:ln w="9525">
                  <a:solidFill>
                    <a:schemeClr val="bg1"/>
                  </a:solidFill>
                  <a:prstDash val="solid"/>
                </a:ln>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WHAT CAUSES INFECTION</a:t>
            </a:r>
          </a:p>
        </p:txBody>
      </p:sp>
    </p:spTree>
    <p:extLst>
      <p:ext uri="{BB962C8B-B14F-4D97-AF65-F5344CB8AC3E}">
        <p14:creationId xmlns:p14="http://schemas.microsoft.com/office/powerpoint/2010/main" val="25803868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nfographic explaining how the immune system fights ger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203" y="438484"/>
            <a:ext cx="11410950" cy="64195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091466" y="438484"/>
            <a:ext cx="8191500" cy="584775"/>
          </a:xfrm>
          <a:prstGeom prst="rect">
            <a:avLst/>
          </a:prstGeom>
          <a:solidFill>
            <a:schemeClr val="accent3">
              <a:lumMod val="20000"/>
              <a:lumOff val="80000"/>
            </a:schemeClr>
          </a:solidFill>
        </p:spPr>
        <p:txBody>
          <a:bodyPr wrap="square" rtlCol="0">
            <a:spAutoFit/>
          </a:bodyPr>
          <a:lstStyle/>
          <a:p>
            <a:pPr algn="just"/>
            <a:r>
              <a:rPr lang="en-IN" sz="3200" b="1" dirty="0">
                <a:ln w="9525">
                  <a:solidFill>
                    <a:schemeClr val="bg1"/>
                  </a:solidFill>
                  <a:prstDash val="solid"/>
                </a:ln>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How does the body react to an infection</a:t>
            </a:r>
            <a:endParaRPr lang="en-IN" sz="3200" b="1" dirty="0">
              <a:ln w="9525">
                <a:solidFill>
                  <a:schemeClr val="bg1"/>
                </a:solidFill>
                <a:prstDash val="solid"/>
              </a:ln>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409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down)">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726731206"/>
              </p:ext>
            </p:extLst>
          </p:nvPr>
        </p:nvGraphicFramePr>
        <p:xfrm>
          <a:off x="124810" y="116265"/>
          <a:ext cx="11942379" cy="6741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1855304" y="318049"/>
            <a:ext cx="8120435" cy="923330"/>
          </a:xfrm>
          <a:prstGeom prst="rect">
            <a:avLst/>
          </a:prstGeom>
          <a:solidFill>
            <a:schemeClr val="accent2">
              <a:lumMod val="60000"/>
              <a:lumOff val="40000"/>
            </a:schemeClr>
          </a:solidFill>
        </p:spPr>
        <p:txBody>
          <a:bodyPr wrap="square" rtlCol="0" anchor="ctr">
            <a:spAutoFit/>
          </a:bodyPr>
          <a:lstStyle/>
          <a:p>
            <a:pPr algn="ctr"/>
            <a:r>
              <a:rPr lang="en-IN" sz="5400" b="1" dirty="0" smtClean="0">
                <a:ln w="9525">
                  <a:solidFill>
                    <a:schemeClr val="bg1"/>
                  </a:solidFill>
                  <a:prstDash val="solid"/>
                </a:ln>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rPr>
              <a:t>TYPES OF INFECTION</a:t>
            </a:r>
            <a:endParaRPr lang="en-IN" sz="5400" b="1" dirty="0">
              <a:ln w="9525">
                <a:solidFill>
                  <a:schemeClr val="bg1"/>
                </a:solidFill>
                <a:prstDash val="solid"/>
              </a:ln>
              <a:effectLst>
                <a:outerShdw blurRad="12700" dist="38100" dir="2700000" algn="tl" rotWithShape="0">
                  <a:schemeClr val="accent5">
                    <a:lumMod val="60000"/>
                    <a:lumOff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78873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04728" y="267063"/>
            <a:ext cx="5087032" cy="6431280"/>
          </a:xfrm>
          <a:prstGeom prst="rect">
            <a:avLst/>
          </a:prstGeom>
        </p:spPr>
      </p:pic>
      <p:pic>
        <p:nvPicPr>
          <p:cNvPr id="8" name="Picture 7"/>
          <p:cNvPicPr>
            <a:picLocks noChangeAspect="1"/>
          </p:cNvPicPr>
          <p:nvPr/>
        </p:nvPicPr>
        <p:blipFill>
          <a:blip r:embed="rId3"/>
          <a:stretch>
            <a:fillRect/>
          </a:stretch>
        </p:blipFill>
        <p:spPr>
          <a:xfrm>
            <a:off x="5191760" y="86006"/>
            <a:ext cx="6384607" cy="3576638"/>
          </a:xfrm>
          <a:prstGeom prst="rect">
            <a:avLst/>
          </a:prstGeom>
        </p:spPr>
      </p:pic>
      <p:pic>
        <p:nvPicPr>
          <p:cNvPr id="1026" name="Picture 2" descr="Tuberculosis Images | Free Vectors, Stock Photos &amp; PS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5518" y="3876198"/>
            <a:ext cx="3966482" cy="26822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neumonia | MedicTest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90827" y="3876198"/>
            <a:ext cx="3234691" cy="2895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4467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74913" y="91105"/>
            <a:ext cx="2670629" cy="369332"/>
          </a:xfrm>
          <a:prstGeom prst="rect">
            <a:avLst/>
          </a:prstGeom>
          <a:solidFill>
            <a:schemeClr val="accent2"/>
          </a:solidFill>
        </p:spPr>
        <p:txBody>
          <a:bodyPr wrap="square" rtlCol="0">
            <a:spAutoFit/>
          </a:bodyPr>
          <a:lstStyle/>
          <a:p>
            <a:r>
              <a:rPr lang="en-IN" dirty="0" smtClean="0">
                <a:latin typeface="Arial Black" panose="020B0A04020102020204" pitchFamily="34" charset="0"/>
              </a:rPr>
              <a:t>LOCAL INFECTION</a:t>
            </a:r>
            <a:endParaRPr lang="en-IN" dirty="0">
              <a:latin typeface="Arial Black" panose="020B0A04020102020204" pitchFamily="34" charset="0"/>
            </a:endParaRPr>
          </a:p>
        </p:txBody>
      </p:sp>
      <p:sp>
        <p:nvSpPr>
          <p:cNvPr id="6" name="TextBox 5"/>
          <p:cNvSpPr txBox="1"/>
          <p:nvPr/>
        </p:nvSpPr>
        <p:spPr>
          <a:xfrm>
            <a:off x="0" y="645103"/>
            <a:ext cx="3802743" cy="5693866"/>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An infection that affects only one body part or </a:t>
            </a:r>
            <a:r>
              <a:rPr lang="en-IN" sz="2000" b="1" dirty="0" smtClean="0">
                <a:latin typeface="Times New Roman" panose="02020603050405020304" pitchFamily="18" charset="0"/>
                <a:cs typeface="Times New Roman" panose="02020603050405020304" pitchFamily="18" charset="0"/>
              </a:rPr>
              <a:t>organ</a:t>
            </a:r>
          </a:p>
          <a:p>
            <a:pPr algn="ctr"/>
            <a:r>
              <a:rPr lang="en-IN" sz="2000" b="1" dirty="0" smtClean="0">
                <a:latin typeface="Times New Roman" panose="02020603050405020304" pitchFamily="18" charset="0"/>
                <a:cs typeface="Times New Roman" panose="02020603050405020304" pitchFamily="18" charset="0"/>
              </a:rPr>
              <a:t>Examples</a:t>
            </a:r>
            <a:endParaRPr lang="en-IN" sz="20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Abscesses </a:t>
            </a:r>
            <a:endParaRPr lang="en-IN" sz="2400" b="1" dirty="0" smtClean="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1" dirty="0">
                <a:solidFill>
                  <a:srgbClr val="FF0000"/>
                </a:solidFill>
                <a:latin typeface="Times New Roman" panose="02020603050405020304" pitchFamily="18" charset="0"/>
                <a:cs typeface="Times New Roman" panose="02020603050405020304" pitchFamily="18" charset="0"/>
              </a:rPr>
              <a:t>An abscess is a painful collection of pus, usually caused by a bacterial infection.</a:t>
            </a:r>
            <a:endParaRPr lang="en-IN" b="1" dirty="0" smtClean="0">
              <a:solidFill>
                <a:srgbClr val="FF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400" b="1" dirty="0" smtClean="0">
                <a:latin typeface="Times New Roman" panose="02020603050405020304" pitchFamily="18" charset="0"/>
                <a:cs typeface="Times New Roman" panose="02020603050405020304" pitchFamily="18" charset="0"/>
              </a:rPr>
              <a:t>Urinary Track Infections</a:t>
            </a:r>
          </a:p>
          <a:p>
            <a:pPr marL="742950" lvl="1" indent="-285750" algn="just">
              <a:buFont typeface="Arial" panose="020B0604020202020204" pitchFamily="34" charset="0"/>
              <a:buChar char="•"/>
            </a:pPr>
            <a:r>
              <a:rPr lang="en-IN" b="1" dirty="0" smtClean="0">
                <a:solidFill>
                  <a:srgbClr val="FF0000"/>
                </a:solidFill>
                <a:latin typeface="Times New Roman" panose="02020603050405020304" pitchFamily="18" charset="0"/>
                <a:cs typeface="Times New Roman" panose="02020603050405020304" pitchFamily="18" charset="0"/>
              </a:rPr>
              <a:t>A</a:t>
            </a:r>
            <a:r>
              <a:rPr lang="en-IN" b="1" dirty="0">
                <a:solidFill>
                  <a:srgbClr val="FF0000"/>
                </a:solidFill>
                <a:latin typeface="Times New Roman" panose="02020603050405020304" pitchFamily="18" charset="0"/>
                <a:cs typeface="Times New Roman" panose="02020603050405020304" pitchFamily="18" charset="0"/>
              </a:rPr>
              <a:t> urinary tract infection (UTI) is an infection in any </a:t>
            </a:r>
            <a:r>
              <a:rPr lang="en-IN" b="1" dirty="0">
                <a:solidFill>
                  <a:srgbClr val="FF0000"/>
                </a:solidFill>
                <a:latin typeface="Arno Pro Smbd" panose="02020702050506020403" pitchFamily="18" charset="0"/>
              </a:rPr>
              <a:t>part of your urinary system — your kidneys, ureters, bladder and urethra</a:t>
            </a:r>
            <a:r>
              <a:rPr lang="en-IN" dirty="0"/>
              <a:t>.</a:t>
            </a:r>
            <a:endParaRPr lang="en-IN" b="1" dirty="0" smtClean="0"/>
          </a:p>
          <a:p>
            <a:pPr marL="285750" indent="-285750" algn="just">
              <a:buFont typeface="Arial" panose="020B0604020202020204" pitchFamily="34" charset="0"/>
              <a:buChar char="•"/>
            </a:pPr>
            <a:endParaRPr lang="en-IN" sz="2000" b="1" dirty="0">
              <a:latin typeface="Adobe Caslon Pro Bold" panose="0205070206050A020403" pitchFamily="18" charset="0"/>
            </a:endParaRPr>
          </a:p>
          <a:p>
            <a:pPr algn="just"/>
            <a:endParaRPr lang="en-IN" sz="2000" dirty="0">
              <a:latin typeface="Adobe Caslon Pro Bold" panose="0205070206050A020403" pitchFamily="18" charset="0"/>
            </a:endParaRPr>
          </a:p>
        </p:txBody>
      </p:sp>
      <p:sp>
        <p:nvSpPr>
          <p:cNvPr id="7" name="Rectangle 6"/>
          <p:cNvSpPr/>
          <p:nvPr/>
        </p:nvSpPr>
        <p:spPr>
          <a:xfrm>
            <a:off x="4223654" y="491920"/>
            <a:ext cx="3744692" cy="3662541"/>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An acute viral infection is characterized by sudden or rapid onset of disease, which can be resolved quickly by robust innate immune responses exerted by the host or, instead, may kill the host</a:t>
            </a:r>
            <a:r>
              <a:rPr lang="en-IN" sz="2000" b="1" dirty="0">
                <a:latin typeface="Times New Roman" panose="02020603050405020304" pitchFamily="18" charset="0"/>
                <a:cs typeface="Times New Roman" panose="02020603050405020304" pitchFamily="18" charset="0"/>
              </a:rPr>
              <a:t>.</a:t>
            </a:r>
          </a:p>
          <a:p>
            <a:pPr algn="ctr"/>
            <a:r>
              <a:rPr lang="en-IN" sz="2000" b="1" dirty="0">
                <a:latin typeface="Times New Roman" panose="02020603050405020304" pitchFamily="18" charset="0"/>
                <a:cs typeface="Times New Roman" panose="02020603050405020304" pitchFamily="18" charset="0"/>
              </a:rPr>
              <a:t>Examples</a:t>
            </a:r>
          </a:p>
          <a:p>
            <a:pPr marL="261938" indent="-261938">
              <a:buFont typeface="Arial" panose="020B0604020202020204" pitchFamily="34" charset="0"/>
              <a:buChar char="•"/>
            </a:pPr>
            <a:r>
              <a:rPr lang="en-IN" b="1" dirty="0">
                <a:solidFill>
                  <a:srgbClr val="FF0000"/>
                </a:solidFill>
                <a:latin typeface="Times New Roman" panose="02020603050405020304" pitchFamily="18" charset="0"/>
                <a:cs typeface="Times New Roman" panose="02020603050405020304" pitchFamily="18" charset="0"/>
              </a:rPr>
              <a:t>cold or flu</a:t>
            </a:r>
          </a:p>
          <a:p>
            <a:pPr marL="261938" indent="-261938">
              <a:buFont typeface="Arial" panose="020B0604020202020204" pitchFamily="34" charset="0"/>
              <a:buChar char="•"/>
            </a:pPr>
            <a:r>
              <a:rPr lang="en-IN" b="1" dirty="0">
                <a:solidFill>
                  <a:srgbClr val="FF0000"/>
                </a:solidFill>
                <a:latin typeface="Times New Roman" panose="02020603050405020304" pitchFamily="18" charset="0"/>
                <a:cs typeface="Times New Roman" panose="02020603050405020304" pitchFamily="18" charset="0"/>
              </a:rPr>
              <a:t>Acute </a:t>
            </a:r>
            <a:r>
              <a:rPr lang="en-IN" b="1" dirty="0">
                <a:solidFill>
                  <a:srgbClr val="FF0000"/>
                </a:solidFill>
                <a:latin typeface="Times New Roman" panose="02020603050405020304" pitchFamily="18" charset="0"/>
                <a:cs typeface="Times New Roman" panose="02020603050405020304" pitchFamily="18" charset="0"/>
              </a:rPr>
              <a:t>appendicitis</a:t>
            </a:r>
          </a:p>
          <a:p>
            <a:pPr marL="261938" indent="-261938">
              <a:buFont typeface="Arial" panose="020B0604020202020204" pitchFamily="34" charset="0"/>
              <a:buChar char="•"/>
            </a:pPr>
            <a:r>
              <a:rPr lang="en-IN" b="1" dirty="0">
                <a:solidFill>
                  <a:srgbClr val="FF0000"/>
                </a:solidFill>
                <a:latin typeface="Times New Roman" panose="02020603050405020304" pitchFamily="18" charset="0"/>
                <a:cs typeface="Times New Roman" panose="02020603050405020304" pitchFamily="18" charset="0"/>
              </a:rPr>
              <a:t>A</a:t>
            </a:r>
            <a:r>
              <a:rPr lang="en-IN" b="1" dirty="0">
                <a:solidFill>
                  <a:srgbClr val="FF0000"/>
                </a:solidFill>
                <a:latin typeface="Times New Roman" panose="02020603050405020304" pitchFamily="18" charset="0"/>
                <a:cs typeface="Times New Roman" panose="02020603050405020304" pitchFamily="18" charset="0"/>
              </a:rPr>
              <a:t>cute </a:t>
            </a:r>
            <a:r>
              <a:rPr lang="en-IN" b="1" dirty="0">
                <a:solidFill>
                  <a:srgbClr val="FF0000"/>
                </a:solidFill>
                <a:latin typeface="Times New Roman" panose="02020603050405020304" pitchFamily="18" charset="0"/>
                <a:cs typeface="Times New Roman" panose="02020603050405020304" pitchFamily="18" charset="0"/>
              </a:rPr>
              <a:t>respiratory tract infection,. Etc.,</a:t>
            </a:r>
          </a:p>
        </p:txBody>
      </p:sp>
      <p:sp>
        <p:nvSpPr>
          <p:cNvPr id="8" name="TextBox 7"/>
          <p:cNvSpPr txBox="1"/>
          <p:nvPr/>
        </p:nvSpPr>
        <p:spPr>
          <a:xfrm>
            <a:off x="5065483" y="91105"/>
            <a:ext cx="2670629" cy="369332"/>
          </a:xfrm>
          <a:prstGeom prst="rect">
            <a:avLst/>
          </a:prstGeom>
          <a:solidFill>
            <a:schemeClr val="accent2"/>
          </a:solidFill>
        </p:spPr>
        <p:txBody>
          <a:bodyPr wrap="square" rtlCol="0">
            <a:spAutoFit/>
          </a:bodyPr>
          <a:lstStyle/>
          <a:p>
            <a:r>
              <a:rPr lang="en-IN" dirty="0" smtClean="0">
                <a:latin typeface="Arial Black" panose="020B0A04020102020204" pitchFamily="34" charset="0"/>
              </a:rPr>
              <a:t>ACUTE INFECTION</a:t>
            </a:r>
            <a:endParaRPr lang="en-IN" dirty="0">
              <a:latin typeface="Arial Black" panose="020B0A04020102020204" pitchFamily="34" charset="0"/>
            </a:endParaRPr>
          </a:p>
        </p:txBody>
      </p:sp>
      <p:pic>
        <p:nvPicPr>
          <p:cNvPr id="2050" name="Picture 2" descr="Acute Viral Infections: Symptoms &amp; Treatment - Video &amp; Lesson Transcript |  Study.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3655" y="4565924"/>
            <a:ext cx="3744691" cy="205057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bscess: Causes, Symptoms, Treatments &amp; Complica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629" y="4565925"/>
            <a:ext cx="3889828" cy="205057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8998853" y="112094"/>
            <a:ext cx="2946403" cy="369332"/>
          </a:xfrm>
          <a:prstGeom prst="rect">
            <a:avLst/>
          </a:prstGeom>
          <a:solidFill>
            <a:schemeClr val="accent2"/>
          </a:solidFill>
        </p:spPr>
        <p:txBody>
          <a:bodyPr wrap="square" rtlCol="0">
            <a:spAutoFit/>
          </a:bodyPr>
          <a:lstStyle/>
          <a:p>
            <a:r>
              <a:rPr lang="en-IN" dirty="0" smtClean="0">
                <a:latin typeface="Arial Black" panose="020B0A04020102020204" pitchFamily="34" charset="0"/>
              </a:rPr>
              <a:t>CHRONIC INFECTION</a:t>
            </a:r>
            <a:endParaRPr lang="en-IN" dirty="0">
              <a:latin typeface="Arial Black" panose="020B0A04020102020204" pitchFamily="34" charset="0"/>
            </a:endParaRPr>
          </a:p>
        </p:txBody>
      </p:sp>
      <p:sp>
        <p:nvSpPr>
          <p:cNvPr id="9" name="Rectangle 8"/>
          <p:cNvSpPr/>
          <p:nvPr/>
        </p:nvSpPr>
        <p:spPr>
          <a:xfrm>
            <a:off x="8273144" y="512909"/>
            <a:ext cx="3802742" cy="2492990"/>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They usually develop form acute infections and can last for days to months to a life time.</a:t>
            </a:r>
          </a:p>
          <a:p>
            <a:pPr algn="just"/>
            <a:r>
              <a:rPr lang="en-IN" sz="2000" b="1" dirty="0">
                <a:latin typeface="Times New Roman" panose="02020603050405020304" pitchFamily="18" charset="0"/>
                <a:cs typeface="Times New Roman" panose="02020603050405020304" pitchFamily="18" charset="0"/>
              </a:rPr>
              <a:t>Recovery from this infection is </a:t>
            </a:r>
            <a:r>
              <a:rPr lang="en-IN" sz="2000" b="1" dirty="0">
                <a:solidFill>
                  <a:srgbClr val="FF0000"/>
                </a:solidFill>
                <a:latin typeface="Times New Roman" panose="02020603050405020304" pitchFamily="18" charset="0"/>
                <a:cs typeface="Times New Roman" panose="02020603050405020304" pitchFamily="18" charset="0"/>
              </a:rPr>
              <a:t>RARE</a:t>
            </a:r>
          </a:p>
          <a:p>
            <a:pPr algn="ctr"/>
            <a:r>
              <a:rPr lang="en-IN" sz="2000" b="1" dirty="0">
                <a:latin typeface="Times New Roman" panose="02020603050405020304" pitchFamily="18" charset="0"/>
                <a:cs typeface="Times New Roman" panose="02020603050405020304" pitchFamily="18" charset="0"/>
              </a:rPr>
              <a:t>Examples</a:t>
            </a:r>
          </a:p>
          <a:p>
            <a:pPr marL="261938" indent="-261938">
              <a:buFont typeface="Arial" panose="020B0604020202020204" pitchFamily="34" charset="0"/>
              <a:buChar char="•"/>
            </a:pPr>
            <a:r>
              <a:rPr lang="en-IN" b="1" dirty="0">
                <a:solidFill>
                  <a:srgbClr val="FF0000"/>
                </a:solidFill>
                <a:latin typeface="Times New Roman" panose="02020603050405020304" pitchFamily="18" charset="0"/>
                <a:cs typeface="Times New Roman" panose="02020603050405020304" pitchFamily="18" charset="0"/>
              </a:rPr>
              <a:t>Hepatitis C</a:t>
            </a:r>
          </a:p>
          <a:p>
            <a:pPr marL="261938" indent="-261938">
              <a:buFont typeface="Arial" panose="020B0604020202020204" pitchFamily="34" charset="0"/>
              <a:buChar char="•"/>
            </a:pPr>
            <a:r>
              <a:rPr lang="en-IN" b="1" dirty="0">
                <a:solidFill>
                  <a:srgbClr val="FF0000"/>
                </a:solidFill>
                <a:latin typeface="Times New Roman" panose="02020603050405020304" pitchFamily="18" charset="0"/>
                <a:cs typeface="Times New Roman" panose="02020603050405020304" pitchFamily="18" charset="0"/>
              </a:rPr>
              <a:t>Asthma., etc.,</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4"/>
          <a:stretch>
            <a:fillRect/>
          </a:stretch>
        </p:blipFill>
        <p:spPr>
          <a:xfrm>
            <a:off x="8171544" y="3701144"/>
            <a:ext cx="3907064" cy="3048000"/>
          </a:xfrm>
          <a:prstGeom prst="rect">
            <a:avLst/>
          </a:prstGeom>
        </p:spPr>
      </p:pic>
    </p:spTree>
    <p:extLst>
      <p:ext uri="{BB962C8B-B14F-4D97-AF65-F5344CB8AC3E}">
        <p14:creationId xmlns:p14="http://schemas.microsoft.com/office/powerpoint/2010/main" val="16678881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5802" y="295766"/>
            <a:ext cx="11207570" cy="6336854"/>
          </a:xfrm>
          <a:prstGeom prst="rect">
            <a:avLst/>
          </a:prstGeom>
        </p:spPr>
      </p:pic>
    </p:spTree>
    <p:extLst>
      <p:ext uri="{BB962C8B-B14F-4D97-AF65-F5344CB8AC3E}">
        <p14:creationId xmlns:p14="http://schemas.microsoft.com/office/powerpoint/2010/main" val="20382704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iagram showing the chain of infection for ger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 y="152400"/>
            <a:ext cx="10941301" cy="6540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5484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 thumbnail g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 y="0"/>
            <a:ext cx="11049000" cy="6858000"/>
          </a:xfrm>
          <a:prstGeom prst="rect">
            <a:avLst/>
          </a:prstGeom>
          <a:solidFill>
            <a:schemeClr val="accent1">
              <a:lumMod val="20000"/>
              <a:lumOff val="80000"/>
            </a:schemeClr>
          </a:solidFill>
        </p:spPr>
      </p:pic>
      <p:sp>
        <p:nvSpPr>
          <p:cNvPr id="4" name="Rectangle 3"/>
          <p:cNvSpPr/>
          <p:nvPr/>
        </p:nvSpPr>
        <p:spPr>
          <a:xfrm>
            <a:off x="3830470" y="3198167"/>
            <a:ext cx="4729180" cy="461665"/>
          </a:xfrm>
          <a:prstGeom prst="rect">
            <a:avLst/>
          </a:prstGeom>
          <a:solidFill>
            <a:schemeClr val="accent1">
              <a:lumMod val="20000"/>
              <a:lumOff val="80000"/>
            </a:schemeClr>
          </a:solidFill>
        </p:spPr>
        <p:txBody>
          <a:bodyPr wrap="square">
            <a:spAutoFit/>
          </a:bodyPr>
          <a:lstStyle/>
          <a:p>
            <a:r>
              <a:rPr lang="en-IN" sz="2400" b="1" dirty="0">
                <a:solidFill>
                  <a:srgbClr val="505050"/>
                </a:solidFill>
                <a:latin typeface="Helvetica" panose="020B0604020202020204" pitchFamily="34" charset="0"/>
              </a:rPr>
              <a:t>Breaking the Chain of Infection</a:t>
            </a:r>
            <a:endParaRPr lang="en-IN" sz="2400" dirty="0"/>
          </a:p>
        </p:txBody>
      </p:sp>
    </p:spTree>
    <p:extLst>
      <p:ext uri="{BB962C8B-B14F-4D97-AF65-F5344CB8AC3E}">
        <p14:creationId xmlns:p14="http://schemas.microsoft.com/office/powerpoint/2010/main" val="23424866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3087" y="180438"/>
            <a:ext cx="9644862" cy="6578577"/>
          </a:xfrm>
          <a:prstGeom prst="rect">
            <a:avLst/>
          </a:prstGeom>
        </p:spPr>
      </p:pic>
    </p:spTree>
    <p:extLst>
      <p:ext uri="{BB962C8B-B14F-4D97-AF65-F5344CB8AC3E}">
        <p14:creationId xmlns:p14="http://schemas.microsoft.com/office/powerpoint/2010/main" val="37895769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8000" y="257353"/>
            <a:ext cx="11451771" cy="5262979"/>
          </a:xfrm>
          <a:prstGeom prst="rect">
            <a:avLst/>
          </a:prstGeom>
        </p:spPr>
        <p:txBody>
          <a:bodyPr wrap="square">
            <a:spAutoFit/>
          </a:bodyPr>
          <a:lstStyle/>
          <a:p>
            <a:pPr algn="just"/>
            <a:r>
              <a:rPr lang="en-IN" sz="2800" b="1" dirty="0">
                <a:solidFill>
                  <a:srgbClr val="202124"/>
                </a:solidFill>
                <a:latin typeface="Times New Roman" panose="02020603050405020304" pitchFamily="18" charset="0"/>
                <a:cs typeface="Times New Roman" panose="02020603050405020304" pitchFamily="18" charset="0"/>
              </a:rPr>
              <a:t>You can prevent many infections and avoid spreading infections through simple tactics such as these</a:t>
            </a:r>
            <a:r>
              <a:rPr lang="en-IN" sz="2800" b="1" dirty="0" smtClean="0">
                <a:solidFill>
                  <a:srgbClr val="202124"/>
                </a:solidFill>
                <a:latin typeface="Times New Roman" panose="02020603050405020304" pitchFamily="18" charset="0"/>
                <a:cs typeface="Times New Roman" panose="02020603050405020304" pitchFamily="18" charset="0"/>
              </a:rPr>
              <a:t>:</a:t>
            </a:r>
          </a:p>
          <a:p>
            <a:pPr algn="just"/>
            <a:endParaRPr lang="en-IN" sz="2800" dirty="0">
              <a:solidFill>
                <a:srgbClr val="202124"/>
              </a:solidFill>
              <a:latin typeface="Times New Roman" panose="02020603050405020304" pitchFamily="18" charset="0"/>
              <a:cs typeface="Times New Roman" panose="02020603050405020304" pitchFamily="18" charset="0"/>
            </a:endParaRPr>
          </a:p>
          <a:p>
            <a:pPr lvl="2" algn="just">
              <a:lnSpc>
                <a:spcPct val="150000"/>
              </a:lnSpc>
              <a:buFont typeface="Arial" panose="020B0604020202020204" pitchFamily="34" charset="0"/>
              <a:buChar char="•"/>
            </a:pPr>
            <a:r>
              <a:rPr lang="en-IN" sz="2800" dirty="0">
                <a:solidFill>
                  <a:srgbClr val="FF0000"/>
                </a:solidFill>
                <a:latin typeface="Times New Roman" panose="02020603050405020304" pitchFamily="18" charset="0"/>
                <a:cs typeface="Times New Roman" panose="02020603050405020304" pitchFamily="18" charset="0"/>
              </a:rPr>
              <a:t>Avoid close contact with people who are sick.</a:t>
            </a:r>
          </a:p>
          <a:p>
            <a:pPr lvl="2" algn="just">
              <a:lnSpc>
                <a:spcPct val="150000"/>
              </a:lnSpc>
              <a:buFont typeface="Arial" panose="020B0604020202020204" pitchFamily="34" charset="0"/>
              <a:buChar char="•"/>
            </a:pPr>
            <a:r>
              <a:rPr lang="en-IN" sz="2800" dirty="0">
                <a:solidFill>
                  <a:srgbClr val="FF0000"/>
                </a:solidFill>
                <a:latin typeface="Times New Roman" panose="02020603050405020304" pitchFamily="18" charset="0"/>
                <a:cs typeface="Times New Roman" panose="02020603050405020304" pitchFamily="18" charset="0"/>
              </a:rPr>
              <a:t>Cover coughs and sneezes.</a:t>
            </a:r>
          </a:p>
          <a:p>
            <a:pPr lvl="2" algn="just">
              <a:lnSpc>
                <a:spcPct val="150000"/>
              </a:lnSpc>
              <a:buFont typeface="Arial" panose="020B0604020202020204" pitchFamily="34" charset="0"/>
              <a:buChar char="•"/>
            </a:pPr>
            <a:r>
              <a:rPr lang="en-IN" sz="2800" dirty="0">
                <a:solidFill>
                  <a:srgbClr val="FF0000"/>
                </a:solidFill>
                <a:latin typeface="Times New Roman" panose="02020603050405020304" pitchFamily="18" charset="0"/>
                <a:cs typeface="Times New Roman" panose="02020603050405020304" pitchFamily="18" charset="0"/>
              </a:rPr>
              <a:t>Avoid touching your face.</a:t>
            </a:r>
          </a:p>
          <a:p>
            <a:pPr lvl="2" algn="just">
              <a:lnSpc>
                <a:spcPct val="150000"/>
              </a:lnSpc>
              <a:buFont typeface="Arial" panose="020B0604020202020204" pitchFamily="34" charset="0"/>
              <a:buChar char="•"/>
            </a:pPr>
            <a:r>
              <a:rPr lang="en-IN" sz="2800" dirty="0">
                <a:solidFill>
                  <a:srgbClr val="FF0000"/>
                </a:solidFill>
                <a:latin typeface="Times New Roman" panose="02020603050405020304" pitchFamily="18" charset="0"/>
                <a:cs typeface="Times New Roman" panose="02020603050405020304" pitchFamily="18" charset="0"/>
              </a:rPr>
              <a:t>Stay home if you're sick.</a:t>
            </a:r>
          </a:p>
          <a:p>
            <a:pPr lvl="2" algn="just">
              <a:lnSpc>
                <a:spcPct val="150000"/>
              </a:lnSpc>
              <a:buFont typeface="Arial" panose="020B0604020202020204" pitchFamily="34" charset="0"/>
              <a:buChar char="•"/>
            </a:pPr>
            <a:r>
              <a:rPr lang="en-IN" sz="2800" dirty="0">
                <a:solidFill>
                  <a:srgbClr val="FF0000"/>
                </a:solidFill>
                <a:latin typeface="Times New Roman" panose="02020603050405020304" pitchFamily="18" charset="0"/>
                <a:cs typeface="Times New Roman" panose="02020603050405020304" pitchFamily="18" charset="0"/>
              </a:rPr>
              <a:t>Clean and disinfect surfaces that are touched often.</a:t>
            </a:r>
          </a:p>
          <a:p>
            <a:pPr lvl="2" algn="just">
              <a:lnSpc>
                <a:spcPct val="150000"/>
              </a:lnSpc>
              <a:buFont typeface="Arial" panose="020B0604020202020204" pitchFamily="34" charset="0"/>
              <a:buChar char="•"/>
            </a:pPr>
            <a:r>
              <a:rPr lang="en-IN" sz="2800" dirty="0">
                <a:solidFill>
                  <a:srgbClr val="FF0000"/>
                </a:solidFill>
                <a:latin typeface="Times New Roman" panose="02020603050405020304" pitchFamily="18" charset="0"/>
                <a:cs typeface="Times New Roman" panose="02020603050405020304" pitchFamily="18" charset="0"/>
              </a:rPr>
              <a:t>Avoid contaminated food and water.</a:t>
            </a:r>
            <a:endParaRPr lang="en-IN" sz="2800" b="0"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64580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442" y="0"/>
            <a:ext cx="10944726" cy="1325563"/>
          </a:xfrm>
        </p:spPr>
        <p:txBody>
          <a:bodyPr>
            <a:normAutofit/>
          </a:bodyPr>
          <a:lstStyle/>
          <a:p>
            <a:r>
              <a:rPr lang="en-US" sz="3200" b="1" dirty="0" smtClean="0">
                <a:latin typeface="Times New Roman" panose="02020603050405020304" pitchFamily="18" charset="0"/>
                <a:cs typeface="Times New Roman" panose="02020603050405020304" pitchFamily="18" charset="0"/>
              </a:rPr>
              <a:t>Socioeconomic Impact</a:t>
            </a:r>
            <a:endParaRPr lang="en-US" sz="3200" b="1" dirty="0">
              <a:latin typeface="Times New Roman" panose="02020603050405020304" pitchFamily="18" charset="0"/>
              <a:cs typeface="Times New Roman" panose="02020603050405020304" pitchFamily="18" charset="0"/>
            </a:endParaRPr>
          </a:p>
        </p:txBody>
      </p:sp>
      <p:sp>
        <p:nvSpPr>
          <p:cNvPr id="4" name="Rectangle 3"/>
          <p:cNvSpPr/>
          <p:nvPr/>
        </p:nvSpPr>
        <p:spPr>
          <a:xfrm>
            <a:off x="449179" y="1102440"/>
            <a:ext cx="11281610" cy="2585323"/>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Socioeconomic impact assessment is a methodical procedure in which pros and cons for a whole community or various processes are shown and studied</a:t>
            </a:r>
            <a:r>
              <a:rPr lang="en-US"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Basically in this technique socioeconomic cost is evaluated against the socioeconomic benefit. The method is used to evaluate the economic and social impacts associated with product and processes. </a:t>
            </a:r>
            <a:r>
              <a:rPr lang="en-US" dirty="0">
                <a:latin typeface="Times New Roman" panose="02020603050405020304" pitchFamily="18" charset="0"/>
                <a:cs typeface="Times New Roman" panose="02020603050405020304" pitchFamily="18" charset="0"/>
              </a:rPr>
              <a:t>Moreover, it tries to consider all types of social, economic, and environmental impacts and consequences for all users in a community or </a:t>
            </a:r>
            <a:r>
              <a:rPr lang="en-US" dirty="0" smtClean="0">
                <a:latin typeface="Times New Roman" panose="02020603050405020304" pitchFamily="18" charset="0"/>
                <a:cs typeface="Times New Roman" panose="02020603050405020304" pitchFamily="18" charset="0"/>
              </a:rPr>
              <a:t>society.</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main aspect of socioeconomic impact assessment is that all identified impacts are expressed in economic terms. Therefore, this method may differ from other methods in the essence of scientific and technical prospect. </a:t>
            </a:r>
          </a:p>
        </p:txBody>
      </p:sp>
      <p:sp>
        <p:nvSpPr>
          <p:cNvPr id="5" name="Rectangle 4"/>
          <p:cNvSpPr/>
          <p:nvPr/>
        </p:nvSpPr>
        <p:spPr>
          <a:xfrm>
            <a:off x="581526" y="3774540"/>
            <a:ext cx="11149263" cy="2031325"/>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Increases in educational attainment and income or decreases in hunger and the incidence of disease are examples of “impact.” Socio-economic “impact” can be positive or negative, intended or unintended, temporary or sustainable over time</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t>Definition: </a:t>
            </a:r>
            <a:r>
              <a:rPr lang="en-US" b="1" dirty="0"/>
              <a:t>quantitative evaluation of the utility of projects and public policies, i.e. their creation of collective value net of costs</a:t>
            </a:r>
            <a:r>
              <a:rPr lang="en-US" dirty="0"/>
              <a:t>. This method allows all social, environmental, economic and financial impacts of a project or public policy to be measured in a monetary unit.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9982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1AEE84BC-C0CB-8F4D-D598-94A1ACE2E21A}"/>
              </a:ext>
            </a:extLst>
          </p:cNvPr>
          <p:cNvSpPr txBox="1">
            <a:spLocks/>
          </p:cNvSpPr>
          <p:nvPr/>
        </p:nvSpPr>
        <p:spPr>
          <a:xfrm>
            <a:off x="609776" y="991485"/>
            <a:ext cx="11419092" cy="4172943"/>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gn="just"/>
            <a:r>
              <a:rPr lang="en-US" sz="3000" b="1" dirty="0" smtClean="0">
                <a:latin typeface="Times New Roman" panose="02020603050405020304" pitchFamily="18" charset="0"/>
                <a:cs typeface="Times New Roman" panose="02020603050405020304" pitchFamily="18" charset="0"/>
              </a:rPr>
              <a:t>A </a:t>
            </a:r>
            <a:r>
              <a:rPr lang="en-US" sz="3000" b="1" dirty="0">
                <a:latin typeface="Times New Roman" panose="02020603050405020304" pitchFamily="18" charset="0"/>
                <a:cs typeface="Times New Roman" panose="02020603050405020304" pitchFamily="18" charset="0"/>
              </a:rPr>
              <a:t>disease or condition that usually lasts for 3 months or longer and may get worse over time. </a:t>
            </a:r>
            <a:r>
              <a:rPr lang="en-US" sz="3000" dirty="0">
                <a:latin typeface="Times New Roman" panose="02020603050405020304" pitchFamily="18" charset="0"/>
                <a:cs typeface="Times New Roman" panose="02020603050405020304" pitchFamily="18" charset="0"/>
              </a:rPr>
              <a:t>Chronic diseases tend to occur in older adults and can usually be controlled but not </a:t>
            </a:r>
            <a:r>
              <a:rPr lang="en-US" sz="3000" dirty="0" smtClean="0">
                <a:latin typeface="Times New Roman" panose="02020603050405020304" pitchFamily="18" charset="0"/>
                <a:cs typeface="Times New Roman" panose="02020603050405020304" pitchFamily="18" charset="0"/>
              </a:rPr>
              <a:t>cured.</a:t>
            </a:r>
          </a:p>
          <a:p>
            <a:pPr algn="just"/>
            <a:r>
              <a:rPr lang="en-US" sz="3000" dirty="0">
                <a:latin typeface="Times New Roman" panose="02020603050405020304" pitchFamily="18" charset="0"/>
                <a:cs typeface="Times New Roman" panose="02020603050405020304" pitchFamily="18" charset="0"/>
              </a:rPr>
              <a:t>Chronic diseases are defined broadly as conditions that last for one year or more and require ongoing medical attention, as well as limit activities of daily living. </a:t>
            </a:r>
            <a:endParaRPr lang="en-US" sz="3000" dirty="0">
              <a:latin typeface="Times New Roman" panose="02020603050405020304" pitchFamily="18" charset="0"/>
              <a:cs typeface="Times New Roman" panose="02020603050405020304" pitchFamily="18" charset="0"/>
            </a:endParaRPr>
          </a:p>
          <a:p>
            <a:pPr algn="just"/>
            <a:r>
              <a:rPr lang="en-US" sz="3000" b="1" dirty="0">
                <a:solidFill>
                  <a:srgbClr val="FF0000"/>
                </a:solidFill>
                <a:latin typeface="Times New Roman" panose="02020603050405020304" pitchFamily="18" charset="0"/>
                <a:cs typeface="Times New Roman" panose="02020603050405020304" pitchFamily="18" charset="0"/>
              </a:rPr>
              <a:t>Example: heart diseases, cancer, diabetes, obesity, asthma</a:t>
            </a:r>
            <a:r>
              <a:rPr lang="en-US" sz="30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 xmlns:a16="http://schemas.microsoft.com/office/drawing/2014/main" id="{6A0575D2-5261-F33D-4E21-BCD50CE64A85}"/>
              </a:ext>
            </a:extLst>
          </p:cNvPr>
          <p:cNvSpPr txBox="1"/>
          <p:nvPr/>
        </p:nvSpPr>
        <p:spPr>
          <a:xfrm>
            <a:off x="410987" y="216179"/>
            <a:ext cx="5421677" cy="584775"/>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r>
              <a:rPr lang="en-US" sz="3200" dirty="0">
                <a:latin typeface="Times New Roman" panose="02020603050405020304" pitchFamily="18" charset="0"/>
                <a:cs typeface="Times New Roman" panose="02020603050405020304" pitchFamily="18" charset="0"/>
              </a:rPr>
              <a:t>What is chronic disease/illness?</a:t>
            </a:r>
          </a:p>
        </p:txBody>
      </p:sp>
      <p:pic>
        <p:nvPicPr>
          <p:cNvPr id="3" name="Picture 2"/>
          <p:cNvPicPr>
            <a:picLocks noChangeAspect="1"/>
          </p:cNvPicPr>
          <p:nvPr/>
        </p:nvPicPr>
        <p:blipFill>
          <a:blip r:embed="rId2"/>
          <a:stretch>
            <a:fillRect/>
          </a:stretch>
        </p:blipFill>
        <p:spPr>
          <a:xfrm>
            <a:off x="1241345" y="4730128"/>
            <a:ext cx="9182638" cy="2127872"/>
          </a:xfrm>
          <a:prstGeom prst="rect">
            <a:avLst/>
          </a:prstGeom>
        </p:spPr>
      </p:pic>
    </p:spTree>
    <p:extLst>
      <p:ext uri="{BB962C8B-B14F-4D97-AF65-F5344CB8AC3E}">
        <p14:creationId xmlns:p14="http://schemas.microsoft.com/office/powerpoint/2010/main" val="27313681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14013ED3-CF4F-9001-D81B-36B1F297A213}"/>
              </a:ext>
            </a:extLst>
          </p:cNvPr>
          <p:cNvSpPr txBox="1">
            <a:spLocks/>
          </p:cNvSpPr>
          <p:nvPr/>
        </p:nvSpPr>
        <p:spPr>
          <a:xfrm>
            <a:off x="627529" y="1483660"/>
            <a:ext cx="11062952" cy="4525963"/>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r>
              <a:rPr lang="en-US" sz="2000" dirty="0">
                <a:latin typeface="Times New Roman" panose="02020603050405020304" pitchFamily="18" charset="0"/>
                <a:cs typeface="Times New Roman" panose="02020603050405020304" pitchFamily="18" charset="0"/>
              </a:rPr>
              <a:t>Based on the latest data from </a:t>
            </a:r>
            <a:r>
              <a:rPr lang="en-US" sz="2000" b="1" dirty="0">
                <a:latin typeface="Times New Roman" panose="02020603050405020304" pitchFamily="18" charset="0"/>
                <a:cs typeface="Times New Roman" panose="02020603050405020304" pitchFamily="18" charset="0"/>
              </a:rPr>
              <a:t>C D C (center for disease control), </a:t>
            </a:r>
            <a:r>
              <a:rPr lang="en-US" sz="2000" dirty="0">
                <a:latin typeface="Times New Roman" panose="02020603050405020304" pitchFamily="18" charset="0"/>
                <a:cs typeface="Times New Roman" panose="02020603050405020304" pitchFamily="18" charset="0"/>
              </a:rPr>
              <a:t>10 most expensive chronic diseases are:</a:t>
            </a:r>
          </a:p>
          <a:p>
            <a:pPr lvl="1"/>
            <a:r>
              <a:rPr lang="en-US" sz="2000" b="1" dirty="0">
                <a:solidFill>
                  <a:srgbClr val="FF0000"/>
                </a:solidFill>
                <a:latin typeface="Times New Roman" panose="02020603050405020304" pitchFamily="18" charset="0"/>
                <a:cs typeface="Times New Roman" panose="02020603050405020304" pitchFamily="18" charset="0"/>
              </a:rPr>
              <a:t>Cardio vascular diseases</a:t>
            </a:r>
          </a:p>
          <a:p>
            <a:pPr lvl="1"/>
            <a:r>
              <a:rPr lang="en-US" sz="2000" b="1" dirty="0">
                <a:solidFill>
                  <a:srgbClr val="FF0000"/>
                </a:solidFill>
                <a:latin typeface="Times New Roman" panose="02020603050405020304" pitchFamily="18" charset="0"/>
                <a:cs typeface="Times New Roman" panose="02020603050405020304" pitchFamily="18" charset="0"/>
              </a:rPr>
              <a:t>Smoking related health issues</a:t>
            </a:r>
          </a:p>
          <a:p>
            <a:pPr lvl="1"/>
            <a:r>
              <a:rPr lang="en-US" sz="2000" b="1" dirty="0">
                <a:solidFill>
                  <a:srgbClr val="FF0000"/>
                </a:solidFill>
                <a:latin typeface="Times New Roman" panose="02020603050405020304" pitchFamily="18" charset="0"/>
                <a:cs typeface="Times New Roman" panose="02020603050405020304" pitchFamily="18" charset="0"/>
              </a:rPr>
              <a:t>Alcohol related health issues</a:t>
            </a:r>
          </a:p>
          <a:p>
            <a:pPr lvl="1"/>
            <a:r>
              <a:rPr lang="en-US" sz="2000" b="1" dirty="0">
                <a:solidFill>
                  <a:srgbClr val="FF0000"/>
                </a:solidFill>
                <a:latin typeface="Times New Roman" panose="02020603050405020304" pitchFamily="18" charset="0"/>
                <a:cs typeface="Times New Roman" panose="02020603050405020304" pitchFamily="18" charset="0"/>
              </a:rPr>
              <a:t>Diabetes </a:t>
            </a:r>
          </a:p>
          <a:p>
            <a:pPr lvl="1"/>
            <a:r>
              <a:rPr lang="en-US" sz="2000" b="1" dirty="0">
                <a:solidFill>
                  <a:srgbClr val="FF0000"/>
                </a:solidFill>
                <a:latin typeface="Times New Roman" panose="02020603050405020304" pitchFamily="18" charset="0"/>
                <a:cs typeface="Times New Roman" panose="02020603050405020304" pitchFamily="18" charset="0"/>
              </a:rPr>
              <a:t>Alzheimer’s disease</a:t>
            </a:r>
          </a:p>
          <a:p>
            <a:pPr lvl="1"/>
            <a:r>
              <a:rPr lang="en-US" sz="2000" b="1" dirty="0">
                <a:solidFill>
                  <a:srgbClr val="FF0000"/>
                </a:solidFill>
                <a:latin typeface="Times New Roman" panose="02020603050405020304" pitchFamily="18" charset="0"/>
                <a:cs typeface="Times New Roman" panose="02020603050405020304" pitchFamily="18" charset="0"/>
              </a:rPr>
              <a:t>Cancer</a:t>
            </a:r>
          </a:p>
          <a:p>
            <a:pPr lvl="1"/>
            <a:r>
              <a:rPr lang="en-US" sz="2000" b="1" dirty="0">
                <a:solidFill>
                  <a:srgbClr val="FF0000"/>
                </a:solidFill>
                <a:latin typeface="Times New Roman" panose="02020603050405020304" pitchFamily="18" charset="0"/>
                <a:cs typeface="Times New Roman" panose="02020603050405020304" pitchFamily="18" charset="0"/>
              </a:rPr>
              <a:t>Obesity</a:t>
            </a:r>
          </a:p>
          <a:p>
            <a:pPr lvl="1"/>
            <a:r>
              <a:rPr lang="en-US" sz="2000" b="1" dirty="0">
                <a:solidFill>
                  <a:srgbClr val="FF0000"/>
                </a:solidFill>
                <a:latin typeface="Times New Roman" panose="02020603050405020304" pitchFamily="18" charset="0"/>
                <a:cs typeface="Times New Roman" panose="02020603050405020304" pitchFamily="18" charset="0"/>
              </a:rPr>
              <a:t>Arthritis </a:t>
            </a:r>
          </a:p>
          <a:p>
            <a:pPr lvl="1"/>
            <a:r>
              <a:rPr lang="en-US" sz="2000" b="1" dirty="0">
                <a:solidFill>
                  <a:srgbClr val="FF0000"/>
                </a:solidFill>
                <a:latin typeface="Times New Roman" panose="02020603050405020304" pitchFamily="18" charset="0"/>
                <a:cs typeface="Times New Roman" panose="02020603050405020304" pitchFamily="18" charset="0"/>
              </a:rPr>
              <a:t>Asthma</a:t>
            </a:r>
          </a:p>
          <a:p>
            <a:pPr lvl="1"/>
            <a:r>
              <a:rPr lang="en-US" sz="2000" b="1" dirty="0">
                <a:solidFill>
                  <a:srgbClr val="FF0000"/>
                </a:solidFill>
                <a:latin typeface="Times New Roman" panose="02020603050405020304" pitchFamily="18" charset="0"/>
                <a:cs typeface="Times New Roman" panose="02020603050405020304" pitchFamily="18" charset="0"/>
              </a:rPr>
              <a:t>Stoke</a:t>
            </a:r>
          </a:p>
          <a:p>
            <a:endParaRPr lang="en-US" sz="2000" dirty="0"/>
          </a:p>
        </p:txBody>
      </p:sp>
      <p:sp>
        <p:nvSpPr>
          <p:cNvPr id="4" name="TextBox 3">
            <a:extLst>
              <a:ext uri="{FF2B5EF4-FFF2-40B4-BE49-F238E27FC236}">
                <a16:creationId xmlns="" xmlns:a16="http://schemas.microsoft.com/office/drawing/2014/main" id="{9EE2A4B4-0968-583D-CC54-81C40AF32D4D}"/>
              </a:ext>
            </a:extLst>
          </p:cNvPr>
          <p:cNvSpPr txBox="1"/>
          <p:nvPr/>
        </p:nvSpPr>
        <p:spPr>
          <a:xfrm>
            <a:off x="360608" y="301530"/>
            <a:ext cx="11423561" cy="1077218"/>
          </a:xfrm>
          <a:prstGeom prst="rect">
            <a:avLst/>
          </a:prstGeom>
          <a:noFill/>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They are also leading drives of the nation’s large scale health care costs.</a:t>
            </a:r>
          </a:p>
        </p:txBody>
      </p:sp>
    </p:spTree>
    <p:extLst>
      <p:ext uri="{BB962C8B-B14F-4D97-AF65-F5344CB8AC3E}">
        <p14:creationId xmlns:p14="http://schemas.microsoft.com/office/powerpoint/2010/main" val="17033981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Top 10 Most Common Chronic Diseases for Older Adult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986" y="423536"/>
            <a:ext cx="9917245" cy="6265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0132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 xmlns:a16="http://schemas.microsoft.com/office/drawing/2014/main" id="{3251D2BF-19FB-419C-2DEE-B28BA2293BB1}"/>
              </a:ext>
            </a:extLst>
          </p:cNvPr>
          <p:cNvSpPr txBox="1">
            <a:spLocks/>
          </p:cNvSpPr>
          <p:nvPr/>
        </p:nvSpPr>
        <p:spPr>
          <a:xfrm>
            <a:off x="575634" y="1211543"/>
            <a:ext cx="5992591" cy="506046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3200" b="1"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Many chronic diseases are caused by a short list of risk behaviors: </a:t>
            </a:r>
            <a:endParaRPr lang="en-US" sz="3200" dirty="0" smtClean="0">
              <a:latin typeface="Times New Roman" panose="02020603050405020304" pitchFamily="18" charset="0"/>
              <a:cs typeface="Times New Roman" panose="02020603050405020304" pitchFamily="18" charset="0"/>
            </a:endParaRPr>
          </a:p>
          <a:p>
            <a:pPr lvl="1" algn="just"/>
            <a:r>
              <a:rPr lang="en-US" b="1" dirty="0" smtClean="0">
                <a:latin typeface="Times New Roman" panose="02020603050405020304" pitchFamily="18" charset="0"/>
                <a:cs typeface="Times New Roman" panose="02020603050405020304" pitchFamily="18" charset="0"/>
              </a:rPr>
              <a:t>Tobacco </a:t>
            </a:r>
            <a:r>
              <a:rPr lang="en-US" b="1" dirty="0">
                <a:latin typeface="Times New Roman" panose="02020603050405020304" pitchFamily="18" charset="0"/>
                <a:cs typeface="Times New Roman" panose="02020603050405020304" pitchFamily="18" charset="0"/>
              </a:rPr>
              <a:t>use and exposure to secondhand smoke.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lvl="1" algn="just"/>
            <a:r>
              <a:rPr lang="en-US" b="1" dirty="0" smtClean="0">
                <a:latin typeface="Times New Roman" panose="02020603050405020304" pitchFamily="18" charset="0"/>
                <a:cs typeface="Times New Roman" panose="02020603050405020304" pitchFamily="18" charset="0"/>
              </a:rPr>
              <a:t>Poor </a:t>
            </a:r>
            <a:r>
              <a:rPr lang="en-US" b="1" dirty="0">
                <a:latin typeface="Times New Roman" panose="02020603050405020304" pitchFamily="18" charset="0"/>
                <a:cs typeface="Times New Roman" panose="02020603050405020304" pitchFamily="18" charset="0"/>
              </a:rPr>
              <a:t>nutrition, including diets low in fruits and vegetables and high in sodium and saturated fats.</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lvl="1" algn="just"/>
            <a:r>
              <a:rPr lang="en-US" b="1" dirty="0" smtClean="0">
                <a:latin typeface="Times New Roman" panose="02020603050405020304" pitchFamily="18" charset="0"/>
                <a:cs typeface="Times New Roman" panose="02020603050405020304" pitchFamily="18" charset="0"/>
              </a:rPr>
              <a:t>Physical </a:t>
            </a:r>
            <a:r>
              <a:rPr lang="en-US" b="1" dirty="0">
                <a:latin typeface="Times New Roman" panose="02020603050405020304" pitchFamily="18" charset="0"/>
                <a:cs typeface="Times New Roman" panose="02020603050405020304" pitchFamily="18" charset="0"/>
              </a:rPr>
              <a:t>inactivity</a:t>
            </a:r>
            <a:r>
              <a:rPr lang="en-US" dirty="0" smtClean="0">
                <a:latin typeface="Times New Roman" panose="02020603050405020304" pitchFamily="18" charset="0"/>
                <a:cs typeface="Times New Roman" panose="02020603050405020304" pitchFamily="18" charset="0"/>
              </a:rPr>
              <a:t>.</a:t>
            </a:r>
          </a:p>
          <a:p>
            <a:pPr lvl="1" algn="just"/>
            <a:r>
              <a:rPr lang="en-US" b="1" dirty="0">
                <a:latin typeface="Times New Roman" panose="02020603050405020304" pitchFamily="18" charset="0"/>
                <a:cs typeface="Times New Roman" panose="02020603050405020304" pitchFamily="18" charset="0"/>
              </a:rPr>
              <a:t>Excessive alcohol use</a:t>
            </a:r>
            <a:r>
              <a:rPr lang="en-US" b="1" dirty="0" smtClean="0">
                <a:latin typeface="Times New Roman" panose="02020603050405020304" pitchFamily="18" charset="0"/>
                <a:cs typeface="Times New Roman" panose="02020603050405020304" pitchFamily="18" charset="0"/>
              </a:rPr>
              <a:t>.</a:t>
            </a:r>
            <a:endParaRPr lang="en-US" b="1" dirty="0" smtClean="0">
              <a:latin typeface="Times New Roman" panose="02020603050405020304" pitchFamily="18" charset="0"/>
              <a:cs typeface="Times New Roman" panose="02020603050405020304" pitchFamily="18" charset="0"/>
            </a:endParaRPr>
          </a:p>
          <a:p>
            <a:pPr lvl="2" algn="just"/>
            <a:r>
              <a:rPr lang="en-US" b="1" dirty="0" smtClean="0">
                <a:solidFill>
                  <a:srgbClr val="FF0000"/>
                </a:solidFill>
                <a:latin typeface="Times New Roman" panose="02020603050405020304" pitchFamily="18" charset="0"/>
                <a:cs typeface="Times New Roman" panose="02020603050405020304" pitchFamily="18" charset="0"/>
              </a:rPr>
              <a:t>They </a:t>
            </a:r>
            <a:r>
              <a:rPr lang="en-US" b="1" dirty="0">
                <a:solidFill>
                  <a:srgbClr val="FF0000"/>
                </a:solidFill>
                <a:latin typeface="Times New Roman" panose="02020603050405020304" pitchFamily="18" charset="0"/>
                <a:cs typeface="Times New Roman" panose="02020603050405020304" pitchFamily="18" charset="0"/>
              </a:rPr>
              <a:t>are caused by a number of different health factors resulting at </a:t>
            </a:r>
            <a:r>
              <a:rPr lang="en-US" b="1" dirty="0" smtClean="0">
                <a:solidFill>
                  <a:srgbClr val="FF0000"/>
                </a:solidFill>
                <a:latin typeface="Times New Roman" panose="02020603050405020304" pitchFamily="18" charset="0"/>
                <a:cs typeface="Times New Roman" panose="02020603050405020304" pitchFamily="18" charset="0"/>
              </a:rPr>
              <a:t>simultaneously</a:t>
            </a:r>
            <a:endParaRPr lang="en-US" b="1" dirty="0">
              <a:solidFill>
                <a:srgbClr val="FF0000"/>
              </a:solidFill>
              <a:latin typeface="Times New Roman" panose="02020603050405020304" pitchFamily="18" charset="0"/>
              <a:cs typeface="Times New Roman" panose="02020603050405020304" pitchFamily="18" charset="0"/>
            </a:endParaRPr>
          </a:p>
          <a:p>
            <a:pPr lvl="2" algn="just"/>
            <a:r>
              <a:rPr lang="en-US" b="1" dirty="0">
                <a:solidFill>
                  <a:srgbClr val="FF0000"/>
                </a:solidFill>
                <a:latin typeface="Times New Roman" panose="02020603050405020304" pitchFamily="18" charset="0"/>
                <a:cs typeface="Times New Roman" panose="02020603050405020304" pitchFamily="18" charset="0"/>
              </a:rPr>
              <a:t>They take some time to </a:t>
            </a:r>
            <a:r>
              <a:rPr lang="en-US" b="1" dirty="0" smtClean="0">
                <a:solidFill>
                  <a:srgbClr val="FF0000"/>
                </a:solidFill>
                <a:latin typeface="Times New Roman" panose="02020603050405020304" pitchFamily="18" charset="0"/>
                <a:cs typeface="Times New Roman" panose="02020603050405020304" pitchFamily="18" charset="0"/>
              </a:rPr>
              <a:t>develop</a:t>
            </a:r>
            <a:endParaRPr lang="en-US" b="1" dirty="0">
              <a:solidFill>
                <a:srgbClr val="FF0000"/>
              </a:solidFill>
              <a:latin typeface="Times New Roman" panose="02020603050405020304" pitchFamily="18" charset="0"/>
              <a:cs typeface="Times New Roman" panose="02020603050405020304" pitchFamily="18" charset="0"/>
            </a:endParaRPr>
          </a:p>
          <a:p>
            <a:pPr lvl="2" algn="just"/>
            <a:r>
              <a:rPr lang="en-US" b="1" dirty="0">
                <a:solidFill>
                  <a:srgbClr val="FF0000"/>
                </a:solidFill>
                <a:latin typeface="Times New Roman" panose="02020603050405020304" pitchFamily="18" charset="0"/>
                <a:cs typeface="Times New Roman" panose="02020603050405020304" pitchFamily="18" charset="0"/>
              </a:rPr>
              <a:t>They last for a long time and often lead to other health problems</a:t>
            </a:r>
          </a:p>
          <a:p>
            <a:pPr lvl="1" algn="just"/>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5E259A43-FFC0-EF94-59E5-E812FAB5B042}"/>
              </a:ext>
            </a:extLst>
          </p:cNvPr>
          <p:cNvSpPr txBox="1"/>
          <p:nvPr/>
        </p:nvSpPr>
        <p:spPr>
          <a:xfrm>
            <a:off x="575634" y="432342"/>
            <a:ext cx="4919937" cy="584775"/>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r>
              <a:rPr lang="en-US" sz="3200" dirty="0">
                <a:latin typeface="Times New Roman" panose="02020603050405020304" pitchFamily="18" charset="0"/>
                <a:cs typeface="Times New Roman" panose="02020603050405020304" pitchFamily="18" charset="0"/>
              </a:rPr>
              <a:t>What causes chronic illness?</a:t>
            </a:r>
          </a:p>
        </p:txBody>
      </p:sp>
      <p:pic>
        <p:nvPicPr>
          <p:cNvPr id="2050" name="Picture 2" descr="Understanding Chronic Diseases and How They Can Be Prevented | Miskawaan  Heal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7622" y="174765"/>
            <a:ext cx="5017853" cy="640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9492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4A9C27D-88FB-5B36-4D3F-30A9C1C2F907}"/>
              </a:ext>
            </a:extLst>
          </p:cNvPr>
          <p:cNvSpPr txBox="1"/>
          <p:nvPr/>
        </p:nvSpPr>
        <p:spPr>
          <a:xfrm>
            <a:off x="923363" y="535373"/>
            <a:ext cx="7754046" cy="584775"/>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r>
              <a:rPr lang="en-US" sz="3200" dirty="0">
                <a:latin typeface="Times New Roman" panose="02020603050405020304" pitchFamily="18" charset="0"/>
                <a:cs typeface="Times New Roman" panose="02020603050405020304" pitchFamily="18" charset="0"/>
              </a:rPr>
              <a:t>S</a:t>
            </a:r>
            <a:r>
              <a:rPr lang="en-US" sz="3200" dirty="0" smtClean="0">
                <a:latin typeface="Times New Roman" panose="02020603050405020304" pitchFamily="18" charset="0"/>
                <a:cs typeface="Times New Roman" panose="02020603050405020304" pitchFamily="18" charset="0"/>
              </a:rPr>
              <a:t>trategies </a:t>
            </a:r>
            <a:r>
              <a:rPr lang="en-US" sz="3200" dirty="0">
                <a:latin typeface="Times New Roman" panose="02020603050405020304" pitchFamily="18" charset="0"/>
                <a:cs typeface="Times New Roman" panose="02020603050405020304" pitchFamily="18" charset="0"/>
              </a:rPr>
              <a:t>for coping with a chronic condition:</a:t>
            </a:r>
          </a:p>
        </p:txBody>
      </p:sp>
      <p:sp>
        <p:nvSpPr>
          <p:cNvPr id="5" name="TextBox 4">
            <a:extLst>
              <a:ext uri="{FF2B5EF4-FFF2-40B4-BE49-F238E27FC236}">
                <a16:creationId xmlns="" xmlns:a16="http://schemas.microsoft.com/office/drawing/2014/main" id="{ECEFAE58-5967-A13A-8987-6EBBE831AB85}"/>
              </a:ext>
            </a:extLst>
          </p:cNvPr>
          <p:cNvSpPr txBox="1"/>
          <p:nvPr/>
        </p:nvSpPr>
        <p:spPr>
          <a:xfrm>
            <a:off x="650411" y="2351134"/>
            <a:ext cx="10418642" cy="4093428"/>
          </a:xfrm>
          <a:prstGeom prst="rect">
            <a:avLst/>
          </a:prstGeom>
          <a:noFill/>
        </p:spPr>
        <p:txBody>
          <a:bodyPr wrap="square">
            <a:spAutoFit/>
          </a:bodyPr>
          <a:lstStyle/>
          <a:p>
            <a:pPr algn="just"/>
            <a:r>
              <a:rPr lang="en-US" sz="2800" b="0" i="0" dirty="0">
                <a:solidFill>
                  <a:srgbClr val="1E1E1E"/>
                </a:solidFill>
                <a:effectLst/>
                <a:latin typeface="Times New Roman" panose="02020603050405020304" pitchFamily="18" charset="0"/>
                <a:cs typeface="Times New Roman" panose="02020603050405020304" pitchFamily="18" charset="0"/>
              </a:rPr>
              <a:t>Remembering to take one pill a day is tough; managing 10 or more is daunting. </a:t>
            </a:r>
            <a:endParaRPr lang="en-US" sz="2800" b="0" i="0" dirty="0" smtClean="0">
              <a:solidFill>
                <a:srgbClr val="1E1E1E"/>
              </a:solidFill>
              <a:effectLst/>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b="0" i="0" dirty="0" smtClean="0">
                <a:solidFill>
                  <a:srgbClr val="1E1E1E"/>
                </a:solidFill>
                <a:effectLst/>
                <a:latin typeface="Times New Roman" panose="02020603050405020304" pitchFamily="18" charset="0"/>
                <a:cs typeface="Times New Roman" panose="02020603050405020304" pitchFamily="18" charset="0"/>
              </a:rPr>
              <a:t>Knowing </a:t>
            </a:r>
            <a:r>
              <a:rPr lang="en-US" sz="2800" b="0" i="0" dirty="0">
                <a:solidFill>
                  <a:srgbClr val="1E1E1E"/>
                </a:solidFill>
                <a:effectLst/>
                <a:latin typeface="Times New Roman" panose="02020603050405020304" pitchFamily="18" charset="0"/>
                <a:cs typeface="Times New Roman" panose="02020603050405020304" pitchFamily="18" charset="0"/>
              </a:rPr>
              <a:t>about the drugs you take </a:t>
            </a:r>
            <a:endParaRPr lang="en-US" sz="2800" b="0" i="0" dirty="0" smtClean="0">
              <a:solidFill>
                <a:srgbClr val="1E1E1E"/>
              </a:solidFill>
              <a:effectLst/>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b="0" i="0" dirty="0" smtClean="0">
                <a:solidFill>
                  <a:srgbClr val="1E1E1E"/>
                </a:solidFill>
                <a:effectLst/>
                <a:latin typeface="Times New Roman" panose="02020603050405020304" pitchFamily="18" charset="0"/>
                <a:cs typeface="Times New Roman" panose="02020603050405020304" pitchFamily="18" charset="0"/>
              </a:rPr>
              <a:t>why </a:t>
            </a:r>
            <a:r>
              <a:rPr lang="en-US" sz="2800" b="0" i="0" dirty="0">
                <a:solidFill>
                  <a:srgbClr val="1E1E1E"/>
                </a:solidFill>
                <a:effectLst/>
                <a:latin typeface="Times New Roman" panose="02020603050405020304" pitchFamily="18" charset="0"/>
                <a:cs typeface="Times New Roman" panose="02020603050405020304" pitchFamily="18" charset="0"/>
              </a:rPr>
              <a:t>you take them, how best to take them, and what problems to watch out for </a:t>
            </a:r>
            <a:endParaRPr lang="en-US" sz="2800" b="0" i="0" dirty="0" smtClean="0">
              <a:solidFill>
                <a:srgbClr val="1E1E1E"/>
              </a:solidFill>
              <a:effectLst/>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b="0" i="0" dirty="0" smtClean="0">
                <a:solidFill>
                  <a:srgbClr val="1E1E1E"/>
                </a:solidFill>
                <a:effectLst/>
                <a:latin typeface="Times New Roman" panose="02020603050405020304" pitchFamily="18" charset="0"/>
                <a:cs typeface="Times New Roman" panose="02020603050405020304" pitchFamily="18" charset="0"/>
              </a:rPr>
              <a:t>Is </a:t>
            </a:r>
            <a:r>
              <a:rPr lang="en-US" sz="2800" b="0" i="0" dirty="0">
                <a:solidFill>
                  <a:srgbClr val="1E1E1E"/>
                </a:solidFill>
                <a:effectLst/>
                <a:latin typeface="Times New Roman" panose="02020603050405020304" pitchFamily="18" charset="0"/>
                <a:cs typeface="Times New Roman" panose="02020603050405020304" pitchFamily="18" charset="0"/>
              </a:rPr>
              <a:t>as important as learning about your condition. </a:t>
            </a:r>
            <a:endParaRPr lang="en-US" sz="2800" b="0" i="0" dirty="0" smtClean="0">
              <a:solidFill>
                <a:srgbClr val="1E1E1E"/>
              </a:solidFill>
              <a:effectLst/>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b="0" i="0" dirty="0" smtClean="0">
                <a:solidFill>
                  <a:srgbClr val="1E1E1E"/>
                </a:solidFill>
                <a:effectLst/>
                <a:latin typeface="Times New Roman" panose="02020603050405020304" pitchFamily="18" charset="0"/>
                <a:cs typeface="Times New Roman" panose="02020603050405020304" pitchFamily="18" charset="0"/>
              </a:rPr>
              <a:t>Talking </a:t>
            </a:r>
            <a:r>
              <a:rPr lang="en-US" sz="2800" b="0" i="0" dirty="0">
                <a:solidFill>
                  <a:srgbClr val="1E1E1E"/>
                </a:solidFill>
                <a:effectLst/>
                <a:latin typeface="Times New Roman" panose="02020603050405020304" pitchFamily="18" charset="0"/>
                <a:cs typeface="Times New Roman" panose="02020603050405020304" pitchFamily="18" charset="0"/>
              </a:rPr>
              <a:t>with your doctor, nurse, or a pharmacist can put drug information into perspective.</a:t>
            </a:r>
          </a:p>
          <a:p>
            <a:pPr algn="just"/>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CA5E7C3E-E8C6-811F-F7AC-8CD68FFB25EA}"/>
              </a:ext>
            </a:extLst>
          </p:cNvPr>
          <p:cNvSpPr txBox="1"/>
          <p:nvPr/>
        </p:nvSpPr>
        <p:spPr>
          <a:xfrm>
            <a:off x="923363" y="1545522"/>
            <a:ext cx="6096000" cy="523220"/>
          </a:xfrm>
          <a:prstGeom prst="rect">
            <a:avLst/>
          </a:prstGeom>
          <a:noFill/>
        </p:spPr>
        <p:txBody>
          <a:bodyPr wrap="square">
            <a:spAutoFit/>
          </a:bodyPr>
          <a:lstStyle/>
          <a:p>
            <a:pPr marL="457200" indent="-457200">
              <a:buFont typeface="Wingdings" panose="05000000000000000000" pitchFamily="2" charset="2"/>
              <a:buChar char="Ø"/>
            </a:pPr>
            <a:r>
              <a:rPr lang="en-US" sz="2800" b="1" i="0" dirty="0">
                <a:solidFill>
                  <a:srgbClr val="373737"/>
                </a:solidFill>
                <a:effectLst/>
                <a:latin typeface="Times New Roman" panose="02020603050405020304" pitchFamily="18" charset="0"/>
                <a:cs typeface="Times New Roman" panose="02020603050405020304" pitchFamily="18" charset="0"/>
              </a:rPr>
              <a:t>Manage your medications</a:t>
            </a:r>
            <a:r>
              <a:rPr lang="en-US" sz="2800" b="1" i="0" dirty="0">
                <a:solidFill>
                  <a:srgbClr val="1E1E1E"/>
                </a:solidFill>
                <a:effectLst/>
                <a:latin typeface="Times New Roman" panose="02020603050405020304" pitchFamily="18" charset="0"/>
                <a:cs typeface="Times New Roman" panose="02020603050405020304" pitchFamily="18" charset="0"/>
              </a:rPr>
              <a:t> </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6664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52D19AB-2EEB-970C-5E87-9C182C42021E}"/>
              </a:ext>
            </a:extLst>
          </p:cNvPr>
          <p:cNvSpPr txBox="1"/>
          <p:nvPr/>
        </p:nvSpPr>
        <p:spPr>
          <a:xfrm>
            <a:off x="445640" y="1826205"/>
            <a:ext cx="10298560" cy="3539430"/>
          </a:xfrm>
          <a:prstGeom prst="rect">
            <a:avLst/>
          </a:prstGeom>
          <a:noFill/>
        </p:spPr>
        <p:txBody>
          <a:bodyPr wrap="square">
            <a:spAutoFit/>
          </a:bodyPr>
          <a:lstStyle/>
          <a:p>
            <a:pPr marL="914400" lvl="1" indent="-457200" algn="just">
              <a:buFont typeface="Arial" panose="020B0604020202020204" pitchFamily="34" charset="0"/>
              <a:buChar char="•"/>
            </a:pPr>
            <a:r>
              <a:rPr lang="en-US" b="0" i="0" dirty="0">
                <a:solidFill>
                  <a:srgbClr val="1E1E1E"/>
                </a:solidFill>
                <a:effectLst/>
                <a:latin typeface="Roboto Slab"/>
              </a:rPr>
              <a:t> </a:t>
            </a:r>
            <a:r>
              <a:rPr lang="en-US" sz="2800" dirty="0">
                <a:solidFill>
                  <a:srgbClr val="1E1E1E"/>
                </a:solidFill>
                <a:latin typeface="Times New Roman" panose="02020603050405020304" pitchFamily="18" charset="0"/>
                <a:cs typeface="Times New Roman" panose="02020603050405020304" pitchFamily="18" charset="0"/>
              </a:rPr>
              <a:t>Part of the treatment for almost any chronic condition involves lifestyle changes. </a:t>
            </a:r>
            <a:endParaRPr lang="en-US" sz="2800" dirty="0" smtClean="0">
              <a:solidFill>
                <a:srgbClr val="1E1E1E"/>
              </a:solidFill>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dirty="0" smtClean="0">
                <a:solidFill>
                  <a:srgbClr val="1E1E1E"/>
                </a:solidFill>
                <a:latin typeface="Times New Roman" panose="02020603050405020304" pitchFamily="18" charset="0"/>
                <a:cs typeface="Times New Roman" panose="02020603050405020304" pitchFamily="18" charset="0"/>
              </a:rPr>
              <a:t>You </a:t>
            </a:r>
            <a:r>
              <a:rPr lang="en-US" sz="2800" dirty="0">
                <a:solidFill>
                  <a:srgbClr val="1E1E1E"/>
                </a:solidFill>
                <a:latin typeface="Times New Roman" panose="02020603050405020304" pitchFamily="18" charset="0"/>
                <a:cs typeface="Times New Roman" panose="02020603050405020304" pitchFamily="18" charset="0"/>
              </a:rPr>
              <a:t>know the ones we mean </a:t>
            </a:r>
            <a:endParaRPr lang="en-US" sz="2800" dirty="0" smtClean="0">
              <a:solidFill>
                <a:srgbClr val="1E1E1E"/>
              </a:solidFill>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dirty="0" smtClean="0">
                <a:solidFill>
                  <a:srgbClr val="1E1E1E"/>
                </a:solidFill>
                <a:latin typeface="Times New Roman" panose="02020603050405020304" pitchFamily="18" charset="0"/>
                <a:cs typeface="Times New Roman" panose="02020603050405020304" pitchFamily="18" charset="0"/>
              </a:rPr>
              <a:t>stopping </a:t>
            </a:r>
            <a:r>
              <a:rPr lang="en-US" sz="2800" dirty="0">
                <a:solidFill>
                  <a:srgbClr val="1E1E1E"/>
                </a:solidFill>
                <a:latin typeface="Times New Roman" panose="02020603050405020304" pitchFamily="18" charset="0"/>
                <a:cs typeface="Times New Roman" panose="02020603050405020304" pitchFamily="18" charset="0"/>
              </a:rPr>
              <a:t>smoking, losing weight, exercising more, and shifting to healthier eating habits. </a:t>
            </a:r>
            <a:endParaRPr lang="en-US" sz="2800" dirty="0" smtClean="0">
              <a:solidFill>
                <a:srgbClr val="1E1E1E"/>
              </a:solidFill>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sz="2800" dirty="0" smtClean="0">
                <a:solidFill>
                  <a:srgbClr val="1E1E1E"/>
                </a:solidFill>
                <a:latin typeface="Times New Roman" panose="02020603050405020304" pitchFamily="18" charset="0"/>
                <a:cs typeface="Times New Roman" panose="02020603050405020304" pitchFamily="18" charset="0"/>
              </a:rPr>
              <a:t>The </a:t>
            </a:r>
            <a:r>
              <a:rPr lang="en-US" sz="2800" dirty="0">
                <a:solidFill>
                  <a:srgbClr val="1E1E1E"/>
                </a:solidFill>
                <a:latin typeface="Times New Roman" panose="02020603050405020304" pitchFamily="18" charset="0"/>
                <a:cs typeface="Times New Roman" panose="02020603050405020304" pitchFamily="18" charset="0"/>
              </a:rPr>
              <a:t>people who make such changes are more likely to successfully manage a chronic condition than those who don't. </a:t>
            </a:r>
            <a:br>
              <a:rPr lang="en-US" sz="2800" dirty="0">
                <a:solidFill>
                  <a:srgbClr val="1E1E1E"/>
                </a:solidFill>
                <a:latin typeface="Times New Roman" panose="02020603050405020304" pitchFamily="18" charset="0"/>
                <a:cs typeface="Times New Roman" panose="02020603050405020304" pitchFamily="18" charset="0"/>
              </a:rPr>
            </a:br>
            <a:endParaRPr lang="en-IN" sz="2800" dirty="0">
              <a:solidFill>
                <a:srgbClr val="1E1E1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EA6E9C5B-A18C-9078-FD21-2565DD18290C}"/>
              </a:ext>
            </a:extLst>
          </p:cNvPr>
          <p:cNvSpPr txBox="1"/>
          <p:nvPr/>
        </p:nvSpPr>
        <p:spPr>
          <a:xfrm>
            <a:off x="1048161" y="873456"/>
            <a:ext cx="7368989"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rgbClr val="373737"/>
                </a:solidFill>
                <a:latin typeface="Times New Roman" panose="02020603050405020304" pitchFamily="18" charset="0"/>
                <a:cs typeface="Times New Roman" panose="02020603050405020304" pitchFamily="18" charset="0"/>
              </a:rPr>
              <a:t>Make a healthy investment in yourself.</a:t>
            </a:r>
            <a:endParaRPr lang="en-IN" sz="2800" b="1" dirty="0">
              <a:solidFill>
                <a:srgbClr val="37373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40813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6EEBFF7-53C7-B275-B46C-76E57C1D04A2}"/>
              </a:ext>
            </a:extLst>
          </p:cNvPr>
          <p:cNvSpPr txBox="1"/>
          <p:nvPr/>
        </p:nvSpPr>
        <p:spPr>
          <a:xfrm>
            <a:off x="2081463" y="1047760"/>
            <a:ext cx="9697453" cy="5293757"/>
          </a:xfrm>
          <a:prstGeom prst="rect">
            <a:avLst/>
          </a:prstGeom>
          <a:noFill/>
        </p:spPr>
        <p:txBody>
          <a:bodyPr wrap="square">
            <a:spAutoFit/>
          </a:bodyPr>
          <a:lstStyle/>
          <a:p>
            <a:endParaRPr lang="en-US" b="1" dirty="0">
              <a:effectLst/>
              <a:latin typeface="Proxima Nova"/>
            </a:endParaRPr>
          </a:p>
          <a:p>
            <a:pPr marL="342900" indent="-342900" algn="just">
              <a:buFont typeface="Arial" panose="020B0604020202020204" pitchFamily="34" charset="0"/>
              <a:buChar char="•"/>
            </a:pPr>
            <a:r>
              <a:rPr lang="en-US" sz="2000" dirty="0">
                <a:solidFill>
                  <a:srgbClr val="1E1E1E"/>
                </a:solidFill>
                <a:latin typeface="Times New Roman" panose="02020603050405020304" pitchFamily="18" charset="0"/>
                <a:cs typeface="Times New Roman" panose="02020603050405020304" pitchFamily="18" charset="0"/>
              </a:rPr>
              <a:t>When you’re living with a long-term condition, it can be helpful to learn everything you can about your symptoms and treatment options. </a:t>
            </a:r>
            <a:endParaRPr lang="en-US" sz="2000" dirty="0" smtClean="0">
              <a:solidFill>
                <a:srgbClr val="1E1E1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Ask </a:t>
            </a:r>
            <a:r>
              <a:rPr lang="en-US" sz="2000" dirty="0">
                <a:solidFill>
                  <a:srgbClr val="1E1E1E"/>
                </a:solidFill>
                <a:latin typeface="Times New Roman" panose="02020603050405020304" pitchFamily="18" charset="0"/>
                <a:cs typeface="Times New Roman" panose="02020603050405020304" pitchFamily="18" charset="0"/>
              </a:rPr>
              <a:t>your doctor specific questions about your condition. </a:t>
            </a:r>
            <a:endParaRPr lang="en-US" sz="2000" dirty="0" smtClean="0">
              <a:solidFill>
                <a:srgbClr val="1E1E1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You </a:t>
            </a:r>
            <a:r>
              <a:rPr lang="en-US" sz="2000" dirty="0">
                <a:solidFill>
                  <a:srgbClr val="1E1E1E"/>
                </a:solidFill>
                <a:latin typeface="Times New Roman" panose="02020603050405020304" pitchFamily="18" charset="0"/>
                <a:cs typeface="Times New Roman" panose="02020603050405020304" pitchFamily="18" charset="0"/>
              </a:rPr>
              <a:t>can also find information online, although some sources are more accurate and reliable than others.</a:t>
            </a:r>
          </a:p>
          <a:p>
            <a:endParaRPr lang="en-US" dirty="0"/>
          </a:p>
          <a:p>
            <a:endParaRPr lang="en-US" dirty="0"/>
          </a:p>
          <a:p>
            <a:endParaRPr lang="en-US" dirty="0"/>
          </a:p>
          <a:p>
            <a:endParaRPr lang="en-US" dirty="0"/>
          </a:p>
          <a:p>
            <a:endParaRPr lang="en-US" sz="800" dirty="0">
              <a:effectLst/>
            </a:endParaRPr>
          </a:p>
          <a:p>
            <a:pPr marL="342900" indent="-342900" algn="just">
              <a:buFont typeface="Arial" panose="020B0604020202020204" pitchFamily="34" charset="0"/>
              <a:buChar char="•"/>
            </a:pPr>
            <a:r>
              <a:rPr lang="en-US" sz="2000" dirty="0">
                <a:solidFill>
                  <a:srgbClr val="1E1E1E"/>
                </a:solidFill>
                <a:latin typeface="Times New Roman" panose="02020603050405020304" pitchFamily="18" charset="0"/>
                <a:cs typeface="Times New Roman" panose="02020603050405020304" pitchFamily="18" charset="0"/>
              </a:rPr>
              <a:t>Pay close attention to what seems to ease your symptoms or make them worse. </a:t>
            </a:r>
            <a:endParaRPr lang="en-US" sz="2000" dirty="0" smtClean="0">
              <a:solidFill>
                <a:srgbClr val="1E1E1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Use </a:t>
            </a:r>
            <a:r>
              <a:rPr lang="en-US" sz="2000" dirty="0">
                <a:solidFill>
                  <a:srgbClr val="1E1E1E"/>
                </a:solidFill>
                <a:latin typeface="Times New Roman" panose="02020603050405020304" pitchFamily="18" charset="0"/>
                <a:cs typeface="Times New Roman" panose="02020603050405020304" pitchFamily="18" charset="0"/>
              </a:rPr>
              <a:t>a notebook or calendar to record trends and other insights that might help you manage your symptoms. </a:t>
            </a:r>
            <a:endParaRPr lang="en-US" sz="2000" dirty="0" smtClean="0">
              <a:solidFill>
                <a:srgbClr val="1E1E1E"/>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Share </a:t>
            </a:r>
            <a:r>
              <a:rPr lang="en-US" sz="2000" dirty="0">
                <a:solidFill>
                  <a:srgbClr val="1E1E1E"/>
                </a:solidFill>
                <a:latin typeface="Times New Roman" panose="02020603050405020304" pitchFamily="18" charset="0"/>
                <a:cs typeface="Times New Roman" panose="02020603050405020304" pitchFamily="18" charset="0"/>
              </a:rPr>
              <a:t>your notes with your doctor so your healthcare team can better understand how your condition affects you.</a:t>
            </a:r>
          </a:p>
          <a:p>
            <a:pPr algn="just"/>
            <a:r>
              <a:rPr lang="en-US" sz="2000" dirty="0">
                <a:solidFill>
                  <a:srgbClr val="1E1E1E"/>
                </a:solidFill>
                <a:latin typeface="Times New Roman" panose="02020603050405020304" pitchFamily="18" charset="0"/>
                <a:cs typeface="Times New Roman" panose="02020603050405020304" pitchFamily="18" charset="0"/>
              </a:rPr>
              <a:t/>
            </a:r>
            <a:br>
              <a:rPr lang="en-US" sz="2000" dirty="0">
                <a:solidFill>
                  <a:srgbClr val="1E1E1E"/>
                </a:solidFill>
                <a:latin typeface="Times New Roman" panose="02020603050405020304" pitchFamily="18" charset="0"/>
                <a:cs typeface="Times New Roman" panose="02020603050405020304" pitchFamily="18" charset="0"/>
              </a:rPr>
            </a:br>
            <a:endParaRPr lang="en-IN" sz="2000" dirty="0">
              <a:solidFill>
                <a:srgbClr val="1E1E1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161F1168-5AE8-CF02-8570-CE4CB7E055DA}"/>
              </a:ext>
            </a:extLst>
          </p:cNvPr>
          <p:cNvSpPr txBox="1"/>
          <p:nvPr/>
        </p:nvSpPr>
        <p:spPr>
          <a:xfrm>
            <a:off x="699246" y="524540"/>
            <a:ext cx="7368989"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rgbClr val="373737"/>
                </a:solidFill>
                <a:latin typeface="Times New Roman" panose="02020603050405020304" pitchFamily="18" charset="0"/>
                <a:cs typeface="Times New Roman" panose="02020603050405020304" pitchFamily="18" charset="0"/>
              </a:rPr>
              <a:t>Understand Your Condition</a:t>
            </a:r>
            <a:endParaRPr lang="en-IN" sz="2800" b="1" dirty="0">
              <a:solidFill>
                <a:srgbClr val="373737"/>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1FA00F19-9D2F-ABFE-049D-30A9FC0D892B}"/>
              </a:ext>
            </a:extLst>
          </p:cNvPr>
          <p:cNvSpPr txBox="1"/>
          <p:nvPr/>
        </p:nvSpPr>
        <p:spPr>
          <a:xfrm>
            <a:off x="699246" y="3217585"/>
            <a:ext cx="6096000"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rgbClr val="373737"/>
                </a:solidFill>
                <a:latin typeface="Times New Roman" panose="02020603050405020304" pitchFamily="18" charset="0"/>
                <a:cs typeface="Times New Roman" panose="02020603050405020304" pitchFamily="18" charset="0"/>
              </a:rPr>
              <a:t>Observe your own body</a:t>
            </a:r>
            <a:endParaRPr lang="en-IN" sz="2800" b="1" dirty="0">
              <a:solidFill>
                <a:srgbClr val="373737"/>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6083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8BE2399-C25B-A777-AD85-D1677E67E92B}"/>
              </a:ext>
            </a:extLst>
          </p:cNvPr>
          <p:cNvSpPr txBox="1"/>
          <p:nvPr/>
        </p:nvSpPr>
        <p:spPr>
          <a:xfrm>
            <a:off x="1308846" y="1048850"/>
            <a:ext cx="9928649" cy="1015663"/>
          </a:xfrm>
          <a:prstGeom prst="rect">
            <a:avLst/>
          </a:prstGeom>
          <a:noFill/>
        </p:spPr>
        <p:txBody>
          <a:bodyPr wrap="square">
            <a:spAutoFit/>
          </a:bodyPr>
          <a:lstStyle/>
          <a:p>
            <a:pPr marL="342900" indent="-342900" algn="just" fontAlgn="base">
              <a:buFont typeface="Arial" panose="020B0604020202020204" pitchFamily="34" charset="0"/>
              <a:buChar char="•"/>
            </a:pPr>
            <a:r>
              <a:rPr lang="en-US" sz="2000" dirty="0">
                <a:solidFill>
                  <a:srgbClr val="1E1E1E"/>
                </a:solidFill>
                <a:latin typeface="Times New Roman" panose="02020603050405020304" pitchFamily="18" charset="0"/>
                <a:cs typeface="Times New Roman" panose="02020603050405020304" pitchFamily="18" charset="0"/>
              </a:rPr>
              <a:t>One of the easiest things to do is to pull away from friends and family. </a:t>
            </a:r>
            <a:endParaRPr lang="en-US" sz="2000" dirty="0" smtClean="0">
              <a:solidFill>
                <a:srgbClr val="1E1E1E"/>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But </a:t>
            </a:r>
            <a:r>
              <a:rPr lang="en-US" sz="2000" dirty="0">
                <a:solidFill>
                  <a:srgbClr val="1E1E1E"/>
                </a:solidFill>
                <a:latin typeface="Times New Roman" panose="02020603050405020304" pitchFamily="18" charset="0"/>
                <a:cs typeface="Times New Roman" panose="02020603050405020304" pitchFamily="18" charset="0"/>
              </a:rPr>
              <a:t>communicating honestly is an important part of helping your loved ones understand what you need to cope and how they can be supportive.</a:t>
            </a:r>
          </a:p>
        </p:txBody>
      </p:sp>
      <p:sp>
        <p:nvSpPr>
          <p:cNvPr id="5" name="TextBox 4">
            <a:extLst>
              <a:ext uri="{FF2B5EF4-FFF2-40B4-BE49-F238E27FC236}">
                <a16:creationId xmlns="" xmlns:a16="http://schemas.microsoft.com/office/drawing/2014/main" id="{0676C192-146A-DB01-E237-6AE0A339F9DC}"/>
              </a:ext>
            </a:extLst>
          </p:cNvPr>
          <p:cNvSpPr txBox="1"/>
          <p:nvPr/>
        </p:nvSpPr>
        <p:spPr>
          <a:xfrm>
            <a:off x="663390" y="389564"/>
            <a:ext cx="6096000" cy="523220"/>
          </a:xfrm>
          <a:prstGeom prst="rect">
            <a:avLst/>
          </a:prstGeom>
          <a:noFill/>
        </p:spPr>
        <p:txBody>
          <a:bodyPr wrap="square">
            <a:spAutoFit/>
          </a:bodyPr>
          <a:lstStyle/>
          <a:p>
            <a:pPr marL="457200" indent="-457200" algn="l" fontAlgn="base">
              <a:buFont typeface="Wingdings" panose="05000000000000000000" pitchFamily="2" charset="2"/>
              <a:buChar char="Ø"/>
            </a:pPr>
            <a:r>
              <a:rPr lang="en-US" sz="2800" b="1" dirty="0">
                <a:solidFill>
                  <a:srgbClr val="373737"/>
                </a:solidFill>
                <a:latin typeface="Times New Roman" panose="02020603050405020304" pitchFamily="18" charset="0"/>
                <a:cs typeface="Times New Roman" panose="02020603050405020304" pitchFamily="18" charset="0"/>
              </a:rPr>
              <a:t>Stay Connected</a:t>
            </a:r>
          </a:p>
        </p:txBody>
      </p:sp>
      <p:sp>
        <p:nvSpPr>
          <p:cNvPr id="6" name="TextBox 5">
            <a:extLst>
              <a:ext uri="{FF2B5EF4-FFF2-40B4-BE49-F238E27FC236}">
                <a16:creationId xmlns="" xmlns:a16="http://schemas.microsoft.com/office/drawing/2014/main" id="{1436EA5B-EC7A-93A5-8633-F287A71B2D06}"/>
              </a:ext>
            </a:extLst>
          </p:cNvPr>
          <p:cNvSpPr txBox="1"/>
          <p:nvPr/>
        </p:nvSpPr>
        <p:spPr>
          <a:xfrm>
            <a:off x="1308846" y="3813973"/>
            <a:ext cx="10433975" cy="1938992"/>
          </a:xfrm>
          <a:prstGeom prst="rect">
            <a:avLst/>
          </a:prstGeom>
          <a:noFill/>
        </p:spPr>
        <p:txBody>
          <a:bodyPr wrap="square">
            <a:spAutoFit/>
          </a:bodyPr>
          <a:lstStyle/>
          <a:p>
            <a:pPr marL="342900" indent="-342900" algn="just" fontAlgn="base">
              <a:buFont typeface="Arial" panose="020B0604020202020204" pitchFamily="34" charset="0"/>
              <a:buChar char="•"/>
            </a:pPr>
            <a:r>
              <a:rPr lang="en-US" sz="2000" dirty="0">
                <a:solidFill>
                  <a:srgbClr val="1E1E1E"/>
                </a:solidFill>
                <a:latin typeface="Times New Roman" panose="02020603050405020304" pitchFamily="18" charset="0"/>
                <a:cs typeface="Times New Roman" panose="02020603050405020304" pitchFamily="18" charset="0"/>
              </a:rPr>
              <a:t>Dark, dreary moods plague a third or more of people with chronic </a:t>
            </a:r>
            <a:r>
              <a:rPr lang="en-US" sz="2000" dirty="0" smtClean="0">
                <a:solidFill>
                  <a:srgbClr val="1E1E1E"/>
                </a:solidFill>
                <a:latin typeface="Times New Roman" panose="02020603050405020304" pitchFamily="18" charset="0"/>
                <a:cs typeface="Times New Roman" panose="02020603050405020304" pitchFamily="18" charset="0"/>
              </a:rPr>
              <a:t>diseases.</a:t>
            </a:r>
          </a:p>
          <a:p>
            <a:pPr marL="342900" indent="-342900" algn="just" fontAlgn="base">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Depression </a:t>
            </a:r>
            <a:r>
              <a:rPr lang="en-US" sz="2000" dirty="0">
                <a:solidFill>
                  <a:srgbClr val="1E1E1E"/>
                </a:solidFill>
                <a:latin typeface="Times New Roman" panose="02020603050405020304" pitchFamily="18" charset="0"/>
                <a:cs typeface="Times New Roman" panose="02020603050405020304" pitchFamily="18" charset="0"/>
              </a:rPr>
              <a:t>can keep you from taking important medications, seeing your doctor when you need to, or pursuing healthy habits. </a:t>
            </a:r>
            <a:endParaRPr lang="en-US" sz="2000" dirty="0" smtClean="0">
              <a:solidFill>
                <a:srgbClr val="1E1E1E"/>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Read </a:t>
            </a:r>
            <a:r>
              <a:rPr lang="en-US" sz="2000" dirty="0">
                <a:solidFill>
                  <a:srgbClr val="1E1E1E"/>
                </a:solidFill>
                <a:latin typeface="Times New Roman" panose="02020603050405020304" pitchFamily="18" charset="0"/>
                <a:cs typeface="Times New Roman" panose="02020603050405020304" pitchFamily="18" charset="0"/>
              </a:rPr>
              <a:t>up on the signs of depression. </a:t>
            </a:r>
            <a:endParaRPr lang="en-US" sz="2000" dirty="0" smtClean="0">
              <a:solidFill>
                <a:srgbClr val="1E1E1E"/>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000" dirty="0" smtClean="0">
                <a:solidFill>
                  <a:srgbClr val="1E1E1E"/>
                </a:solidFill>
                <a:latin typeface="Times New Roman" panose="02020603050405020304" pitchFamily="18" charset="0"/>
                <a:cs typeface="Times New Roman" panose="02020603050405020304" pitchFamily="18" charset="0"/>
              </a:rPr>
              <a:t>Let </a:t>
            </a:r>
            <a:r>
              <a:rPr lang="en-US" sz="2000" dirty="0">
                <a:solidFill>
                  <a:srgbClr val="1E1E1E"/>
                </a:solidFill>
                <a:latin typeface="Times New Roman" panose="02020603050405020304" pitchFamily="18" charset="0"/>
                <a:cs typeface="Times New Roman" panose="02020603050405020304" pitchFamily="18" charset="0"/>
              </a:rPr>
              <a:t>your doctor know if you think you're depressed or heading in that direction</a:t>
            </a:r>
            <a:r>
              <a:rPr lang="en-US" sz="2000" dirty="0" smtClean="0">
                <a:solidFill>
                  <a:srgbClr val="1E1E1E"/>
                </a:solidFill>
                <a:latin typeface="Times New Roman" panose="02020603050405020304" pitchFamily="18" charset="0"/>
                <a:cs typeface="Times New Roman" panose="02020603050405020304" pitchFamily="18" charset="0"/>
              </a:rPr>
              <a:t>.</a:t>
            </a:r>
            <a:r>
              <a:rPr lang="en-US" sz="2000" dirty="0">
                <a:solidFill>
                  <a:srgbClr val="1E1E1E"/>
                </a:solidFill>
                <a:latin typeface="Times New Roman" panose="02020603050405020304" pitchFamily="18" charset="0"/>
                <a:cs typeface="Times New Roman" panose="02020603050405020304" pitchFamily="18" charset="0"/>
              </a:rPr>
              <a:t/>
            </a:r>
            <a:br>
              <a:rPr lang="en-US" sz="2000" dirty="0">
                <a:solidFill>
                  <a:srgbClr val="1E1E1E"/>
                </a:solidFill>
                <a:latin typeface="Times New Roman" panose="02020603050405020304" pitchFamily="18" charset="0"/>
                <a:cs typeface="Times New Roman" panose="02020603050405020304" pitchFamily="18" charset="0"/>
              </a:rPr>
            </a:br>
            <a:endParaRPr lang="en-IN" sz="2000" dirty="0">
              <a:solidFill>
                <a:srgbClr val="1E1E1E"/>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E5529F8F-67D6-281B-2C11-9BD91E17AA05}"/>
              </a:ext>
            </a:extLst>
          </p:cNvPr>
          <p:cNvSpPr txBox="1"/>
          <p:nvPr/>
        </p:nvSpPr>
        <p:spPr>
          <a:xfrm>
            <a:off x="663390" y="3044027"/>
            <a:ext cx="6096000" cy="523220"/>
          </a:xfrm>
          <a:prstGeom prst="rect">
            <a:avLst/>
          </a:prstGeom>
          <a:noFill/>
        </p:spPr>
        <p:txBody>
          <a:bodyPr wrap="square">
            <a:spAutoFit/>
          </a:bodyPr>
          <a:lstStyle/>
          <a:p>
            <a:pPr marL="457200" indent="-457200">
              <a:buFont typeface="Wingdings" panose="05000000000000000000" pitchFamily="2" charset="2"/>
              <a:buChar char="Ø"/>
            </a:pPr>
            <a:r>
              <a:rPr lang="en-US" sz="2800" b="1" dirty="0">
                <a:solidFill>
                  <a:srgbClr val="373737"/>
                </a:solidFill>
                <a:latin typeface="Times New Roman" panose="02020603050405020304" pitchFamily="18" charset="0"/>
                <a:cs typeface="Times New Roman" panose="02020603050405020304" pitchFamily="18" charset="0"/>
              </a:rPr>
              <a:t>Beware of depression.</a:t>
            </a:r>
            <a:r>
              <a:rPr lang="en-US" sz="2800" b="1" dirty="0">
                <a:latin typeface="Proxima Nova"/>
              </a:rPr>
              <a:t> </a:t>
            </a:r>
            <a:endParaRPr lang="en-IN" sz="2800" b="1" dirty="0">
              <a:latin typeface="Proxima Nova"/>
            </a:endParaRPr>
          </a:p>
        </p:txBody>
      </p:sp>
    </p:spTree>
    <p:extLst>
      <p:ext uri="{BB962C8B-B14F-4D97-AF65-F5344CB8AC3E}">
        <p14:creationId xmlns:p14="http://schemas.microsoft.com/office/powerpoint/2010/main" val="15784086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C2A01CB7-FCD5-25D5-94C3-8446825E28F8}"/>
              </a:ext>
            </a:extLst>
          </p:cNvPr>
          <p:cNvSpPr txBox="1"/>
          <p:nvPr/>
        </p:nvSpPr>
        <p:spPr>
          <a:xfrm>
            <a:off x="439269" y="490550"/>
            <a:ext cx="7912744" cy="584775"/>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r>
              <a:rPr lang="en-US" sz="3200" dirty="0">
                <a:latin typeface="Times New Roman" panose="02020603050405020304" pitchFamily="18" charset="0"/>
                <a:cs typeface="Times New Roman" panose="02020603050405020304" pitchFamily="18" charset="0"/>
              </a:rPr>
              <a:t>Points for reducing risks of chronic conditions:</a:t>
            </a:r>
          </a:p>
        </p:txBody>
      </p:sp>
      <p:sp>
        <p:nvSpPr>
          <p:cNvPr id="7" name="TextBox 6">
            <a:extLst>
              <a:ext uri="{FF2B5EF4-FFF2-40B4-BE49-F238E27FC236}">
                <a16:creationId xmlns="" xmlns:a16="http://schemas.microsoft.com/office/drawing/2014/main" id="{242165AA-8B64-1E33-23A1-4AF35938A7FB}"/>
              </a:ext>
            </a:extLst>
          </p:cNvPr>
          <p:cNvSpPr txBox="1"/>
          <p:nvPr/>
        </p:nvSpPr>
        <p:spPr>
          <a:xfrm>
            <a:off x="982736" y="1541929"/>
            <a:ext cx="8677836" cy="418877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QUIT SMOKING</a:t>
            </a:r>
          </a:p>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EAT HEALTHY</a:t>
            </a:r>
          </a:p>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GET REGUALAR PHYSICAL ACTIVITY</a:t>
            </a:r>
          </a:p>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AVOID DRINKING TOO MUCH ALCOHOL</a:t>
            </a:r>
          </a:p>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GET SCREENED</a:t>
            </a:r>
          </a:p>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GET ENOUGH SLEEP</a:t>
            </a:r>
          </a:p>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KNOW YOUR FAMILY HISTORY</a:t>
            </a:r>
          </a:p>
          <a:p>
            <a:pPr marL="342900" indent="-342900">
              <a:lnSpc>
                <a:spcPct val="150000"/>
              </a:lnSpc>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MAKE HEALTHY CHOICES IN SCHOOL, AT WORK, AND IN THE COMMUNITY </a:t>
            </a:r>
          </a:p>
        </p:txBody>
      </p:sp>
    </p:spTree>
    <p:extLst>
      <p:ext uri="{BB962C8B-B14F-4D97-AF65-F5344CB8AC3E}">
        <p14:creationId xmlns:p14="http://schemas.microsoft.com/office/powerpoint/2010/main" val="4799578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24F0906-98F6-82C9-E2BE-714F253A1529}"/>
              </a:ext>
            </a:extLst>
          </p:cNvPr>
          <p:cNvSpPr txBox="1"/>
          <p:nvPr/>
        </p:nvSpPr>
        <p:spPr>
          <a:xfrm>
            <a:off x="914582" y="1315033"/>
            <a:ext cx="10780113" cy="1569660"/>
          </a:xfrm>
          <a:prstGeom prst="rect">
            <a:avLst/>
          </a:prstGeom>
          <a:noFill/>
        </p:spPr>
        <p:txBody>
          <a:bodyPr wrap="square">
            <a:spAutoFit/>
          </a:bodyPr>
          <a:lstStyle/>
          <a:p>
            <a:pPr marL="342900" indent="-342900" algn="just">
              <a:buFont typeface="Arial" panose="020B0604020202020204" pitchFamily="34" charset="0"/>
              <a:buChar char="•"/>
            </a:pPr>
            <a:r>
              <a:rPr lang="en-US" sz="2400" dirty="0"/>
              <a:t>“</a:t>
            </a:r>
            <a:r>
              <a:rPr lang="en-US" sz="2400" dirty="0">
                <a:latin typeface="Times New Roman" panose="02020603050405020304" pitchFamily="18" charset="0"/>
                <a:cs typeface="Times New Roman" panose="02020603050405020304" pitchFamily="18" charset="0"/>
              </a:rPr>
              <a:t>Quality of life is defined as an individual’s perception of their position in life in the context of the culture and value systems, in which they live and in relation to their goals, expectations, and standards”.</a:t>
            </a:r>
          </a:p>
          <a:p>
            <a:pPr algn="just"/>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B9C1F1DB-C684-743D-3AB2-48EE80BC5A49}"/>
              </a:ext>
            </a:extLst>
          </p:cNvPr>
          <p:cNvSpPr txBox="1"/>
          <p:nvPr/>
        </p:nvSpPr>
        <p:spPr>
          <a:xfrm>
            <a:off x="914582" y="472620"/>
            <a:ext cx="2419252" cy="52322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800" b="1" dirty="0">
                <a:latin typeface="Times New Roman" panose="02020603050405020304" pitchFamily="18" charset="0"/>
                <a:cs typeface="Times New Roman" panose="02020603050405020304" pitchFamily="18" charset="0"/>
              </a:rPr>
              <a:t>Quality of life:</a:t>
            </a:r>
          </a:p>
        </p:txBody>
      </p:sp>
      <p:sp>
        <p:nvSpPr>
          <p:cNvPr id="6" name="TextBox 5">
            <a:extLst>
              <a:ext uri="{FF2B5EF4-FFF2-40B4-BE49-F238E27FC236}">
                <a16:creationId xmlns="" xmlns:a16="http://schemas.microsoft.com/office/drawing/2014/main" id="{A4253286-3D01-B7CE-D56F-024FD72A5030}"/>
              </a:ext>
            </a:extLst>
          </p:cNvPr>
          <p:cNvSpPr txBox="1"/>
          <p:nvPr/>
        </p:nvSpPr>
        <p:spPr>
          <a:xfrm>
            <a:off x="914582" y="3083695"/>
            <a:ext cx="10960586" cy="1938992"/>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Simply quality of life means the degree to which an individual is healthy, comfortable, and able to participate in or enjoy life events.</a:t>
            </a:r>
          </a:p>
          <a:p>
            <a:pPr marL="342900" indent="-34290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Quality of life has a wide range of contexts. It includes the field of international development, health care, politics and employment</a:t>
            </a:r>
          </a:p>
        </p:txBody>
      </p:sp>
    </p:spTree>
    <p:extLst>
      <p:ext uri="{BB962C8B-B14F-4D97-AF65-F5344CB8AC3E}">
        <p14:creationId xmlns:p14="http://schemas.microsoft.com/office/powerpoint/2010/main" val="23612383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4639046D-D4BF-1D8D-BD22-D9426D673338}"/>
              </a:ext>
            </a:extLst>
          </p:cNvPr>
          <p:cNvSpPr txBox="1"/>
          <p:nvPr/>
        </p:nvSpPr>
        <p:spPr>
          <a:xfrm>
            <a:off x="726140" y="753959"/>
            <a:ext cx="10703860" cy="1200329"/>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Health related quality of life is an evaluation of quality of life and its relationship with health. In this field quality of life is often regarded in terms of how certain ailment affects a patient on an individual level.</a:t>
            </a:r>
          </a:p>
        </p:txBody>
      </p:sp>
      <p:sp>
        <p:nvSpPr>
          <p:cNvPr id="5" name="TextBox 4">
            <a:extLst>
              <a:ext uri="{FF2B5EF4-FFF2-40B4-BE49-F238E27FC236}">
                <a16:creationId xmlns="" xmlns:a16="http://schemas.microsoft.com/office/drawing/2014/main" id="{94E7BEE6-E189-9447-3FBC-EAC2BE101F97}"/>
              </a:ext>
            </a:extLst>
          </p:cNvPr>
          <p:cNvSpPr txBox="1"/>
          <p:nvPr/>
        </p:nvSpPr>
        <p:spPr>
          <a:xfrm>
            <a:off x="834424" y="2386888"/>
            <a:ext cx="6096000" cy="523220"/>
          </a:xfrm>
          <a:prstGeom prst="rect">
            <a:avLst/>
          </a:prstGeom>
          <a:noFill/>
        </p:spPr>
        <p:txBody>
          <a:bodyPr wrap="square">
            <a:spAutoFit/>
          </a:bodyPr>
          <a:lstStyle/>
          <a:p>
            <a:r>
              <a:rPr lang="en-US" sz="2800" dirty="0">
                <a:solidFill>
                  <a:schemeClr val="dk1"/>
                </a:solidFill>
                <a:latin typeface="Times New Roman" panose="02020603050405020304" pitchFamily="18" charset="0"/>
                <a:cs typeface="Times New Roman" panose="02020603050405020304" pitchFamily="18" charset="0"/>
              </a:rPr>
              <a:t>Components of quality of life:</a:t>
            </a:r>
            <a:endParaRPr lang="en-IN" sz="2800" dirty="0">
              <a:solidFill>
                <a:schemeClr val="dk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05CD644B-F90F-EA85-684D-804AD0223E68}"/>
              </a:ext>
            </a:extLst>
          </p:cNvPr>
          <p:cNvSpPr txBox="1"/>
          <p:nvPr/>
        </p:nvSpPr>
        <p:spPr>
          <a:xfrm>
            <a:off x="2136431" y="2910108"/>
            <a:ext cx="6096000" cy="3046988"/>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3200" dirty="0">
                <a:solidFill>
                  <a:srgbClr val="0070C0"/>
                </a:solidFill>
                <a:latin typeface="Times New Roman" panose="02020603050405020304" pitchFamily="18" charset="0"/>
                <a:cs typeface="Times New Roman" panose="02020603050405020304" pitchFamily="18" charset="0"/>
              </a:rPr>
              <a:t>Physical functioning</a:t>
            </a:r>
          </a:p>
          <a:p>
            <a:pPr marL="342900" indent="-342900">
              <a:lnSpc>
                <a:spcPct val="150000"/>
              </a:lnSpc>
              <a:buFont typeface="Wingdings" panose="05000000000000000000" pitchFamily="2" charset="2"/>
              <a:buChar char="Ø"/>
            </a:pPr>
            <a:r>
              <a:rPr lang="en-US" sz="3200" dirty="0">
                <a:solidFill>
                  <a:srgbClr val="0070C0"/>
                </a:solidFill>
                <a:latin typeface="Times New Roman" panose="02020603050405020304" pitchFamily="18" charset="0"/>
                <a:cs typeface="Times New Roman" panose="02020603050405020304" pitchFamily="18" charset="0"/>
              </a:rPr>
              <a:t>Psychological status </a:t>
            </a:r>
          </a:p>
          <a:p>
            <a:pPr marL="342900" indent="-342900">
              <a:lnSpc>
                <a:spcPct val="150000"/>
              </a:lnSpc>
              <a:buFont typeface="Wingdings" panose="05000000000000000000" pitchFamily="2" charset="2"/>
              <a:buChar char="Ø"/>
            </a:pPr>
            <a:r>
              <a:rPr lang="en-US" sz="3200" dirty="0">
                <a:solidFill>
                  <a:srgbClr val="0070C0"/>
                </a:solidFill>
                <a:latin typeface="Times New Roman" panose="02020603050405020304" pitchFamily="18" charset="0"/>
                <a:cs typeface="Times New Roman" panose="02020603050405020304" pitchFamily="18" charset="0"/>
              </a:rPr>
              <a:t>Social functioning</a:t>
            </a:r>
          </a:p>
          <a:p>
            <a:pPr marL="342900" indent="-342900">
              <a:lnSpc>
                <a:spcPct val="150000"/>
              </a:lnSpc>
              <a:buFont typeface="Wingdings" panose="05000000000000000000" pitchFamily="2" charset="2"/>
              <a:buChar char="Ø"/>
            </a:pPr>
            <a:r>
              <a:rPr lang="en-US" sz="3200" dirty="0">
                <a:solidFill>
                  <a:srgbClr val="0070C0"/>
                </a:solidFill>
                <a:latin typeface="Times New Roman" panose="02020603050405020304" pitchFamily="18" charset="0"/>
                <a:cs typeface="Times New Roman" panose="02020603050405020304" pitchFamily="18" charset="0"/>
              </a:rPr>
              <a:t>Disease or treatment </a:t>
            </a:r>
          </a:p>
        </p:txBody>
      </p:sp>
    </p:spTree>
    <p:extLst>
      <p:ext uri="{BB962C8B-B14F-4D97-AF65-F5344CB8AC3E}">
        <p14:creationId xmlns:p14="http://schemas.microsoft.com/office/powerpoint/2010/main" val="7951387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CC150B7-3DC9-3B44-ED52-E83763524A7C}"/>
              </a:ext>
            </a:extLst>
          </p:cNvPr>
          <p:cNvSpPr txBox="1"/>
          <p:nvPr/>
        </p:nvSpPr>
        <p:spPr>
          <a:xfrm>
            <a:off x="699247" y="497106"/>
            <a:ext cx="8848165" cy="800219"/>
          </a:xfrm>
          <a:prstGeom prst="rect">
            <a:avLst/>
          </a:prstGeom>
          <a:noFill/>
        </p:spPr>
        <p:txBody>
          <a:bodyPr wrap="square">
            <a:spAutoFit/>
          </a:bodyPr>
          <a:lstStyle/>
          <a:p>
            <a:r>
              <a:rPr lang="en-US" sz="2800" b="1" dirty="0">
                <a:solidFill>
                  <a:schemeClr val="dk1"/>
                </a:solidFill>
                <a:latin typeface="Times New Roman" panose="02020603050405020304" pitchFamily="18" charset="0"/>
                <a:cs typeface="Times New Roman" panose="02020603050405020304" pitchFamily="18" charset="0"/>
              </a:rPr>
              <a:t>Assessment of quality of life in chronic illness</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591C43ED-99CB-1612-5D81-C05263296519}"/>
              </a:ext>
            </a:extLst>
          </p:cNvPr>
          <p:cNvSpPr txBox="1"/>
          <p:nvPr/>
        </p:nvSpPr>
        <p:spPr>
          <a:xfrm>
            <a:off x="699245" y="1378367"/>
            <a:ext cx="10766850" cy="1200329"/>
          </a:xfrm>
          <a:prstGeom prst="rect">
            <a:avLst/>
          </a:prstGeom>
          <a:noFill/>
        </p:spPr>
        <p:txBody>
          <a:bodyPr wrap="square">
            <a:spAutoFit/>
          </a:bodyPr>
          <a:lstStyle/>
          <a:p>
            <a:pPr algn="just"/>
            <a:r>
              <a:rPr lang="en-US" sz="2400" dirty="0" smtClean="0">
                <a:latin typeface="Times New Roman" panose="02020603050405020304" pitchFamily="18" charset="0"/>
                <a:cs typeface="Times New Roman" panose="02020603050405020304" pitchFamily="18" charset="0"/>
              </a:rPr>
              <a:t>Till </a:t>
            </a:r>
            <a:r>
              <a:rPr lang="en-US" sz="2400" dirty="0">
                <a:latin typeface="Times New Roman" panose="02020603050405020304" pitchFamily="18" charset="0"/>
                <a:cs typeface="Times New Roman" panose="02020603050405020304" pitchFamily="18" charset="0"/>
              </a:rPr>
              <a:t>now the assessment of the quality of life of chronically ill was based on how much the disease and treatment interferes with the activities of daily living such as –</a:t>
            </a:r>
          </a:p>
          <a:p>
            <a:pPr algn="just"/>
            <a:r>
              <a:rPr lang="en-US" sz="2400" b="1" dirty="0">
                <a:solidFill>
                  <a:srgbClr val="0070C0"/>
                </a:solidFill>
                <a:latin typeface="Times New Roman" panose="02020603050405020304" pitchFamily="18" charset="0"/>
                <a:cs typeface="Times New Roman" panose="02020603050405020304" pitchFamily="18" charset="0"/>
              </a:rPr>
              <a:t>Sleeping, Eating, Going to work </a:t>
            </a:r>
            <a:r>
              <a:rPr lang="en-US" sz="2400" dirty="0">
                <a:solidFill>
                  <a:srgbClr val="0070C0"/>
                </a:solidFill>
                <a:latin typeface="Times New Roman" panose="02020603050405020304" pitchFamily="18" charset="0"/>
                <a:cs typeface="Times New Roman" panose="02020603050405020304" pitchFamily="18" charset="0"/>
              </a:rPr>
              <a:t>and</a:t>
            </a:r>
            <a:r>
              <a:rPr lang="en-US" sz="2400" b="1" dirty="0">
                <a:solidFill>
                  <a:srgbClr val="0070C0"/>
                </a:solidFill>
                <a:latin typeface="Times New Roman" panose="02020603050405020304" pitchFamily="18" charset="0"/>
                <a:cs typeface="Times New Roman" panose="02020603050405020304" pitchFamily="18" charset="0"/>
              </a:rPr>
              <a:t> Engaging in recreational activities</a:t>
            </a:r>
          </a:p>
        </p:txBody>
      </p:sp>
      <p:sp>
        <p:nvSpPr>
          <p:cNvPr id="7" name="TextBox 6">
            <a:extLst>
              <a:ext uri="{FF2B5EF4-FFF2-40B4-BE49-F238E27FC236}">
                <a16:creationId xmlns="" xmlns:a16="http://schemas.microsoft.com/office/drawing/2014/main" id="{9E3760EC-2AC2-0C25-7A30-4CE0F4D2EE4B}"/>
              </a:ext>
            </a:extLst>
          </p:cNvPr>
          <p:cNvSpPr txBox="1"/>
          <p:nvPr/>
        </p:nvSpPr>
        <p:spPr>
          <a:xfrm>
            <a:off x="699245" y="3540642"/>
            <a:ext cx="10899197" cy="2308324"/>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patients with more advanced diseases, such assessments include whether the patient is able to bathe, dress, use toilet, be mobile, be content, and eat without assistance</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Essentially the quality of life assessment gauge the extent to which a patient’ normal life activities have been compromised by disease and treatment</a:t>
            </a:r>
          </a:p>
        </p:txBody>
      </p:sp>
    </p:spTree>
    <p:extLst>
      <p:ext uri="{BB962C8B-B14F-4D97-AF65-F5344CB8AC3E}">
        <p14:creationId xmlns:p14="http://schemas.microsoft.com/office/powerpoint/2010/main" val="3982420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5672BE-CC19-DAD9-EBF7-B7921EDDE0F3}"/>
              </a:ext>
            </a:extLst>
          </p:cNvPr>
          <p:cNvSpPr txBox="1">
            <a:spLocks/>
          </p:cNvSpPr>
          <p:nvPr/>
        </p:nvSpPr>
        <p:spPr>
          <a:xfrm>
            <a:off x="582706" y="409109"/>
            <a:ext cx="8229600" cy="1143000"/>
          </a:xfrm>
          <a:prstGeom prst="rect">
            <a:avLst/>
          </a:prstGeom>
        </p:spPr>
        <p:txBody>
          <a:bodyPr>
            <a:normAutofit fontScale="37500" lnSpcReduction="20000"/>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
            </a:r>
            <a:br>
              <a:rPr lang="en-US" dirty="0"/>
            </a:br>
            <a:r>
              <a:rPr lang="en-US" sz="6200" b="1" dirty="0">
                <a:solidFill>
                  <a:schemeClr val="dk1"/>
                </a:solidFill>
                <a:latin typeface="Times New Roman" panose="02020603050405020304" pitchFamily="18" charset="0"/>
                <a:ea typeface="+mn-ea"/>
                <a:cs typeface="Times New Roman" panose="02020603050405020304" pitchFamily="18" charset="0"/>
              </a:rPr>
              <a:t>How to maintain better quality of life in the chronically ill?</a:t>
            </a:r>
            <a:br>
              <a:rPr lang="en-US" sz="6200" b="1" dirty="0">
                <a:solidFill>
                  <a:schemeClr val="dk1"/>
                </a:solidFill>
                <a:latin typeface="Times New Roman" panose="02020603050405020304" pitchFamily="18" charset="0"/>
                <a:ea typeface="+mn-ea"/>
                <a:cs typeface="Times New Roman" panose="02020603050405020304" pitchFamily="18" charset="0"/>
              </a:rPr>
            </a:br>
            <a:endParaRPr lang="en-US" sz="6200" b="1" dirty="0">
              <a:solidFill>
                <a:schemeClr val="dk1"/>
              </a:solidFill>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 xmlns:a16="http://schemas.microsoft.com/office/drawing/2014/main" id="{E450580E-E7B5-5C9E-CE9E-8E1600944850}"/>
              </a:ext>
            </a:extLst>
          </p:cNvPr>
          <p:cNvSpPr txBox="1"/>
          <p:nvPr/>
        </p:nvSpPr>
        <p:spPr>
          <a:xfrm>
            <a:off x="1106905" y="1151057"/>
            <a:ext cx="10238873" cy="1200329"/>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Chronic conditions are not cured completely. So looking after our self about good medical advice, living healthy life style, and having positive attitude help in maintaining better quality of life</a:t>
            </a:r>
          </a:p>
        </p:txBody>
      </p:sp>
      <p:sp>
        <p:nvSpPr>
          <p:cNvPr id="5" name="Title 1">
            <a:extLst>
              <a:ext uri="{FF2B5EF4-FFF2-40B4-BE49-F238E27FC236}">
                <a16:creationId xmlns="" xmlns:a16="http://schemas.microsoft.com/office/drawing/2014/main" id="{681BE095-AE33-6118-7655-A240861E403B}"/>
              </a:ext>
            </a:extLst>
          </p:cNvPr>
          <p:cNvSpPr txBox="1">
            <a:spLocks/>
          </p:cNvSpPr>
          <p:nvPr/>
        </p:nvSpPr>
        <p:spPr>
          <a:xfrm>
            <a:off x="582706" y="2865835"/>
            <a:ext cx="8229600" cy="1143000"/>
          </a:xfrm>
          <a:prstGeom prst="rect">
            <a:avLst/>
          </a:prstGeom>
        </p:spPr>
        <p:txBody>
          <a:bodyPr>
            <a:normAutofit fontScale="82500" lnSpcReduction="20000"/>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
            </a:r>
            <a:br>
              <a:rPr lang="en-US" dirty="0"/>
            </a:br>
            <a:r>
              <a:rPr lang="en-US" sz="3100" b="1" dirty="0">
                <a:solidFill>
                  <a:schemeClr val="dk1"/>
                </a:solidFill>
                <a:latin typeface="Times New Roman" panose="02020603050405020304" pitchFamily="18" charset="0"/>
                <a:ea typeface="+mn-ea"/>
                <a:cs typeface="Times New Roman" panose="02020603050405020304" pitchFamily="18" charset="0"/>
              </a:rPr>
              <a:t>The measures adopted are:</a:t>
            </a:r>
            <a:br>
              <a:rPr lang="en-US" sz="3100" b="1" dirty="0">
                <a:solidFill>
                  <a:schemeClr val="dk1"/>
                </a:solidFill>
                <a:latin typeface="Times New Roman" panose="02020603050405020304" pitchFamily="18" charset="0"/>
                <a:ea typeface="+mn-ea"/>
                <a:cs typeface="Times New Roman" panose="02020603050405020304" pitchFamily="18" charset="0"/>
              </a:rPr>
            </a:br>
            <a:endParaRPr lang="en-US" sz="3100" b="1" dirty="0">
              <a:solidFill>
                <a:schemeClr val="dk1"/>
              </a:solidFill>
              <a:latin typeface="Times New Roman" panose="02020603050405020304" pitchFamily="18" charset="0"/>
              <a:ea typeface="+mn-ea"/>
              <a:cs typeface="Times New Roman" panose="02020603050405020304" pitchFamily="18" charset="0"/>
            </a:endParaRPr>
          </a:p>
        </p:txBody>
      </p:sp>
      <p:sp>
        <p:nvSpPr>
          <p:cNvPr id="7" name="TextBox 6">
            <a:extLst>
              <a:ext uri="{FF2B5EF4-FFF2-40B4-BE49-F238E27FC236}">
                <a16:creationId xmlns="" xmlns:a16="http://schemas.microsoft.com/office/drawing/2014/main" id="{553FABE4-0CB8-A357-58EC-E8E6192EEC8B}"/>
              </a:ext>
            </a:extLst>
          </p:cNvPr>
          <p:cNvSpPr txBox="1"/>
          <p:nvPr/>
        </p:nvSpPr>
        <p:spPr>
          <a:xfrm>
            <a:off x="1106906" y="4008835"/>
            <a:ext cx="10323094" cy="1846659"/>
          </a:xfrm>
          <a:prstGeom prst="rect">
            <a:avLst/>
          </a:prstGeom>
          <a:noFill/>
        </p:spPr>
        <p:txBody>
          <a:bodyPr wrap="square">
            <a:spAutoFit/>
          </a:bodyPr>
          <a:lstStyle/>
          <a:p>
            <a:pPr marL="342900" lvl="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Finding reliable information about diseases, its treatment and management. This will help the chronically ill patient to feel that he/she in taking positive step and give a feeling of control over their illness.</a:t>
            </a:r>
          </a:p>
          <a:p>
            <a:pPr marL="285750" lvl="0" indent="-285750"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lvl="0"/>
            <a:endParaRPr lang="en-US" dirty="0"/>
          </a:p>
        </p:txBody>
      </p:sp>
    </p:spTree>
    <p:extLst>
      <p:ext uri="{BB962C8B-B14F-4D97-AF65-F5344CB8AC3E}">
        <p14:creationId xmlns:p14="http://schemas.microsoft.com/office/powerpoint/2010/main" val="42382018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75D1488-E69F-8055-ADDA-0726C4020B55}"/>
              </a:ext>
            </a:extLst>
          </p:cNvPr>
          <p:cNvSpPr txBox="1"/>
          <p:nvPr/>
        </p:nvSpPr>
        <p:spPr>
          <a:xfrm>
            <a:off x="737935" y="814847"/>
            <a:ext cx="10848476" cy="830997"/>
          </a:xfrm>
          <a:prstGeom prst="rect">
            <a:avLst/>
          </a:prstGeom>
          <a:noFill/>
        </p:spPr>
        <p:txBody>
          <a:bodyPr wrap="square">
            <a:spAutoFit/>
          </a:bodyPr>
          <a:lstStyle/>
          <a:p>
            <a:pPr marL="342900" lvl="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Setting the patient’s goal- short term goals will give a sense of how the person is progressing</a:t>
            </a:r>
          </a:p>
        </p:txBody>
      </p:sp>
      <p:sp>
        <p:nvSpPr>
          <p:cNvPr id="5" name="TextBox 4">
            <a:extLst>
              <a:ext uri="{FF2B5EF4-FFF2-40B4-BE49-F238E27FC236}">
                <a16:creationId xmlns="" xmlns:a16="http://schemas.microsoft.com/office/drawing/2014/main" id="{EA6269EE-DA68-9000-C238-05221C8E39D1}"/>
              </a:ext>
            </a:extLst>
          </p:cNvPr>
          <p:cNvSpPr txBox="1"/>
          <p:nvPr/>
        </p:nvSpPr>
        <p:spPr>
          <a:xfrm>
            <a:off x="737934" y="1932059"/>
            <a:ext cx="10523623" cy="2308324"/>
          </a:xfrm>
          <a:prstGeom prst="rect">
            <a:avLst/>
          </a:prstGeom>
          <a:noFill/>
        </p:spPr>
        <p:txBody>
          <a:bodyPr wrap="square">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Developing skills to manage the chronically ill patient’s pain and fatigue</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Getting emotional support: Speaking to others who are going through what the patient is going through, and leaning on family and friends when there is need.</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Planning for the future</a:t>
            </a:r>
          </a:p>
        </p:txBody>
      </p:sp>
      <p:sp>
        <p:nvSpPr>
          <p:cNvPr id="7" name="TextBox 6">
            <a:extLst>
              <a:ext uri="{FF2B5EF4-FFF2-40B4-BE49-F238E27FC236}">
                <a16:creationId xmlns="" xmlns:a16="http://schemas.microsoft.com/office/drawing/2014/main" id="{07F671EE-1E88-505E-8292-14F921706856}"/>
              </a:ext>
            </a:extLst>
          </p:cNvPr>
          <p:cNvSpPr txBox="1"/>
          <p:nvPr/>
        </p:nvSpPr>
        <p:spPr>
          <a:xfrm>
            <a:off x="737934" y="4775614"/>
            <a:ext cx="10968791" cy="1200329"/>
          </a:xfrm>
          <a:prstGeom prst="rect">
            <a:avLst/>
          </a:prstGeom>
          <a:noFill/>
        </p:spPr>
        <p:txBody>
          <a:bodyPr wrap="square">
            <a:spAutoFit/>
          </a:bodyPr>
          <a:lstStyle/>
          <a:p>
            <a:pPr marL="342900" lvl="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Understanding the medication. This includes what it is specifically for. It provides special instruction to be followed in taking medicine/ treatment and potential side effects.</a:t>
            </a:r>
          </a:p>
        </p:txBody>
      </p:sp>
    </p:spTree>
    <p:extLst>
      <p:ext uri="{BB962C8B-B14F-4D97-AF65-F5344CB8AC3E}">
        <p14:creationId xmlns:p14="http://schemas.microsoft.com/office/powerpoint/2010/main" val="16446920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600" b="1" dirty="0">
                <a:solidFill>
                  <a:schemeClr val="dk1"/>
                </a:solidFill>
                <a:latin typeface="Times New Roman" panose="02020603050405020304" pitchFamily="18" charset="0"/>
                <a:ea typeface="+mn-ea"/>
                <a:cs typeface="Times New Roman" panose="02020603050405020304" pitchFamily="18" charset="0"/>
              </a:rPr>
              <a:t>Pain management</a:t>
            </a:r>
          </a:p>
        </p:txBody>
      </p:sp>
      <p:sp>
        <p:nvSpPr>
          <p:cNvPr id="3" name="Content Placeholder 2"/>
          <p:cNvSpPr>
            <a:spLocks noGrp="1"/>
          </p:cNvSpPr>
          <p:nvPr>
            <p:ph idx="1"/>
          </p:nvPr>
        </p:nvSpPr>
        <p:spPr>
          <a:xfrm>
            <a:off x="513347" y="1395664"/>
            <a:ext cx="11217442" cy="4525963"/>
          </a:xfrm>
        </p:spPr>
        <p:txBody>
          <a:bodyPr>
            <a:normAutofit/>
          </a:bodyPr>
          <a:lstStyle/>
          <a:p>
            <a:pPr algn="just"/>
            <a:r>
              <a:rPr lang="en-US" sz="2400" dirty="0">
                <a:latin typeface="Times New Roman" panose="02020603050405020304" pitchFamily="18" charset="0"/>
                <a:cs typeface="Times New Roman" panose="02020603050405020304" pitchFamily="18" charset="0"/>
              </a:rPr>
              <a:t>Taking pain relieving medicine. Medication includes both non-prescription medication and prescription medication</a:t>
            </a:r>
          </a:p>
          <a:p>
            <a:pPr algn="just"/>
            <a:r>
              <a:rPr lang="en-US" sz="2400" dirty="0">
                <a:latin typeface="Times New Roman" panose="02020603050405020304" pitchFamily="18" charset="0"/>
                <a:cs typeface="Times New Roman" panose="02020603050405020304" pitchFamily="18" charset="0"/>
              </a:rPr>
              <a:t>Under going physical therapies. There are many non-drug treatments. A combination of treatments and therapies (Physio therapy) is some time more effective. Non drug therapies include cognitive behavioral therapy (cognitive behavioral therapy changes how a person thinks and in turn how he feels and behave). </a:t>
            </a:r>
          </a:p>
        </p:txBody>
      </p:sp>
      <p:sp>
        <p:nvSpPr>
          <p:cNvPr id="5" name="TextBox 4">
            <a:extLst>
              <a:ext uri="{FF2B5EF4-FFF2-40B4-BE49-F238E27FC236}">
                <a16:creationId xmlns="" xmlns:a16="http://schemas.microsoft.com/office/drawing/2014/main" id="{349C5F37-E1D9-BEE3-DB2A-929C35921D9B}"/>
              </a:ext>
            </a:extLst>
          </p:cNvPr>
          <p:cNvSpPr txBox="1"/>
          <p:nvPr/>
        </p:nvSpPr>
        <p:spPr>
          <a:xfrm>
            <a:off x="1255059" y="3863182"/>
            <a:ext cx="10475730" cy="2400657"/>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Physical therapies also are found in stretching exercises, walking and other exercises</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Relaxation and stress management techniques</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Transcutaneous electrical stimulation therapies </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Applying heat packs and cold packs and </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Acupuncture</a:t>
            </a:r>
          </a:p>
        </p:txBody>
      </p:sp>
    </p:spTree>
    <p:extLst>
      <p:ext uri="{BB962C8B-B14F-4D97-AF65-F5344CB8AC3E}">
        <p14:creationId xmlns:p14="http://schemas.microsoft.com/office/powerpoint/2010/main" val="20482239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sz="3100" dirty="0">
                <a:solidFill>
                  <a:schemeClr val="dk1"/>
                </a:solidFill>
                <a:latin typeface="Cooper Black" panose="0208090404030B020404" pitchFamily="18" charset="0"/>
                <a:ea typeface="+mn-ea"/>
                <a:cs typeface="+mn-cs"/>
              </a:rPr>
              <a:t>Taking care of mental health:</a:t>
            </a:r>
            <a:br>
              <a:rPr lang="en-US" sz="3100" dirty="0">
                <a:solidFill>
                  <a:schemeClr val="dk1"/>
                </a:solidFill>
                <a:latin typeface="Cooper Black" panose="0208090404030B020404" pitchFamily="18" charset="0"/>
                <a:ea typeface="+mn-ea"/>
                <a:cs typeface="+mn-cs"/>
              </a:rPr>
            </a:br>
            <a:endParaRPr lang="en-US" sz="3100" dirty="0">
              <a:solidFill>
                <a:schemeClr val="dk1"/>
              </a:solidFill>
              <a:latin typeface="Cooper Black" panose="0208090404030B020404" pitchFamily="18" charset="0"/>
              <a:ea typeface="+mn-ea"/>
              <a:cs typeface="+mn-cs"/>
            </a:endParaRPr>
          </a:p>
        </p:txBody>
      </p:sp>
      <p:sp>
        <p:nvSpPr>
          <p:cNvPr id="3" name="Content Placeholder 2"/>
          <p:cNvSpPr>
            <a:spLocks noGrp="1"/>
          </p:cNvSpPr>
          <p:nvPr>
            <p:ph idx="1"/>
          </p:nvPr>
        </p:nvSpPr>
        <p:spPr>
          <a:xfrm>
            <a:off x="368969" y="1531238"/>
            <a:ext cx="10515600" cy="4351338"/>
          </a:xfrm>
        </p:spPr>
        <p:txBody>
          <a:bodyPr>
            <a:normAutofit/>
          </a:bodyPr>
          <a:lstStyle/>
          <a:p>
            <a:pPr marL="457200" lvl="1" indent="0" algn="just">
              <a:spcBef>
                <a:spcPct val="20000"/>
              </a:spcBef>
              <a:buNone/>
            </a:pPr>
            <a:r>
              <a:rPr lang="en-US" sz="2000" b="1" dirty="0" smtClean="0">
                <a:latin typeface="Times New Roman" panose="02020603050405020304" pitchFamily="18" charset="0"/>
                <a:cs typeface="Times New Roman" panose="02020603050405020304" pitchFamily="18" charset="0"/>
              </a:rPr>
              <a:t>Symptoms </a:t>
            </a:r>
            <a:r>
              <a:rPr lang="en-US" sz="2000" b="1" dirty="0">
                <a:latin typeface="Times New Roman" panose="02020603050405020304" pitchFamily="18" charset="0"/>
                <a:cs typeface="Times New Roman" panose="02020603050405020304" pitchFamily="18" charset="0"/>
              </a:rPr>
              <a:t>of chronic diseases </a:t>
            </a:r>
            <a:r>
              <a:rPr lang="en-US" sz="2000" dirty="0">
                <a:latin typeface="Times New Roman" panose="02020603050405020304" pitchFamily="18" charset="0"/>
                <a:cs typeface="Times New Roman" panose="02020603050405020304" pitchFamily="18" charset="0"/>
              </a:rPr>
              <a:t>– tiredness, aches and pains are not quite often visible. </a:t>
            </a:r>
            <a:r>
              <a:rPr lang="en-US" sz="2000" dirty="0">
                <a:latin typeface="Times New Roman" panose="02020603050405020304" pitchFamily="18" charset="0"/>
                <a:cs typeface="Times New Roman" panose="02020603050405020304" pitchFamily="18" charset="0"/>
              </a:rPr>
              <a:t>It is not just physical symptoms that affect a chronically ill. They can affect the limits on life styles and living with constant pain, it can impact mentally too. </a:t>
            </a:r>
          </a:p>
          <a:p>
            <a:pPr marL="457200" lvl="1" indent="0" algn="just">
              <a:spcBef>
                <a:spcPct val="20000"/>
              </a:spcBef>
              <a:buNone/>
            </a:pPr>
            <a:r>
              <a:rPr lang="en-US" sz="2000" dirty="0">
                <a:latin typeface="Times New Roman" panose="02020603050405020304" pitchFamily="18" charset="0"/>
                <a:cs typeface="Times New Roman" panose="02020603050405020304" pitchFamily="18" charset="0"/>
              </a:rPr>
              <a:t>Worrying or thinking negatively adds to the patient’s anxiety or stress. They can affect the overall health.</a:t>
            </a:r>
          </a:p>
          <a:p>
            <a:endParaRPr lang="en-US" dirty="0"/>
          </a:p>
        </p:txBody>
      </p:sp>
      <p:sp>
        <p:nvSpPr>
          <p:cNvPr id="4" name="Content Placeholder 2">
            <a:extLst>
              <a:ext uri="{FF2B5EF4-FFF2-40B4-BE49-F238E27FC236}">
                <a16:creationId xmlns="" xmlns:a16="http://schemas.microsoft.com/office/drawing/2014/main" id="{7399C0ED-E4B6-4BDC-8769-14665B5D6A8B}"/>
              </a:ext>
            </a:extLst>
          </p:cNvPr>
          <p:cNvSpPr txBox="1">
            <a:spLocks/>
          </p:cNvSpPr>
          <p:nvPr/>
        </p:nvSpPr>
        <p:spPr>
          <a:xfrm>
            <a:off x="609600" y="3706907"/>
            <a:ext cx="10972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US" sz="2000" b="1" dirty="0">
                <a:latin typeface="Times New Roman" panose="02020603050405020304" pitchFamily="18" charset="0"/>
                <a:cs typeface="Times New Roman" panose="02020603050405020304" pitchFamily="18" charset="0"/>
              </a:rPr>
              <a:t>What are the ways to reduce worrying?</a:t>
            </a:r>
          </a:p>
          <a:p>
            <a:pPr lvl="1">
              <a:buFont typeface="Wingdings" panose="05000000000000000000" pitchFamily="2" charset="2"/>
              <a:buChar char="v"/>
            </a:pPr>
            <a:r>
              <a:rPr lang="en-US" sz="2000" dirty="0"/>
              <a:t>Write down the concerns and the possible consequences even if they are negative</a:t>
            </a:r>
          </a:p>
          <a:p>
            <a:pPr lvl="1">
              <a:buFont typeface="Wingdings" panose="05000000000000000000" pitchFamily="2" charset="2"/>
              <a:buChar char="v"/>
            </a:pPr>
            <a:r>
              <a:rPr lang="en-US" sz="2000" dirty="0"/>
              <a:t>Find out the information about prognosis</a:t>
            </a:r>
          </a:p>
          <a:p>
            <a:pPr lvl="1">
              <a:buFont typeface="Wingdings" panose="05000000000000000000" pitchFamily="2" charset="2"/>
              <a:buChar char="v"/>
            </a:pPr>
            <a:r>
              <a:rPr lang="en-US" sz="2000" dirty="0"/>
              <a:t>Talking to a friend, a supporting group or seek specialist help</a:t>
            </a:r>
          </a:p>
          <a:p>
            <a:pPr lvl="1">
              <a:buFont typeface="Wingdings" panose="05000000000000000000" pitchFamily="2" charset="2"/>
              <a:buChar char="v"/>
            </a:pPr>
            <a:r>
              <a:rPr lang="en-US" sz="2000" dirty="0"/>
              <a:t>Focusing on a variety of things each day</a:t>
            </a: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34388277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r>
              <a:rPr lang="en-US" sz="3100" b="1" dirty="0">
                <a:solidFill>
                  <a:schemeClr val="dk1"/>
                </a:solidFill>
                <a:latin typeface="Times New Roman" panose="02020603050405020304" pitchFamily="18" charset="0"/>
                <a:ea typeface="+mn-ea"/>
                <a:cs typeface="Times New Roman" panose="02020603050405020304" pitchFamily="18" charset="0"/>
              </a:rPr>
              <a:t>Good life style choices for better quality of life</a:t>
            </a:r>
            <a:br>
              <a:rPr lang="en-US" sz="3100" b="1" dirty="0">
                <a:solidFill>
                  <a:schemeClr val="dk1"/>
                </a:solidFill>
                <a:latin typeface="Times New Roman" panose="02020603050405020304" pitchFamily="18" charset="0"/>
                <a:ea typeface="+mn-ea"/>
                <a:cs typeface="Times New Roman" panose="02020603050405020304" pitchFamily="18" charset="0"/>
              </a:rPr>
            </a:br>
            <a:endParaRPr lang="en-US" sz="3100" b="1" dirty="0">
              <a:solidFill>
                <a:schemeClr val="dk1"/>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a:xfrm>
            <a:off x="995082" y="1600200"/>
            <a:ext cx="10358718" cy="4829196"/>
          </a:xfrm>
        </p:spPr>
        <p:txBody>
          <a:bodyPr>
            <a:normAutofit/>
          </a:bodyPr>
          <a:lstStyle/>
          <a:p>
            <a:pPr algn="just">
              <a:lnSpc>
                <a:spcPct val="110000"/>
              </a:lnSpc>
            </a:pPr>
            <a:r>
              <a:rPr lang="en-US" sz="2400" dirty="0">
                <a:latin typeface="Times New Roman" panose="02020603050405020304" pitchFamily="18" charset="0"/>
                <a:cs typeface="Times New Roman" panose="02020603050405020304" pitchFamily="18" charset="0"/>
              </a:rPr>
              <a:t>Maintain a healthy life style can help the chronically ill patient to feel well, while living with chronic illness and its condition. This includes eating well, doing as much physical activity as the patient’s condition will allow, and getting good rest.</a:t>
            </a:r>
          </a:p>
          <a:p>
            <a:pPr algn="just">
              <a:lnSpc>
                <a:spcPct val="110000"/>
              </a:lnSpc>
            </a:pPr>
            <a:r>
              <a:rPr lang="en-US" sz="2400" dirty="0">
                <a:latin typeface="Times New Roman" panose="02020603050405020304" pitchFamily="18" charset="0"/>
                <a:cs typeface="Times New Roman" panose="02020603050405020304" pitchFamily="18" charset="0"/>
              </a:rPr>
              <a:t>Trying to do some physical activity each day, even if it is only a small amount, can help with managing pain and lift your mood. Speak with the doctor or physiotherapist about exercise that may help.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800" b="1" dirty="0">
                <a:solidFill>
                  <a:srgbClr val="0070C0"/>
                </a:solidFill>
                <a:latin typeface="Times New Roman" panose="02020603050405020304" pitchFamily="18" charset="0"/>
                <a:cs typeface="Times New Roman" panose="02020603050405020304" pitchFamily="18" charset="0"/>
              </a:rPr>
              <a:t>Sleep is also very important if there is  a health condition</a:t>
            </a:r>
          </a:p>
          <a:p>
            <a:pPr>
              <a:buNone/>
            </a:pPr>
            <a:endParaRPr lang="en-US" dirty="0"/>
          </a:p>
        </p:txBody>
      </p:sp>
    </p:spTree>
    <p:extLst>
      <p:ext uri="{BB962C8B-B14F-4D97-AF65-F5344CB8AC3E}">
        <p14:creationId xmlns:p14="http://schemas.microsoft.com/office/powerpoint/2010/main" val="19615071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36002"/>
            <a:ext cx="10972800" cy="1143000"/>
          </a:xfrm>
        </p:spPr>
        <p:txBody>
          <a:bodyPr>
            <a:normAutofit fontScale="90000"/>
          </a:bodyPr>
          <a:lstStyle/>
          <a:p>
            <a:r>
              <a:rPr lang="en-US" dirty="0"/>
              <a:t/>
            </a:r>
            <a:br>
              <a:rPr lang="en-US" dirty="0"/>
            </a:br>
            <a:r>
              <a:rPr lang="en-US" sz="3100" b="1" dirty="0">
                <a:solidFill>
                  <a:schemeClr val="dk1"/>
                </a:solidFill>
                <a:latin typeface="Times New Roman" panose="02020603050405020304" pitchFamily="18" charset="0"/>
                <a:ea typeface="+mn-ea"/>
                <a:cs typeface="Times New Roman" panose="02020603050405020304" pitchFamily="18" charset="0"/>
              </a:rPr>
              <a:t>Getting support from others for better quality of life:</a:t>
            </a:r>
            <a:br>
              <a:rPr lang="en-US" sz="3100" b="1" dirty="0">
                <a:solidFill>
                  <a:schemeClr val="dk1"/>
                </a:solidFill>
                <a:latin typeface="Times New Roman" panose="02020603050405020304" pitchFamily="18" charset="0"/>
                <a:ea typeface="+mn-ea"/>
                <a:cs typeface="Times New Roman" panose="02020603050405020304" pitchFamily="18" charset="0"/>
              </a:rPr>
            </a:br>
            <a:endParaRPr lang="en-US" sz="3100" b="1" dirty="0">
              <a:solidFill>
                <a:schemeClr val="dk1"/>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a:xfrm>
            <a:off x="797859" y="1812085"/>
            <a:ext cx="10972800" cy="4525963"/>
          </a:xfrm>
        </p:spPr>
        <p:txBody>
          <a:bodyPr>
            <a:normAutofit/>
          </a:bodyPr>
          <a:lstStyle/>
          <a:p>
            <a:pPr algn="just">
              <a:lnSpc>
                <a:spcPct val="2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Social support can help chronically ill person to maintain a good quality of life. </a:t>
            </a:r>
          </a:p>
          <a:p>
            <a:pPr algn="just">
              <a:lnSpc>
                <a:spcPct val="2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When a chronically ill person has a long term adverse health condition the person must plan to catch up with family and friends and inform about their condition and let them know how they can help</a:t>
            </a:r>
          </a:p>
          <a:p>
            <a:pPr algn="just">
              <a:lnSpc>
                <a:spcPct val="2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Consider new sources of support such as support groups, clubs, interest group and volunteer opportunities.</a:t>
            </a:r>
          </a:p>
          <a:p>
            <a:pPr>
              <a:lnSpc>
                <a:spcPct val="150000"/>
              </a:lnSpc>
            </a:pPr>
            <a:endParaRPr lang="en-US" sz="2400" dirty="0"/>
          </a:p>
        </p:txBody>
      </p:sp>
    </p:spTree>
    <p:extLst>
      <p:ext uri="{BB962C8B-B14F-4D97-AF65-F5344CB8AC3E}">
        <p14:creationId xmlns:p14="http://schemas.microsoft.com/office/powerpoint/2010/main" val="39370506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 </a:t>
            </a:r>
            <a:br>
              <a:rPr lang="en-US" dirty="0"/>
            </a:br>
            <a:r>
              <a:rPr lang="en-US" sz="3100" b="1" dirty="0">
                <a:solidFill>
                  <a:schemeClr val="dk1"/>
                </a:solidFill>
                <a:latin typeface="Times New Roman" panose="02020603050405020304" pitchFamily="18" charset="0"/>
                <a:ea typeface="+mn-ea"/>
                <a:cs typeface="Times New Roman" panose="02020603050405020304" pitchFamily="18" charset="0"/>
              </a:rPr>
              <a:t>Dealing with multiple health condition:</a:t>
            </a:r>
            <a:br>
              <a:rPr lang="en-US" sz="3100" b="1" dirty="0">
                <a:solidFill>
                  <a:schemeClr val="dk1"/>
                </a:solidFill>
                <a:latin typeface="Times New Roman" panose="02020603050405020304" pitchFamily="18" charset="0"/>
                <a:ea typeface="+mn-ea"/>
                <a:cs typeface="Times New Roman" panose="02020603050405020304" pitchFamily="18" charset="0"/>
              </a:rPr>
            </a:br>
            <a:endParaRPr lang="en-US" sz="3100" b="1" dirty="0">
              <a:solidFill>
                <a:schemeClr val="dk1"/>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2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achieve this chronically ill person need to deal with a number of health care professionals. The most important thing to remember about seeing multiple healthcare professionals is to let each one know who else the patient are seeing and for what health condition. </a:t>
            </a:r>
          </a:p>
          <a:p>
            <a:pPr algn="just">
              <a:lnSpc>
                <a:spcPct val="20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24658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45A4F9-F99C-BBFE-88C8-8B580DA278D3}"/>
              </a:ext>
            </a:extLst>
          </p:cNvPr>
          <p:cNvSpPr>
            <a:spLocks noGrp="1"/>
          </p:cNvSpPr>
          <p:nvPr>
            <p:ph type="ctrTitle"/>
          </p:nvPr>
        </p:nvSpPr>
        <p:spPr>
          <a:xfrm>
            <a:off x="0" y="-583964"/>
            <a:ext cx="8982956" cy="2387600"/>
          </a:xfrm>
        </p:spPr>
        <p:txBody>
          <a:bodyPr>
            <a:normAutofit/>
          </a:bodyPr>
          <a:lstStyle/>
          <a:p>
            <a:r>
              <a:rPr lang="en-US" sz="3600" dirty="0">
                <a:solidFill>
                  <a:srgbClr val="C00000"/>
                </a:solidFill>
                <a:latin typeface="Cooper Black" panose="0208090404030B020404" pitchFamily="18" charset="0"/>
                <a:ea typeface="+mn-ea"/>
                <a:cs typeface="+mn-cs"/>
              </a:rPr>
              <a:t>Health and wellness</a:t>
            </a:r>
            <a:endParaRPr lang="en-IN" sz="3600" dirty="0">
              <a:solidFill>
                <a:srgbClr val="C00000"/>
              </a:solidFill>
              <a:latin typeface="Cooper Black" panose="0208090404030B020404" pitchFamily="18" charset="0"/>
              <a:ea typeface="+mn-ea"/>
              <a:cs typeface="+mn-cs"/>
            </a:endParaRPr>
          </a:p>
        </p:txBody>
      </p:sp>
      <p:sp>
        <p:nvSpPr>
          <p:cNvPr id="9" name="TextBox 8">
            <a:extLst>
              <a:ext uri="{FF2B5EF4-FFF2-40B4-BE49-F238E27FC236}">
                <a16:creationId xmlns="" xmlns:a16="http://schemas.microsoft.com/office/drawing/2014/main" id="{5C4AAEEB-F028-02A4-BC6F-5CB76E6F7400}"/>
              </a:ext>
            </a:extLst>
          </p:cNvPr>
          <p:cNvSpPr txBox="1"/>
          <p:nvPr/>
        </p:nvSpPr>
        <p:spPr>
          <a:xfrm>
            <a:off x="1351783" y="2026468"/>
            <a:ext cx="8513686" cy="3257174"/>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800" dirty="0">
                <a:solidFill>
                  <a:srgbClr val="0070C0"/>
                </a:solidFill>
                <a:latin typeface="Times New Roman" panose="02020603050405020304" pitchFamily="18" charset="0"/>
                <a:cs typeface="Times New Roman" panose="02020603050405020304" pitchFamily="18" charset="0"/>
              </a:rPr>
              <a:t>Health is a state of well-being</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800" dirty="0">
                <a:solidFill>
                  <a:srgbClr val="0070C0"/>
                </a:solidFill>
                <a:latin typeface="Times New Roman" panose="02020603050405020304" pitchFamily="18" charset="0"/>
                <a:cs typeface="Times New Roman" panose="02020603050405020304" pitchFamily="18" charset="0"/>
              </a:rPr>
              <a:t>Wellness is the state of living a healthy life styles</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800" dirty="0">
                <a:solidFill>
                  <a:srgbClr val="0070C0"/>
                </a:solidFill>
                <a:latin typeface="Times New Roman" panose="02020603050405020304" pitchFamily="18" charset="0"/>
                <a:cs typeface="Times New Roman" panose="02020603050405020304" pitchFamily="18" charset="0"/>
              </a:rPr>
              <a:t>Health refers to physical, mental and social Well=being</a:t>
            </a:r>
          </a:p>
          <a:p>
            <a:pPr marL="342900" marR="0" lvl="0" indent="-34290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lang="en-US" sz="2800" dirty="0">
                <a:solidFill>
                  <a:srgbClr val="0070C0"/>
                </a:solidFill>
                <a:latin typeface="Times New Roman" panose="02020603050405020304" pitchFamily="18" charset="0"/>
                <a:cs typeface="Times New Roman" panose="02020603050405020304" pitchFamily="18" charset="0"/>
              </a:rPr>
              <a:t>Wellness aims to enhance well-being. It can affect physical, mental and social well-being</a:t>
            </a:r>
            <a:endParaRPr lang="en-IN" sz="28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94245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512C0F-FBDF-0354-5BC1-3001E1B4979E}"/>
              </a:ext>
            </a:extLst>
          </p:cNvPr>
          <p:cNvSpPr>
            <a:spLocks noGrp="1"/>
          </p:cNvSpPr>
          <p:nvPr>
            <p:ph type="title"/>
          </p:nvPr>
        </p:nvSpPr>
        <p:spPr>
          <a:xfrm>
            <a:off x="489498" y="505667"/>
            <a:ext cx="7844161" cy="772358"/>
          </a:xfrm>
        </p:spPr>
        <p:txBody>
          <a:bodyPr/>
          <a:lstStyle/>
          <a:p>
            <a:pPr algn="ctr"/>
            <a:r>
              <a:rPr lang="en-US" sz="3600" dirty="0">
                <a:solidFill>
                  <a:srgbClr val="C00000"/>
                </a:solidFill>
                <a:latin typeface="Cooper Black" panose="0208090404030B020404" pitchFamily="18" charset="0"/>
                <a:ea typeface="+mn-ea"/>
                <a:cs typeface="+mn-cs"/>
              </a:rPr>
              <a:t>Health and wellness in youth</a:t>
            </a:r>
            <a:endParaRPr lang="en-IN" sz="3600" dirty="0">
              <a:solidFill>
                <a:srgbClr val="C00000"/>
              </a:solidFill>
              <a:latin typeface="Cooper Black" panose="0208090404030B020404" pitchFamily="18" charset="0"/>
              <a:ea typeface="+mn-ea"/>
              <a:cs typeface="+mn-cs"/>
            </a:endParaRPr>
          </a:p>
        </p:txBody>
      </p:sp>
      <p:sp>
        <p:nvSpPr>
          <p:cNvPr id="3" name="Content Placeholder 2">
            <a:extLst>
              <a:ext uri="{FF2B5EF4-FFF2-40B4-BE49-F238E27FC236}">
                <a16:creationId xmlns="" xmlns:a16="http://schemas.microsoft.com/office/drawing/2014/main" id="{40DD687E-7922-1F80-B919-16FB25C0D0C7}"/>
              </a:ext>
            </a:extLst>
          </p:cNvPr>
          <p:cNvSpPr>
            <a:spLocks noGrp="1"/>
          </p:cNvSpPr>
          <p:nvPr>
            <p:ph idx="1"/>
          </p:nvPr>
        </p:nvSpPr>
        <p:spPr>
          <a:xfrm>
            <a:off x="1344227" y="1674704"/>
            <a:ext cx="10515600" cy="4351338"/>
          </a:xfrm>
        </p:spPr>
        <p:txBody>
          <a:bodyPr>
            <a:normAutofit/>
          </a:bodyPr>
          <a:lstStyle/>
          <a:p>
            <a:pPr algn="just">
              <a:lnSpc>
                <a:spcPct val="11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 levels of health and wellness in youth help them flourish in life as well as act as a protective factor against some of the challenges that may arise during this period. </a:t>
            </a:r>
          </a:p>
          <a:p>
            <a:pPr algn="just">
              <a:lnSpc>
                <a:spcPct val="11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Youth with strong mental well-being are able to manage their emotions, enjoy positive relationships with friends and family.</a:t>
            </a:r>
          </a:p>
          <a:p>
            <a:pPr algn="just">
              <a:lnSpc>
                <a:spcPct val="11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02434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2365C6-084D-D15A-9B98-87CA05E4BE8C}"/>
              </a:ext>
            </a:extLst>
          </p:cNvPr>
          <p:cNvSpPr>
            <a:spLocks noGrp="1"/>
          </p:cNvSpPr>
          <p:nvPr>
            <p:ph type="title"/>
          </p:nvPr>
        </p:nvSpPr>
        <p:spPr>
          <a:xfrm>
            <a:off x="838200" y="168263"/>
            <a:ext cx="10515600" cy="1325563"/>
          </a:xfrm>
        </p:spPr>
        <p:txBody>
          <a:bodyPr>
            <a:normAutofit/>
          </a:bodyPr>
          <a:lstStyle/>
          <a:p>
            <a:pPr algn="ctr"/>
            <a:r>
              <a:rPr lang="en-IN" sz="3600" dirty="0">
                <a:solidFill>
                  <a:srgbClr val="C00000"/>
                </a:solidFill>
                <a:latin typeface="Cooper Black" panose="0208090404030B020404" pitchFamily="18" charset="0"/>
                <a:ea typeface="+mn-ea"/>
                <a:cs typeface="+mn-cs"/>
              </a:rPr>
              <a:t>Challenges facing youth</a:t>
            </a:r>
          </a:p>
        </p:txBody>
      </p:sp>
      <p:sp>
        <p:nvSpPr>
          <p:cNvPr id="3" name="Content Placeholder 2">
            <a:extLst>
              <a:ext uri="{FF2B5EF4-FFF2-40B4-BE49-F238E27FC236}">
                <a16:creationId xmlns="" xmlns:a16="http://schemas.microsoft.com/office/drawing/2014/main" id="{E6106FE4-CF69-FE68-019B-C8E54DD00F9A}"/>
              </a:ext>
            </a:extLst>
          </p:cNvPr>
          <p:cNvSpPr>
            <a:spLocks noGrp="1"/>
          </p:cNvSpPr>
          <p:nvPr>
            <p:ph idx="1"/>
          </p:nvPr>
        </p:nvSpPr>
        <p:spPr>
          <a:xfrm>
            <a:off x="838199" y="1638901"/>
            <a:ext cx="10904621" cy="4221841"/>
          </a:xfrm>
        </p:spPr>
        <p:txBody>
          <a:bodyPr>
            <a:normAutofit/>
          </a:bodyPr>
          <a:lstStyle/>
          <a:p>
            <a:pPr algn="just">
              <a:buFont typeface="Wingdings" panose="05000000000000000000" pitchFamily="2" charset="2"/>
              <a:buChar char="Ø"/>
            </a:pPr>
            <a:r>
              <a:rPr lang="en-US" dirty="0"/>
              <a:t> </a:t>
            </a:r>
            <a:r>
              <a:rPr lang="en-US" dirty="0">
                <a:latin typeface="Times New Roman" panose="02020603050405020304" pitchFamily="18" charset="0"/>
                <a:cs typeface="Times New Roman" panose="02020603050405020304" pitchFamily="18" charset="0"/>
              </a:rPr>
              <a:t>In may 2014 W H O published a major report called “Health for the world’s adolescent</a:t>
            </a:r>
            <a:r>
              <a:rPr lang="en-US"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2"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The report analyses what is known about adolescents’ health</a:t>
            </a:r>
          </a:p>
          <a:p>
            <a:pPr lvl="2" algn="just">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It includes topic of what promotes or undermines it, gaps in policies and services, and draws together guidance and  recommendations.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48773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D6125DF-0C82-60B7-8DCC-E144171B0BA8}"/>
              </a:ext>
            </a:extLst>
          </p:cNvPr>
          <p:cNvSpPr>
            <a:spLocks noGrp="1"/>
          </p:cNvSpPr>
          <p:nvPr>
            <p:ph type="title"/>
          </p:nvPr>
        </p:nvSpPr>
        <p:spPr>
          <a:xfrm>
            <a:off x="164431" y="268636"/>
            <a:ext cx="10515600" cy="1325563"/>
          </a:xfrm>
        </p:spPr>
        <p:txBody>
          <a:bodyPr/>
          <a:lstStyle/>
          <a:p>
            <a:pPr algn="ctr"/>
            <a:r>
              <a:rPr lang="en-US" sz="3600" dirty="0">
                <a:solidFill>
                  <a:srgbClr val="C00000"/>
                </a:solidFill>
                <a:latin typeface="Cooper Black" panose="0208090404030B020404" pitchFamily="18" charset="0"/>
                <a:ea typeface="+mn-ea"/>
                <a:cs typeface="+mn-cs"/>
              </a:rPr>
              <a:t>Main health issues faced by youth</a:t>
            </a:r>
            <a:endParaRPr lang="en-IN" sz="3600" dirty="0">
              <a:solidFill>
                <a:srgbClr val="C00000"/>
              </a:solidFill>
              <a:latin typeface="Cooper Black" panose="0208090404030B020404" pitchFamily="18" charset="0"/>
              <a:ea typeface="+mn-ea"/>
              <a:cs typeface="+mn-cs"/>
            </a:endParaRPr>
          </a:p>
        </p:txBody>
      </p:sp>
      <p:sp>
        <p:nvSpPr>
          <p:cNvPr id="3" name="Content Placeholder 2">
            <a:extLst>
              <a:ext uri="{FF2B5EF4-FFF2-40B4-BE49-F238E27FC236}">
                <a16:creationId xmlns="" xmlns:a16="http://schemas.microsoft.com/office/drawing/2014/main" id="{A3986E36-688D-C1E8-D07A-01648B02497C}"/>
              </a:ext>
            </a:extLst>
          </p:cNvPr>
          <p:cNvSpPr>
            <a:spLocks noGrp="1"/>
          </p:cNvSpPr>
          <p:nvPr>
            <p:ph idx="1"/>
          </p:nvPr>
        </p:nvSpPr>
        <p:spPr>
          <a:xfrm>
            <a:off x="513346" y="1594199"/>
            <a:ext cx="10904622" cy="4351338"/>
          </a:xfrm>
        </p:spPr>
        <p:txBody>
          <a:bodyPr>
            <a:normAutofit/>
          </a:bodyPr>
          <a:lstStyle/>
          <a:p>
            <a:pPr marL="514350" indent="-514350">
              <a:lnSpc>
                <a:spcPct val="150000"/>
              </a:lnSpc>
              <a:buAutoNum type="arabicPeriod"/>
            </a:pPr>
            <a:r>
              <a:rPr lang="en-IN" sz="2400" b="1" dirty="0">
                <a:solidFill>
                  <a:schemeClr val="dk1"/>
                </a:solidFill>
                <a:latin typeface="Times New Roman" panose="02020603050405020304" pitchFamily="18" charset="0"/>
                <a:cs typeface="Times New Roman" panose="02020603050405020304" pitchFamily="18" charset="0"/>
              </a:rPr>
              <a:t>Early pregnancy and childbirth </a:t>
            </a:r>
            <a:endParaRPr lang="en-IN" sz="2400" b="1" dirty="0" smtClean="0">
              <a:solidFill>
                <a:schemeClr val="dk1"/>
              </a:solidFill>
              <a:latin typeface="Times New Roman" panose="02020603050405020304" pitchFamily="18" charset="0"/>
              <a:cs typeface="Times New Roman" panose="02020603050405020304" pitchFamily="18" charset="0"/>
            </a:endParaRPr>
          </a:p>
          <a:p>
            <a:pPr marL="514350" indent="-514350">
              <a:lnSpc>
                <a:spcPct val="150000"/>
              </a:lnSpc>
              <a:buAutoNum type="arabicPeriod"/>
            </a:pPr>
            <a:endParaRPr lang="en-IN" sz="2400" b="1" dirty="0">
              <a:solidFill>
                <a:schemeClr val="dk1"/>
              </a:solidFill>
              <a:latin typeface="Times New Roman" panose="02020603050405020304" pitchFamily="18" charset="0"/>
              <a:cs typeface="Times New Roman" panose="02020603050405020304" pitchFamily="18" charset="0"/>
            </a:endParaRPr>
          </a:p>
          <a:p>
            <a:pPr marL="457200" lvl="1" indent="0" algn="just">
              <a:buNone/>
            </a:pP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Complications linked to pregnancy and childbirth are the </a:t>
            </a:r>
            <a:r>
              <a:rPr lang="en-US" sz="2000" dirty="0" smtClean="0">
                <a:latin typeface="Times New Roman" panose="02020603050405020304" pitchFamily="18" charset="0"/>
                <a:cs typeface="Times New Roman" panose="02020603050405020304" pitchFamily="18" charset="0"/>
              </a:rPr>
              <a:t>second cause </a:t>
            </a:r>
            <a:r>
              <a:rPr lang="en-US" sz="2000" dirty="0">
                <a:latin typeface="Times New Roman" panose="02020603050405020304" pitchFamily="18" charset="0"/>
                <a:cs typeface="Times New Roman" panose="02020603050405020304" pitchFamily="18" charset="0"/>
              </a:rPr>
              <a:t>of death for 15-19-year-old girls globally</a:t>
            </a:r>
            <a:r>
              <a:rPr lang="en-US" sz="2000" dirty="0" smtClean="0">
                <a:latin typeface="Times New Roman" panose="02020603050405020304" pitchFamily="18" charset="0"/>
                <a:cs typeface="Times New Roman" panose="02020603050405020304" pitchFamily="18" charset="0"/>
              </a:rPr>
              <a:t>.</a:t>
            </a:r>
          </a:p>
          <a:p>
            <a:pPr marL="457200" lvl="1" indent="0" algn="just">
              <a:buNone/>
            </a:pPr>
            <a:endParaRPr lang="en-US" sz="2000" dirty="0">
              <a:latin typeface="Times New Roman" panose="02020603050405020304" pitchFamily="18" charset="0"/>
              <a:cs typeface="Times New Roman" panose="02020603050405020304" pitchFamily="18" charset="0"/>
            </a:endParaRPr>
          </a:p>
          <a:p>
            <a:pPr marL="457200" lvl="1" indent="0" algn="just">
              <a:buNone/>
            </a:pPr>
            <a:r>
              <a:rPr lang="en-US" sz="2000" dirty="0">
                <a:latin typeface="Times New Roman" panose="02020603050405020304" pitchFamily="18" charset="0"/>
                <a:cs typeface="Times New Roman" panose="02020603050405020304" pitchFamily="18" charset="0"/>
              </a:rPr>
              <a:t>• One of the Millennium Development Goals, is to achieve </a:t>
            </a:r>
            <a:r>
              <a:rPr lang="en-US" sz="2000" dirty="0" smtClean="0">
                <a:latin typeface="Times New Roman" panose="02020603050405020304" pitchFamily="18" charset="0"/>
                <a:cs typeface="Times New Roman" panose="02020603050405020304" pitchFamily="18" charset="0"/>
              </a:rPr>
              <a:t>universal access </a:t>
            </a:r>
            <a:r>
              <a:rPr lang="en-US" sz="2000" dirty="0">
                <a:latin typeface="Times New Roman" panose="02020603050405020304" pitchFamily="18" charset="0"/>
                <a:cs typeface="Times New Roman" panose="02020603050405020304" pitchFamily="18" charset="0"/>
              </a:rPr>
              <a:t>to reproductive health, for which one of the indicators is </a:t>
            </a: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pregnancy rate among the 15 to 19 age group.</a:t>
            </a:r>
          </a:p>
          <a:p>
            <a:pPr marL="0" indent="0" algn="just">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05680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01E9973-7937-E076-5EDF-A367F32B71B0}"/>
              </a:ext>
            </a:extLst>
          </p:cNvPr>
          <p:cNvSpPr>
            <a:spLocks noGrp="1"/>
          </p:cNvSpPr>
          <p:nvPr>
            <p:ph idx="1"/>
          </p:nvPr>
        </p:nvSpPr>
        <p:spPr>
          <a:xfrm>
            <a:off x="488271" y="266330"/>
            <a:ext cx="10714608" cy="5688691"/>
          </a:xfrm>
        </p:spPr>
        <p:txBody>
          <a:bodyPr>
            <a:normAutofit/>
          </a:bodyPr>
          <a:lstStyle/>
          <a:p>
            <a:pPr marL="0" indent="0">
              <a:buNone/>
            </a:pPr>
            <a:r>
              <a:rPr lang="en-US" sz="2400" dirty="0">
                <a:solidFill>
                  <a:schemeClr val="dk1"/>
                </a:solidFill>
                <a:latin typeface="Cooper Black" panose="0208090404030B020404" pitchFamily="18" charset="0"/>
              </a:rPr>
              <a:t>2. </a:t>
            </a:r>
            <a:r>
              <a:rPr lang="en-US" sz="2400" b="1" dirty="0">
                <a:solidFill>
                  <a:schemeClr val="dk1"/>
                </a:solidFill>
                <a:latin typeface="Times New Roman" panose="02020603050405020304" pitchFamily="18" charset="0"/>
                <a:cs typeface="Times New Roman" panose="02020603050405020304" pitchFamily="18" charset="0"/>
              </a:rPr>
              <a:t>HIV</a:t>
            </a:r>
          </a:p>
          <a:p>
            <a:pPr marL="457200" lvl="1" indent="0" algn="just">
              <a:buNone/>
            </a:pPr>
            <a:r>
              <a:rPr lang="en-US" dirty="0"/>
              <a:t>• </a:t>
            </a:r>
            <a:r>
              <a:rPr lang="en-US" dirty="0">
                <a:latin typeface="Times New Roman" panose="02020603050405020304" pitchFamily="18" charset="0"/>
                <a:cs typeface="Times New Roman" panose="02020603050405020304" pitchFamily="18" charset="0"/>
              </a:rPr>
              <a:t>More than 2 million adolescents are living  with </a:t>
            </a:r>
            <a:r>
              <a:rPr lang="en-US" dirty="0" smtClean="0">
                <a:latin typeface="Times New Roman" panose="02020603050405020304" pitchFamily="18" charset="0"/>
                <a:cs typeface="Times New Roman" panose="02020603050405020304" pitchFamily="18" charset="0"/>
              </a:rPr>
              <a:t>HIV. Although </a:t>
            </a:r>
            <a:r>
              <a:rPr lang="en-US" dirty="0">
                <a:latin typeface="Times New Roman" panose="02020603050405020304" pitchFamily="18" charset="0"/>
                <a:cs typeface="Times New Roman" panose="02020603050405020304" pitchFamily="18" charset="0"/>
              </a:rPr>
              <a:t>the overall number of HIV related deaths is down 30% since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peak 8 years ago, estimates suggest that HIV deaths </a:t>
            </a:r>
            <a:r>
              <a:rPr lang="en-US" dirty="0" smtClean="0">
                <a:latin typeface="Times New Roman" panose="02020603050405020304" pitchFamily="18" charset="0"/>
                <a:cs typeface="Times New Roman" panose="02020603050405020304" pitchFamily="18" charset="0"/>
              </a:rPr>
              <a:t>among adolescents </a:t>
            </a:r>
            <a:r>
              <a:rPr lang="en-US" dirty="0">
                <a:latin typeface="Times New Roman" panose="02020603050405020304" pitchFamily="18" charset="0"/>
                <a:cs typeface="Times New Roman" panose="02020603050405020304" pitchFamily="18" charset="0"/>
              </a:rPr>
              <a:t>are rising</a:t>
            </a:r>
          </a:p>
          <a:p>
            <a:pPr marL="0" indent="0" algn="just">
              <a:buNone/>
            </a:pPr>
            <a:endParaRPr lang="en-US" dirty="0"/>
          </a:p>
          <a:p>
            <a:pPr marL="0" indent="0">
              <a:buNone/>
            </a:pPr>
            <a:r>
              <a:rPr lang="en-US" sz="2400" b="1" dirty="0">
                <a:solidFill>
                  <a:schemeClr val="dk1"/>
                </a:solidFill>
                <a:latin typeface="Times New Roman" panose="02020603050405020304" pitchFamily="18" charset="0"/>
                <a:cs typeface="Times New Roman" panose="02020603050405020304" pitchFamily="18" charset="0"/>
              </a:rPr>
              <a:t>3.Other Infectious Diseases </a:t>
            </a:r>
          </a:p>
          <a:p>
            <a:pPr marL="457200" lvl="1" indent="0" algn="just">
              <a:buNone/>
            </a:pPr>
            <a:r>
              <a:rPr lang="en-US" dirty="0"/>
              <a:t>• </a:t>
            </a:r>
            <a:r>
              <a:rPr lang="en-US" dirty="0">
                <a:latin typeface="Times New Roman" panose="02020603050405020304" pitchFamily="18" charset="0"/>
                <a:cs typeface="Times New Roman" panose="02020603050405020304" pitchFamily="18" charset="0"/>
              </a:rPr>
              <a:t>Improved childhood vaccination has resulted in reducing death </a:t>
            </a:r>
            <a:r>
              <a:rPr lang="en-US" dirty="0" smtClean="0">
                <a:latin typeface="Times New Roman" panose="02020603050405020304" pitchFamily="18" charset="0"/>
                <a:cs typeface="Times New Roman" panose="02020603050405020304" pitchFamily="18" charset="0"/>
              </a:rPr>
              <a:t>and disability </a:t>
            </a:r>
            <a:r>
              <a:rPr lang="en-US" dirty="0">
                <a:latin typeface="Times New Roman" panose="02020603050405020304" pitchFamily="18" charset="0"/>
                <a:cs typeface="Times New Roman" panose="02020603050405020304" pitchFamily="18" charset="0"/>
              </a:rPr>
              <a:t>from measles </a:t>
            </a:r>
          </a:p>
          <a:p>
            <a:pPr marL="457200" lvl="1" indent="0" algn="just">
              <a:buNone/>
            </a:pPr>
            <a:r>
              <a:rPr lang="en-US" dirty="0">
                <a:latin typeface="Times New Roman" panose="02020603050405020304" pitchFamily="18" charset="0"/>
                <a:cs typeface="Times New Roman" panose="02020603050405020304" pitchFamily="18" charset="0"/>
              </a:rPr>
              <a:t>• However </a:t>
            </a:r>
            <a:r>
              <a:rPr lang="en-US" dirty="0" err="1">
                <a:latin typeface="Times New Roman" panose="02020603050405020304" pitchFamily="18" charset="0"/>
                <a:cs typeface="Times New Roman" panose="02020603050405020304" pitchFamily="18" charset="0"/>
              </a:rPr>
              <a:t>Diarrhoea</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lower respiratory tract infections and meningitis are </a:t>
            </a:r>
            <a:r>
              <a:rPr lang="en-US" dirty="0" smtClean="0">
                <a:latin typeface="Times New Roman" panose="02020603050405020304" pitchFamily="18" charset="0"/>
                <a:cs typeface="Times New Roman" panose="02020603050405020304" pitchFamily="18" charset="0"/>
              </a:rPr>
              <a:t> among </a:t>
            </a:r>
            <a:r>
              <a:rPr lang="en-US" dirty="0">
                <a:latin typeface="Times New Roman" panose="02020603050405020304" pitchFamily="18" charset="0"/>
                <a:cs typeface="Times New Roman" panose="02020603050405020304" pitchFamily="18" charset="0"/>
              </a:rPr>
              <a:t>the top 10 causes of death for 10 to 19 years old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82032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EBC341B-9A44-A962-4D75-EA04C2929CC0}"/>
              </a:ext>
            </a:extLst>
          </p:cNvPr>
          <p:cNvSpPr>
            <a:spLocks noGrp="1"/>
          </p:cNvSpPr>
          <p:nvPr>
            <p:ph idx="1"/>
          </p:nvPr>
        </p:nvSpPr>
        <p:spPr>
          <a:xfrm>
            <a:off x="598501" y="414075"/>
            <a:ext cx="11040123" cy="5427432"/>
          </a:xfrm>
        </p:spPr>
        <p:txBody>
          <a:bodyPr/>
          <a:lstStyle/>
          <a:p>
            <a:pPr marL="0" indent="0">
              <a:buNone/>
            </a:pPr>
            <a:r>
              <a:rPr lang="en-US" sz="2400" b="1" dirty="0">
                <a:solidFill>
                  <a:schemeClr val="dk1"/>
                </a:solidFill>
                <a:latin typeface="Times New Roman" panose="02020603050405020304" pitchFamily="18" charset="0"/>
                <a:cs typeface="Times New Roman" panose="02020603050405020304" pitchFamily="18" charset="0"/>
              </a:rPr>
              <a:t>4.Mental Health </a:t>
            </a:r>
            <a:endParaRPr lang="en-US" sz="2400" b="1" dirty="0" smtClean="0">
              <a:solidFill>
                <a:schemeClr val="dk1"/>
              </a:solidFill>
              <a:latin typeface="Times New Roman" panose="02020603050405020304" pitchFamily="18" charset="0"/>
              <a:cs typeface="Times New Roman" panose="02020603050405020304" pitchFamily="18" charset="0"/>
            </a:endParaRPr>
          </a:p>
          <a:p>
            <a:pPr marL="0" indent="0">
              <a:buNone/>
            </a:pPr>
            <a:endParaRPr lang="en-US" sz="2400" b="1" dirty="0">
              <a:solidFill>
                <a:schemeClr val="dk1"/>
              </a:solidFill>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Depression </a:t>
            </a:r>
            <a:r>
              <a:rPr lang="en-US" sz="2400" dirty="0">
                <a:latin typeface="Times New Roman" panose="02020603050405020304" pitchFamily="18" charset="0"/>
                <a:cs typeface="Times New Roman" panose="02020603050405020304" pitchFamily="18" charset="0"/>
              </a:rPr>
              <a:t>is the top cause of illness and disability among adolescents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suicide is the third cause of death. Violence, poverty, </a:t>
            </a:r>
            <a:r>
              <a:rPr lang="en-US" sz="2400" dirty="0" smtClean="0">
                <a:latin typeface="Times New Roman" panose="02020603050405020304" pitchFamily="18" charset="0"/>
                <a:cs typeface="Times New Roman" panose="02020603050405020304" pitchFamily="18" charset="0"/>
              </a:rPr>
              <a:t> humiliation </a:t>
            </a:r>
            <a:r>
              <a:rPr lang="en-US" sz="2400" dirty="0">
                <a:latin typeface="Times New Roman" panose="02020603050405020304" pitchFamily="18" charset="0"/>
                <a:cs typeface="Times New Roman" panose="02020603050405020304" pitchFamily="18" charset="0"/>
              </a:rPr>
              <a:t>and feeling devalued can increase the risk of </a:t>
            </a:r>
            <a:r>
              <a:rPr lang="en-US" sz="2400" dirty="0" smtClean="0">
                <a:latin typeface="Times New Roman" panose="02020603050405020304" pitchFamily="18" charset="0"/>
                <a:cs typeface="Times New Roman" panose="02020603050405020304" pitchFamily="18" charset="0"/>
              </a:rPr>
              <a:t>developing mental </a:t>
            </a:r>
            <a:r>
              <a:rPr lang="en-US" sz="2400" dirty="0">
                <a:latin typeface="Times New Roman" panose="02020603050405020304" pitchFamily="18" charset="0"/>
                <a:cs typeface="Times New Roman" panose="02020603050405020304" pitchFamily="18" charset="0"/>
              </a:rPr>
              <a:t>health problems</a:t>
            </a:r>
            <a:r>
              <a:rPr lang="en-US" sz="2400" dirty="0" smtClean="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Building </a:t>
            </a:r>
            <a:r>
              <a:rPr lang="en-US" sz="2400" dirty="0">
                <a:latin typeface="Times New Roman" panose="02020603050405020304" pitchFamily="18" charset="0"/>
                <a:cs typeface="Times New Roman" panose="02020603050405020304" pitchFamily="18" charset="0"/>
              </a:rPr>
              <a:t>life skills in children and adolescents and providing them </a:t>
            </a:r>
            <a:r>
              <a:rPr lang="en-US" sz="2400" dirty="0" smtClean="0">
                <a:latin typeface="Times New Roman" panose="02020603050405020304" pitchFamily="18" charset="0"/>
                <a:cs typeface="Times New Roman" panose="02020603050405020304" pitchFamily="18" charset="0"/>
              </a:rPr>
              <a:t>with psychosocial </a:t>
            </a:r>
            <a:r>
              <a:rPr lang="en-US" sz="2400" dirty="0">
                <a:latin typeface="Times New Roman" panose="02020603050405020304" pitchFamily="18" charset="0"/>
                <a:cs typeface="Times New Roman" panose="02020603050405020304" pitchFamily="18" charset="0"/>
              </a:rPr>
              <a:t>support in schools and other community settings can help </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promote good mental health.</a:t>
            </a:r>
          </a:p>
        </p:txBody>
      </p:sp>
    </p:spTree>
    <p:extLst>
      <p:ext uri="{BB962C8B-B14F-4D97-AF65-F5344CB8AC3E}">
        <p14:creationId xmlns:p14="http://schemas.microsoft.com/office/powerpoint/2010/main" val="33078936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AAB8CD8-4FFF-8499-25EB-232136772BFD}"/>
              </a:ext>
            </a:extLst>
          </p:cNvPr>
          <p:cNvSpPr>
            <a:spLocks noGrp="1"/>
          </p:cNvSpPr>
          <p:nvPr>
            <p:ph idx="1"/>
          </p:nvPr>
        </p:nvSpPr>
        <p:spPr>
          <a:xfrm>
            <a:off x="661737" y="565017"/>
            <a:ext cx="10974669" cy="4103236"/>
          </a:xfrm>
        </p:spPr>
        <p:txBody>
          <a:bodyPr>
            <a:normAutofit/>
          </a:bodyPr>
          <a:lstStyle/>
          <a:p>
            <a:pPr marL="0" indent="0">
              <a:buNone/>
            </a:pPr>
            <a:r>
              <a:rPr lang="en-US" sz="2600" b="1" dirty="0" smtClean="0">
                <a:solidFill>
                  <a:schemeClr val="dk1"/>
                </a:solidFill>
                <a:latin typeface="Times New Roman" panose="02020603050405020304" pitchFamily="18" charset="0"/>
                <a:cs typeface="Times New Roman" panose="02020603050405020304" pitchFamily="18" charset="0"/>
              </a:rPr>
              <a:t>5.Violence</a:t>
            </a:r>
          </a:p>
          <a:p>
            <a:pPr marL="0" indent="0">
              <a:buNone/>
            </a:pPr>
            <a:endParaRPr lang="en-US" sz="2600" b="1" dirty="0">
              <a:solidFill>
                <a:schemeClr val="dk1"/>
              </a:solidFill>
              <a:latin typeface="Times New Roman" panose="02020603050405020304" pitchFamily="18" charset="0"/>
              <a:cs typeface="Times New Roman" panose="02020603050405020304" pitchFamily="18" charset="0"/>
            </a:endParaRPr>
          </a:p>
          <a:p>
            <a:pPr lvl="1" algn="just"/>
            <a:r>
              <a:rPr lang="en-US" sz="2200" dirty="0" smtClean="0">
                <a:latin typeface="Times New Roman" panose="02020603050405020304" pitchFamily="18" charset="0"/>
                <a:cs typeface="Times New Roman" panose="02020603050405020304" pitchFamily="18" charset="0"/>
              </a:rPr>
              <a:t>Violence </a:t>
            </a:r>
            <a:r>
              <a:rPr lang="en-US" sz="2200" dirty="0">
                <a:latin typeface="Times New Roman" panose="02020603050405020304" pitchFamily="18" charset="0"/>
                <a:cs typeface="Times New Roman" panose="02020603050405020304" pitchFamily="18" charset="0"/>
              </a:rPr>
              <a:t>is a leading cause of death. An estimated 180 </a:t>
            </a:r>
            <a:r>
              <a:rPr lang="en-US" sz="2200" dirty="0" smtClean="0">
                <a:latin typeface="Times New Roman" panose="02020603050405020304" pitchFamily="18" charset="0"/>
                <a:cs typeface="Times New Roman" panose="02020603050405020304" pitchFamily="18" charset="0"/>
              </a:rPr>
              <a:t>adolescents die </a:t>
            </a:r>
            <a:r>
              <a:rPr lang="en-US" sz="2200" dirty="0">
                <a:latin typeface="Times New Roman" panose="02020603050405020304" pitchFamily="18" charset="0"/>
                <a:cs typeface="Times New Roman" panose="02020603050405020304" pitchFamily="18" charset="0"/>
              </a:rPr>
              <a:t>every day as a  result of interpersonal violence. Around 1 of </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every 3 deaths among adolescent males in the low- and </a:t>
            </a:r>
            <a:r>
              <a:rPr lang="en-US" sz="2200" dirty="0" smtClean="0">
                <a:latin typeface="Times New Roman" panose="02020603050405020304" pitchFamily="18" charset="0"/>
                <a:cs typeface="Times New Roman" panose="02020603050405020304" pitchFamily="18" charset="0"/>
              </a:rPr>
              <a:t>middle income </a:t>
            </a:r>
            <a:r>
              <a:rPr lang="en-US" sz="2200" dirty="0">
                <a:latin typeface="Times New Roman" panose="02020603050405020304" pitchFamily="18" charset="0"/>
                <a:cs typeface="Times New Roman" panose="02020603050405020304" pitchFamily="18" charset="0"/>
              </a:rPr>
              <a:t>countries is due to violence</a:t>
            </a:r>
          </a:p>
          <a:p>
            <a:pPr lvl="1" algn="just"/>
            <a:r>
              <a:rPr lang="en-US" sz="2200" dirty="0" smtClean="0">
                <a:latin typeface="Times New Roman" panose="02020603050405020304" pitchFamily="18" charset="0"/>
                <a:cs typeface="Times New Roman" panose="02020603050405020304" pitchFamily="18" charset="0"/>
              </a:rPr>
              <a:t>Globally</a:t>
            </a:r>
            <a:r>
              <a:rPr lang="en-US" sz="2200" dirty="0">
                <a:latin typeface="Times New Roman" panose="02020603050405020304" pitchFamily="18" charset="0"/>
                <a:cs typeface="Times New Roman" panose="02020603050405020304" pitchFamily="18" charset="0"/>
              </a:rPr>
              <a:t>, some 30% of girls aged 15 to 19 experience violence by </a:t>
            </a:r>
            <a:r>
              <a:rPr lang="en-US" sz="2200" dirty="0" smtClean="0">
                <a:latin typeface="Times New Roman" panose="02020603050405020304" pitchFamily="18" charset="0"/>
                <a:cs typeface="Times New Roman" panose="02020603050405020304" pitchFamily="18" charset="0"/>
              </a:rPr>
              <a:t>a partner</a:t>
            </a:r>
            <a:endParaRPr lang="en-US" sz="2200" dirty="0">
              <a:latin typeface="Times New Roman" panose="02020603050405020304" pitchFamily="18" charset="0"/>
              <a:cs typeface="Times New Roman" panose="02020603050405020304" pitchFamily="18" charset="0"/>
            </a:endParaRPr>
          </a:p>
          <a:p>
            <a:pPr lvl="1" algn="just"/>
            <a:r>
              <a:rPr lang="en-US" sz="2200" dirty="0" smtClean="0">
                <a:latin typeface="Times New Roman" panose="02020603050405020304" pitchFamily="18" charset="0"/>
                <a:cs typeface="Times New Roman" panose="02020603050405020304" pitchFamily="18" charset="0"/>
              </a:rPr>
              <a:t>Promoting </a:t>
            </a:r>
            <a:r>
              <a:rPr lang="en-US" sz="2200" dirty="0">
                <a:latin typeface="Times New Roman" panose="02020603050405020304" pitchFamily="18" charset="0"/>
                <a:cs typeface="Times New Roman" panose="02020603050405020304" pitchFamily="18" charset="0"/>
              </a:rPr>
              <a:t>nurturing relationships between parents and </a:t>
            </a:r>
            <a:r>
              <a:rPr lang="en-US" sz="2200" dirty="0" smtClean="0">
                <a:latin typeface="Times New Roman" panose="02020603050405020304" pitchFamily="18" charset="0"/>
                <a:cs typeface="Times New Roman" panose="02020603050405020304" pitchFamily="18" charset="0"/>
              </a:rPr>
              <a:t>children early </a:t>
            </a:r>
            <a:r>
              <a:rPr lang="en-US" sz="2200" dirty="0">
                <a:latin typeface="Times New Roman" panose="02020603050405020304" pitchFamily="18" charset="0"/>
                <a:cs typeface="Times New Roman" panose="02020603050405020304" pitchFamily="18" charset="0"/>
              </a:rPr>
              <a:t>in life, providing training in life skills, and reducing access to </a:t>
            </a:r>
            <a:r>
              <a:rPr lang="en-US" sz="2200" dirty="0" smtClean="0">
                <a:latin typeface="Times New Roman" panose="02020603050405020304" pitchFamily="18" charset="0"/>
                <a:cs typeface="Times New Roman" panose="02020603050405020304" pitchFamily="18" charset="0"/>
              </a:rPr>
              <a:t> alcohol </a:t>
            </a:r>
            <a:r>
              <a:rPr lang="en-US" sz="2200" dirty="0">
                <a:latin typeface="Times New Roman" panose="02020603050405020304" pitchFamily="18" charset="0"/>
                <a:cs typeface="Times New Roman" panose="02020603050405020304" pitchFamily="18" charset="0"/>
              </a:rPr>
              <a:t>and firearms can help to prevent violence.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55727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AF65AB-8A1A-CB0D-5DC0-70B2823FEC77}"/>
              </a:ext>
            </a:extLst>
          </p:cNvPr>
          <p:cNvSpPr>
            <a:spLocks noGrp="1"/>
          </p:cNvSpPr>
          <p:nvPr>
            <p:ph idx="1"/>
          </p:nvPr>
        </p:nvSpPr>
        <p:spPr>
          <a:xfrm>
            <a:off x="607736" y="752068"/>
            <a:ext cx="11421507" cy="5897307"/>
          </a:xfrm>
        </p:spPr>
        <p:txBody>
          <a:bodyPr>
            <a:normAutofit/>
          </a:bodyPr>
          <a:lstStyle/>
          <a:p>
            <a:pPr marL="0" indent="0">
              <a:buNone/>
            </a:pPr>
            <a:endParaRPr lang="en-IN" sz="800" b="1" dirty="0"/>
          </a:p>
          <a:p>
            <a:pPr lvl="1" algn="just"/>
            <a:r>
              <a:rPr lang="en-US" sz="2200" dirty="0" smtClean="0">
                <a:latin typeface="Times New Roman" panose="02020603050405020304" pitchFamily="18" charset="0"/>
                <a:cs typeface="Times New Roman" panose="02020603050405020304" pitchFamily="18" charset="0"/>
              </a:rPr>
              <a:t>Harmful </a:t>
            </a:r>
            <a:r>
              <a:rPr lang="en-US" sz="2200" dirty="0">
                <a:latin typeface="Times New Roman" panose="02020603050405020304" pitchFamily="18" charset="0"/>
                <a:cs typeface="Times New Roman" panose="02020603050405020304" pitchFamily="18" charset="0"/>
              </a:rPr>
              <a:t>drinking among adolescents is a  major concern in many countries. </a:t>
            </a:r>
          </a:p>
          <a:p>
            <a:pPr lvl="2" algn="just"/>
            <a:r>
              <a:rPr lang="en-US" sz="1800" dirty="0">
                <a:latin typeface="Times New Roman" panose="02020603050405020304" pitchFamily="18" charset="0"/>
                <a:cs typeface="Times New Roman" panose="02020603050405020304" pitchFamily="18" charset="0"/>
              </a:rPr>
              <a:t>    It reduces self-control and increases risky </a:t>
            </a:r>
            <a:r>
              <a:rPr lang="en-US" sz="1800" dirty="0" err="1">
                <a:latin typeface="Times New Roman" panose="02020603050405020304" pitchFamily="18" charset="0"/>
                <a:cs typeface="Times New Roman" panose="02020603050405020304" pitchFamily="18" charset="0"/>
              </a:rPr>
              <a:t>behaviours</a:t>
            </a:r>
            <a:r>
              <a:rPr lang="en-US" sz="1800" dirty="0">
                <a:latin typeface="Times New Roman" panose="02020603050405020304" pitchFamily="18" charset="0"/>
                <a:cs typeface="Times New Roman" panose="02020603050405020304" pitchFamily="18" charset="0"/>
              </a:rPr>
              <a:t>, such as unsafe sex.</a:t>
            </a:r>
          </a:p>
          <a:p>
            <a:pPr lvl="2" algn="just"/>
            <a:r>
              <a:rPr lang="en-US" sz="1800" dirty="0">
                <a:latin typeface="Times New Roman" panose="02020603050405020304" pitchFamily="18" charset="0"/>
                <a:cs typeface="Times New Roman" panose="02020603050405020304" pitchFamily="18" charset="0"/>
              </a:rPr>
              <a:t>    It is a primary cause of injuries (including those due to road traffic </a:t>
            </a:r>
            <a:r>
              <a:rPr lang="en-US" sz="1800" dirty="0" smtClean="0">
                <a:latin typeface="Times New Roman" panose="02020603050405020304" pitchFamily="18" charset="0"/>
                <a:cs typeface="Times New Roman" panose="02020603050405020304" pitchFamily="18" charset="0"/>
              </a:rPr>
              <a:t> accidents</a:t>
            </a:r>
            <a:r>
              <a:rPr lang="en-US" sz="1800" dirty="0">
                <a:latin typeface="Times New Roman" panose="02020603050405020304" pitchFamily="18" charset="0"/>
                <a:cs typeface="Times New Roman" panose="02020603050405020304" pitchFamily="18" charset="0"/>
              </a:rPr>
              <a:t>), violence (especially by a partner)  and premature deaths. </a:t>
            </a:r>
          </a:p>
          <a:p>
            <a:pPr lvl="1" algn="just"/>
            <a:endParaRPr lang="en-US" sz="2200" dirty="0">
              <a:latin typeface="Times New Roman" panose="02020603050405020304" pitchFamily="18" charset="0"/>
              <a:cs typeface="Times New Roman" panose="02020603050405020304" pitchFamily="18" charset="0"/>
            </a:endParaRPr>
          </a:p>
          <a:p>
            <a:pPr lvl="1" algn="just"/>
            <a:r>
              <a:rPr lang="en-US" sz="2200" dirty="0" smtClean="0">
                <a:latin typeface="Times New Roman" panose="02020603050405020304" pitchFamily="18" charset="0"/>
                <a:cs typeface="Times New Roman" panose="02020603050405020304" pitchFamily="18" charset="0"/>
              </a:rPr>
              <a:t>Setting </a:t>
            </a:r>
            <a:r>
              <a:rPr lang="en-US" sz="2200" dirty="0">
                <a:latin typeface="Times New Roman" panose="02020603050405020304" pitchFamily="18" charset="0"/>
                <a:cs typeface="Times New Roman" panose="02020603050405020304" pitchFamily="18" charset="0"/>
              </a:rPr>
              <a:t>a minimum age for buying and consuming alcohol and regulating     </a:t>
            </a:r>
          </a:p>
          <a:p>
            <a:pPr lvl="2" algn="just"/>
            <a:r>
              <a:rPr lang="en-US" sz="1800" dirty="0">
                <a:latin typeface="Times New Roman" panose="02020603050405020304" pitchFamily="18" charset="0"/>
                <a:cs typeface="Times New Roman" panose="02020603050405020304" pitchFamily="18" charset="0"/>
              </a:rPr>
              <a:t>    how alcoholic drinks are targeted at the younger  market </a:t>
            </a:r>
          </a:p>
          <a:p>
            <a:pPr lvl="2" algn="just"/>
            <a:r>
              <a:rPr lang="en-US" sz="1800" dirty="0">
                <a:latin typeface="Times New Roman" panose="02020603050405020304" pitchFamily="18" charset="0"/>
                <a:cs typeface="Times New Roman" panose="02020603050405020304" pitchFamily="18" charset="0"/>
              </a:rPr>
              <a:t>    are among the strategies for reducing harmful drinking.</a:t>
            </a:r>
          </a:p>
          <a:p>
            <a:pPr lvl="2" algn="just"/>
            <a:r>
              <a:rPr lang="en-US" sz="1800" dirty="0">
                <a:latin typeface="Times New Roman" panose="02020603050405020304" pitchFamily="18" charset="0"/>
                <a:cs typeface="Times New Roman" panose="02020603050405020304" pitchFamily="18" charset="0"/>
              </a:rPr>
              <a:t>    Drug use among 15 to 19 year </a:t>
            </a:r>
            <a:r>
              <a:rPr lang="en-US" sz="1800" dirty="0" err="1">
                <a:latin typeface="Times New Roman" panose="02020603050405020304" pitchFamily="18" charset="0"/>
                <a:cs typeface="Times New Roman" panose="02020603050405020304" pitchFamily="18" charset="0"/>
              </a:rPr>
              <a:t>olds</a:t>
            </a:r>
            <a:r>
              <a:rPr lang="en-US" sz="1800" dirty="0">
                <a:latin typeface="Times New Roman" panose="02020603050405020304" pitchFamily="18" charset="0"/>
                <a:cs typeface="Times New Roman" panose="02020603050405020304" pitchFamily="18" charset="0"/>
              </a:rPr>
              <a:t> is also a concern</a:t>
            </a:r>
            <a:endParaRPr lang="en-IN" sz="1800" dirty="0">
              <a:latin typeface="Times New Roman" panose="02020603050405020304" pitchFamily="18" charset="0"/>
              <a:cs typeface="Times New Roman" panose="02020603050405020304" pitchFamily="18" charset="0"/>
            </a:endParaRPr>
          </a:p>
          <a:p>
            <a:pPr marL="457200" lvl="1" indent="0">
              <a:buNone/>
            </a:pPr>
            <a:endParaRPr lang="en-IN" b="1" dirty="0"/>
          </a:p>
        </p:txBody>
      </p:sp>
      <p:sp>
        <p:nvSpPr>
          <p:cNvPr id="5" name="TextBox 4">
            <a:extLst>
              <a:ext uri="{FF2B5EF4-FFF2-40B4-BE49-F238E27FC236}">
                <a16:creationId xmlns="" xmlns:a16="http://schemas.microsoft.com/office/drawing/2014/main" id="{A37B0DDB-F3CF-7AA1-4654-F0F04681B3A9}"/>
              </a:ext>
            </a:extLst>
          </p:cNvPr>
          <p:cNvSpPr txBox="1"/>
          <p:nvPr/>
        </p:nvSpPr>
        <p:spPr>
          <a:xfrm>
            <a:off x="607736" y="382736"/>
            <a:ext cx="7082028" cy="480131"/>
          </a:xfrm>
          <a:prstGeom prst="rect">
            <a:avLst/>
          </a:prstGeom>
          <a:noFill/>
        </p:spPr>
        <p:txBody>
          <a:bodyPr wrap="square">
            <a:spAutoFit/>
          </a:bodyPr>
          <a:lstStyle/>
          <a:p>
            <a:pPr marR="0" lvl="0" fontAlgn="auto">
              <a:lnSpc>
                <a:spcPct val="90000"/>
              </a:lnSpc>
              <a:spcBef>
                <a:spcPts val="1000"/>
              </a:spcBef>
              <a:spcAft>
                <a:spcPts val="0"/>
              </a:spcAft>
              <a:buClrTx/>
              <a:buSzTx/>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6.</a:t>
            </a:r>
            <a:r>
              <a:rPr kumimoji="0" lang="en-IN"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sz="2400" b="1" dirty="0">
                <a:solidFill>
                  <a:schemeClr val="dk1"/>
                </a:solidFill>
                <a:latin typeface="Times New Roman" panose="02020603050405020304" pitchFamily="18" charset="0"/>
                <a:cs typeface="Times New Roman" panose="02020603050405020304" pitchFamily="18" charset="0"/>
              </a:rPr>
              <a:t>Alcohol and drugs</a:t>
            </a:r>
          </a:p>
        </p:txBody>
      </p:sp>
    </p:spTree>
    <p:extLst>
      <p:ext uri="{BB962C8B-B14F-4D97-AF65-F5344CB8AC3E}">
        <p14:creationId xmlns:p14="http://schemas.microsoft.com/office/powerpoint/2010/main" val="1451723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951089D-976B-F6FE-DDE1-DAE176CDB8DF}"/>
              </a:ext>
            </a:extLst>
          </p:cNvPr>
          <p:cNvSpPr>
            <a:spLocks noGrp="1"/>
          </p:cNvSpPr>
          <p:nvPr>
            <p:ph idx="1"/>
          </p:nvPr>
        </p:nvSpPr>
        <p:spPr>
          <a:xfrm>
            <a:off x="1015753" y="529485"/>
            <a:ext cx="10515600" cy="4351338"/>
          </a:xfrm>
        </p:spPr>
        <p:txBody>
          <a:bodyPr>
            <a:normAutofit fontScale="77500" lnSpcReduction="20000"/>
          </a:bodyPr>
          <a:lstStyle/>
          <a:p>
            <a:pPr marL="0" indent="0">
              <a:buNone/>
            </a:pPr>
            <a:r>
              <a:rPr lang="en-IN" sz="3100" b="1" dirty="0" smtClean="0">
                <a:solidFill>
                  <a:schemeClr val="dk1"/>
                </a:solidFill>
                <a:latin typeface="Times New Roman" panose="02020603050405020304" pitchFamily="18" charset="0"/>
                <a:cs typeface="Times New Roman" panose="02020603050405020304" pitchFamily="18" charset="0"/>
              </a:rPr>
              <a:t>7.Injuries</a:t>
            </a:r>
          </a:p>
          <a:p>
            <a:pPr marL="0" indent="0">
              <a:buNone/>
            </a:pPr>
            <a:endParaRPr lang="en-IN" sz="3100" b="1" dirty="0">
              <a:solidFill>
                <a:schemeClr val="dk1"/>
              </a:solidFill>
              <a:latin typeface="Times New Roman" panose="02020603050405020304" pitchFamily="18" charset="0"/>
              <a:cs typeface="Times New Roman" panose="02020603050405020304" pitchFamily="18" charset="0"/>
            </a:endParaRPr>
          </a:p>
          <a:p>
            <a:pPr lvl="1" algn="just"/>
            <a:r>
              <a:rPr lang="en-US" sz="2900" dirty="0" smtClean="0">
                <a:latin typeface="Times New Roman" panose="02020603050405020304" pitchFamily="18" charset="0"/>
                <a:cs typeface="Times New Roman" panose="02020603050405020304" pitchFamily="18" charset="0"/>
              </a:rPr>
              <a:t>Unintentional </a:t>
            </a:r>
            <a:r>
              <a:rPr lang="en-US" sz="2900" dirty="0">
                <a:latin typeface="Times New Roman" panose="02020603050405020304" pitchFamily="18" charset="0"/>
                <a:cs typeface="Times New Roman" panose="02020603050405020304" pitchFamily="18" charset="0"/>
              </a:rPr>
              <a:t>injuries are a leading cause of death and disability        </a:t>
            </a:r>
            <a:r>
              <a:rPr lang="en-US" sz="2900" dirty="0" smtClean="0">
                <a:latin typeface="Times New Roman" panose="02020603050405020304" pitchFamily="18" charset="0"/>
                <a:cs typeface="Times New Roman" panose="02020603050405020304" pitchFamily="18" charset="0"/>
              </a:rPr>
              <a:t> among </a:t>
            </a:r>
            <a:r>
              <a:rPr lang="en-US" sz="2900" dirty="0">
                <a:latin typeface="Times New Roman" panose="02020603050405020304" pitchFamily="18" charset="0"/>
                <a:cs typeface="Times New Roman" panose="02020603050405020304" pitchFamily="18" charset="0"/>
              </a:rPr>
              <a:t>adolescents. In 2012, some 120 000 adolescents died as a result of  </a:t>
            </a:r>
            <a:r>
              <a:rPr lang="en-US" sz="2900" dirty="0" smtClean="0">
                <a:latin typeface="Times New Roman" panose="02020603050405020304" pitchFamily="18" charset="0"/>
                <a:cs typeface="Times New Roman" panose="02020603050405020304" pitchFamily="18" charset="0"/>
              </a:rPr>
              <a:t> road </a:t>
            </a:r>
            <a:r>
              <a:rPr lang="en-US" sz="2900" dirty="0">
                <a:latin typeface="Times New Roman" panose="02020603050405020304" pitchFamily="18" charset="0"/>
                <a:cs typeface="Times New Roman" panose="02020603050405020304" pitchFamily="18" charset="0"/>
              </a:rPr>
              <a:t>traffic accidents. </a:t>
            </a:r>
            <a:endParaRPr lang="en-US" sz="2900" dirty="0" smtClean="0">
              <a:latin typeface="Times New Roman" panose="02020603050405020304" pitchFamily="18" charset="0"/>
              <a:cs typeface="Times New Roman" panose="02020603050405020304" pitchFamily="18" charset="0"/>
            </a:endParaRPr>
          </a:p>
          <a:p>
            <a:pPr lvl="1" algn="just"/>
            <a:endParaRPr lang="en-US" sz="2900" dirty="0">
              <a:latin typeface="Times New Roman" panose="02020603050405020304" pitchFamily="18" charset="0"/>
              <a:cs typeface="Times New Roman" panose="02020603050405020304" pitchFamily="18" charset="0"/>
            </a:endParaRPr>
          </a:p>
          <a:p>
            <a:pPr lvl="1" algn="just"/>
            <a:r>
              <a:rPr lang="en-US" sz="2900" dirty="0" smtClean="0">
                <a:latin typeface="Times New Roman" panose="02020603050405020304" pitchFamily="18" charset="0"/>
                <a:cs typeface="Times New Roman" panose="02020603050405020304" pitchFamily="18" charset="0"/>
              </a:rPr>
              <a:t>Young </a:t>
            </a:r>
            <a:r>
              <a:rPr lang="en-US" sz="2900" dirty="0">
                <a:latin typeface="Times New Roman" panose="02020603050405020304" pitchFamily="18" charset="0"/>
                <a:cs typeface="Times New Roman" panose="02020603050405020304" pitchFamily="18" charset="0"/>
              </a:rPr>
              <a:t>drivers need advice on driving safely </a:t>
            </a:r>
            <a:endParaRPr lang="en-US" sz="2900" dirty="0" smtClean="0">
              <a:latin typeface="Times New Roman" panose="02020603050405020304" pitchFamily="18" charset="0"/>
              <a:cs typeface="Times New Roman" panose="02020603050405020304" pitchFamily="18" charset="0"/>
            </a:endParaRPr>
          </a:p>
          <a:p>
            <a:pPr lvl="1" algn="just"/>
            <a:endParaRPr lang="en-US" sz="2900" dirty="0">
              <a:latin typeface="Times New Roman" panose="02020603050405020304" pitchFamily="18" charset="0"/>
              <a:cs typeface="Times New Roman" panose="02020603050405020304" pitchFamily="18" charset="0"/>
            </a:endParaRPr>
          </a:p>
          <a:p>
            <a:pPr lvl="1" algn="just"/>
            <a:r>
              <a:rPr lang="en-US" sz="2900" dirty="0" smtClean="0">
                <a:latin typeface="Times New Roman" panose="02020603050405020304" pitchFamily="18" charset="0"/>
                <a:cs typeface="Times New Roman" panose="02020603050405020304" pitchFamily="18" charset="0"/>
              </a:rPr>
              <a:t>Laws </a:t>
            </a:r>
            <a:r>
              <a:rPr lang="en-US" sz="2900" dirty="0">
                <a:latin typeface="Times New Roman" panose="02020603050405020304" pitchFamily="18" charset="0"/>
                <a:cs typeface="Times New Roman" panose="02020603050405020304" pitchFamily="18" charset="0"/>
              </a:rPr>
              <a:t>that prohibit driving under the influence of alcohol and </a:t>
            </a:r>
            <a:r>
              <a:rPr lang="en-US" sz="2900" dirty="0" smtClean="0">
                <a:latin typeface="Times New Roman" panose="02020603050405020304" pitchFamily="18" charset="0"/>
                <a:cs typeface="Times New Roman" panose="02020603050405020304" pitchFamily="18" charset="0"/>
              </a:rPr>
              <a:t>drugs need </a:t>
            </a:r>
            <a:r>
              <a:rPr lang="en-US" sz="2900" dirty="0">
                <a:latin typeface="Times New Roman" panose="02020603050405020304" pitchFamily="18" charset="0"/>
                <a:cs typeface="Times New Roman" panose="02020603050405020304" pitchFamily="18" charset="0"/>
              </a:rPr>
              <a:t>to be strictly enforced. Blood alcohol levels need to be set lower     </a:t>
            </a:r>
            <a:r>
              <a:rPr lang="en-US" sz="2900" dirty="0" smtClean="0">
                <a:latin typeface="Times New Roman" panose="02020603050405020304" pitchFamily="18" charset="0"/>
                <a:cs typeface="Times New Roman" panose="02020603050405020304" pitchFamily="18" charset="0"/>
              </a:rPr>
              <a:t> for </a:t>
            </a:r>
            <a:r>
              <a:rPr lang="en-US" sz="2900" dirty="0">
                <a:latin typeface="Times New Roman" panose="02020603050405020304" pitchFamily="18" charset="0"/>
                <a:cs typeface="Times New Roman" panose="02020603050405020304" pitchFamily="18" charset="0"/>
              </a:rPr>
              <a:t>teenage drivers. </a:t>
            </a:r>
            <a:endParaRPr lang="en-US" sz="2900" dirty="0" smtClean="0">
              <a:latin typeface="Times New Roman" panose="02020603050405020304" pitchFamily="18" charset="0"/>
              <a:cs typeface="Times New Roman" panose="02020603050405020304" pitchFamily="18" charset="0"/>
            </a:endParaRPr>
          </a:p>
          <a:p>
            <a:pPr lvl="1" algn="just"/>
            <a:endParaRPr lang="en-US" sz="2900" dirty="0">
              <a:latin typeface="Times New Roman" panose="02020603050405020304" pitchFamily="18" charset="0"/>
              <a:cs typeface="Times New Roman" panose="02020603050405020304" pitchFamily="18" charset="0"/>
            </a:endParaRPr>
          </a:p>
          <a:p>
            <a:pPr lvl="1" algn="just"/>
            <a:r>
              <a:rPr lang="en-US" sz="2900" dirty="0" smtClean="0">
                <a:latin typeface="Times New Roman" panose="02020603050405020304" pitchFamily="18" charset="0"/>
                <a:cs typeface="Times New Roman" panose="02020603050405020304" pitchFamily="18" charset="0"/>
              </a:rPr>
              <a:t>Graduated </a:t>
            </a:r>
            <a:r>
              <a:rPr lang="en-US" sz="2900" dirty="0">
                <a:latin typeface="Times New Roman" panose="02020603050405020304" pitchFamily="18" charset="0"/>
                <a:cs typeface="Times New Roman" panose="02020603050405020304" pitchFamily="18" charset="0"/>
              </a:rPr>
              <a:t>licenses for novice drivers with </a:t>
            </a:r>
            <a:r>
              <a:rPr lang="en-US" sz="2900" dirty="0" err="1">
                <a:latin typeface="Times New Roman" panose="02020603050405020304" pitchFamily="18" charset="0"/>
                <a:cs typeface="Times New Roman" panose="02020603050405020304" pitchFamily="18" charset="0"/>
              </a:rPr>
              <a:t>zerotolerance</a:t>
            </a:r>
            <a:r>
              <a:rPr lang="en-US" sz="2900" dirty="0">
                <a:latin typeface="Times New Roman" panose="02020603050405020304" pitchFamily="18" charset="0"/>
                <a:cs typeface="Times New Roman" panose="02020603050405020304" pitchFamily="18" charset="0"/>
              </a:rPr>
              <a:t> for </a:t>
            </a:r>
            <a:r>
              <a:rPr lang="en-US" sz="2900" dirty="0" smtClean="0">
                <a:latin typeface="Times New Roman" panose="02020603050405020304" pitchFamily="18" charset="0"/>
                <a:cs typeface="Times New Roman" panose="02020603050405020304" pitchFamily="18" charset="0"/>
              </a:rPr>
              <a:t>drink-driving </a:t>
            </a:r>
            <a:r>
              <a:rPr lang="en-US" sz="2900" dirty="0">
                <a:latin typeface="Times New Roman" panose="02020603050405020304" pitchFamily="18" charset="0"/>
                <a:cs typeface="Times New Roman" panose="02020603050405020304" pitchFamily="18" charset="0"/>
              </a:rPr>
              <a:t>are </a:t>
            </a:r>
            <a:r>
              <a:rPr lang="en-US" sz="2900" dirty="0" smtClean="0">
                <a:latin typeface="Times New Roman" panose="02020603050405020304" pitchFamily="18" charset="0"/>
                <a:cs typeface="Times New Roman" panose="02020603050405020304" pitchFamily="18" charset="0"/>
              </a:rPr>
              <a:t>recommended</a:t>
            </a:r>
            <a:endParaRPr lang="en-IN" sz="29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223587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6845C3D-9733-E019-3851-2D1147D36BA4}"/>
              </a:ext>
            </a:extLst>
          </p:cNvPr>
          <p:cNvSpPr>
            <a:spLocks noGrp="1"/>
          </p:cNvSpPr>
          <p:nvPr>
            <p:ph idx="1"/>
          </p:nvPr>
        </p:nvSpPr>
        <p:spPr>
          <a:xfrm>
            <a:off x="505326" y="1860122"/>
            <a:ext cx="10924674" cy="4172906"/>
          </a:xfrm>
        </p:spPr>
        <p:txBody>
          <a:bodyPr>
            <a:normAutofit/>
          </a:bodyPr>
          <a:lstStyle/>
          <a:p>
            <a:pPr lvl="1" algn="just"/>
            <a:r>
              <a:rPr lang="en-US" dirty="0">
                <a:latin typeface="Times New Roman" panose="02020603050405020304" pitchFamily="18" charset="0"/>
                <a:cs typeface="Times New Roman" panose="02020603050405020304" pitchFamily="18" charset="0"/>
              </a:rPr>
              <a:t>Many boys and girls in developing countries enter adolescence    undernourished, making them more vulnerable to disease and early death. </a:t>
            </a:r>
          </a:p>
          <a:p>
            <a:pPr lvl="1" algn="just"/>
            <a:r>
              <a:rPr lang="en-US" dirty="0">
                <a:latin typeface="Times New Roman" panose="02020603050405020304" pitchFamily="18" charset="0"/>
                <a:cs typeface="Times New Roman" panose="02020603050405020304" pitchFamily="18" charset="0"/>
              </a:rPr>
              <a:t>The number of adolescents who are overweight or obese is increasing in both low and high-income countries.</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EA09D70D-D459-42FD-49B2-A3581B6ECFEB}"/>
              </a:ext>
            </a:extLst>
          </p:cNvPr>
          <p:cNvSpPr txBox="1"/>
          <p:nvPr/>
        </p:nvSpPr>
        <p:spPr>
          <a:xfrm>
            <a:off x="772533" y="1089667"/>
            <a:ext cx="8191408" cy="358368"/>
          </a:xfrm>
          <a:prstGeom prst="rect">
            <a:avLst/>
          </a:prstGeom>
          <a:noFill/>
        </p:spPr>
        <p:txBody>
          <a:bodyPr wrap="square" rtlCol="0">
            <a:spAutoFit/>
          </a:bodyPr>
          <a:lstStyle/>
          <a:p>
            <a:pPr marR="0" lvl="0" fontAlgn="auto">
              <a:lnSpc>
                <a:spcPct val="70000"/>
              </a:lnSpc>
              <a:spcBef>
                <a:spcPts val="1000"/>
              </a:spcBef>
              <a:spcAft>
                <a:spcPts val="0"/>
              </a:spcAft>
              <a:buClrTx/>
              <a:buSzTx/>
              <a:tabLst/>
              <a:defRPr/>
            </a:pPr>
            <a:r>
              <a:rPr lang="en-IN" sz="2400" b="1" dirty="0">
                <a:solidFill>
                  <a:schemeClr val="dk1"/>
                </a:solidFill>
                <a:latin typeface="Times New Roman" panose="02020603050405020304" pitchFamily="18" charset="0"/>
                <a:cs typeface="Times New Roman" panose="02020603050405020304" pitchFamily="18" charset="0"/>
              </a:rPr>
              <a:t>8.Malnutrition and obesity </a:t>
            </a:r>
          </a:p>
        </p:txBody>
      </p:sp>
    </p:spTree>
    <p:extLst>
      <p:ext uri="{BB962C8B-B14F-4D97-AF65-F5344CB8AC3E}">
        <p14:creationId xmlns:p14="http://schemas.microsoft.com/office/powerpoint/2010/main" val="367451403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AC86E30-06A7-A0FC-01ED-115EF89BC3E1}"/>
              </a:ext>
            </a:extLst>
          </p:cNvPr>
          <p:cNvSpPr>
            <a:spLocks noGrp="1"/>
          </p:cNvSpPr>
          <p:nvPr>
            <p:ph idx="1"/>
          </p:nvPr>
        </p:nvSpPr>
        <p:spPr>
          <a:xfrm>
            <a:off x="990599" y="330200"/>
            <a:ext cx="7848600" cy="631825"/>
          </a:xfrm>
        </p:spPr>
        <p:txBody>
          <a:bodyPr/>
          <a:lstStyle/>
          <a:p>
            <a:pPr marL="0" indent="0">
              <a:lnSpc>
                <a:spcPct val="70000"/>
              </a:lnSpc>
              <a:buNone/>
              <a:defRPr/>
            </a:pPr>
            <a:r>
              <a:rPr lang="en-IN" sz="2400" b="1" dirty="0">
                <a:solidFill>
                  <a:schemeClr val="dk1"/>
                </a:solidFill>
                <a:latin typeface="Times New Roman" panose="02020603050405020304" pitchFamily="18" charset="0"/>
                <a:cs typeface="Times New Roman" panose="02020603050405020304" pitchFamily="18" charset="0"/>
              </a:rPr>
              <a:t>9.Exercise and nutrition </a:t>
            </a:r>
          </a:p>
          <a:p>
            <a:pPr marL="0" indent="0">
              <a:buNone/>
            </a:pPr>
            <a:endParaRPr lang="en-IN" b="1" dirty="0"/>
          </a:p>
        </p:txBody>
      </p:sp>
      <p:sp>
        <p:nvSpPr>
          <p:cNvPr id="4" name="TextBox 3">
            <a:extLst>
              <a:ext uri="{FF2B5EF4-FFF2-40B4-BE49-F238E27FC236}">
                <a16:creationId xmlns="" xmlns:a16="http://schemas.microsoft.com/office/drawing/2014/main" id="{8C63BA61-47D6-6302-F33C-444A02461F89}"/>
              </a:ext>
            </a:extLst>
          </p:cNvPr>
          <p:cNvSpPr txBox="1"/>
          <p:nvPr/>
        </p:nvSpPr>
        <p:spPr>
          <a:xfrm>
            <a:off x="990599" y="962025"/>
            <a:ext cx="10764253" cy="2492990"/>
          </a:xfrm>
          <a:prstGeom prst="rect">
            <a:avLst/>
          </a:prstGeom>
          <a:noFill/>
        </p:spPr>
        <p:txBody>
          <a:bodyPr wrap="square" rtlCol="0">
            <a:spAutoFit/>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Available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survey data indicate that fewer than 1 in every 4    </a:t>
            </a:r>
            <a:r>
              <a:rPr kumimoji="0" lang="en-US" sz="2600" b="0" i="0" u="none" strike="noStrike" kern="1200" cap="none" spc="0" normalizeH="0" noProof="0" dirty="0" smtClean="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adolescents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meets the recommended guidelines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for</a:t>
            </a:r>
            <a:r>
              <a:rPr kumimoji="0" lang="en-US" sz="2600" b="0" i="0" u="none" strike="noStrike" kern="1200" cap="none" spc="0" normalizeH="0" noProof="0" dirty="0" smtClean="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physical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activity – 60 minutes of moderate to vigorous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physical</a:t>
            </a:r>
            <a:r>
              <a:rPr kumimoji="0" lang="en-US" sz="2600" b="0" i="0" u="none" strike="noStrike" kern="1200" cap="none" spc="0" normalizeH="0" noProof="0" dirty="0" smtClean="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activity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daily. </a:t>
            </a: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Anemia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resulting from a lack of iron affects girls and boys, and is the   </a:t>
            </a:r>
            <a:r>
              <a:rPr kumimoji="0" lang="en-US" sz="2600" b="0" i="0" u="none" strike="noStrike" kern="1200" cap="none" spc="0" normalizeH="0" noProof="0" dirty="0" smtClean="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third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cause of years lost to death and disability. Iron and folic acid </a:t>
            </a:r>
            <a:r>
              <a:rPr kumimoji="0" lang="en-US" sz="2600" b="0" i="0" u="none" strike="noStrike" kern="1200" cap="none" spc="0" normalizeH="0" noProof="0" dirty="0" smtClean="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supplements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help to promote health before adolescents become  </a:t>
            </a:r>
            <a:r>
              <a:rPr kumimoji="0" lang="en-US" sz="2600" b="0" i="0" u="none" strike="noStrike" kern="1200" cap="none" spc="0" normalizeH="0" noProof="0" dirty="0" smtClean="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600" b="0" i="0" u="none" strike="noStrike" kern="1200" cap="none" spc="0" normalizeH="0" baseline="0" noProof="0" dirty="0" smtClean="0">
                <a:ln>
                  <a:noFill/>
                </a:ln>
                <a:solidFill>
                  <a:prstClr val="black"/>
                </a:solidFill>
                <a:effectLst/>
                <a:uLnTx/>
                <a:uFillTx/>
                <a:latin typeface="Times New Roman" panose="02020603050405020304" pitchFamily="18" charset="0"/>
                <a:cs typeface="Times New Roman" panose="02020603050405020304" pitchFamily="18" charset="0"/>
              </a:rPr>
              <a:t>parents</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n-IN"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 xmlns:a16="http://schemas.microsoft.com/office/drawing/2014/main" id="{02666231-D809-D2D8-EEF2-DDDA0ECD9AB1}"/>
              </a:ext>
            </a:extLst>
          </p:cNvPr>
          <p:cNvSpPr txBox="1">
            <a:spLocks/>
          </p:cNvSpPr>
          <p:nvPr/>
        </p:nvSpPr>
        <p:spPr>
          <a:xfrm>
            <a:off x="990599" y="3773535"/>
            <a:ext cx="10764253" cy="16612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Developing healthy eating and exercise habits at this age are foundations for good health in adulthood. Reducing the marketing of foods high in saturated fats, trans-fatty acids, free sugars, or salt and providing access to healthy foods and opportunities to engage in physical activity are important for all but especially children and adolescents</a:t>
            </a:r>
            <a:endParaRPr kumimoji="0" lang="en-IN" sz="2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1948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5BDD0288-261D-985C-4485-AE2B62D89687}"/>
              </a:ext>
            </a:extLst>
          </p:cNvPr>
          <p:cNvPicPr>
            <a:picLocks noChangeAspect="1"/>
          </p:cNvPicPr>
          <p:nvPr/>
        </p:nvPicPr>
        <p:blipFill>
          <a:blip r:embed="rId2"/>
          <a:stretch>
            <a:fillRect/>
          </a:stretch>
        </p:blipFill>
        <p:spPr>
          <a:xfrm>
            <a:off x="1429069" y="1433284"/>
            <a:ext cx="8701520" cy="3178306"/>
          </a:xfrm>
          <a:prstGeom prst="rect">
            <a:avLst/>
          </a:prstGeom>
        </p:spPr>
      </p:pic>
      <p:sp>
        <p:nvSpPr>
          <p:cNvPr id="8" name="TextBox 7">
            <a:extLst>
              <a:ext uri="{FF2B5EF4-FFF2-40B4-BE49-F238E27FC236}">
                <a16:creationId xmlns="" xmlns:a16="http://schemas.microsoft.com/office/drawing/2014/main" id="{F44828A5-D4B2-6BBF-59C2-A85DDBAD1821}"/>
              </a:ext>
            </a:extLst>
          </p:cNvPr>
          <p:cNvSpPr txBox="1"/>
          <p:nvPr/>
        </p:nvSpPr>
        <p:spPr>
          <a:xfrm>
            <a:off x="971868" y="733425"/>
            <a:ext cx="5191125" cy="459228"/>
          </a:xfrm>
          <a:prstGeom prst="rect">
            <a:avLst/>
          </a:prstGeom>
          <a:noFill/>
        </p:spPr>
        <p:txBody>
          <a:bodyPr wrap="square" rtlCol="0">
            <a:spAutoFit/>
          </a:bodyPr>
          <a:lstStyle/>
          <a:p>
            <a:pPr marR="0" lvl="0" fontAlgn="auto">
              <a:lnSpc>
                <a:spcPct val="70000"/>
              </a:lnSpc>
              <a:spcBef>
                <a:spcPts val="1000"/>
              </a:spcBef>
              <a:spcAft>
                <a:spcPts val="0"/>
              </a:spcAft>
              <a:buClrTx/>
              <a:buSzTx/>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10. </a:t>
            </a:r>
            <a:r>
              <a:rPr lang="en-US" sz="2400" b="1" dirty="0">
                <a:solidFill>
                  <a:schemeClr val="dk1"/>
                </a:solidFill>
                <a:latin typeface="Times New Roman" panose="02020603050405020304" pitchFamily="18" charset="0"/>
                <a:cs typeface="Times New Roman" panose="02020603050405020304" pitchFamily="18" charset="0"/>
              </a:rPr>
              <a:t>Tobacco Use</a:t>
            </a:r>
            <a:endParaRPr lang="en-IN" sz="2400" b="1"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9598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16521" y="290445"/>
            <a:ext cx="2497800" cy="927177"/>
          </a:xfrm>
          <a:prstGeom prst="rect">
            <a:avLst/>
          </a:prstGeom>
        </p:spPr>
        <p:txBody>
          <a:bodyPr wrap="none">
            <a:spAutoFit/>
          </a:bodyPr>
          <a:lstStyle/>
          <a:p>
            <a:pPr algn="ctr">
              <a:lnSpc>
                <a:spcPct val="200000"/>
              </a:lnSpc>
            </a:pPr>
            <a:r>
              <a:rPr lang="en-IN" sz="3200" b="1" dirty="0">
                <a:latin typeface="Times New Roman" panose="02020603050405020304" pitchFamily="18" charset="0"/>
                <a:cs typeface="Times New Roman" panose="02020603050405020304" pitchFamily="18" charset="0"/>
              </a:rPr>
              <a:t>Health status</a:t>
            </a:r>
            <a:endParaRPr lang="en-US" sz="3200" dirty="0">
              <a:latin typeface="Times New Roman" panose="02020603050405020304" pitchFamily="18" charset="0"/>
              <a:cs typeface="Times New Roman" panose="02020603050405020304" pitchFamily="18" charset="0"/>
            </a:endParaRPr>
          </a:p>
        </p:txBody>
      </p:sp>
      <p:sp>
        <p:nvSpPr>
          <p:cNvPr id="4" name="Rectangle 3"/>
          <p:cNvSpPr/>
          <p:nvPr/>
        </p:nvSpPr>
        <p:spPr>
          <a:xfrm>
            <a:off x="713874" y="1721658"/>
            <a:ext cx="11065042" cy="2616101"/>
          </a:xfrm>
          <a:prstGeom prst="rect">
            <a:avLst/>
          </a:prstGeom>
        </p:spPr>
        <p:txBody>
          <a:bodyPr wrap="square">
            <a:spAutoFit/>
          </a:bodyPr>
          <a:lstStyle/>
          <a:p>
            <a:pPr algn="ctr">
              <a:lnSpc>
                <a:spcPct val="200000"/>
              </a:lnSpc>
            </a:pPr>
            <a:r>
              <a:rPr lang="en-IN" b="1" dirty="0">
                <a:latin typeface="Times New Roman" panose="02020603050405020304" pitchFamily="18" charset="0"/>
                <a:cs typeface="Times New Roman" panose="02020603050405020304" pitchFamily="18" charset="0"/>
              </a:rPr>
              <a:t>The W H O </a:t>
            </a:r>
            <a:r>
              <a:rPr lang="en-IN" b="1" dirty="0" smtClean="0">
                <a:latin typeface="Times New Roman" panose="02020603050405020304" pitchFamily="18" charset="0"/>
                <a:cs typeface="Times New Roman" panose="02020603050405020304" pitchFamily="18" charset="0"/>
              </a:rPr>
              <a:t>definition:</a:t>
            </a:r>
          </a:p>
          <a:p>
            <a:pPr algn="just"/>
            <a:r>
              <a:rPr lang="en-US" sz="3200" dirty="0" smtClean="0">
                <a:solidFill>
                  <a:srgbClr val="0070C0"/>
                </a:solidFill>
                <a:latin typeface="Times New Roman" panose="02020603050405020304" pitchFamily="18" charset="0"/>
                <a:cs typeface="Times New Roman" panose="02020603050405020304" pitchFamily="18" charset="0"/>
              </a:rPr>
              <a:t>The </a:t>
            </a:r>
            <a:r>
              <a:rPr lang="en-US" sz="3200" dirty="0">
                <a:solidFill>
                  <a:srgbClr val="0070C0"/>
                </a:solidFill>
                <a:latin typeface="Times New Roman" panose="02020603050405020304" pitchFamily="18" charset="0"/>
                <a:cs typeface="Times New Roman" panose="02020603050405020304" pitchFamily="18" charset="0"/>
              </a:rPr>
              <a:t>state of health of a person or population assessed with reference to morbidity, impairments, anthropological measurements, mortality, and indicators of functional status and quality of life.</a:t>
            </a:r>
            <a:endParaRPr lang="en-IN" sz="3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278593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362DEFE3-09D2-1512-4050-29DFB3E348A3}"/>
              </a:ext>
            </a:extLst>
          </p:cNvPr>
          <p:cNvSpPr txBox="1"/>
          <p:nvPr/>
        </p:nvSpPr>
        <p:spPr>
          <a:xfrm>
            <a:off x="537882" y="674400"/>
            <a:ext cx="11120717" cy="5509200"/>
          </a:xfrm>
          <a:prstGeom prst="rect">
            <a:avLst/>
          </a:prstGeom>
          <a:noFill/>
        </p:spPr>
        <p:txBody>
          <a:bodyPr wrap="square">
            <a:spAutoFit/>
          </a:bodyPr>
          <a:lstStyle/>
          <a:p>
            <a:r>
              <a:rPr lang="en-IN" sz="3200" dirty="0">
                <a:latin typeface="Times New Roman" panose="02020603050405020304" pitchFamily="18" charset="0"/>
                <a:cs typeface="Times New Roman" panose="02020603050405020304" pitchFamily="18" charset="0"/>
              </a:rPr>
              <a:t>Types of health status</a:t>
            </a:r>
          </a:p>
          <a:p>
            <a:pPr>
              <a:buNone/>
            </a:pPr>
            <a:r>
              <a:rPr lang="en-IN" sz="3200" dirty="0"/>
              <a:t> </a:t>
            </a:r>
          </a:p>
          <a:p>
            <a:pPr marL="1371600" lvl="2" indent="-457200">
              <a:buFont typeface="Arial" panose="020B0604020202020204" pitchFamily="34" charset="0"/>
              <a:buChar char="•"/>
            </a:pPr>
            <a:r>
              <a:rPr lang="en-IN" sz="3200" dirty="0">
                <a:solidFill>
                  <a:srgbClr val="0070C0"/>
                </a:solidFill>
                <a:latin typeface="Times New Roman" panose="02020603050405020304" pitchFamily="18" charset="0"/>
                <a:cs typeface="Times New Roman" panose="02020603050405020304" pitchFamily="18" charset="0"/>
              </a:rPr>
              <a:t>F</a:t>
            </a:r>
            <a:r>
              <a:rPr lang="en-IN" sz="3200" dirty="0" smtClean="0">
                <a:solidFill>
                  <a:srgbClr val="0070C0"/>
                </a:solidFill>
                <a:latin typeface="Times New Roman" panose="02020603050405020304" pitchFamily="18" charset="0"/>
                <a:cs typeface="Times New Roman" panose="02020603050405020304" pitchFamily="18" charset="0"/>
              </a:rPr>
              <a:t>unctional </a:t>
            </a:r>
            <a:r>
              <a:rPr lang="en-IN" sz="3200" dirty="0">
                <a:solidFill>
                  <a:srgbClr val="0070C0"/>
                </a:solidFill>
                <a:latin typeface="Times New Roman" panose="02020603050405020304" pitchFamily="18" charset="0"/>
                <a:cs typeface="Times New Roman" panose="02020603050405020304" pitchFamily="18" charset="0"/>
              </a:rPr>
              <a:t>health</a:t>
            </a:r>
          </a:p>
          <a:p>
            <a:pPr marL="1371600" lvl="2" indent="-457200">
              <a:buFont typeface="Arial" panose="020B0604020202020204" pitchFamily="34" charset="0"/>
              <a:buChar char="•"/>
            </a:pPr>
            <a:r>
              <a:rPr lang="en-IN" sz="3200" dirty="0">
                <a:solidFill>
                  <a:srgbClr val="0070C0"/>
                </a:solidFill>
                <a:latin typeface="Times New Roman" panose="02020603050405020304" pitchFamily="18" charset="0"/>
                <a:cs typeface="Times New Roman" panose="02020603050405020304" pitchFamily="18" charset="0"/>
              </a:rPr>
              <a:t>D</a:t>
            </a:r>
            <a:r>
              <a:rPr lang="en-IN" sz="3200" dirty="0" smtClean="0">
                <a:solidFill>
                  <a:srgbClr val="0070C0"/>
                </a:solidFill>
                <a:latin typeface="Times New Roman" panose="02020603050405020304" pitchFamily="18" charset="0"/>
                <a:cs typeface="Times New Roman" panose="02020603050405020304" pitchFamily="18" charset="0"/>
              </a:rPr>
              <a:t>isability </a:t>
            </a:r>
            <a:r>
              <a:rPr lang="en-IN" sz="3200" dirty="0">
                <a:solidFill>
                  <a:srgbClr val="0070C0"/>
                </a:solidFill>
                <a:latin typeface="Times New Roman" panose="02020603050405020304" pitchFamily="18" charset="0"/>
                <a:cs typeface="Times New Roman" panose="02020603050405020304" pitchFamily="18" charset="0"/>
              </a:rPr>
              <a:t>days</a:t>
            </a:r>
          </a:p>
          <a:p>
            <a:pPr marL="1371600" lvl="2" indent="-457200">
              <a:buFont typeface="Arial" panose="020B0604020202020204" pitchFamily="34" charset="0"/>
              <a:buChar char="•"/>
            </a:pPr>
            <a:r>
              <a:rPr lang="en-IN" sz="3200" dirty="0">
                <a:solidFill>
                  <a:srgbClr val="0070C0"/>
                </a:solidFill>
                <a:latin typeface="Times New Roman" panose="02020603050405020304" pitchFamily="18" charset="0"/>
                <a:cs typeface="Times New Roman" panose="02020603050405020304" pitchFamily="18" charset="0"/>
              </a:rPr>
              <a:t>A</a:t>
            </a:r>
            <a:r>
              <a:rPr lang="en-IN" sz="3200" dirty="0" smtClean="0">
                <a:solidFill>
                  <a:srgbClr val="0070C0"/>
                </a:solidFill>
                <a:latin typeface="Times New Roman" panose="02020603050405020304" pitchFamily="18" charset="0"/>
                <a:cs typeface="Times New Roman" panose="02020603050405020304" pitchFamily="18" charset="0"/>
              </a:rPr>
              <a:t>ctivity </a:t>
            </a:r>
            <a:r>
              <a:rPr lang="en-IN" sz="3200" dirty="0">
                <a:solidFill>
                  <a:srgbClr val="0070C0"/>
                </a:solidFill>
                <a:latin typeface="Times New Roman" panose="02020603050405020304" pitchFamily="18" charset="0"/>
                <a:cs typeface="Times New Roman" panose="02020603050405020304" pitchFamily="18" charset="0"/>
              </a:rPr>
              <a:t>limitation</a:t>
            </a:r>
          </a:p>
          <a:p>
            <a:pPr marL="1371600" lvl="2" indent="-457200">
              <a:buFont typeface="Arial" panose="020B0604020202020204" pitchFamily="34" charset="0"/>
              <a:buChar char="•"/>
            </a:pPr>
            <a:r>
              <a:rPr lang="en-IN" sz="3200" dirty="0">
                <a:solidFill>
                  <a:srgbClr val="0070C0"/>
                </a:solidFill>
                <a:latin typeface="Times New Roman" panose="02020603050405020304" pitchFamily="18" charset="0"/>
                <a:cs typeface="Times New Roman" panose="02020603050405020304" pitchFamily="18" charset="0"/>
              </a:rPr>
              <a:t>H</a:t>
            </a:r>
            <a:r>
              <a:rPr lang="en-IN" sz="3200" dirty="0" smtClean="0">
                <a:solidFill>
                  <a:srgbClr val="0070C0"/>
                </a:solidFill>
                <a:latin typeface="Times New Roman" panose="02020603050405020304" pitchFamily="18" charset="0"/>
                <a:cs typeface="Times New Roman" panose="02020603050405020304" pitchFamily="18" charset="0"/>
              </a:rPr>
              <a:t>ealth </a:t>
            </a:r>
            <a:r>
              <a:rPr lang="en-IN" sz="3200" dirty="0">
                <a:solidFill>
                  <a:srgbClr val="0070C0"/>
                </a:solidFill>
                <a:latin typeface="Times New Roman" panose="02020603050405020304" pitchFamily="18" charset="0"/>
                <a:cs typeface="Times New Roman" panose="02020603050405020304" pitchFamily="18" charset="0"/>
              </a:rPr>
              <a:t>expectancy and </a:t>
            </a:r>
          </a:p>
          <a:p>
            <a:pPr marL="1371600" lvl="2" indent="-457200">
              <a:buFont typeface="Arial" panose="020B0604020202020204" pitchFamily="34" charset="0"/>
              <a:buChar char="•"/>
            </a:pPr>
            <a:r>
              <a:rPr lang="en-IN" sz="3200" dirty="0">
                <a:solidFill>
                  <a:srgbClr val="0070C0"/>
                </a:solidFill>
                <a:latin typeface="Times New Roman" panose="02020603050405020304" pitchFamily="18" charset="0"/>
                <a:cs typeface="Times New Roman" panose="02020603050405020304" pitchFamily="18" charset="0"/>
              </a:rPr>
              <a:t>D</a:t>
            </a:r>
            <a:r>
              <a:rPr lang="en-IN" sz="3200" dirty="0" smtClean="0">
                <a:solidFill>
                  <a:srgbClr val="0070C0"/>
                </a:solidFill>
                <a:latin typeface="Times New Roman" panose="02020603050405020304" pitchFamily="18" charset="0"/>
                <a:cs typeface="Times New Roman" panose="02020603050405020304" pitchFamily="18" charset="0"/>
              </a:rPr>
              <a:t>isability </a:t>
            </a:r>
            <a:r>
              <a:rPr lang="en-IN" sz="3200" dirty="0">
                <a:solidFill>
                  <a:srgbClr val="0070C0"/>
                </a:solidFill>
                <a:latin typeface="Times New Roman" panose="02020603050405020304" pitchFamily="18" charset="0"/>
                <a:cs typeface="Times New Roman" panose="02020603050405020304" pitchFamily="18" charset="0"/>
              </a:rPr>
              <a:t>free life expectancy</a:t>
            </a:r>
            <a:endParaRPr lang="en-US" sz="3200" dirty="0">
              <a:solidFill>
                <a:srgbClr val="0070C0"/>
              </a:solidFill>
              <a:latin typeface="Times New Roman" panose="02020603050405020304" pitchFamily="18" charset="0"/>
              <a:cs typeface="Times New Roman" panose="02020603050405020304" pitchFamily="18" charset="0"/>
            </a:endParaRPr>
          </a:p>
          <a:p>
            <a:endParaRPr lang="en-IN" sz="3200" dirty="0">
              <a:solidFill>
                <a:srgbClr val="0070C0"/>
              </a:solidFill>
              <a:latin typeface="Times New Roman" panose="02020603050405020304" pitchFamily="18" charset="0"/>
              <a:cs typeface="Times New Roman" panose="02020603050405020304" pitchFamily="18" charset="0"/>
            </a:endParaRPr>
          </a:p>
          <a:p>
            <a:endParaRPr lang="en-IN" sz="3200" dirty="0"/>
          </a:p>
          <a:p>
            <a:endParaRPr lang="en-IN" sz="3200" dirty="0"/>
          </a:p>
          <a:p>
            <a:endParaRPr lang="en-IN" sz="3200" dirty="0"/>
          </a:p>
        </p:txBody>
      </p:sp>
    </p:spTree>
    <p:extLst>
      <p:ext uri="{BB962C8B-B14F-4D97-AF65-F5344CB8AC3E}">
        <p14:creationId xmlns:p14="http://schemas.microsoft.com/office/powerpoint/2010/main" val="89322473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7580544D-2F2E-1EB6-10F7-3F79D463753F}"/>
              </a:ext>
            </a:extLst>
          </p:cNvPr>
          <p:cNvSpPr txBox="1"/>
          <p:nvPr/>
        </p:nvSpPr>
        <p:spPr>
          <a:xfrm>
            <a:off x="2277979" y="1684421"/>
            <a:ext cx="45719" cy="369332"/>
          </a:xfrm>
          <a:prstGeom prst="rect">
            <a:avLst/>
          </a:prstGeom>
          <a:noFill/>
        </p:spPr>
        <p:txBody>
          <a:bodyPr wrap="square" rtlCol="0">
            <a:spAutoFit/>
          </a:bodyPr>
          <a:lstStyle/>
          <a:p>
            <a:endParaRPr lang="en-IN" dirty="0"/>
          </a:p>
        </p:txBody>
      </p:sp>
      <p:sp>
        <p:nvSpPr>
          <p:cNvPr id="4" name="TextBox 3">
            <a:extLst>
              <a:ext uri="{FF2B5EF4-FFF2-40B4-BE49-F238E27FC236}">
                <a16:creationId xmlns="" xmlns:a16="http://schemas.microsoft.com/office/drawing/2014/main" id="{E5B7C0FB-9AE0-E904-A3BE-FDEA56E979B1}"/>
              </a:ext>
            </a:extLst>
          </p:cNvPr>
          <p:cNvSpPr txBox="1"/>
          <p:nvPr/>
        </p:nvSpPr>
        <p:spPr>
          <a:xfrm>
            <a:off x="685800" y="1324089"/>
            <a:ext cx="5462337" cy="4647426"/>
          </a:xfrm>
          <a:prstGeom prst="rect">
            <a:avLst/>
          </a:prstGeom>
          <a:noFill/>
        </p:spPr>
        <p:txBody>
          <a:bodyPr wrap="square">
            <a:spAutoFit/>
          </a:bodyPr>
          <a:lstStyle/>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Earlier rising income and subsequent improved standards of living were thought to be the most important factors contributing to a long and healthy </a:t>
            </a:r>
            <a:r>
              <a:rPr lang="en-IN" sz="2400" dirty="0" smtClean="0">
                <a:latin typeface="Times New Roman" panose="02020603050405020304" pitchFamily="18" charset="0"/>
                <a:cs typeface="Times New Roman" panose="02020603050405020304" pitchFamily="18" charset="0"/>
              </a:rPr>
              <a:t>life</a:t>
            </a:r>
          </a:p>
          <a:p>
            <a:pPr marL="457200" indent="-4572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New research has shown that the level of education a person has is a much better predictor of life expectancy</a:t>
            </a:r>
          </a:p>
          <a:p>
            <a:pPr marL="457200" indent="-4572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buNone/>
            </a:pPr>
            <a:endParaRPr lang="en-IN" sz="2800" dirty="0">
              <a:latin typeface="Times New Roman" panose="02020603050405020304" pitchFamily="18" charset="0"/>
              <a:cs typeface="Times New Roman" panose="02020603050405020304" pitchFamily="18" charset="0"/>
            </a:endParaRPr>
          </a:p>
          <a:p>
            <a:pPr algn="just">
              <a:buNone/>
            </a:pPr>
            <a:endParaRPr lang="en-US"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F35CB7D7-3B26-98A8-504D-0DCE3F0D2BA0}"/>
              </a:ext>
            </a:extLst>
          </p:cNvPr>
          <p:cNvSpPr txBox="1"/>
          <p:nvPr/>
        </p:nvSpPr>
        <p:spPr>
          <a:xfrm>
            <a:off x="887505" y="499514"/>
            <a:ext cx="7175362" cy="584775"/>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pPr>
              <a:buNone/>
            </a:pPr>
            <a:r>
              <a:rPr lang="en-IN" sz="3200" dirty="0">
                <a:latin typeface="Times New Roman" panose="02020603050405020304" pitchFamily="18" charset="0"/>
                <a:cs typeface="Times New Roman" panose="02020603050405020304" pitchFamily="18" charset="0"/>
              </a:rPr>
              <a:t>What is the best predictor of health status?</a:t>
            </a:r>
          </a:p>
        </p:txBody>
      </p:sp>
      <p:sp>
        <p:nvSpPr>
          <p:cNvPr id="6" name="TextBox 5">
            <a:extLst>
              <a:ext uri="{FF2B5EF4-FFF2-40B4-BE49-F238E27FC236}">
                <a16:creationId xmlns="" xmlns:a16="http://schemas.microsoft.com/office/drawing/2014/main" id="{C12804F6-CDB3-B907-235F-3206C11C3284}"/>
              </a:ext>
            </a:extLst>
          </p:cNvPr>
          <p:cNvSpPr txBox="1"/>
          <p:nvPr/>
        </p:nvSpPr>
        <p:spPr>
          <a:xfrm>
            <a:off x="6722821" y="1342340"/>
            <a:ext cx="4565673" cy="584775"/>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pPr>
              <a:buNone/>
            </a:pPr>
            <a:r>
              <a:rPr lang="en-IN" sz="3200" dirty="0">
                <a:latin typeface="Times New Roman" panose="02020603050405020304" pitchFamily="18" charset="0"/>
                <a:cs typeface="Times New Roman" panose="02020603050405020304" pitchFamily="18" charset="0"/>
              </a:rPr>
              <a:t>Measures of health status: </a:t>
            </a:r>
          </a:p>
        </p:txBody>
      </p:sp>
      <p:sp>
        <p:nvSpPr>
          <p:cNvPr id="7" name="TextBox 6">
            <a:extLst>
              <a:ext uri="{FF2B5EF4-FFF2-40B4-BE49-F238E27FC236}">
                <a16:creationId xmlns="" xmlns:a16="http://schemas.microsoft.com/office/drawing/2014/main" id="{47B70970-0ABF-3EE7-5E77-16DB2EC450FE}"/>
              </a:ext>
            </a:extLst>
          </p:cNvPr>
          <p:cNvSpPr txBox="1"/>
          <p:nvPr/>
        </p:nvSpPr>
        <p:spPr>
          <a:xfrm>
            <a:off x="6659831" y="1634727"/>
            <a:ext cx="6055188" cy="4708981"/>
          </a:xfrm>
          <a:prstGeom prst="rect">
            <a:avLst/>
          </a:prstGeom>
          <a:noFill/>
        </p:spPr>
        <p:txBody>
          <a:bodyPr wrap="square">
            <a:spAutoFit/>
          </a:bodyPr>
          <a:lstStyle/>
          <a:p>
            <a:pPr marL="457200" indent="-457200">
              <a:buFont typeface="Arial" panose="020B0604020202020204" pitchFamily="34" charset="0"/>
              <a:buChar char="•"/>
            </a:pPr>
            <a:endParaRPr lang="en-IN" sz="3000" dirty="0"/>
          </a:p>
          <a:p>
            <a:pPr marL="457200" indent="-457200">
              <a:buFont typeface="Arial" panose="020B0604020202020204" pitchFamily="34" charset="0"/>
              <a:buChar char="•"/>
            </a:pPr>
            <a:endParaRPr lang="en-IN" sz="3000" dirty="0"/>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Life expectancy.</a:t>
            </a:r>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H</a:t>
            </a:r>
            <a:r>
              <a:rPr lang="en-IN" sz="3000" dirty="0" smtClean="0">
                <a:latin typeface="Times New Roman" panose="02020603050405020304" pitchFamily="18" charset="0"/>
                <a:cs typeface="Times New Roman" panose="02020603050405020304" pitchFamily="18" charset="0"/>
              </a:rPr>
              <a:t>ealth </a:t>
            </a:r>
            <a:r>
              <a:rPr lang="en-IN" sz="3000" dirty="0">
                <a:latin typeface="Times New Roman" panose="02020603050405020304" pitchFamily="18" charset="0"/>
                <a:cs typeface="Times New Roman" panose="02020603050405020304" pitchFamily="18" charset="0"/>
              </a:rPr>
              <a:t>adjusted life expectancy.</a:t>
            </a:r>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Morbidity.</a:t>
            </a:r>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U</a:t>
            </a:r>
            <a:r>
              <a:rPr lang="en-IN" sz="3000" dirty="0" smtClean="0">
                <a:latin typeface="Times New Roman" panose="02020603050405020304" pitchFamily="18" charset="0"/>
                <a:cs typeface="Times New Roman" panose="02020603050405020304" pitchFamily="18" charset="0"/>
              </a:rPr>
              <a:t>nder-five </a:t>
            </a:r>
            <a:r>
              <a:rPr lang="en-IN" sz="3000" dirty="0">
                <a:latin typeface="Times New Roman" panose="02020603050405020304" pitchFamily="18" charset="0"/>
                <a:cs typeface="Times New Roman" panose="02020603050405020304" pitchFamily="18" charset="0"/>
              </a:rPr>
              <a:t>mortality. </a:t>
            </a:r>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B</a:t>
            </a:r>
            <a:r>
              <a:rPr lang="en-IN" sz="3000" dirty="0" smtClean="0">
                <a:latin typeface="Times New Roman" panose="02020603050405020304" pitchFamily="18" charset="0"/>
                <a:cs typeface="Times New Roman" panose="02020603050405020304" pitchFamily="18" charset="0"/>
              </a:rPr>
              <a:t>urden </a:t>
            </a:r>
            <a:r>
              <a:rPr lang="en-IN" sz="3000" dirty="0">
                <a:latin typeface="Times New Roman" panose="02020603050405020304" pitchFamily="18" charset="0"/>
                <a:cs typeface="Times New Roman" panose="02020603050405020304" pitchFamily="18" charset="0"/>
              </a:rPr>
              <a:t>of disease.</a:t>
            </a:r>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D</a:t>
            </a:r>
            <a:r>
              <a:rPr lang="en-IN" sz="3000" dirty="0" smtClean="0">
                <a:latin typeface="Times New Roman" panose="02020603050405020304" pitchFamily="18" charset="0"/>
                <a:cs typeface="Times New Roman" panose="02020603050405020304" pitchFamily="18" charset="0"/>
              </a:rPr>
              <a:t>isability </a:t>
            </a:r>
            <a:r>
              <a:rPr lang="en-IN" sz="3000" dirty="0">
                <a:latin typeface="Times New Roman" panose="02020603050405020304" pitchFamily="18" charset="0"/>
                <a:cs typeface="Times New Roman" panose="02020603050405020304" pitchFamily="18" charset="0"/>
              </a:rPr>
              <a:t>adjusted life year. </a:t>
            </a:r>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Incidence.</a:t>
            </a:r>
          </a:p>
          <a:p>
            <a:pPr marL="457200" indent="-457200">
              <a:buFont typeface="Arial" panose="020B0604020202020204" pitchFamily="34" charset="0"/>
              <a:buChar char="•"/>
            </a:pPr>
            <a:r>
              <a:rPr lang="en-IN" sz="3000" dirty="0">
                <a:latin typeface="Times New Roman" panose="02020603050405020304" pitchFamily="18" charset="0"/>
                <a:cs typeface="Times New Roman" panose="02020603050405020304" pitchFamily="18" charset="0"/>
              </a:rPr>
              <a:t>P</a:t>
            </a:r>
            <a:r>
              <a:rPr lang="en-IN" sz="3000" dirty="0" smtClean="0">
                <a:latin typeface="Times New Roman" panose="02020603050405020304" pitchFamily="18" charset="0"/>
                <a:cs typeface="Times New Roman" panose="02020603050405020304" pitchFamily="18" charset="0"/>
              </a:rPr>
              <a:t>revalence</a:t>
            </a:r>
            <a:r>
              <a:rPr lang="en-IN" sz="3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779635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73CF316A-C716-30D6-F4E8-BB0D579633D2}"/>
              </a:ext>
            </a:extLst>
          </p:cNvPr>
          <p:cNvSpPr txBox="1">
            <a:spLocks/>
          </p:cNvSpPr>
          <p:nvPr/>
        </p:nvSpPr>
        <p:spPr>
          <a:xfrm>
            <a:off x="457200" y="274638"/>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5" name="Content Placeholder 2">
            <a:extLst>
              <a:ext uri="{FF2B5EF4-FFF2-40B4-BE49-F238E27FC236}">
                <a16:creationId xmlns="" xmlns:a16="http://schemas.microsoft.com/office/drawing/2014/main" id="{FEADF213-7C0E-3E5D-F92D-493BC100AE27}"/>
              </a:ext>
            </a:extLst>
          </p:cNvPr>
          <p:cNvSpPr txBox="1">
            <a:spLocks/>
          </p:cNvSpPr>
          <p:nvPr/>
        </p:nvSpPr>
        <p:spPr>
          <a:xfrm>
            <a:off x="887504" y="1573306"/>
            <a:ext cx="11047821"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Times New Roman" panose="02020603050405020304" pitchFamily="18" charset="0"/>
                <a:cs typeface="Times New Roman" panose="02020603050405020304" pitchFamily="18" charset="0"/>
              </a:rPr>
              <a:t>What Is Wealth</a:t>
            </a:r>
            <a:r>
              <a:rPr lang="en-US" b="1"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lvl="2" algn="just"/>
            <a:r>
              <a:rPr lang="en-US" dirty="0" smtClean="0">
                <a:latin typeface="Times New Roman" panose="02020603050405020304" pitchFamily="18" charset="0"/>
                <a:cs typeface="Times New Roman" panose="02020603050405020304" pitchFamily="18" charset="0"/>
              </a:rPr>
              <a:t>Wealth </a:t>
            </a:r>
            <a:r>
              <a:rPr lang="en-US" dirty="0">
                <a:latin typeface="Times New Roman" panose="02020603050405020304" pitchFamily="18" charset="0"/>
                <a:cs typeface="Times New Roman" panose="02020603050405020304" pitchFamily="18" charset="0"/>
              </a:rPr>
              <a:t>measures the value of all the assets of worth owned by a person, community, company, or country. </a:t>
            </a:r>
            <a:endParaRPr lang="en-US" dirty="0">
              <a:latin typeface="Times New Roman" panose="02020603050405020304" pitchFamily="18" charset="0"/>
              <a:cs typeface="Times New Roman" panose="02020603050405020304" pitchFamily="18" charset="0"/>
            </a:endParaRPr>
          </a:p>
          <a:p>
            <a:pPr lvl="2" algn="just"/>
            <a:r>
              <a:rPr lang="en-US" dirty="0" smtClean="0">
                <a:latin typeface="Times New Roman" panose="02020603050405020304" pitchFamily="18" charset="0"/>
                <a:cs typeface="Times New Roman" panose="02020603050405020304" pitchFamily="18" charset="0"/>
              </a:rPr>
              <a:t>Wealth </a:t>
            </a:r>
            <a:r>
              <a:rPr lang="en-US" dirty="0">
                <a:latin typeface="Times New Roman" panose="02020603050405020304" pitchFamily="18" charset="0"/>
                <a:cs typeface="Times New Roman" panose="02020603050405020304" pitchFamily="18" charset="0"/>
              </a:rPr>
              <a:t>is determined by taking the total market value of all physical and intangible assets owned, then subtracting all debts. </a:t>
            </a:r>
            <a:endParaRPr lang="en-US" dirty="0" smtClean="0">
              <a:latin typeface="Times New Roman" panose="02020603050405020304" pitchFamily="18" charset="0"/>
              <a:cs typeface="Times New Roman" panose="02020603050405020304" pitchFamily="18" charset="0"/>
            </a:endParaRPr>
          </a:p>
          <a:p>
            <a:pPr lvl="2" algn="just"/>
            <a:r>
              <a:rPr lang="en-US" dirty="0" smtClean="0">
                <a:latin typeface="Times New Roman" panose="02020603050405020304" pitchFamily="18" charset="0"/>
                <a:cs typeface="Times New Roman" panose="02020603050405020304" pitchFamily="18" charset="0"/>
              </a:rPr>
              <a:t>Essentially</a:t>
            </a:r>
            <a:r>
              <a:rPr lang="en-US" dirty="0">
                <a:latin typeface="Times New Roman" panose="02020603050405020304" pitchFamily="18" charset="0"/>
                <a:cs typeface="Times New Roman" panose="02020603050405020304" pitchFamily="18" charset="0"/>
              </a:rPr>
              <a:t>, wealth is the accumulation of scarce resources</a:t>
            </a:r>
            <a:r>
              <a:rPr lang="en-US"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Specific people, organizations, and nations are said to be wealthy when they are able to accumulate many valuable resources or goods. </a:t>
            </a:r>
          </a:p>
          <a:p>
            <a:pPr algn="just"/>
            <a:r>
              <a:rPr lang="en-US" sz="2400" dirty="0">
                <a:latin typeface="Times New Roman" panose="02020603050405020304" pitchFamily="18" charset="0"/>
                <a:cs typeface="Times New Roman" panose="02020603050405020304" pitchFamily="18" charset="0"/>
              </a:rPr>
              <a:t>Wealth can be contrasted to income in that wealth is a stock and income is a flow, and it can be seen in either absolute or relative terms.</a:t>
            </a:r>
          </a:p>
          <a:p>
            <a:pPr lvl="1" algn="just"/>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8CDB130C-5A08-305F-497F-1779A2E291BE}"/>
              </a:ext>
            </a:extLst>
          </p:cNvPr>
          <p:cNvSpPr txBox="1"/>
          <p:nvPr/>
        </p:nvSpPr>
        <p:spPr>
          <a:xfrm>
            <a:off x="887505" y="499514"/>
            <a:ext cx="3908613" cy="58477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IN" sz="3200" b="1" dirty="0">
                <a:latin typeface="Times New Roman" panose="02020603050405020304" pitchFamily="18" charset="0"/>
                <a:cs typeface="Times New Roman" panose="02020603050405020304" pitchFamily="18" charset="0"/>
              </a:rPr>
              <a:t>Wealth Status:</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97233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409177-DCB7-237B-6C3C-CA81F189D360}"/>
              </a:ext>
            </a:extLst>
          </p:cNvPr>
          <p:cNvSpPr txBox="1">
            <a:spLocks/>
          </p:cNvSpPr>
          <p:nvPr/>
        </p:nvSpPr>
        <p:spPr>
          <a:xfrm>
            <a:off x="457200" y="274638"/>
            <a:ext cx="8229600" cy="1143000"/>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3" name="Content Placeholder 2">
            <a:extLst>
              <a:ext uri="{FF2B5EF4-FFF2-40B4-BE49-F238E27FC236}">
                <a16:creationId xmlns="" xmlns:a16="http://schemas.microsoft.com/office/drawing/2014/main" id="{5E68EDBB-426E-9CD3-8C3B-852BFE8DB125}"/>
              </a:ext>
            </a:extLst>
          </p:cNvPr>
          <p:cNvSpPr txBox="1">
            <a:spLocks/>
          </p:cNvSpPr>
          <p:nvPr/>
        </p:nvSpPr>
        <p:spPr>
          <a:xfrm>
            <a:off x="288758" y="1417638"/>
            <a:ext cx="11706725" cy="4525963"/>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lnSpc>
                <a:spcPct val="110000"/>
              </a:lnSpc>
            </a:pPr>
            <a:r>
              <a:rPr lang="en-US" sz="2000" dirty="0">
                <a:latin typeface="Times New Roman" panose="02020603050405020304" pitchFamily="18" charset="0"/>
                <a:cs typeface="Times New Roman" panose="02020603050405020304" pitchFamily="18" charset="0"/>
              </a:rPr>
              <a:t>Measuring wealth in terms of money overcomes the problem of evaluating wealth in the form of different kinds of goods. </a:t>
            </a:r>
            <a:endParaRPr lang="en-US" sz="2000" dirty="0" smtClean="0">
              <a:latin typeface="Times New Roman" panose="02020603050405020304" pitchFamily="18" charset="0"/>
              <a:cs typeface="Times New Roman" panose="02020603050405020304" pitchFamily="18" charset="0"/>
            </a:endParaRPr>
          </a:p>
          <a:p>
            <a:pPr lvl="1" algn="just">
              <a:lnSpc>
                <a:spcPct val="110000"/>
              </a:lnSpc>
            </a:pPr>
            <a:r>
              <a:rPr lang="en-US" sz="2000" dirty="0" smtClean="0">
                <a:latin typeface="Times New Roman" panose="02020603050405020304" pitchFamily="18" charset="0"/>
                <a:cs typeface="Times New Roman" panose="02020603050405020304" pitchFamily="18" charset="0"/>
              </a:rPr>
              <a:t>These </a:t>
            </a:r>
            <a:r>
              <a:rPr lang="en-US" sz="2000" dirty="0">
                <a:latin typeface="Times New Roman" panose="02020603050405020304" pitchFamily="18" charset="0"/>
                <a:cs typeface="Times New Roman" panose="02020603050405020304" pitchFamily="18" charset="0"/>
              </a:rPr>
              <a:t>values can then be added or subtracted together. </a:t>
            </a:r>
            <a:endParaRPr lang="en-US" sz="2000" dirty="0" smtClean="0">
              <a:latin typeface="Times New Roman" panose="02020603050405020304" pitchFamily="18" charset="0"/>
              <a:cs typeface="Times New Roman" panose="02020603050405020304" pitchFamily="18" charset="0"/>
            </a:endParaRPr>
          </a:p>
          <a:p>
            <a:pPr lvl="1" algn="just">
              <a:lnSpc>
                <a:spcPct val="110000"/>
              </a:lnSpc>
            </a:pPr>
            <a:r>
              <a:rPr lang="en-US" sz="2000" dirty="0" smtClean="0">
                <a:latin typeface="Times New Roman" panose="02020603050405020304" pitchFamily="18" charset="0"/>
                <a:cs typeface="Times New Roman" panose="02020603050405020304" pitchFamily="18" charset="0"/>
              </a:rPr>
              <a:t>This</a:t>
            </a:r>
            <a:r>
              <a:rPr lang="en-US" sz="2000" dirty="0">
                <a:latin typeface="Times New Roman" panose="02020603050405020304" pitchFamily="18" charset="0"/>
                <a:cs typeface="Times New Roman" panose="02020603050405020304" pitchFamily="18" charset="0"/>
              </a:rPr>
              <a:t>, in turn, permits the convenient use of net worth as a measure of wealth. Net worth is equal to assets minus liabilities. </a:t>
            </a:r>
            <a:endParaRPr lang="en-US" sz="2000" dirty="0" smtClean="0">
              <a:latin typeface="Times New Roman" panose="02020603050405020304" pitchFamily="18" charset="0"/>
              <a:cs typeface="Times New Roman" panose="02020603050405020304" pitchFamily="18" charset="0"/>
            </a:endParaRPr>
          </a:p>
          <a:p>
            <a:pPr lvl="1" algn="just">
              <a:lnSpc>
                <a:spcPct val="110000"/>
              </a:lnSpc>
            </a:pPr>
            <a:r>
              <a:rPr lang="en-US" sz="2000" dirty="0" smtClean="0">
                <a:latin typeface="Times New Roman" panose="02020603050405020304" pitchFamily="18" charset="0"/>
                <a:cs typeface="Times New Roman" panose="02020603050405020304" pitchFamily="18" charset="0"/>
              </a:rPr>
              <a:t>For </a:t>
            </a:r>
            <a:r>
              <a:rPr lang="en-US" sz="2000" dirty="0">
                <a:latin typeface="Times New Roman" panose="02020603050405020304" pitchFamily="18" charset="0"/>
                <a:cs typeface="Times New Roman" panose="02020603050405020304" pitchFamily="18" charset="0"/>
              </a:rPr>
              <a:t>businesses, net worth is also known as shareholders’ equity or book value. </a:t>
            </a:r>
            <a:endParaRPr lang="en-US" sz="2000" dirty="0" smtClean="0">
              <a:latin typeface="Times New Roman" panose="02020603050405020304" pitchFamily="18" charset="0"/>
              <a:cs typeface="Times New Roman" panose="02020603050405020304" pitchFamily="18" charset="0"/>
            </a:endParaRPr>
          </a:p>
          <a:p>
            <a:pPr lvl="1" algn="just">
              <a:lnSpc>
                <a:spcPct val="110000"/>
              </a:lnSpc>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common sense terms, net worth expresses wealth as all the real resources under one's control, excluding those that ultimately belong to someone </a:t>
            </a:r>
            <a:r>
              <a:rPr lang="en-US" dirty="0">
                <a:latin typeface="Times New Roman" panose="02020603050405020304" pitchFamily="18" charset="0"/>
                <a:cs typeface="Times New Roman" panose="02020603050405020304" pitchFamily="18" charset="0"/>
              </a:rPr>
              <a:t>else</a:t>
            </a:r>
            <a:r>
              <a:rPr lang="en-US" dirty="0" smtClean="0">
                <a:latin typeface="Times New Roman" panose="02020603050405020304" pitchFamily="18" charset="0"/>
                <a:cs typeface="Times New Roman" panose="02020603050405020304" pitchFamily="18" charset="0"/>
              </a:rPr>
              <a:t>.</a:t>
            </a:r>
          </a:p>
          <a:p>
            <a:pPr lvl="1" algn="just">
              <a:lnSpc>
                <a:spcPct val="110000"/>
              </a:lnSpc>
            </a:pPr>
            <a:r>
              <a:rPr lang="en-US" sz="2100" dirty="0">
                <a:latin typeface="Times New Roman" panose="02020603050405020304" pitchFamily="18" charset="0"/>
                <a:cs typeface="Times New Roman" panose="02020603050405020304" pitchFamily="18" charset="0"/>
              </a:rPr>
              <a:t>Research has consistently shown that people's perception of their own wellbeing and happiness depends much more on their estimates of wealth relative to other people than on absolute wealth. </a:t>
            </a:r>
          </a:p>
          <a:p>
            <a:pPr lvl="1" algn="just">
              <a:lnSpc>
                <a:spcPct val="110000"/>
              </a:lnSpc>
            </a:pPr>
            <a:r>
              <a:rPr lang="en-US" sz="2100" dirty="0">
                <a:latin typeface="Times New Roman" panose="02020603050405020304" pitchFamily="18" charset="0"/>
                <a:cs typeface="Times New Roman" panose="02020603050405020304" pitchFamily="18" charset="0"/>
              </a:rPr>
              <a:t>This is also part of why the concept of wealth is usually applied only to scarce economic goods; goods that are abundant and free for everyone provide no basis for relative comparisons across individuals.</a:t>
            </a:r>
          </a:p>
          <a:p>
            <a:pPr lvl="1" algn="just">
              <a:lnSpc>
                <a:spcPct val="110000"/>
              </a:lnSpc>
            </a:pP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A9B7E2D6-9D08-8F95-994B-0C766D19D767}"/>
              </a:ext>
            </a:extLst>
          </p:cNvPr>
          <p:cNvSpPr txBox="1"/>
          <p:nvPr/>
        </p:nvSpPr>
        <p:spPr>
          <a:xfrm>
            <a:off x="887504" y="499514"/>
            <a:ext cx="5486401" cy="58477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US" sz="3200" dirty="0">
                <a:latin typeface="Times New Roman" panose="02020603050405020304" pitchFamily="18" charset="0"/>
                <a:cs typeface="Times New Roman" panose="02020603050405020304" pitchFamily="18" charset="0"/>
              </a:rPr>
              <a:t>How to Measure Wealth:</a:t>
            </a:r>
          </a:p>
        </p:txBody>
      </p:sp>
    </p:spTree>
    <p:extLst>
      <p:ext uri="{BB962C8B-B14F-4D97-AF65-F5344CB8AC3E}">
        <p14:creationId xmlns:p14="http://schemas.microsoft.com/office/powerpoint/2010/main" val="13513585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690</TotalTime>
  <Words>2760</Words>
  <Application>Microsoft Office PowerPoint</Application>
  <PresentationFormat>Widescreen</PresentationFormat>
  <Paragraphs>287</Paragraphs>
  <Slides>51</Slides>
  <Notes>0</Notes>
  <HiddenSlides>0</HiddenSlides>
  <MMClips>1</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51</vt:i4>
      </vt:variant>
    </vt:vector>
  </HeadingPairs>
  <TitlesOfParts>
    <vt:vector size="66" baseType="lpstr">
      <vt:lpstr>Adobe Caslon Pro Bold</vt:lpstr>
      <vt:lpstr>Arial</vt:lpstr>
      <vt:lpstr>Arial Black</vt:lpstr>
      <vt:lpstr>Arno Pro Smbd</vt:lpstr>
      <vt:lpstr>Calibri</vt:lpstr>
      <vt:lpstr>Calibri Light</vt:lpstr>
      <vt:lpstr>Cooper Black</vt:lpstr>
      <vt:lpstr>Helvetica</vt:lpstr>
      <vt:lpstr>Matura MT Script Capitals</vt:lpstr>
      <vt:lpstr>Proxima Nova</vt:lpstr>
      <vt:lpstr>Roboto Slab</vt:lpstr>
      <vt:lpstr>Times New Roman</vt:lpstr>
      <vt:lpstr>Wingdings</vt:lpstr>
      <vt:lpstr>Wingdings 3</vt:lpstr>
      <vt:lpstr>Office Theme</vt:lpstr>
      <vt:lpstr>UNIT-V   Preventing and fighting against diseases for good health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Socioeconomic Impact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Pain management</vt:lpstr>
      <vt:lpstr> Taking care of mental health: </vt:lpstr>
      <vt:lpstr> Good life style choices for better quality of life </vt:lpstr>
      <vt:lpstr> Getting support from others for better quality of life: </vt:lpstr>
      <vt:lpstr>  Dealing with multiple health condition: </vt:lpstr>
      <vt:lpstr>Health and wellness</vt:lpstr>
      <vt:lpstr>Health and wellness in youth</vt:lpstr>
      <vt:lpstr>Challenges facing youth</vt:lpstr>
      <vt:lpstr>Main health issues faced by youth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arvind ganesh</dc:creator>
  <cp:lastModifiedBy>CSE-PG</cp:lastModifiedBy>
  <cp:revision>40</cp:revision>
  <dcterms:created xsi:type="dcterms:W3CDTF">2022-06-29T06:23:04Z</dcterms:created>
  <dcterms:modified xsi:type="dcterms:W3CDTF">2022-08-03T06:12:28Z</dcterms:modified>
</cp:coreProperties>
</file>