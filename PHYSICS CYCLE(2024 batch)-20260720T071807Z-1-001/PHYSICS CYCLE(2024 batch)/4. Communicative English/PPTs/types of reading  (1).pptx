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67" r:id="rId4"/>
    <p:sldId id="268" r:id="rId5"/>
    <p:sldId id="269" r:id="rId6"/>
    <p:sldId id="270" r:id="rId7"/>
    <p:sldId id="271" r:id="rId8"/>
    <p:sldId id="273" r:id="rId9"/>
    <p:sldId id="274"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6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453C-6F65-408A-AC57-F387D93735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CBACD2-BF49-4FFA-ACA3-79A74C5742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5D4DAA-F691-4395-9D6E-01D0D3FFB074}"/>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826C22D6-B36A-4327-872D-1E57775461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D5BCA-6C19-42B9-9E6D-ABA2933E1513}"/>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296510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DC402-58A5-4908-AC65-45B9FEAF9C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83A3D6-B3AE-4FF6-9BCF-9B41C041A8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6112F2-3918-4A63-938C-E04929DBE2C4}"/>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7B876F0A-AFFF-4B49-9195-E9B816FAD3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77FF6B-330A-4E9A-895A-145DA542DBDD}"/>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3250497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7DA15-CD33-4320-A430-B53AF48584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7B5BFD-6203-41CA-BEEC-8283288F62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026768-91CA-4746-8D6C-C0478696A875}"/>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648BE11B-E9EB-4AC8-836E-6AFA3594B0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AA2E62-ADDE-4935-AB10-F9A44B28A16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4192334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28497-4331-42A9-8EE2-8E61623373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88BDA2-9FD8-4006-A55B-278D2F0053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5FF117-7BF1-4FF2-99C8-07F6F1EA55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C4E9FCC-8346-4EA4-9CDD-1D2133D782F5}"/>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6" name="Footer Placeholder 5">
            <a:extLst>
              <a:ext uri="{FF2B5EF4-FFF2-40B4-BE49-F238E27FC236}">
                <a16:creationId xmlns:a16="http://schemas.microsoft.com/office/drawing/2014/main" id="{417897D8-357E-4AB5-BD8E-940DFF245C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786D5A-00E1-42B6-A8C2-48048604130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114691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A868F-F2B8-4E0E-9002-5847219535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8289DE-0D5A-478C-98DD-629A873439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F3ACCF-10CC-4C00-949B-6B163A3133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561B461-E1AB-4663-AD0D-63710B708F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71FAD0-8E56-402D-A779-A591D40FC5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6CFE52-4100-4BF6-AE8A-14EE641D54F6}"/>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8" name="Footer Placeholder 7">
            <a:extLst>
              <a:ext uri="{FF2B5EF4-FFF2-40B4-BE49-F238E27FC236}">
                <a16:creationId xmlns:a16="http://schemas.microsoft.com/office/drawing/2014/main" id="{75CFB50E-C1DF-454D-B560-57D41CD84B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32C749-B1C0-4A31-9F3F-10501786511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1755062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FA03C-E542-46E2-B678-4D4078393B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045629-4D9F-41D4-8C10-4EE0011A1AC1}"/>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4" name="Footer Placeholder 3">
            <a:extLst>
              <a:ext uri="{FF2B5EF4-FFF2-40B4-BE49-F238E27FC236}">
                <a16:creationId xmlns:a16="http://schemas.microsoft.com/office/drawing/2014/main" id="{6C1C385C-49F9-424E-B37E-1B3AD6EDC0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40273D-1BB6-4B1D-AFFE-3D8E77CF293F}"/>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316048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5FFFF-44C4-4D88-8E19-D6176034D1E4}"/>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3" name="Footer Placeholder 2">
            <a:extLst>
              <a:ext uri="{FF2B5EF4-FFF2-40B4-BE49-F238E27FC236}">
                <a16:creationId xmlns:a16="http://schemas.microsoft.com/office/drawing/2014/main" id="{E6C0888F-68E4-4BD8-A0EB-84F3CABC6BA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D8A00A-009A-423D-9C27-BB7EF6FF7A9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4001464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7A8E-72CA-49DB-866E-1F253E9B7C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865686-ED8D-401C-8A5A-1CDBEA1FB9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6CAFEF-1AD9-416A-BED3-D38833D88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76E3DE-683E-40EC-B383-FE40391DF47A}"/>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6" name="Footer Placeholder 5">
            <a:extLst>
              <a:ext uri="{FF2B5EF4-FFF2-40B4-BE49-F238E27FC236}">
                <a16:creationId xmlns:a16="http://schemas.microsoft.com/office/drawing/2014/main" id="{7118AE5C-85E9-4D63-B9E0-A79C8070EC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5F0A16-FF0F-493E-ACEB-EA629CB5599D}"/>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828203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1FF0B-6FDC-442A-BBC3-32F36A46F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937CD2-8857-4A37-B8B2-BE836D83D2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542EE0C-61E4-4B92-94C8-C4CA72ED75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4E5AA7-E46D-4227-9A06-C54874CEDFFA}"/>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6" name="Footer Placeholder 5">
            <a:extLst>
              <a:ext uri="{FF2B5EF4-FFF2-40B4-BE49-F238E27FC236}">
                <a16:creationId xmlns:a16="http://schemas.microsoft.com/office/drawing/2014/main" id="{8FA7DCBD-87E8-4837-910B-0E50414148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77B0BF-7CBA-4F11-B2BE-A6DD16E665C6}"/>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825296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B6455-9D15-4A6B-88E9-39BA9E927C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155108-C1E8-43AB-A146-10514C428E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A6314B-C1A8-41FF-92F9-FAF90CDB99A6}"/>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F005F3B9-B8EB-4E12-B083-519E02C1E3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4CFD23-FAD4-4C89-972E-4A64FB5EBCAE}"/>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4239106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D2F6FA-4EA1-49EB-8058-AE9B707DE1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DD5267-401C-49B1-A4EC-58C0FD520B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9F2644-6370-488D-9A75-3D1965A11FAA}"/>
              </a:ext>
            </a:extLst>
          </p:cNvPr>
          <p:cNvSpPr>
            <a:spLocks noGrp="1"/>
          </p:cNvSpPr>
          <p:nvPr>
            <p:ph type="dt" sz="half" idx="10"/>
          </p:nvPr>
        </p:nvSpPr>
        <p:spPr/>
        <p:txBody>
          <a:body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F75BD543-7309-45FA-B7E1-5ADA2B1510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1F3D13-F6C8-4F10-9A90-0581C9E88CA5}"/>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920248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701477-8969-4C28-89F6-D351F4C303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78B360-A193-4918-9E00-59A3D214A3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AF5B50-7556-44BE-AFD1-90B1B5430D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F82F7-BCA2-4E90-BC43-61AE307C07DE}" type="datetimeFigureOut">
              <a:rPr lang="en-IN" smtClean="0"/>
              <a:t>17-03-2022</a:t>
            </a:fld>
            <a:endParaRPr lang="en-IN"/>
          </a:p>
        </p:txBody>
      </p:sp>
      <p:sp>
        <p:nvSpPr>
          <p:cNvPr id="5" name="Footer Placeholder 4">
            <a:extLst>
              <a:ext uri="{FF2B5EF4-FFF2-40B4-BE49-F238E27FC236}">
                <a16:creationId xmlns:a16="http://schemas.microsoft.com/office/drawing/2014/main" id="{F185176F-6D86-4E46-9C40-0C1F4A407C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7EAD42-2222-4BAA-AC09-C35113E74F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020D85-0D59-4BEB-9860-F6312BF4C667}" type="slidenum">
              <a:rPr lang="en-IN" smtClean="0"/>
              <a:t>‹#›</a:t>
            </a:fld>
            <a:endParaRPr lang="en-IN"/>
          </a:p>
        </p:txBody>
      </p:sp>
    </p:spTree>
    <p:extLst>
      <p:ext uri="{BB962C8B-B14F-4D97-AF65-F5344CB8AC3E}">
        <p14:creationId xmlns:p14="http://schemas.microsoft.com/office/powerpoint/2010/main" val="1065943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2555B-809F-44E5-B38C-CEA37440A9B2}"/>
              </a:ext>
            </a:extLst>
          </p:cNvPr>
          <p:cNvSpPr>
            <a:spLocks noGrp="1"/>
          </p:cNvSpPr>
          <p:nvPr>
            <p:ph type="ctrTitle"/>
          </p:nvPr>
        </p:nvSpPr>
        <p:spPr/>
        <p:txBody>
          <a:bodyPr/>
          <a:lstStyle/>
          <a:p>
            <a:r>
              <a:rPr lang="en-US" dirty="0"/>
              <a:t> </a:t>
            </a:r>
            <a:endParaRPr lang="en-IN" dirty="0"/>
          </a:p>
        </p:txBody>
      </p:sp>
      <p:sp>
        <p:nvSpPr>
          <p:cNvPr id="3" name="Subtitle 2">
            <a:extLst>
              <a:ext uri="{FF2B5EF4-FFF2-40B4-BE49-F238E27FC236}">
                <a16:creationId xmlns:a16="http://schemas.microsoft.com/office/drawing/2014/main" id="{5E08F424-A858-489F-8E2B-B1BF4A0DC6D4}"/>
              </a:ext>
            </a:extLst>
          </p:cNvPr>
          <p:cNvSpPr>
            <a:spLocks noGrp="1"/>
          </p:cNvSpPr>
          <p:nvPr>
            <p:ph type="subTitle" idx="1"/>
          </p:nvPr>
        </p:nvSpPr>
        <p:spPr>
          <a:xfrm>
            <a:off x="1524000" y="1007165"/>
            <a:ext cx="9144000" cy="4250635"/>
          </a:xfrm>
        </p:spPr>
        <p:txBody>
          <a:bodyPr/>
          <a:lstStyle/>
          <a:p>
            <a:endParaRPr lang="en-US" sz="2300" dirty="0">
              <a:solidFill>
                <a:prstClr val="black"/>
              </a:solidFill>
              <a:latin typeface="Calibri" panose="020F0502020204030204"/>
              <a:ea typeface="+mj-ea"/>
              <a:cs typeface="+mj-cs"/>
            </a:endParaRPr>
          </a:p>
          <a:p>
            <a:endParaRPr lang="en-US" dirty="0"/>
          </a:p>
          <a:p>
            <a:r>
              <a:rPr lang="en-US" dirty="0"/>
              <a:t>   Types of Reading </a:t>
            </a:r>
          </a:p>
          <a:p>
            <a:r>
              <a:rPr lang="en-US" dirty="0"/>
              <a:t>Dr. Kiran Magavi</a:t>
            </a:r>
          </a:p>
        </p:txBody>
      </p:sp>
    </p:spTree>
    <p:extLst>
      <p:ext uri="{BB962C8B-B14F-4D97-AF65-F5344CB8AC3E}">
        <p14:creationId xmlns:p14="http://schemas.microsoft.com/office/powerpoint/2010/main" val="155190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B514DA-E5F6-440B-8EBD-06410B6EF0AA}"/>
              </a:ext>
            </a:extLst>
          </p:cNvPr>
          <p:cNvSpPr>
            <a:spLocks noGrp="1"/>
          </p:cNvSpPr>
          <p:nvPr>
            <p:ph idx="1"/>
          </p:nvPr>
        </p:nvSpPr>
        <p:spPr>
          <a:xfrm>
            <a:off x="838200" y="397564"/>
            <a:ext cx="10515600" cy="6029739"/>
          </a:xfrm>
        </p:spPr>
        <p:txBody>
          <a:bodyPr>
            <a:normAutofit/>
          </a:bodyPr>
          <a:lstStyle/>
          <a:p>
            <a:endParaRPr lang="en-US" dirty="0"/>
          </a:p>
          <a:p>
            <a:r>
              <a:rPr lang="en-US" dirty="0"/>
              <a:t>“Reading is to the mind what exercise is to the body,” said English author Joseph Addison.</a:t>
            </a:r>
          </a:p>
          <a:p>
            <a:r>
              <a:rPr lang="en-US" dirty="0"/>
              <a:t> Just as you need exercise to build your physical strength, you need to read to build your mental muscles.</a:t>
            </a:r>
          </a:p>
          <a:p>
            <a:r>
              <a:rPr lang="en-US" dirty="0"/>
              <a:t>People read for a variety of reasons—to pass time, to seek answers, or to clear their heads.</a:t>
            </a:r>
          </a:p>
          <a:p>
            <a:r>
              <a:rPr lang="en-US" dirty="0"/>
              <a:t>Whatever their reasons for reading, it is a great way of exercising the brain and improving your communication skills. </a:t>
            </a:r>
          </a:p>
          <a:p>
            <a:r>
              <a:rPr lang="en-US" dirty="0"/>
              <a:t>Just as you have simple as well as specialized exercise routines and equipment, you also have different types of reading skills. </a:t>
            </a:r>
          </a:p>
          <a:p>
            <a:r>
              <a:rPr lang="en-US" dirty="0"/>
              <a:t>You can choose the right one depending on your objective.</a:t>
            </a:r>
            <a:endParaRPr lang="en-IN" dirty="0"/>
          </a:p>
        </p:txBody>
      </p:sp>
    </p:spTree>
    <p:extLst>
      <p:ext uri="{BB962C8B-B14F-4D97-AF65-F5344CB8AC3E}">
        <p14:creationId xmlns:p14="http://schemas.microsoft.com/office/powerpoint/2010/main" val="1710632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55AED-654B-44F2-BF87-F013A3504D85}"/>
              </a:ext>
            </a:extLst>
          </p:cNvPr>
          <p:cNvSpPr>
            <a:spLocks noGrp="1"/>
          </p:cNvSpPr>
          <p:nvPr>
            <p:ph type="title"/>
          </p:nvPr>
        </p:nvSpPr>
        <p:spPr/>
        <p:txBody>
          <a:bodyPr/>
          <a:lstStyle/>
          <a:p>
            <a:r>
              <a:rPr lang="en-US" dirty="0"/>
              <a:t>Types of Reading </a:t>
            </a:r>
            <a:endParaRPr lang="en-IN" dirty="0"/>
          </a:p>
        </p:txBody>
      </p:sp>
      <p:sp>
        <p:nvSpPr>
          <p:cNvPr id="3" name="Content Placeholder 2">
            <a:extLst>
              <a:ext uri="{FF2B5EF4-FFF2-40B4-BE49-F238E27FC236}">
                <a16:creationId xmlns:a16="http://schemas.microsoft.com/office/drawing/2014/main" id="{6B788E84-0C74-420C-9C08-4A30BA2FD01A}"/>
              </a:ext>
            </a:extLst>
          </p:cNvPr>
          <p:cNvSpPr>
            <a:spLocks noGrp="1"/>
          </p:cNvSpPr>
          <p:nvPr>
            <p:ph idx="1"/>
          </p:nvPr>
        </p:nvSpPr>
        <p:spPr/>
        <p:txBody>
          <a:bodyPr/>
          <a:lstStyle/>
          <a:p>
            <a:r>
              <a:rPr lang="en-US" dirty="0"/>
              <a:t>The four main types of reading techniques are the following:</a:t>
            </a:r>
          </a:p>
          <a:p>
            <a:r>
              <a:rPr lang="en-US" dirty="0"/>
              <a:t>Skimming.</a:t>
            </a:r>
          </a:p>
          <a:p>
            <a:r>
              <a:rPr lang="en-US" dirty="0"/>
              <a:t>Scanning.</a:t>
            </a:r>
          </a:p>
          <a:p>
            <a:r>
              <a:rPr lang="en-US" dirty="0"/>
              <a:t>Intensive.</a:t>
            </a:r>
          </a:p>
          <a:p>
            <a:r>
              <a:rPr lang="en-US" dirty="0"/>
              <a:t>Extensive.</a:t>
            </a:r>
            <a:endParaRPr lang="en-IN" dirty="0"/>
          </a:p>
          <a:p>
            <a:r>
              <a:rPr lang="en-IN" dirty="0"/>
              <a:t>Critical Reading ( later addition)</a:t>
            </a:r>
            <a:endParaRPr lang="en-US" dirty="0"/>
          </a:p>
        </p:txBody>
      </p:sp>
    </p:spTree>
    <p:extLst>
      <p:ext uri="{BB962C8B-B14F-4D97-AF65-F5344CB8AC3E}">
        <p14:creationId xmlns:p14="http://schemas.microsoft.com/office/powerpoint/2010/main" val="2321141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6287FC-D239-45F9-B855-F1FDC2A6389C}"/>
              </a:ext>
            </a:extLst>
          </p:cNvPr>
          <p:cNvSpPr>
            <a:spLocks noGrp="1"/>
          </p:cNvSpPr>
          <p:nvPr>
            <p:ph idx="1"/>
          </p:nvPr>
        </p:nvSpPr>
        <p:spPr>
          <a:xfrm>
            <a:off x="838200" y="622852"/>
            <a:ext cx="10515600" cy="5976731"/>
          </a:xfrm>
        </p:spPr>
        <p:txBody>
          <a:bodyPr>
            <a:normAutofit/>
          </a:bodyPr>
          <a:lstStyle/>
          <a:p>
            <a:r>
              <a:rPr lang="en-US" dirty="0"/>
              <a:t>Skimming is sometimes referred to as gist reading where you’re trying to glance over the material to grasp the main idea.</a:t>
            </a:r>
          </a:p>
          <a:p>
            <a:r>
              <a:rPr lang="en-US" dirty="0"/>
              <a:t>The way you do this is to read the first and last paragraph and check for any dark headings.</a:t>
            </a:r>
          </a:p>
          <a:p>
            <a:r>
              <a:rPr lang="en-US" dirty="0"/>
              <a:t>Skimming may help in order to know what the text is about at its most basic level.</a:t>
            </a:r>
          </a:p>
          <a:p>
            <a:r>
              <a:rPr lang="en-US" dirty="0"/>
              <a:t>You might typically do this with a magazine or newspaper and would help you mentally and quickly shortlist those articles which you might consider for a deeper read.</a:t>
            </a:r>
          </a:p>
          <a:p>
            <a:r>
              <a:rPr lang="en-US" dirty="0"/>
              <a:t>You might typically skim to search for a name in a telephone directory.</a:t>
            </a:r>
          </a:p>
          <a:p>
            <a:r>
              <a:rPr lang="en-US" dirty="0"/>
              <a:t>You can reach a speed count of even 700 words per minute if you train yourself well in this particular method.</a:t>
            </a:r>
            <a:endParaRPr lang="en-IN" dirty="0"/>
          </a:p>
        </p:txBody>
      </p:sp>
    </p:spTree>
    <p:extLst>
      <p:ext uri="{BB962C8B-B14F-4D97-AF65-F5344CB8AC3E}">
        <p14:creationId xmlns:p14="http://schemas.microsoft.com/office/powerpoint/2010/main" val="1236528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2A4D89-7770-47EF-9EDD-1F8ADA2BD4C7}"/>
              </a:ext>
            </a:extLst>
          </p:cNvPr>
          <p:cNvSpPr>
            <a:spLocks noGrp="1"/>
          </p:cNvSpPr>
          <p:nvPr>
            <p:ph idx="1"/>
          </p:nvPr>
        </p:nvSpPr>
        <p:spPr>
          <a:xfrm>
            <a:off x="838200" y="384313"/>
            <a:ext cx="10515600" cy="5792650"/>
          </a:xfrm>
        </p:spPr>
        <p:txBody>
          <a:bodyPr>
            <a:normAutofit/>
          </a:bodyPr>
          <a:lstStyle/>
          <a:p>
            <a:r>
              <a:rPr lang="en-IN" dirty="0"/>
              <a:t>Scanning</a:t>
            </a:r>
          </a:p>
          <a:p>
            <a:r>
              <a:rPr lang="en-US" dirty="0"/>
              <a:t>Scanning involves getting your eyes to quickly scuttle across sentence and is used to get just a simple piece of information. You’ll be searching for specific words or phrases that will give you more information and answer questions you may have.</a:t>
            </a:r>
          </a:p>
          <a:p>
            <a:r>
              <a:rPr lang="en-US" dirty="0"/>
              <a:t>Interestingly, research has concluded that reading off a computer screen actually inhibits the pathways to effective scanning and thus, reading of paper is far more conducive to speedy comprehension of texts.</a:t>
            </a:r>
          </a:p>
          <a:p>
            <a:r>
              <a:rPr lang="en-US" dirty="0"/>
              <a:t>Something students sometimes do not give enough importance to is illustrations.</a:t>
            </a:r>
          </a:p>
          <a:p>
            <a:r>
              <a:rPr lang="en-US" dirty="0"/>
              <a:t>These should be included in your scanning. Pay special attention to the introduction and the conclusion.</a:t>
            </a:r>
            <a:endParaRPr lang="en-IN" dirty="0"/>
          </a:p>
        </p:txBody>
      </p:sp>
    </p:spTree>
    <p:extLst>
      <p:ext uri="{BB962C8B-B14F-4D97-AF65-F5344CB8AC3E}">
        <p14:creationId xmlns:p14="http://schemas.microsoft.com/office/powerpoint/2010/main" val="3562916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5BD074-5575-4122-AE12-7FB33ED09323}"/>
              </a:ext>
            </a:extLst>
          </p:cNvPr>
          <p:cNvSpPr>
            <a:spLocks noGrp="1"/>
          </p:cNvSpPr>
          <p:nvPr>
            <p:ph idx="1"/>
          </p:nvPr>
        </p:nvSpPr>
        <p:spPr>
          <a:xfrm>
            <a:off x="838200" y="397564"/>
            <a:ext cx="10515600" cy="6016487"/>
          </a:xfrm>
        </p:spPr>
        <p:txBody>
          <a:bodyPr>
            <a:normAutofit fontScale="85000" lnSpcReduction="10000"/>
          </a:bodyPr>
          <a:lstStyle/>
          <a:p>
            <a:r>
              <a:rPr lang="en-IN" dirty="0"/>
              <a:t>Intensive Reading</a:t>
            </a:r>
          </a:p>
          <a:p>
            <a:r>
              <a:rPr lang="en-US" dirty="0"/>
              <a:t>You need to have your aims clear in mind when undertaking intensive reading.</a:t>
            </a:r>
          </a:p>
          <a:p>
            <a:r>
              <a:rPr lang="en-US" dirty="0"/>
              <a:t>Remember this is going to be far more time consuming than scanning or skimming.</a:t>
            </a:r>
          </a:p>
          <a:p>
            <a:r>
              <a:rPr lang="en-US" dirty="0"/>
              <a:t>If you need to list the chronology of events in a long passage, you will need to read it intensively.</a:t>
            </a:r>
          </a:p>
          <a:p>
            <a:r>
              <a:rPr lang="en-US" dirty="0"/>
              <a:t>This type of reading has indeed beneficial to language learners as it helps them understand vocabulary by deducing the meaning of words in context.</a:t>
            </a:r>
          </a:p>
          <a:p>
            <a:r>
              <a:rPr lang="en-US" dirty="0"/>
              <a:t>It moreover, helps with retention of information for long periods of time and knowledge resulting from intensive reading persists in your long term memory.</a:t>
            </a:r>
          </a:p>
          <a:p>
            <a:r>
              <a:rPr lang="en-US" dirty="0"/>
              <a:t>This is one reason why reading huge amounts of information just before an exam does not work very well.</a:t>
            </a:r>
          </a:p>
          <a:p>
            <a:r>
              <a:rPr lang="en-US" dirty="0"/>
              <a:t>Students tend to do this, and they undertake neither type of reading process effectively, especially neglecting intensive reading.</a:t>
            </a:r>
          </a:p>
          <a:p>
            <a:r>
              <a:rPr lang="en-US" dirty="0"/>
              <a:t>They may remember the answers in an exam but will likely forget everything soon afterwards.</a:t>
            </a:r>
            <a:endParaRPr lang="en-IN" dirty="0"/>
          </a:p>
        </p:txBody>
      </p:sp>
    </p:spTree>
    <p:extLst>
      <p:ext uri="{BB962C8B-B14F-4D97-AF65-F5344CB8AC3E}">
        <p14:creationId xmlns:p14="http://schemas.microsoft.com/office/powerpoint/2010/main" val="1964812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B906B6-9F1D-44B1-B812-2A21A2DEF720}"/>
              </a:ext>
            </a:extLst>
          </p:cNvPr>
          <p:cNvSpPr>
            <a:spLocks noGrp="1"/>
          </p:cNvSpPr>
          <p:nvPr>
            <p:ph idx="1"/>
          </p:nvPr>
        </p:nvSpPr>
        <p:spPr>
          <a:xfrm>
            <a:off x="838200" y="410817"/>
            <a:ext cx="10515600" cy="5766146"/>
          </a:xfrm>
        </p:spPr>
        <p:txBody>
          <a:bodyPr>
            <a:normAutofit/>
          </a:bodyPr>
          <a:lstStyle/>
          <a:p>
            <a:endParaRPr lang="en-IN" dirty="0"/>
          </a:p>
          <a:p>
            <a:r>
              <a:rPr lang="en-IN" dirty="0"/>
              <a:t>Extensive reading</a:t>
            </a:r>
          </a:p>
          <a:p>
            <a:r>
              <a:rPr lang="en-US" dirty="0"/>
              <a:t>Extensive reading involves reading for pleasure.</a:t>
            </a:r>
          </a:p>
          <a:p>
            <a:r>
              <a:rPr lang="en-US" dirty="0"/>
              <a:t>Because there is an element of enjoyment in extensive reading it is unlikely that students will undertake extensive reading of a text they do not like.</a:t>
            </a:r>
          </a:p>
          <a:p>
            <a:r>
              <a:rPr lang="en-US" dirty="0"/>
              <a:t>It also requires a fluid decoding and assimilation of the text and content in front of you.</a:t>
            </a:r>
          </a:p>
          <a:p>
            <a:r>
              <a:rPr lang="en-US" dirty="0"/>
              <a:t>If the text is difficult and you stop every few minutes to figure out what is being said or to look up new words in the dictionary, you are breaking your concentration and diverting your thoughts.</a:t>
            </a:r>
            <a:endParaRPr lang="en-IN" dirty="0"/>
          </a:p>
        </p:txBody>
      </p:sp>
    </p:spTree>
    <p:extLst>
      <p:ext uri="{BB962C8B-B14F-4D97-AF65-F5344CB8AC3E}">
        <p14:creationId xmlns:p14="http://schemas.microsoft.com/office/powerpoint/2010/main" val="79877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F25BA0-602A-4ECD-9DE5-DAA71F73EB19}"/>
              </a:ext>
            </a:extLst>
          </p:cNvPr>
          <p:cNvSpPr>
            <a:spLocks noGrp="1"/>
          </p:cNvSpPr>
          <p:nvPr>
            <p:ph idx="1"/>
          </p:nvPr>
        </p:nvSpPr>
        <p:spPr>
          <a:xfrm>
            <a:off x="838200" y="556591"/>
            <a:ext cx="10515600" cy="5620372"/>
          </a:xfrm>
        </p:spPr>
        <p:txBody>
          <a:bodyPr/>
          <a:lstStyle/>
          <a:p>
            <a:endParaRPr lang="en-US" dirty="0"/>
          </a:p>
          <a:p>
            <a:r>
              <a:rPr lang="en-US" dirty="0"/>
              <a:t>Critical Reading </a:t>
            </a:r>
          </a:p>
          <a:p>
            <a:endParaRPr lang="en-US" dirty="0"/>
          </a:p>
          <a:p>
            <a:r>
              <a:rPr lang="en-US" dirty="0"/>
              <a:t>Among the different types of reading strategies, critical reading has a special place. </a:t>
            </a:r>
          </a:p>
          <a:p>
            <a:r>
              <a:rPr lang="en-US" dirty="0"/>
              <a:t>Here, the facts and information are tested for accuracy. You take a look at the ideas mentioned and analyze them until you reach a conclusion.</a:t>
            </a:r>
          </a:p>
          <a:p>
            <a:r>
              <a:rPr lang="en-US" dirty="0"/>
              <a:t>You would have to apply your critical faculties when using this method. </a:t>
            </a:r>
          </a:p>
          <a:p>
            <a:r>
              <a:rPr lang="en-US" dirty="0"/>
              <a:t>Critical reading is often used when reading the news on social media, watching controversial advertisements, or reading periodicals.</a:t>
            </a:r>
            <a:endParaRPr lang="en-IN" dirty="0"/>
          </a:p>
        </p:txBody>
      </p:sp>
    </p:spTree>
    <p:extLst>
      <p:ext uri="{BB962C8B-B14F-4D97-AF65-F5344CB8AC3E}">
        <p14:creationId xmlns:p14="http://schemas.microsoft.com/office/powerpoint/2010/main" val="4554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56E8D9-F65B-44DB-9AD3-076AB7D06276}"/>
              </a:ext>
            </a:extLst>
          </p:cNvPr>
          <p:cNvSpPr>
            <a:spLocks noGrp="1"/>
          </p:cNvSpPr>
          <p:nvPr>
            <p:ph idx="1"/>
          </p:nvPr>
        </p:nvSpPr>
        <p:spPr>
          <a:xfrm>
            <a:off x="838200" y="874643"/>
            <a:ext cx="10515600" cy="5302320"/>
          </a:xfrm>
        </p:spPr>
        <p:txBody>
          <a:bodyPr/>
          <a:lstStyle/>
          <a:p>
            <a:r>
              <a:rPr lang="en-US" dirty="0"/>
              <a:t>Various types of reading lead to different outcomes.</a:t>
            </a:r>
          </a:p>
          <a:p>
            <a:r>
              <a:rPr lang="en-US" dirty="0"/>
              <a:t> Choosing the right one can be instrumental in furthering your goals.</a:t>
            </a:r>
          </a:p>
          <a:p>
            <a:r>
              <a:rPr lang="en-US" dirty="0"/>
              <a:t> Further, diversifying your reading habits to include different types of reading will enable you to become a better writer and speaker.</a:t>
            </a:r>
          </a:p>
          <a:p>
            <a:r>
              <a:rPr lang="en-US" dirty="0"/>
              <a:t> Improving your communication skills will enable you to convey your ideas with precision and clarity. </a:t>
            </a:r>
          </a:p>
          <a:p>
            <a:r>
              <a:rPr lang="en-US" dirty="0"/>
              <a:t>It’s not always easy to get your point across.</a:t>
            </a:r>
          </a:p>
          <a:p>
            <a:r>
              <a:rPr lang="en-US" dirty="0"/>
              <a:t> However,  reading gives you the power to understand multiple perspectives. </a:t>
            </a:r>
          </a:p>
          <a:p>
            <a:r>
              <a:rPr lang="en-US" dirty="0"/>
              <a:t>Building a reading habit can be effective in the short and long run.</a:t>
            </a:r>
            <a:endParaRPr lang="en-IN" dirty="0"/>
          </a:p>
        </p:txBody>
      </p:sp>
    </p:spTree>
    <p:extLst>
      <p:ext uri="{BB962C8B-B14F-4D97-AF65-F5344CB8AC3E}">
        <p14:creationId xmlns:p14="http://schemas.microsoft.com/office/powerpoint/2010/main" val="1272709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EE6DE-9FAE-41F8-A24C-B6F643BC36CF}"/>
              </a:ext>
            </a:extLst>
          </p:cNvPr>
          <p:cNvSpPr>
            <a:spLocks noGrp="1"/>
          </p:cNvSpPr>
          <p:nvPr>
            <p:ph type="title"/>
          </p:nvPr>
        </p:nvSpPr>
        <p:spPr>
          <a:xfrm>
            <a:off x="838200" y="365125"/>
            <a:ext cx="10515600" cy="827571"/>
          </a:xfrm>
        </p:spPr>
        <p:txBody>
          <a:bodyPr/>
          <a:lstStyle/>
          <a:p>
            <a:r>
              <a:rPr lang="en-US" dirty="0"/>
              <a:t>Some fun facts </a:t>
            </a:r>
            <a:endParaRPr lang="en-IN" dirty="0"/>
          </a:p>
        </p:txBody>
      </p:sp>
      <p:pic>
        <p:nvPicPr>
          <p:cNvPr id="4" name="Content Placeholder 3">
            <a:extLst>
              <a:ext uri="{FF2B5EF4-FFF2-40B4-BE49-F238E27FC236}">
                <a16:creationId xmlns:a16="http://schemas.microsoft.com/office/drawing/2014/main" id="{147D8306-462B-46F1-929D-E7ED06420FE2}"/>
              </a:ext>
            </a:extLst>
          </p:cNvPr>
          <p:cNvPicPr>
            <a:picLocks noGrp="1" noChangeAspect="1"/>
          </p:cNvPicPr>
          <p:nvPr>
            <p:ph idx="1"/>
          </p:nvPr>
        </p:nvPicPr>
        <p:blipFill>
          <a:blip r:embed="rId2"/>
          <a:stretch>
            <a:fillRect/>
          </a:stretch>
        </p:blipFill>
        <p:spPr>
          <a:xfrm>
            <a:off x="3631096" y="1590260"/>
            <a:ext cx="4797287" cy="4625009"/>
          </a:xfrm>
          <a:prstGeom prst="rect">
            <a:avLst/>
          </a:prstGeom>
        </p:spPr>
      </p:pic>
    </p:spTree>
    <p:extLst>
      <p:ext uri="{BB962C8B-B14F-4D97-AF65-F5344CB8AC3E}">
        <p14:creationId xmlns:p14="http://schemas.microsoft.com/office/powerpoint/2010/main" val="2831755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823</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 </vt:lpstr>
      <vt:lpstr>PowerPoint Presentation</vt:lpstr>
      <vt:lpstr>Types of Reading </vt:lpstr>
      <vt:lpstr>PowerPoint Presentation</vt:lpstr>
      <vt:lpstr>PowerPoint Presentation</vt:lpstr>
      <vt:lpstr>PowerPoint Presentation</vt:lpstr>
      <vt:lpstr>PowerPoint Presentation</vt:lpstr>
      <vt:lpstr>PowerPoint Presentation</vt:lpstr>
      <vt:lpstr>PowerPoint Presentation</vt:lpstr>
      <vt:lpstr>Some fun facts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Bridge course – schedule 2</dc:title>
  <dc:creator>Rishi Magavi</dc:creator>
  <cp:lastModifiedBy>Rishi Magavi</cp:lastModifiedBy>
  <cp:revision>9</cp:revision>
  <dcterms:created xsi:type="dcterms:W3CDTF">2020-12-08T07:18:04Z</dcterms:created>
  <dcterms:modified xsi:type="dcterms:W3CDTF">2022-03-17T09:46:08Z</dcterms:modified>
</cp:coreProperties>
</file>