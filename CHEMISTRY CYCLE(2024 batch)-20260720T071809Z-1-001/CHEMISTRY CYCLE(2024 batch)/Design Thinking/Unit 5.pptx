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71" r:id="rId4"/>
    <p:sldId id="272" r:id="rId5"/>
    <p:sldId id="258" r:id="rId6"/>
    <p:sldId id="260" r:id="rId7"/>
    <p:sldId id="261" r:id="rId8"/>
    <p:sldId id="262" r:id="rId9"/>
    <p:sldId id="263" r:id="rId10"/>
    <p:sldId id="273" r:id="rId11"/>
    <p:sldId id="266" r:id="rId12"/>
    <p:sldId id="264" r:id="rId13"/>
    <p:sldId id="268" r:id="rId14"/>
    <p:sldId id="269" r:id="rId15"/>
    <p:sldId id="270" r:id="rId16"/>
    <p:sldId id="265" r:id="rId17"/>
    <p:sldId id="267"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0" d="100"/>
          <a:sy n="70" d="100"/>
        </p:scale>
        <p:origin x="714"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9" name="Rectangle 8"/>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ctrTitle"/>
          </p:nvPr>
        </p:nvSpPr>
        <p:spPr>
          <a:xfrm>
            <a:off x="1154955" y="2099733"/>
            <a:ext cx="8825658" cy="2677648"/>
          </a:xfrm>
        </p:spPr>
        <p:txBody>
          <a:bodyPr anchor="b"/>
          <a:lstStyle>
            <a:lvl1pPr>
              <a:defRPr sz="5400"/>
            </a:lvl1pPr>
          </a:lstStyle>
          <a:p>
            <a:r>
              <a:rPr lang="en-US" smtClean="0"/>
              <a:t>Click to edit Master title style</a:t>
            </a:r>
            <a:endParaRPr lang="en-US" dirty="0"/>
          </a:p>
        </p:txBody>
      </p:sp>
      <p:sp>
        <p:nvSpPr>
          <p:cNvPr id="3" name="Subtitle 2"/>
          <p:cNvSpPr>
            <a:spLocks noGrp="1"/>
          </p:cNvSpPr>
          <p:nvPr>
            <p:ph type="subTitle" idx="1"/>
          </p:nvPr>
        </p:nvSpPr>
        <p:spPr bwMode="gray">
          <a:xfrm>
            <a:off x="1154955" y="4777380"/>
            <a:ext cx="8825658"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bwMode="gray">
          <a:xfrm rot="5400000">
            <a:off x="10158984" y="1792224"/>
            <a:ext cx="990599" cy="304799"/>
          </a:xfrm>
        </p:spPr>
        <p:txBody>
          <a:bodyPr anchor="t"/>
          <a:lstStyle>
            <a:lvl1pPr algn="l">
              <a:defRPr b="0" i="0">
                <a:solidFill>
                  <a:schemeClr val="bg1">
                    <a:alpha val="60000"/>
                  </a:schemeClr>
                </a:solidFill>
              </a:defRPr>
            </a:lvl1pPr>
          </a:lstStyle>
          <a:p>
            <a:fld id="{91F08386-3325-4F48-BDE9-F402D758026A}" type="datetimeFigureOut">
              <a:rPr lang="en-IN" smtClean="0"/>
              <a:t>16-01-2025</a:t>
            </a:fld>
            <a:endParaRPr lang="en-IN"/>
          </a:p>
        </p:txBody>
      </p:sp>
      <p:sp>
        <p:nvSpPr>
          <p:cNvPr id="5" name="Footer Placeholder 4"/>
          <p:cNvSpPr>
            <a:spLocks noGrp="1"/>
          </p:cNvSpPr>
          <p:nvPr>
            <p:ph type="ftr" sz="quarter" idx="11"/>
          </p:nvPr>
        </p:nvSpPr>
        <p:spPr bwMode="gray">
          <a:xfrm rot="5400000">
            <a:off x="8951976" y="3227832"/>
            <a:ext cx="3859795" cy="304801"/>
          </a:xfrm>
        </p:spPr>
        <p:txBody>
          <a:bodyPr/>
          <a:lstStyle>
            <a:lvl1pPr>
              <a:defRPr b="0" i="0">
                <a:solidFill>
                  <a:schemeClr val="bg1">
                    <a:alpha val="60000"/>
                  </a:schemeClr>
                </a:solidFill>
              </a:defRPr>
            </a:lvl1pPr>
          </a:lstStyle>
          <a:p>
            <a:endParaRPr lang="en-IN"/>
          </a:p>
        </p:txBody>
      </p:sp>
      <p:sp>
        <p:nvSpPr>
          <p:cNvPr id="11" name="Rectangle 1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2" name="Slide Number Placeholder 5"/>
          <p:cNvSpPr>
            <a:spLocks noGrp="1"/>
          </p:cNvSpPr>
          <p:nvPr>
            <p:ph type="sldNum" sz="quarter" idx="12"/>
          </p:nvPr>
        </p:nvSpPr>
        <p:spPr>
          <a:xfrm>
            <a:off x="10352540" y="295729"/>
            <a:ext cx="838199" cy="767687"/>
          </a:xfrm>
        </p:spPr>
        <p:txBody>
          <a:bodyPr/>
          <a:lstStyle/>
          <a:p>
            <a:fld id="{C01D39BC-77B5-48C8-989A-95CBE92AE46E}" type="slidenum">
              <a:rPr lang="en-IN" smtClean="0"/>
              <a:t>‹#›</a:t>
            </a:fld>
            <a:endParaRPr lang="en-IN"/>
          </a:p>
        </p:txBody>
      </p:sp>
    </p:spTree>
    <p:extLst>
      <p:ext uri="{BB962C8B-B14F-4D97-AF65-F5344CB8AC3E}">
        <p14:creationId xmlns:p14="http://schemas.microsoft.com/office/powerpoint/2010/main" val="29585286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a:xfrm>
            <a:off x="1154954" y="2603500"/>
            <a:ext cx="8825659" cy="34163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91F08386-3325-4F48-BDE9-F402D758026A}" type="datetimeFigureOut">
              <a:rPr lang="en-IN" smtClean="0"/>
              <a:t>16-01-2025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01D39BC-77B5-48C8-989A-95CBE92AE46E}" type="slidenum">
              <a:rPr lang="en-IN" smtClean="0"/>
              <a:t>‹#›</a:t>
            </a:fld>
            <a:endParaRPr lang="en-IN"/>
          </a:p>
        </p:txBody>
      </p:sp>
    </p:spTree>
    <p:extLst>
      <p:ext uri="{BB962C8B-B14F-4D97-AF65-F5344CB8AC3E}">
        <p14:creationId xmlns:p14="http://schemas.microsoft.com/office/powerpoint/2010/main" val="19567252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bwMode="gray">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677645"/>
            <a:ext cx="4351025" cy="2283824"/>
          </a:xfrm>
        </p:spPr>
        <p:txBody>
          <a:bodyPr anchor="ctr"/>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895559" y="2677644"/>
            <a:ext cx="3757545" cy="2283824"/>
          </a:xfrm>
        </p:spPr>
        <p:txBody>
          <a:bodyPr anchor="ctr"/>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91F08386-3325-4F48-BDE9-F402D758026A}" type="datetimeFigureOut">
              <a:rPr lang="en-IN" smtClean="0"/>
              <a:t>16-01-2025</a:t>
            </a:fld>
            <a:endParaRPr lang="en-IN"/>
          </a:p>
        </p:txBody>
      </p:sp>
      <p:sp>
        <p:nvSpPr>
          <p:cNvPr id="5" name="Footer Placeholder 4"/>
          <p:cNvSpPr>
            <a:spLocks noGrp="1"/>
          </p:cNvSpPr>
          <p:nvPr>
            <p:ph type="ftr" sz="quarter" idx="11"/>
          </p:nvPr>
        </p:nvSpPr>
        <p:spPr/>
        <p:txBody>
          <a:bodyPr/>
          <a:lstStyle/>
          <a:p>
            <a:endParaRPr lang="en-IN"/>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C01D39BC-77B5-48C8-989A-95CBE92AE46E}" type="slidenum">
              <a:rPr lang="en-IN" smtClean="0"/>
              <a:t>‹#›</a:t>
            </a:fld>
            <a:endParaRPr lang="en-IN"/>
          </a:p>
        </p:txBody>
      </p:sp>
    </p:spTree>
    <p:extLst>
      <p:ext uri="{BB962C8B-B14F-4D97-AF65-F5344CB8AC3E}">
        <p14:creationId xmlns:p14="http://schemas.microsoft.com/office/powerpoint/2010/main" val="21675869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154954" y="2603500"/>
            <a:ext cx="4825158" cy="3416301"/>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208712" y="2603500"/>
            <a:ext cx="4825159" cy="3416300"/>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91F08386-3325-4F48-BDE9-F402D758026A}" type="datetimeFigureOut">
              <a:rPr lang="en-IN" smtClean="0"/>
              <a:t>16-01-2025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01D39BC-77B5-48C8-989A-95CBE92AE46E}" type="slidenum">
              <a:rPr lang="en-IN" smtClean="0"/>
              <a:t>‹#›</a:t>
            </a:fld>
            <a:endParaRPr lang="en-IN"/>
          </a:p>
        </p:txBody>
      </p:sp>
    </p:spTree>
    <p:extLst>
      <p:ext uri="{BB962C8B-B14F-4D97-AF65-F5344CB8AC3E}">
        <p14:creationId xmlns:p14="http://schemas.microsoft.com/office/powerpoint/2010/main" val="28278691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1154954" y="2603500"/>
            <a:ext cx="4825157"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1154954" y="3179762"/>
            <a:ext cx="4825158" cy="2840039"/>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208712" y="2603500"/>
            <a:ext cx="482515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208712" y="3179762"/>
            <a:ext cx="4825159" cy="2840039"/>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91F08386-3325-4F48-BDE9-F402D758026A}" type="datetimeFigureOut">
              <a:rPr lang="en-IN" smtClean="0"/>
              <a:t>16-01-2025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C01D39BC-77B5-48C8-989A-95CBE92AE46E}" type="slidenum">
              <a:rPr lang="en-IN" smtClean="0"/>
              <a:t>‹#›</a:t>
            </a:fld>
            <a:endParaRPr lang="en-IN"/>
          </a:p>
        </p:txBody>
      </p:sp>
    </p:spTree>
    <p:extLst>
      <p:ext uri="{BB962C8B-B14F-4D97-AF65-F5344CB8AC3E}">
        <p14:creationId xmlns:p14="http://schemas.microsoft.com/office/powerpoint/2010/main" val="2240599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Title 1"/>
          <p:cNvSpPr>
            <a:spLocks noGrp="1"/>
          </p:cNvSpPr>
          <p:nvPr>
            <p:ph type="title"/>
          </p:nvPr>
        </p:nvSpPr>
        <p:spPr>
          <a:xfrm>
            <a:off x="1154954" y="973668"/>
            <a:ext cx="8761413" cy="706964"/>
          </a:xfrm>
        </p:spPr>
        <p:txBody>
          <a:bodyPr/>
          <a:lstStyle>
            <a:lvl1pPr>
              <a:defRPr/>
            </a:lvl1p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91F08386-3325-4F48-BDE9-F402D758026A}" type="datetimeFigureOut">
              <a:rPr lang="en-IN" smtClean="0"/>
              <a:t>16-01-2025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C01D39BC-77B5-48C8-989A-95CBE92AE46E}" type="slidenum">
              <a:rPr lang="en-IN" smtClean="0"/>
              <a:t>‹#›</a:t>
            </a:fld>
            <a:endParaRPr lang="en-IN"/>
          </a:p>
        </p:txBody>
      </p:sp>
    </p:spTree>
    <p:extLst>
      <p:ext uri="{BB962C8B-B14F-4D97-AF65-F5344CB8AC3E}">
        <p14:creationId xmlns:p14="http://schemas.microsoft.com/office/powerpoint/2010/main" val="19698349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1F08386-3325-4F48-BDE9-F402D758026A}" type="datetimeFigureOut">
              <a:rPr lang="en-IN" smtClean="0"/>
              <a:t>16-01-2025</a:t>
            </a:fld>
            <a:endParaRPr lang="en-IN"/>
          </a:p>
        </p:txBody>
      </p:sp>
      <p:sp>
        <p:nvSpPr>
          <p:cNvPr id="3" name="Footer Placeholder 2"/>
          <p:cNvSpPr>
            <a:spLocks noGrp="1"/>
          </p:cNvSpPr>
          <p:nvPr>
            <p:ph type="ftr" sz="quarter" idx="11"/>
          </p:nvPr>
        </p:nvSpPr>
        <p:spPr/>
        <p:txBody>
          <a:bodyPr/>
          <a:lstStyle/>
          <a:p>
            <a:endParaRPr lang="en-IN"/>
          </a:p>
        </p:txBody>
      </p:sp>
      <p:sp>
        <p:nvSpPr>
          <p:cNvPr id="7" name="Rectangle 6"/>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C01D39BC-77B5-48C8-989A-95CBE92AE46E}" type="slidenum">
              <a:rPr lang="en-IN" smtClean="0"/>
              <a:t>‹#›</a:t>
            </a:fld>
            <a:endParaRPr lang="en-IN"/>
          </a:p>
        </p:txBody>
      </p:sp>
    </p:spTree>
    <p:extLst>
      <p:ext uri="{BB962C8B-B14F-4D97-AF65-F5344CB8AC3E}">
        <p14:creationId xmlns:p14="http://schemas.microsoft.com/office/powerpoint/2010/main" val="1704917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8"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295400"/>
            <a:ext cx="2793158" cy="1600200"/>
          </a:xfrm>
        </p:spPr>
        <p:txBody>
          <a:bodyPr anchor="b"/>
          <a:lstStyle>
            <a:lvl1pPr algn="l">
              <a:defRPr sz="2400" b="0"/>
            </a:lvl1pPr>
          </a:lstStyle>
          <a:p>
            <a:r>
              <a:rPr lang="en-US" smtClean="0"/>
              <a:t>Click to edit Master title style</a:t>
            </a:r>
            <a:endParaRPr lang="en-US" dirty="0"/>
          </a:p>
        </p:txBody>
      </p:sp>
      <p:sp>
        <p:nvSpPr>
          <p:cNvPr id="3" name="Content Placeholder 2"/>
          <p:cNvSpPr>
            <a:spLocks noGrp="1"/>
          </p:cNvSpPr>
          <p:nvPr>
            <p:ph idx="1"/>
          </p:nvPr>
        </p:nvSpPr>
        <p:spPr>
          <a:xfrm>
            <a:off x="5781146" y="1447800"/>
            <a:ext cx="5190066" cy="4572000"/>
          </a:xfrm>
        </p:spPr>
        <p:txBody>
          <a:bodyPr anchor="ct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bwMode="gray">
          <a:xfrm>
            <a:off x="1154954" y="3129280"/>
            <a:ext cx="2793158" cy="2895599"/>
          </a:xfrm>
        </p:spPr>
        <p:txBody>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91F08386-3325-4F48-BDE9-F402D758026A}" type="datetimeFigureOut">
              <a:rPr lang="en-IN" smtClean="0"/>
              <a:t>16-01-2025</a:t>
            </a:fld>
            <a:endParaRPr lang="en-IN"/>
          </a:p>
        </p:txBody>
      </p:sp>
      <p:sp>
        <p:nvSpPr>
          <p:cNvPr id="6" name="Footer Placeholder 5"/>
          <p:cNvSpPr>
            <a:spLocks noGrp="1"/>
          </p:cNvSpPr>
          <p:nvPr>
            <p:ph type="ftr" sz="quarter" idx="11"/>
          </p:nvPr>
        </p:nvSpPr>
        <p:spPr/>
        <p:txBody>
          <a:bodyPr/>
          <a:lstStyle/>
          <a:p>
            <a:endParaRPr lang="en-IN"/>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C01D39BC-77B5-48C8-989A-95CBE92AE46E}" type="slidenum">
              <a:rPr lang="en-IN" smtClean="0"/>
              <a:t>‹#›</a:t>
            </a:fld>
            <a:endParaRPr lang="en-IN"/>
          </a:p>
        </p:txBody>
      </p:sp>
    </p:spTree>
    <p:extLst>
      <p:ext uri="{BB962C8B-B14F-4D97-AF65-F5344CB8AC3E}">
        <p14:creationId xmlns:p14="http://schemas.microsoft.com/office/powerpoint/2010/main" val="13833309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693333"/>
            <a:ext cx="3865134" cy="1735667"/>
          </a:xfrm>
        </p:spPr>
        <p:txBody>
          <a:bodyPr anchor="b">
            <a:normAutofit/>
          </a:bodyPr>
          <a:lstStyle>
            <a:lvl1pPr algn="l">
              <a:defRPr sz="36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marL="0" lvl="0" indent="0" algn="ctr">
              <a:buNone/>
            </a:pPr>
            <a:r>
              <a:rPr lang="en-US" smtClean="0"/>
              <a:t>Click icon to add picture</a:t>
            </a:r>
            <a:endParaRPr lang="en-US" dirty="0"/>
          </a:p>
        </p:txBody>
      </p:sp>
      <p:sp>
        <p:nvSpPr>
          <p:cNvPr id="4" name="Text Placeholder 3"/>
          <p:cNvSpPr>
            <a:spLocks noGrp="1"/>
          </p:cNvSpPr>
          <p:nvPr>
            <p:ph type="body" sz="half" idx="2"/>
          </p:nvPr>
        </p:nvSpPr>
        <p:spPr bwMode="gray">
          <a:xfrm>
            <a:off x="1154954" y="3657600"/>
            <a:ext cx="3859212" cy="1371600"/>
          </a:xfrm>
        </p:spPr>
        <p:txBody>
          <a:bodyPr>
            <a:normAutofit/>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91F08386-3325-4F48-BDE9-F402D758026A}" type="datetimeFigureOut">
              <a:rPr lang="en-IN" smtClean="0"/>
              <a:t>16-01-2025</a:t>
            </a:fld>
            <a:endParaRPr lang="en-IN"/>
          </a:p>
        </p:txBody>
      </p:sp>
      <p:sp>
        <p:nvSpPr>
          <p:cNvPr id="6" name="Footer Placeholder 5"/>
          <p:cNvSpPr>
            <a:spLocks noGrp="1"/>
          </p:cNvSpPr>
          <p:nvPr>
            <p:ph type="ftr" sz="quarter" idx="11"/>
          </p:nvPr>
        </p:nvSpPr>
        <p:spPr/>
        <p:txBody>
          <a:bodyPr/>
          <a:lstStyle/>
          <a:p>
            <a:endParaRPr lang="en-IN"/>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C01D39BC-77B5-48C8-989A-95CBE92AE46E}" type="slidenum">
              <a:rPr lang="en-IN" smtClean="0"/>
              <a:t>‹#›</a:t>
            </a:fld>
            <a:endParaRPr lang="en-IN"/>
          </a:p>
        </p:txBody>
      </p:sp>
    </p:spTree>
    <p:extLst>
      <p:ext uri="{BB962C8B-B14F-4D97-AF65-F5344CB8AC3E}">
        <p14:creationId xmlns:p14="http://schemas.microsoft.com/office/powerpoint/2010/main" val="30015286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3" name="Rectangle 12"/>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1"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4969927"/>
            <a:ext cx="8825659"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154954" y="685800"/>
            <a:ext cx="8825659"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154954" y="5536665"/>
            <a:ext cx="8825658" cy="493712"/>
          </a:xfrm>
        </p:spPr>
        <p:txBody>
          <a:bodyPr>
            <a:normAutofit/>
          </a:bodyPr>
          <a:lstStyle>
            <a:lvl1pPr marL="0" indent="0">
              <a:buNone/>
              <a:defRPr sz="12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91F08386-3325-4F48-BDE9-F402D758026A}" type="datetimeFigureOut">
              <a:rPr lang="en-IN" smtClean="0"/>
              <a:t>16-01-2025</a:t>
            </a:fld>
            <a:endParaRPr lang="en-IN"/>
          </a:p>
        </p:txBody>
      </p:sp>
      <p:sp>
        <p:nvSpPr>
          <p:cNvPr id="6" name="Footer Placeholder 5"/>
          <p:cNvSpPr>
            <a:spLocks noGrp="1"/>
          </p:cNvSpPr>
          <p:nvPr>
            <p:ph type="ftr" sz="quarter" idx="11"/>
          </p:nvPr>
        </p:nvSpPr>
        <p:spPr/>
        <p:txBody>
          <a:bodyPr/>
          <a:lstStyle/>
          <a:p>
            <a:endParaRPr lang="en-IN"/>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C01D39BC-77B5-48C8-989A-95CBE92AE46E}" type="slidenum">
              <a:rPr lang="en-IN" smtClean="0"/>
              <a:t>‹#›</a:t>
            </a:fld>
            <a:endParaRPr lang="en-IN"/>
          </a:p>
        </p:txBody>
      </p:sp>
    </p:spTree>
    <p:extLst>
      <p:ext uri="{BB962C8B-B14F-4D97-AF65-F5344CB8AC3E}">
        <p14:creationId xmlns:p14="http://schemas.microsoft.com/office/powerpoint/2010/main" val="11458720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48798" y="1063417"/>
            <a:ext cx="8831816" cy="1372986"/>
          </a:xfrm>
        </p:spPr>
        <p:txBody>
          <a:bodyPr/>
          <a:lstStyle>
            <a:lvl1pPr>
              <a:defRPr sz="4000"/>
            </a:lvl1pPr>
          </a:lstStyle>
          <a:p>
            <a:r>
              <a:rPr lang="en-US" smtClean="0"/>
              <a:t>Click to edit Master title style</a:t>
            </a:r>
            <a:endParaRPr lang="en-US" dirty="0"/>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91F08386-3325-4F48-BDE9-F402D758026A}" type="datetimeFigureOut">
              <a:rPr lang="en-IN" smtClean="0"/>
              <a:t>16-01-2025</a:t>
            </a:fld>
            <a:endParaRPr lang="en-IN"/>
          </a:p>
        </p:txBody>
      </p:sp>
      <p:sp>
        <p:nvSpPr>
          <p:cNvPr id="5" name="Footer Placeholder 4"/>
          <p:cNvSpPr>
            <a:spLocks noGrp="1"/>
          </p:cNvSpPr>
          <p:nvPr>
            <p:ph type="ftr" sz="quarter" idx="11"/>
          </p:nvPr>
        </p:nvSpPr>
        <p:spPr/>
        <p:txBody>
          <a:bodyPr/>
          <a:lstStyle/>
          <a:p>
            <a:endParaRPr lang="en-IN"/>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C01D39BC-77B5-48C8-989A-95CBE92AE46E}" type="slidenum">
              <a:rPr lang="en-IN" smtClean="0"/>
              <a:t>‹#›</a:t>
            </a:fld>
            <a:endParaRPr lang="en-IN"/>
          </a:p>
        </p:txBody>
      </p:sp>
    </p:spTree>
    <p:extLst>
      <p:ext uri="{BB962C8B-B14F-4D97-AF65-F5344CB8AC3E}">
        <p14:creationId xmlns:p14="http://schemas.microsoft.com/office/powerpoint/2010/main" val="251079543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3" name="Group 2"/>
          <p:cNvGrpSpPr/>
          <p:nvPr/>
        </p:nvGrpSpPr>
        <p:grpSpPr>
          <a:xfrm>
            <a:off x="0" y="0"/>
            <a:ext cx="12192000" cy="6858000"/>
            <a:chOff x="0" y="0"/>
            <a:chExt cx="12192000" cy="6858000"/>
          </a:xfrm>
        </p:grpSpPr>
        <p:sp>
          <p:nvSpPr>
            <p:cNvPr id="17" name="Rectangle 16"/>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Oval 19"/>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Oval 24"/>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6" name="TextBox 15"/>
          <p:cNvSpPr txBox="1"/>
          <p:nvPr/>
        </p:nvSpPr>
        <p:spPr bwMode="gray">
          <a:xfrm>
            <a:off x="881566" y="607336"/>
            <a:ext cx="801912"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13" name="TextBox 12"/>
          <p:cNvSpPr txBox="1"/>
          <p:nvPr/>
        </p:nvSpPr>
        <p:spPr bwMode="gray">
          <a:xfrm>
            <a:off x="9884458" y="2613787"/>
            <a:ext cx="652763"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2" name="Title 1"/>
          <p:cNvSpPr>
            <a:spLocks noGrp="1"/>
          </p:cNvSpPr>
          <p:nvPr>
            <p:ph type="title"/>
          </p:nvPr>
        </p:nvSpPr>
        <p:spPr>
          <a:xfrm>
            <a:off x="1581878" y="982134"/>
            <a:ext cx="8453906" cy="2696632"/>
          </a:xfrm>
        </p:spPr>
        <p:txBody>
          <a:bodyPr/>
          <a:lstStyle>
            <a:lvl1pPr>
              <a:defRPr sz="4000"/>
            </a:lvl1pPr>
          </a:lstStyle>
          <a:p>
            <a:r>
              <a:rPr lang="en-US" smtClean="0"/>
              <a:t>Click to edit Master title style</a:t>
            </a:r>
            <a:endParaRPr lang="en-US" dirty="0"/>
          </a:p>
        </p:txBody>
      </p:sp>
      <p:sp>
        <p:nvSpPr>
          <p:cNvPr id="14" name="Text Placeholder 3"/>
          <p:cNvSpPr>
            <a:spLocks noGrp="1"/>
          </p:cNvSpPr>
          <p:nvPr>
            <p:ph type="body" sz="half" idx="13"/>
          </p:nvPr>
        </p:nvSpPr>
        <p:spPr bwMode="gray">
          <a:xfrm>
            <a:off x="1945945" y="3678766"/>
            <a:ext cx="7731219" cy="342174"/>
          </a:xfrm>
        </p:spPr>
        <p:txBody>
          <a:bodyPr anchor="t">
            <a:normAutofit/>
          </a:bodyPr>
          <a:lstStyle>
            <a:lvl1pPr marL="0" indent="0">
              <a:buNone/>
              <a:defRPr lang="en-US" sz="1400" b="0" i="0" kern="1200" cap="small" dirty="0">
                <a:solidFill>
                  <a:schemeClr val="accent1">
                    <a:lumMod val="60000"/>
                    <a:lumOff val="40000"/>
                  </a:schemeClr>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10" name="Text Placeholder 3"/>
          <p:cNvSpPr>
            <a:spLocks noGrp="1"/>
          </p:cNvSpPr>
          <p:nvPr>
            <p:ph type="body" sz="half" idx="2"/>
          </p:nvPr>
        </p:nvSpPr>
        <p:spPr>
          <a:xfrm>
            <a:off x="1154954" y="5029199"/>
            <a:ext cx="9244897" cy="997857"/>
          </a:xfrm>
        </p:spPr>
        <p:txBody>
          <a:bodyPr anchor="ct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91F08386-3325-4F48-BDE9-F402D758026A}" type="datetimeFigureOut">
              <a:rPr lang="en-IN" smtClean="0"/>
              <a:t>16-01-2025</a:t>
            </a:fld>
            <a:endParaRPr lang="en-IN"/>
          </a:p>
        </p:txBody>
      </p:sp>
      <p:sp>
        <p:nvSpPr>
          <p:cNvPr id="5" name="Footer Placeholder 4"/>
          <p:cNvSpPr>
            <a:spLocks noGrp="1"/>
          </p:cNvSpPr>
          <p:nvPr>
            <p:ph type="ftr" sz="quarter" idx="11"/>
          </p:nvPr>
        </p:nvSpPr>
        <p:spPr/>
        <p:txBody>
          <a:bodyPr/>
          <a:lstStyle/>
          <a:p>
            <a:endParaRPr lang="en-IN"/>
          </a:p>
        </p:txBody>
      </p:sp>
      <p:sp>
        <p:nvSpPr>
          <p:cNvPr id="19" name="Rectangle 18"/>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C01D39BC-77B5-48C8-989A-95CBE92AE46E}" type="slidenum">
              <a:rPr lang="en-IN" smtClean="0"/>
              <a:t>‹#›</a:t>
            </a:fld>
            <a:endParaRPr lang="en-IN"/>
          </a:p>
        </p:txBody>
      </p:sp>
    </p:spTree>
    <p:extLst>
      <p:ext uri="{BB962C8B-B14F-4D97-AF65-F5344CB8AC3E}">
        <p14:creationId xmlns:p14="http://schemas.microsoft.com/office/powerpoint/2010/main" val="388353792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0667"/>
            <a:ext cx="8825660" cy="1822514"/>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154954" y="5024967"/>
            <a:ext cx="8825659" cy="860400"/>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91F08386-3325-4F48-BDE9-F402D758026A}" type="datetimeFigureOut">
              <a:rPr lang="en-IN" smtClean="0"/>
              <a:t>16-01-2025</a:t>
            </a:fld>
            <a:endParaRPr lang="en-IN"/>
          </a:p>
        </p:txBody>
      </p:sp>
      <p:sp>
        <p:nvSpPr>
          <p:cNvPr id="5" name="Footer Placeholder 4"/>
          <p:cNvSpPr>
            <a:spLocks noGrp="1"/>
          </p:cNvSpPr>
          <p:nvPr>
            <p:ph type="ftr" sz="quarter" idx="11"/>
          </p:nvPr>
        </p:nvSpPr>
        <p:spPr/>
        <p:txBody>
          <a:bodyPr/>
          <a:lstStyle/>
          <a:p>
            <a:endParaRPr lang="en-IN"/>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C01D39BC-77B5-48C8-989A-95CBE92AE46E}" type="slidenum">
              <a:rPr lang="en-IN" smtClean="0"/>
              <a:t>‹#›</a:t>
            </a:fld>
            <a:endParaRPr lang="en-IN"/>
          </a:p>
        </p:txBody>
      </p:sp>
    </p:spTree>
    <p:extLst>
      <p:ext uri="{BB962C8B-B14F-4D97-AF65-F5344CB8AC3E}">
        <p14:creationId xmlns:p14="http://schemas.microsoft.com/office/powerpoint/2010/main" val="275526809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smtClean="0"/>
              <a:t>Click to edit Master title style</a:t>
            </a:r>
            <a:endParaRPr lang="en-US" dirty="0"/>
          </a:p>
        </p:txBody>
      </p:sp>
      <p:sp>
        <p:nvSpPr>
          <p:cNvPr id="3" name="Text Placeholder 2"/>
          <p:cNvSpPr>
            <a:spLocks noGrp="1"/>
          </p:cNvSpPr>
          <p:nvPr>
            <p:ph type="body" idx="1"/>
          </p:nvPr>
        </p:nvSpPr>
        <p:spPr>
          <a:xfrm>
            <a:off x="1154954" y="2603502"/>
            <a:ext cx="314187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16" name="Text Placeholder 3"/>
          <p:cNvSpPr>
            <a:spLocks noGrp="1"/>
          </p:cNvSpPr>
          <p:nvPr>
            <p:ph type="body" sz="half" idx="15"/>
          </p:nvPr>
        </p:nvSpPr>
        <p:spPr>
          <a:xfrm>
            <a:off x="1154953" y="3179764"/>
            <a:ext cx="314187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Text Placeholder 4"/>
          <p:cNvSpPr>
            <a:spLocks noGrp="1"/>
          </p:cNvSpPr>
          <p:nvPr>
            <p:ph type="body" sz="quarter" idx="3"/>
          </p:nvPr>
        </p:nvSpPr>
        <p:spPr>
          <a:xfrm>
            <a:off x="4512721" y="2603500"/>
            <a:ext cx="3147009"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19" name="Text Placeholder 3"/>
          <p:cNvSpPr>
            <a:spLocks noGrp="1"/>
          </p:cNvSpPr>
          <p:nvPr>
            <p:ph type="body" sz="half" idx="16"/>
          </p:nvPr>
        </p:nvSpPr>
        <p:spPr>
          <a:xfrm>
            <a:off x="4512721" y="3179763"/>
            <a:ext cx="314700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14" name="Text Placeholder 4"/>
          <p:cNvSpPr>
            <a:spLocks noGrp="1"/>
          </p:cNvSpPr>
          <p:nvPr>
            <p:ph type="body" sz="quarter" idx="13"/>
          </p:nvPr>
        </p:nvSpPr>
        <p:spPr>
          <a:xfrm>
            <a:off x="7888135" y="2603501"/>
            <a:ext cx="3145730"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20" name="Text Placeholder 3"/>
          <p:cNvSpPr>
            <a:spLocks noGrp="1"/>
          </p:cNvSpPr>
          <p:nvPr>
            <p:ph type="body" sz="half" idx="17"/>
          </p:nvPr>
        </p:nvSpPr>
        <p:spPr>
          <a:xfrm>
            <a:off x="7888329" y="3179762"/>
            <a:ext cx="3145536"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cxnSp>
        <p:nvCxnSpPr>
          <p:cNvPr id="17" name="Straight Connector 16"/>
          <p:cNvCxnSpPr/>
          <p:nvPr/>
        </p:nvCxnSpPr>
        <p:spPr>
          <a:xfrm>
            <a:off x="440397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77240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91F08386-3325-4F48-BDE9-F402D758026A}" type="datetimeFigureOut">
              <a:rPr lang="en-IN" smtClean="0"/>
              <a:t>16-01-2025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C01D39BC-77B5-48C8-989A-95CBE92AE46E}" type="slidenum">
              <a:rPr lang="en-IN" smtClean="0"/>
              <a:t>‹#›</a:t>
            </a:fld>
            <a:endParaRPr lang="en-IN"/>
          </a:p>
        </p:txBody>
      </p:sp>
    </p:spTree>
    <p:extLst>
      <p:ext uri="{BB962C8B-B14F-4D97-AF65-F5344CB8AC3E}">
        <p14:creationId xmlns:p14="http://schemas.microsoft.com/office/powerpoint/2010/main" val="316683204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smtClean="0"/>
              <a:t>Click to edit Master title style</a:t>
            </a:r>
            <a:endParaRPr lang="en-US" dirty="0"/>
          </a:p>
        </p:txBody>
      </p:sp>
      <p:sp>
        <p:nvSpPr>
          <p:cNvPr id="3" name="Text Placeholder 2"/>
          <p:cNvSpPr>
            <a:spLocks noGrp="1"/>
          </p:cNvSpPr>
          <p:nvPr>
            <p:ph type="body" idx="1"/>
          </p:nvPr>
        </p:nvSpPr>
        <p:spPr>
          <a:xfrm>
            <a:off x="1154954" y="4532844"/>
            <a:ext cx="305043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19" name="Picture Placeholder 2"/>
          <p:cNvSpPr>
            <a:spLocks noGrp="1" noChangeAspect="1"/>
          </p:cNvSpPr>
          <p:nvPr>
            <p:ph type="pic" idx="15"/>
          </p:nvPr>
        </p:nvSpPr>
        <p:spPr>
          <a:xfrm>
            <a:off x="1334553"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2" name="Text Placeholder 3"/>
          <p:cNvSpPr>
            <a:spLocks noGrp="1"/>
          </p:cNvSpPr>
          <p:nvPr>
            <p:ph type="body" sz="half" idx="18"/>
          </p:nvPr>
        </p:nvSpPr>
        <p:spPr>
          <a:xfrm>
            <a:off x="1154954" y="5109106"/>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Text Placeholder 4"/>
          <p:cNvSpPr>
            <a:spLocks noGrp="1"/>
          </p:cNvSpPr>
          <p:nvPr>
            <p:ph type="body" sz="quarter" idx="3"/>
          </p:nvPr>
        </p:nvSpPr>
        <p:spPr>
          <a:xfrm>
            <a:off x="4568865" y="4532844"/>
            <a:ext cx="3050438" cy="576263"/>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1" name="Picture Placeholder 2"/>
          <p:cNvSpPr>
            <a:spLocks noGrp="1" noChangeAspect="1"/>
          </p:cNvSpPr>
          <p:nvPr>
            <p:ph type="pic" idx="21"/>
          </p:nvPr>
        </p:nvSpPr>
        <p:spPr>
          <a:xfrm>
            <a:off x="4748462" y="2603500"/>
            <a:ext cx="2691243"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3" name="Text Placeholder 3"/>
          <p:cNvSpPr>
            <a:spLocks noGrp="1"/>
          </p:cNvSpPr>
          <p:nvPr>
            <p:ph type="body" sz="half" idx="19"/>
          </p:nvPr>
        </p:nvSpPr>
        <p:spPr>
          <a:xfrm>
            <a:off x="4570172" y="5109105"/>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14" name="Text Placeholder 4"/>
          <p:cNvSpPr>
            <a:spLocks noGrp="1"/>
          </p:cNvSpPr>
          <p:nvPr>
            <p:ph type="body" sz="quarter" idx="13"/>
          </p:nvPr>
        </p:nvSpPr>
        <p:spPr>
          <a:xfrm>
            <a:off x="7982775" y="4532845"/>
            <a:ext cx="3051095"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2"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4" name="Text Placeholder 3"/>
          <p:cNvSpPr>
            <a:spLocks noGrp="1"/>
          </p:cNvSpPr>
          <p:nvPr>
            <p:ph type="body" sz="half" idx="20"/>
          </p:nvPr>
        </p:nvSpPr>
        <p:spPr>
          <a:xfrm>
            <a:off x="7982775" y="5109104"/>
            <a:ext cx="3051096"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cxnSp>
        <p:nvCxnSpPr>
          <p:cNvPr id="43" name="Straight Connector 42"/>
          <p:cNvCxnSpPr/>
          <p:nvPr/>
        </p:nvCxnSpPr>
        <p:spPr>
          <a:xfrm>
            <a:off x="440583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p:nvCxnSpPr>
        <p:spPr>
          <a:xfrm>
            <a:off x="7797802"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91F08386-3325-4F48-BDE9-F402D758026A}" type="datetimeFigureOut">
              <a:rPr lang="en-IN" smtClean="0"/>
              <a:t>16-01-2025</a:t>
            </a:fld>
            <a:endParaRPr lang="en-IN"/>
          </a:p>
        </p:txBody>
      </p:sp>
      <p:sp>
        <p:nvSpPr>
          <p:cNvPr id="8" name="Footer Placeholder 7"/>
          <p:cNvSpPr>
            <a:spLocks noGrp="1"/>
          </p:cNvSpPr>
          <p:nvPr>
            <p:ph type="ftr" sz="quarter" idx="11"/>
          </p:nvPr>
        </p:nvSpPr>
        <p:spPr>
          <a:xfrm>
            <a:off x="561111" y="6391838"/>
            <a:ext cx="3644282" cy="304801"/>
          </a:xfrm>
        </p:spPr>
        <p:txBody>
          <a:bodyPr/>
          <a:lstStyle/>
          <a:p>
            <a:endParaRPr lang="en-IN"/>
          </a:p>
        </p:txBody>
      </p:sp>
      <p:sp>
        <p:nvSpPr>
          <p:cNvPr id="9" name="Slide Number Placeholder 8"/>
          <p:cNvSpPr>
            <a:spLocks noGrp="1"/>
          </p:cNvSpPr>
          <p:nvPr>
            <p:ph type="sldNum" sz="quarter" idx="12"/>
          </p:nvPr>
        </p:nvSpPr>
        <p:spPr/>
        <p:txBody>
          <a:bodyPr/>
          <a:lstStyle/>
          <a:p>
            <a:fld id="{C01D39BC-77B5-48C8-989A-95CBE92AE46E}" type="slidenum">
              <a:rPr lang="en-IN" smtClean="0"/>
              <a:t>‹#›</a:t>
            </a:fld>
            <a:endParaRPr lang="en-IN"/>
          </a:p>
        </p:txBody>
      </p:sp>
    </p:spTree>
    <p:extLst>
      <p:ext uri="{BB962C8B-B14F-4D97-AF65-F5344CB8AC3E}">
        <p14:creationId xmlns:p14="http://schemas.microsoft.com/office/powerpoint/2010/main" val="326012357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154954" y="2603500"/>
            <a:ext cx="8825659" cy="3416300"/>
          </a:xfrm>
        </p:spPr>
        <p:txBody>
          <a:bodyPr vert="eaVert" anchor="t" anchorCtr="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a:xfrm>
            <a:off x="10695439" y="6391838"/>
            <a:ext cx="990599" cy="304799"/>
          </a:xfrm>
        </p:spPr>
        <p:txBody>
          <a:bodyPr/>
          <a:lstStyle/>
          <a:p>
            <a:fld id="{91F08386-3325-4F48-BDE9-F402D758026A}" type="datetimeFigureOut">
              <a:rPr lang="en-IN" smtClean="0"/>
              <a:t>16-01-2025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01D39BC-77B5-48C8-989A-95CBE92AE46E}" type="slidenum">
              <a:rPr lang="en-IN" smtClean="0"/>
              <a:t>‹#›</a:t>
            </a:fld>
            <a:endParaRPr lang="en-IN"/>
          </a:p>
        </p:txBody>
      </p:sp>
    </p:spTree>
    <p:extLst>
      <p:ext uri="{BB962C8B-B14F-4D97-AF65-F5344CB8AC3E}">
        <p14:creationId xmlns:p14="http://schemas.microsoft.com/office/powerpoint/2010/main" val="155321824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2" name="Rectangle 11"/>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bwMode="gray">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7"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0"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85235" y="1278467"/>
            <a:ext cx="1409965" cy="4748590"/>
          </a:xfrm>
        </p:spPr>
        <p:txBody>
          <a:bodyPr vert="eaVert" anchor="b" anchorCtr="0"/>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154954" y="1278467"/>
            <a:ext cx="6256025" cy="474859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a:xfrm>
            <a:off x="10653104" y="6391838"/>
            <a:ext cx="992135" cy="304799"/>
          </a:xfrm>
        </p:spPr>
        <p:txBody>
          <a:bodyPr/>
          <a:lstStyle/>
          <a:p>
            <a:fld id="{91F08386-3325-4F48-BDE9-F402D758026A}" type="datetimeFigureOut">
              <a:rPr lang="en-IN" smtClean="0"/>
              <a:t>16-01-2025</a:t>
            </a:fld>
            <a:endParaRPr lang="en-IN"/>
          </a:p>
        </p:txBody>
      </p:sp>
      <p:sp>
        <p:nvSpPr>
          <p:cNvPr id="5" name="Footer Placeholder 4"/>
          <p:cNvSpPr>
            <a:spLocks noGrp="1"/>
          </p:cNvSpPr>
          <p:nvPr>
            <p:ph type="ftr" sz="quarter" idx="11"/>
          </p:nvPr>
        </p:nvSpPr>
        <p:spPr/>
        <p:txBody>
          <a:bodyPr/>
          <a:lstStyle/>
          <a:p>
            <a:endParaRPr lang="en-IN"/>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C01D39BC-77B5-48C8-989A-95CBE92AE46E}" type="slidenum">
              <a:rPr lang="en-IN" smtClean="0"/>
              <a:t>‹#›</a:t>
            </a:fld>
            <a:endParaRPr lang="en-IN"/>
          </a:p>
        </p:txBody>
      </p:sp>
    </p:spTree>
    <p:extLst>
      <p:ext uri="{BB962C8B-B14F-4D97-AF65-F5344CB8AC3E}">
        <p14:creationId xmlns:p14="http://schemas.microsoft.com/office/powerpoint/2010/main" val="824597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7" name="Rectangle 6"/>
            <p:cNvSpPr/>
            <p:nvPr/>
          </p:nvSpPr>
          <p:spPr>
            <a:xfrm>
              <a:off x="0" y="0"/>
              <a:ext cx="12192000" cy="6858000"/>
            </a:xfrm>
            <a:prstGeom prst="rect">
              <a:avLst/>
            </a:prstGeom>
            <a:blipFill>
              <a:blip r:embed="rId19">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Placeholder 1"/>
          <p:cNvSpPr>
            <a:spLocks noGrp="1"/>
          </p:cNvSpPr>
          <p:nvPr>
            <p:ph type="title"/>
          </p:nvPr>
        </p:nvSpPr>
        <p:spPr bwMode="gray">
          <a:xfrm>
            <a:off x="1154954" y="973668"/>
            <a:ext cx="8761413" cy="706964"/>
          </a:xfrm>
          <a:prstGeom prst="rect">
            <a:avLst/>
          </a:prstGeom>
        </p:spPr>
        <p:txBody>
          <a:bodyPr vert="horz" lIns="91440" tIns="45720" rIns="91440" bIns="45720" rtlCol="0" anchor="ctr">
            <a:noAutofit/>
          </a:bodyPr>
          <a:lstStyle/>
          <a:p>
            <a:r>
              <a:rPr lang="en-US" smtClean="0"/>
              <a:t>Click to edit Master title style</a:t>
            </a:r>
            <a:endParaRPr lang="en-US" dirty="0"/>
          </a:p>
        </p:txBody>
      </p:sp>
      <p:sp>
        <p:nvSpPr>
          <p:cNvPr id="3" name="Text Placeholder 2"/>
          <p:cNvSpPr>
            <a:spLocks noGrp="1"/>
          </p:cNvSpPr>
          <p:nvPr>
            <p:ph type="body" idx="1"/>
          </p:nvPr>
        </p:nvSpPr>
        <p:spPr>
          <a:xfrm>
            <a:off x="1154954" y="2603500"/>
            <a:ext cx="8761413" cy="34163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10653104" y="6391838"/>
            <a:ext cx="990599" cy="304799"/>
          </a:xfrm>
          <a:prstGeom prst="rect">
            <a:avLst/>
          </a:prstGeom>
        </p:spPr>
        <p:txBody>
          <a:bodyPr vert="horz" lIns="91440" tIns="45720" rIns="91440" bIns="45720" rtlCol="0" anchor="ctr"/>
          <a:lstStyle>
            <a:lvl1pPr algn="r">
              <a:defRPr sz="1000" b="1" i="0">
                <a:solidFill>
                  <a:schemeClr val="accent1"/>
                </a:solidFill>
              </a:defRPr>
            </a:lvl1pPr>
          </a:lstStyle>
          <a:p>
            <a:fld id="{91F08386-3325-4F48-BDE9-F402D758026A}" type="datetimeFigureOut">
              <a:rPr lang="en-IN" smtClean="0"/>
              <a:t>16-01-2025</a:t>
            </a:fld>
            <a:endParaRPr lang="en-IN"/>
          </a:p>
        </p:txBody>
      </p:sp>
      <p:sp>
        <p:nvSpPr>
          <p:cNvPr id="5" name="Footer Placeholder 4"/>
          <p:cNvSpPr>
            <a:spLocks noGrp="1"/>
          </p:cNvSpPr>
          <p:nvPr>
            <p:ph type="ftr" sz="quarter" idx="3"/>
          </p:nvPr>
        </p:nvSpPr>
        <p:spPr>
          <a:xfrm>
            <a:off x="561110" y="6391838"/>
            <a:ext cx="3859795" cy="304801"/>
          </a:xfrm>
          <a:prstGeom prst="rect">
            <a:avLst/>
          </a:prstGeom>
        </p:spPr>
        <p:txBody>
          <a:bodyPr vert="horz" lIns="91440" tIns="45720" rIns="91440" bIns="45720" rtlCol="0" anchor="ctr"/>
          <a:lstStyle>
            <a:lvl1pPr algn="l">
              <a:defRPr sz="1000" b="1" i="0">
                <a:solidFill>
                  <a:schemeClr val="accent1"/>
                </a:solidFill>
              </a:defRPr>
            </a:lvl1pPr>
          </a:lstStyle>
          <a:p>
            <a:endParaRPr lang="en-IN"/>
          </a:p>
        </p:txBody>
      </p:sp>
      <p:sp>
        <p:nvSpPr>
          <p:cNvPr id="21" name="Rectangle 2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bg1"/>
                </a:solidFill>
              </a:defRPr>
            </a:lvl1pPr>
          </a:lstStyle>
          <a:p>
            <a:fld id="{C01D39BC-77B5-48C8-989A-95CBE92AE46E}" type="slidenum">
              <a:rPr lang="en-IN" smtClean="0"/>
              <a:t>‹#›</a:t>
            </a:fld>
            <a:endParaRPr lang="en-IN"/>
          </a:p>
        </p:txBody>
      </p:sp>
    </p:spTree>
    <p:extLst>
      <p:ext uri="{BB962C8B-B14F-4D97-AF65-F5344CB8AC3E}">
        <p14:creationId xmlns:p14="http://schemas.microsoft.com/office/powerpoint/2010/main" val="407742952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hyperlink" Target="https://www.youtube.com/watch?v=nnwqtZiYMxQ" TargetMode="Externa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Case studies</a:t>
            </a:r>
            <a:endParaRPr lang="en-IN" dirty="0"/>
          </a:p>
        </p:txBody>
      </p:sp>
      <p:sp>
        <p:nvSpPr>
          <p:cNvPr id="3" name="Subtitle 2"/>
          <p:cNvSpPr>
            <a:spLocks noGrp="1"/>
          </p:cNvSpPr>
          <p:nvPr>
            <p:ph type="subTitle" idx="1"/>
          </p:nvPr>
        </p:nvSpPr>
        <p:spPr/>
        <p:txBody>
          <a:bodyPr>
            <a:normAutofit fontScale="77500" lnSpcReduction="20000"/>
          </a:bodyPr>
          <a:lstStyle/>
          <a:p>
            <a:r>
              <a:rPr lang="en-US" dirty="0" smtClean="0"/>
              <a:t>Dr. Lakshmi S,</a:t>
            </a:r>
          </a:p>
          <a:p>
            <a:r>
              <a:rPr lang="en-US" dirty="0" smtClean="0"/>
              <a:t>Department of ECE</a:t>
            </a:r>
          </a:p>
          <a:p>
            <a:r>
              <a:rPr lang="en-US" dirty="0" smtClean="0"/>
              <a:t>RIT, Bangalore</a:t>
            </a:r>
            <a:endParaRPr lang="en-IN" dirty="0"/>
          </a:p>
        </p:txBody>
      </p:sp>
    </p:spTree>
    <p:extLst>
      <p:ext uri="{BB962C8B-B14F-4D97-AF65-F5344CB8AC3E}">
        <p14:creationId xmlns:p14="http://schemas.microsoft.com/office/powerpoint/2010/main" val="41973512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Good Kitchen</a:t>
            </a:r>
            <a:endParaRPr lang="en-IN" dirty="0"/>
          </a:p>
        </p:txBody>
      </p:sp>
      <p:sp>
        <p:nvSpPr>
          <p:cNvPr id="3" name="Content Placeholder 2"/>
          <p:cNvSpPr>
            <a:spLocks noGrp="1"/>
          </p:cNvSpPr>
          <p:nvPr>
            <p:ph idx="1"/>
          </p:nvPr>
        </p:nvSpPr>
        <p:spPr/>
        <p:txBody>
          <a:bodyPr/>
          <a:lstStyle/>
          <a:p>
            <a:r>
              <a:rPr lang="en-US" dirty="0" smtClean="0"/>
              <a:t>Ethnography: descriptive </a:t>
            </a:r>
            <a:r>
              <a:rPr lang="en-US" dirty="0"/>
              <a:t>study of a particular human society or the process of making such a study. Contemporary ethnography is based almost entirely on fieldwork and requires the complete immersion of the anthropologist in the culture and everyday life of the people who are the subject of his study</a:t>
            </a:r>
            <a:r>
              <a:rPr lang="en-US" dirty="0" smtClean="0"/>
              <a:t>.</a:t>
            </a:r>
            <a:endParaRPr lang="en-IN" dirty="0"/>
          </a:p>
        </p:txBody>
      </p:sp>
    </p:spTree>
    <p:extLst>
      <p:ext uri="{BB962C8B-B14F-4D97-AF65-F5344CB8AC3E}">
        <p14:creationId xmlns:p14="http://schemas.microsoft.com/office/powerpoint/2010/main" val="164464159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Important points from video</a:t>
            </a:r>
            <a:endParaRPr lang="en-IN" dirty="0"/>
          </a:p>
        </p:txBody>
      </p:sp>
      <p:sp>
        <p:nvSpPr>
          <p:cNvPr id="3" name="Content Placeholder 2"/>
          <p:cNvSpPr>
            <a:spLocks noGrp="1"/>
          </p:cNvSpPr>
          <p:nvPr>
            <p:ph idx="1"/>
          </p:nvPr>
        </p:nvSpPr>
        <p:spPr/>
        <p:txBody>
          <a:bodyPr/>
          <a:lstStyle/>
          <a:p>
            <a:r>
              <a:rPr lang="en-US" dirty="0" smtClean="0"/>
              <a:t>Senior citizens depended on government sponsored food.</a:t>
            </a:r>
          </a:p>
          <a:p>
            <a:r>
              <a:rPr lang="en-US" dirty="0" smtClean="0"/>
              <a:t>But it was found that they were malnourished since the food supplied was not nutritious.</a:t>
            </a:r>
          </a:p>
          <a:p>
            <a:r>
              <a:rPr lang="en-US" dirty="0" smtClean="0"/>
              <a:t>The senior citizens were not given options in the menu.</a:t>
            </a:r>
          </a:p>
          <a:p>
            <a:r>
              <a:rPr lang="en-US" dirty="0" smtClean="0"/>
              <a:t>So the designers thought just changing the menu will do but it was not that.</a:t>
            </a:r>
          </a:p>
          <a:p>
            <a:r>
              <a:rPr lang="en-US" dirty="0" smtClean="0"/>
              <a:t>The kitchen workers were a demoralized lot.</a:t>
            </a:r>
          </a:p>
          <a:p>
            <a:r>
              <a:rPr lang="en-US" dirty="0" smtClean="0"/>
              <a:t>The senior citizens were an embarrassed lot.</a:t>
            </a:r>
            <a:endParaRPr lang="en-IN" dirty="0"/>
          </a:p>
        </p:txBody>
      </p:sp>
    </p:spTree>
    <p:extLst>
      <p:ext uri="{BB962C8B-B14F-4D97-AF65-F5344CB8AC3E}">
        <p14:creationId xmlns:p14="http://schemas.microsoft.com/office/powerpoint/2010/main" val="129999627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fontScale="92500" lnSpcReduction="20000"/>
          </a:bodyPr>
          <a:lstStyle/>
          <a:p>
            <a:r>
              <a:rPr lang="en-US" dirty="0" smtClean="0"/>
              <a:t>Disconnect between the kitchen workers and the senior citizens was huge.</a:t>
            </a:r>
          </a:p>
          <a:p>
            <a:r>
              <a:rPr lang="en-US" dirty="0" smtClean="0"/>
              <a:t>So the designers thought not only do we have to take insights from senior citizens but also the kitchen workers.</a:t>
            </a:r>
          </a:p>
          <a:p>
            <a:r>
              <a:rPr lang="en-US" dirty="0" smtClean="0"/>
              <a:t>So they redesigned the kitchen menu to look like an actual restaurant menu, motivating the kitchen workers to think of themselves as chefs rather than workers.  Changed their uniform.</a:t>
            </a:r>
          </a:p>
          <a:p>
            <a:r>
              <a:rPr lang="en-US" dirty="0" smtClean="0"/>
              <a:t>They used visualization as a design tool, did </a:t>
            </a:r>
            <a:r>
              <a:rPr lang="en-US" dirty="0" err="1" smtClean="0"/>
              <a:t>protoyping</a:t>
            </a:r>
            <a:r>
              <a:rPr lang="en-US" dirty="0" smtClean="0"/>
              <a:t>, asked about the seniors needs. </a:t>
            </a:r>
          </a:p>
          <a:p>
            <a:r>
              <a:rPr lang="en-US" dirty="0" smtClean="0"/>
              <a:t>Comment cards were used, a newsletter was released periodically.</a:t>
            </a:r>
          </a:p>
          <a:p>
            <a:r>
              <a:rPr lang="en-US" dirty="0" smtClean="0"/>
              <a:t>Everyone from kitchen staff to the delivery boys to the seniors citizens were involved in this venture.  All of them were deeply involved.</a:t>
            </a:r>
          </a:p>
          <a:p>
            <a:r>
              <a:rPr lang="en-US" dirty="0" smtClean="0"/>
              <a:t>This led to the good kitchen.</a:t>
            </a:r>
          </a:p>
          <a:p>
            <a:endParaRPr lang="en-IN" dirty="0"/>
          </a:p>
        </p:txBody>
      </p:sp>
    </p:spTree>
    <p:extLst>
      <p:ext uri="{BB962C8B-B14F-4D97-AF65-F5344CB8AC3E}">
        <p14:creationId xmlns:p14="http://schemas.microsoft.com/office/powerpoint/2010/main" val="341195278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Sample questions</a:t>
            </a:r>
            <a:endParaRPr lang="en-IN" dirty="0"/>
          </a:p>
        </p:txBody>
      </p:sp>
      <p:sp>
        <p:nvSpPr>
          <p:cNvPr id="3" name="Content Placeholder 2"/>
          <p:cNvSpPr>
            <a:spLocks noGrp="1"/>
          </p:cNvSpPr>
          <p:nvPr>
            <p:ph idx="1"/>
          </p:nvPr>
        </p:nvSpPr>
        <p:spPr/>
        <p:txBody>
          <a:bodyPr/>
          <a:lstStyle/>
          <a:p>
            <a:pPr lvl="0"/>
            <a:r>
              <a:rPr lang="en-US" dirty="0"/>
              <a:t>Show how by using “user </a:t>
            </a:r>
            <a:r>
              <a:rPr lang="en-US" dirty="0" err="1"/>
              <a:t>centred</a:t>
            </a:r>
            <a:r>
              <a:rPr lang="en-US" dirty="0"/>
              <a:t> design” </a:t>
            </a:r>
            <a:r>
              <a:rPr lang="en-US" dirty="0" err="1"/>
              <a:t>Hatchi</a:t>
            </a:r>
            <a:r>
              <a:rPr lang="en-US" dirty="0"/>
              <a:t> Blum  changed the overall operation of the kitchen catering to the senior citizens of Denmark.</a:t>
            </a:r>
            <a:endParaRPr lang="en-IN" dirty="0"/>
          </a:p>
          <a:p>
            <a:pPr lvl="0"/>
            <a:r>
              <a:rPr lang="en-US" dirty="0"/>
              <a:t>Elaborate why the change of menu was not the only solution to cater to the needs of se for senior citizens of Denmark</a:t>
            </a:r>
            <a:endParaRPr lang="en-IN" dirty="0"/>
          </a:p>
          <a:p>
            <a:pPr lvl="0"/>
            <a:r>
              <a:rPr lang="en-US" dirty="0"/>
              <a:t>Explain the design changes incorporated in the ethos of workers in order to make the good kitchen a success.</a:t>
            </a:r>
            <a:endParaRPr lang="en-IN" dirty="0"/>
          </a:p>
          <a:p>
            <a:pPr lvl="0"/>
            <a:r>
              <a:rPr lang="en-US" dirty="0"/>
              <a:t>Enumerate the design thinking steps involved in making the good kitchen a success story.</a:t>
            </a:r>
            <a:endParaRPr lang="en-IN" dirty="0"/>
          </a:p>
          <a:p>
            <a:endParaRPr lang="en-IN" dirty="0"/>
          </a:p>
        </p:txBody>
      </p:sp>
    </p:spTree>
    <p:extLst>
      <p:ext uri="{BB962C8B-B14F-4D97-AF65-F5344CB8AC3E}">
        <p14:creationId xmlns:p14="http://schemas.microsoft.com/office/powerpoint/2010/main" val="367853479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Good kitchen case study</a:t>
            </a:r>
            <a:r>
              <a:rPr lang="en-US" dirty="0" smtClean="0"/>
              <a:t> (Explain any two in detail – 5 marks each)</a:t>
            </a:r>
            <a:r>
              <a:rPr lang="en-IN" dirty="0" smtClean="0"/>
              <a:t/>
            </a:r>
            <a:br>
              <a:rPr lang="en-IN" dirty="0" smtClean="0"/>
            </a:br>
            <a:endParaRPr lang="en-IN" dirty="0"/>
          </a:p>
        </p:txBody>
      </p:sp>
      <p:sp>
        <p:nvSpPr>
          <p:cNvPr id="3" name="Content Placeholder 2"/>
          <p:cNvSpPr>
            <a:spLocks noGrp="1"/>
          </p:cNvSpPr>
          <p:nvPr>
            <p:ph idx="1"/>
          </p:nvPr>
        </p:nvSpPr>
        <p:spPr/>
        <p:txBody>
          <a:bodyPr/>
          <a:lstStyle/>
          <a:p>
            <a:pPr lvl="0"/>
            <a:r>
              <a:rPr lang="en-US" dirty="0" smtClean="0"/>
              <a:t>Appreciate </a:t>
            </a:r>
            <a:r>
              <a:rPr lang="en-US" dirty="0"/>
              <a:t>the Awesome Power of Ethnography</a:t>
            </a:r>
            <a:endParaRPr lang="en-IN" dirty="0"/>
          </a:p>
          <a:p>
            <a:pPr lvl="0"/>
            <a:r>
              <a:rPr lang="en-US" dirty="0"/>
              <a:t>Design Feedback Into the Solution So You Won’t Have to Fix Big Problems So Often</a:t>
            </a:r>
            <a:endParaRPr lang="en-IN" dirty="0"/>
          </a:p>
          <a:p>
            <a:pPr lvl="0"/>
            <a:r>
              <a:rPr lang="en-US" dirty="0"/>
              <a:t>Be Willing to Redefine the Problem</a:t>
            </a:r>
            <a:endParaRPr lang="en-IN" dirty="0"/>
          </a:p>
          <a:p>
            <a:pPr lvl="0"/>
            <a:r>
              <a:rPr lang="en-US" dirty="0"/>
              <a:t>Be Willing to Engage the Entire System</a:t>
            </a:r>
            <a:endParaRPr lang="en-IN" dirty="0"/>
          </a:p>
          <a:p>
            <a:endParaRPr lang="en-IN" dirty="0"/>
          </a:p>
        </p:txBody>
      </p:sp>
    </p:spTree>
    <p:extLst>
      <p:ext uri="{BB962C8B-B14F-4D97-AF65-F5344CB8AC3E}">
        <p14:creationId xmlns:p14="http://schemas.microsoft.com/office/powerpoint/2010/main" val="4058848638"/>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Toyota Customer Care</a:t>
            </a:r>
            <a:endParaRPr lang="en-IN" dirty="0"/>
          </a:p>
        </p:txBody>
      </p:sp>
      <p:sp>
        <p:nvSpPr>
          <p:cNvPr id="3" name="Content Placeholder 2"/>
          <p:cNvSpPr>
            <a:spLocks noGrp="1"/>
          </p:cNvSpPr>
          <p:nvPr>
            <p:ph idx="1"/>
          </p:nvPr>
        </p:nvSpPr>
        <p:spPr>
          <a:xfrm>
            <a:off x="838200" y="1252418"/>
            <a:ext cx="10515600" cy="5605582"/>
          </a:xfrm>
        </p:spPr>
        <p:txBody>
          <a:bodyPr>
            <a:noAutofit/>
          </a:bodyPr>
          <a:lstStyle/>
          <a:p>
            <a:r>
              <a:rPr lang="en-US" sz="1600" dirty="0" smtClean="0"/>
              <a:t>Design tool - The possibilities question</a:t>
            </a:r>
          </a:p>
          <a:p>
            <a:endParaRPr lang="en-US" sz="1600" dirty="0" smtClean="0"/>
          </a:p>
          <a:p>
            <a:r>
              <a:rPr lang="en-US" sz="1600" dirty="0" smtClean="0"/>
              <a:t>2. Change management - Identifying stakeholders, what they needed to know/ do/ own, communicate, train, test</a:t>
            </a:r>
          </a:p>
          <a:p>
            <a:r>
              <a:rPr lang="en-US" sz="1600" dirty="0" smtClean="0"/>
              <a:t>3. Analysis - percentage time for each action</a:t>
            </a:r>
          </a:p>
          <a:p>
            <a:r>
              <a:rPr lang="en-US" sz="1600" dirty="0" smtClean="0"/>
              <a:t>4. Simple solution - create database, not sufficient - involve stakeholders (learn from mistakes)</a:t>
            </a:r>
          </a:p>
          <a:p>
            <a:r>
              <a:rPr lang="en-US" sz="1600" dirty="0" smtClean="0"/>
              <a:t>5. Do the training yourself - hands on experience (Ethnography - not only for customer)</a:t>
            </a:r>
          </a:p>
          <a:p>
            <a:r>
              <a:rPr lang="en-US" sz="1600" dirty="0" smtClean="0"/>
              <a:t>6. Journey mapping - Vendor sites linked to theirs</a:t>
            </a:r>
          </a:p>
          <a:p>
            <a:r>
              <a:rPr lang="en-US" sz="1600" dirty="0" smtClean="0"/>
              <a:t>7. Involve contact rep with software agents - identify leads/ facilitators</a:t>
            </a:r>
          </a:p>
          <a:p>
            <a:r>
              <a:rPr lang="en-US" sz="1600" dirty="0" smtClean="0"/>
              <a:t>8. Ask what to do and why</a:t>
            </a:r>
          </a:p>
          <a:p>
            <a:r>
              <a:rPr lang="en-US" sz="1600" dirty="0" smtClean="0"/>
              <a:t>9. Integration in team and purpose</a:t>
            </a:r>
          </a:p>
          <a:p>
            <a:r>
              <a:rPr lang="en-US" sz="1600" dirty="0" smtClean="0"/>
              <a:t>10. Co-creation - playing together</a:t>
            </a:r>
          </a:p>
          <a:p>
            <a:r>
              <a:rPr lang="en-US" sz="1600" dirty="0" smtClean="0"/>
              <a:t>11. Team culture</a:t>
            </a:r>
          </a:p>
          <a:p>
            <a:r>
              <a:rPr lang="en-US" sz="1600" dirty="0" smtClean="0"/>
              <a:t>Respect employees perspective</a:t>
            </a:r>
          </a:p>
          <a:p>
            <a:r>
              <a:rPr lang="en-US" sz="1600" dirty="0" smtClean="0"/>
              <a:t>Don't expect multifunctional team work to be easy</a:t>
            </a:r>
          </a:p>
          <a:p>
            <a:r>
              <a:rPr lang="en-US" sz="1600" dirty="0" smtClean="0"/>
              <a:t>Think of change management and design thinking as great bedfellows</a:t>
            </a:r>
          </a:p>
          <a:p>
            <a:r>
              <a:rPr lang="en-US" sz="1600" dirty="0" smtClean="0"/>
              <a:t>People + Process + Technology = Success</a:t>
            </a:r>
            <a:endParaRPr lang="en-IN" sz="1600" dirty="0"/>
          </a:p>
        </p:txBody>
      </p:sp>
    </p:spTree>
    <p:extLst>
      <p:ext uri="{BB962C8B-B14F-4D97-AF65-F5344CB8AC3E}">
        <p14:creationId xmlns:p14="http://schemas.microsoft.com/office/powerpoint/2010/main" val="258279385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"Redesigning the Customer Contact Center at Toyota</a:t>
            </a:r>
            <a:endParaRPr lang="en-IN" dirty="0"/>
          </a:p>
        </p:txBody>
      </p:sp>
      <p:sp>
        <p:nvSpPr>
          <p:cNvPr id="3" name="Content Placeholder 2"/>
          <p:cNvSpPr>
            <a:spLocks noGrp="1"/>
          </p:cNvSpPr>
          <p:nvPr>
            <p:ph idx="1"/>
          </p:nvPr>
        </p:nvSpPr>
        <p:spPr/>
        <p:txBody>
          <a:bodyPr>
            <a:normAutofit fontScale="85000" lnSpcReduction="20000"/>
          </a:bodyPr>
          <a:lstStyle/>
          <a:p>
            <a:r>
              <a:rPr lang="en-US" dirty="0" smtClean="0"/>
              <a:t>https://www.youtube.com/watch?v=THIAdHhj-Jk&amp;t=196s</a:t>
            </a:r>
          </a:p>
          <a:p>
            <a:r>
              <a:rPr lang="en-US" dirty="0" smtClean="0"/>
              <a:t>In this </a:t>
            </a:r>
            <a:r>
              <a:rPr lang="en-US" dirty="0"/>
              <a:t>case study, the primary challenges included </a:t>
            </a:r>
            <a:endParaRPr lang="en-US" dirty="0" smtClean="0"/>
          </a:p>
          <a:p>
            <a:r>
              <a:rPr lang="en-US" dirty="0" smtClean="0"/>
              <a:t>long </a:t>
            </a:r>
            <a:r>
              <a:rPr lang="en-US" dirty="0"/>
              <a:t>customer wait times, </a:t>
            </a:r>
            <a:endParaRPr lang="en-US" dirty="0" smtClean="0"/>
          </a:p>
          <a:p>
            <a:r>
              <a:rPr lang="en-US" dirty="0" smtClean="0"/>
              <a:t>complex </a:t>
            </a:r>
            <a:r>
              <a:rPr lang="en-US" dirty="0"/>
              <a:t>inquiries requiring access to multiple systems, </a:t>
            </a:r>
            <a:endParaRPr lang="en-US" dirty="0" smtClean="0"/>
          </a:p>
          <a:p>
            <a:r>
              <a:rPr lang="en-US" dirty="0" smtClean="0"/>
              <a:t>inefficient </a:t>
            </a:r>
            <a:r>
              <a:rPr lang="en-US" dirty="0"/>
              <a:t>agent workflows due to outdated technology, </a:t>
            </a:r>
            <a:r>
              <a:rPr lang="en-US" dirty="0" smtClean="0"/>
              <a:t>and</a:t>
            </a:r>
          </a:p>
          <a:p>
            <a:r>
              <a:rPr lang="en-US" dirty="0" smtClean="0"/>
              <a:t> </a:t>
            </a:r>
            <a:r>
              <a:rPr lang="en-US" dirty="0"/>
              <a:t>overall low customer satisfaction, all stemming from a poorly designed call center system that struggled to handle the volume and complexity of customer needs; </a:t>
            </a:r>
            <a:endParaRPr lang="en-US" dirty="0" smtClean="0"/>
          </a:p>
          <a:p>
            <a:r>
              <a:rPr lang="en-US" dirty="0" smtClean="0"/>
              <a:t>the </a:t>
            </a:r>
            <a:r>
              <a:rPr lang="en-US" dirty="0"/>
              <a:t>solution involved implementing a design thinking approach to streamline processes, integrate various systems into a single platform, </a:t>
            </a:r>
            <a:endParaRPr lang="en-US" dirty="0" smtClean="0"/>
          </a:p>
          <a:p>
            <a:r>
              <a:rPr lang="en-US" dirty="0" smtClean="0"/>
              <a:t>empower </a:t>
            </a:r>
            <a:r>
              <a:rPr lang="en-US" dirty="0"/>
              <a:t>agents with better tools and knowledge, and prioritize customer experience through data analysis, significantly reducing wait times and improving customer satisfaction</a:t>
            </a:r>
            <a:endParaRPr lang="en-IN" dirty="0"/>
          </a:p>
        </p:txBody>
      </p:sp>
    </p:spTree>
    <p:extLst>
      <p:ext uri="{BB962C8B-B14F-4D97-AF65-F5344CB8AC3E}">
        <p14:creationId xmlns:p14="http://schemas.microsoft.com/office/powerpoint/2010/main" val="743833217"/>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Key takeaways:</a:t>
            </a:r>
            <a:br>
              <a:rPr lang="en-US" dirty="0" smtClean="0"/>
            </a:br>
            <a:endParaRPr lang="en-IN" dirty="0"/>
          </a:p>
        </p:txBody>
      </p:sp>
      <p:sp>
        <p:nvSpPr>
          <p:cNvPr id="3" name="Content Placeholder 2"/>
          <p:cNvSpPr>
            <a:spLocks noGrp="1"/>
          </p:cNvSpPr>
          <p:nvPr>
            <p:ph idx="1"/>
          </p:nvPr>
        </p:nvSpPr>
        <p:spPr/>
        <p:txBody>
          <a:bodyPr/>
          <a:lstStyle/>
          <a:p>
            <a:pPr fontAlgn="ctr"/>
            <a:r>
              <a:rPr lang="en-US" dirty="0" smtClean="0"/>
              <a:t>Customer </a:t>
            </a:r>
            <a:r>
              <a:rPr lang="en-US" dirty="0"/>
              <a:t>experience is paramount, and a well-designed contact center can significantly impact customer satisfaction. </a:t>
            </a:r>
          </a:p>
          <a:p>
            <a:pPr fontAlgn="ctr"/>
            <a:r>
              <a:rPr lang="en-US" dirty="0"/>
              <a:t>Utilizing design thinking principles can lead to innovative solutions that address the root causes of customer service challenges. </a:t>
            </a:r>
          </a:p>
          <a:p>
            <a:r>
              <a:rPr lang="en-US" dirty="0"/>
              <a:t>Technology plays a crucial role in enabling efficient agent workflows and enhancing customer interactions. </a:t>
            </a:r>
          </a:p>
          <a:p>
            <a:endParaRPr lang="en-IN" dirty="0"/>
          </a:p>
        </p:txBody>
      </p:sp>
    </p:spTree>
    <p:extLst>
      <p:ext uri="{BB962C8B-B14F-4D97-AF65-F5344CB8AC3E}">
        <p14:creationId xmlns:p14="http://schemas.microsoft.com/office/powerpoint/2010/main" val="3452598699"/>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Asian Paints case study</a:t>
            </a:r>
            <a:endParaRPr lang="en-IN" dirty="0"/>
          </a:p>
        </p:txBody>
      </p:sp>
      <p:sp>
        <p:nvSpPr>
          <p:cNvPr id="3" name="Content Placeholder 2"/>
          <p:cNvSpPr>
            <a:spLocks noGrp="1"/>
          </p:cNvSpPr>
          <p:nvPr>
            <p:ph idx="1"/>
          </p:nvPr>
        </p:nvSpPr>
        <p:spPr/>
        <p:txBody>
          <a:bodyPr>
            <a:normAutofit fontScale="62500" lnSpcReduction="20000"/>
          </a:bodyPr>
          <a:lstStyle/>
          <a:p>
            <a:r>
              <a:rPr lang="en-US" dirty="0" smtClean="0"/>
              <a:t>Revolutionized distribution by involving village depots. Rural to urban approach rather than the other way around.</a:t>
            </a:r>
          </a:p>
          <a:p>
            <a:r>
              <a:rPr lang="en-US" dirty="0" smtClean="0"/>
              <a:t>Introduced a new product filling the gap between cheap distemper and costly emulsion.</a:t>
            </a:r>
          </a:p>
          <a:p>
            <a:r>
              <a:rPr lang="en-US" dirty="0" smtClean="0"/>
              <a:t>Employed marketing to a great extent.</a:t>
            </a:r>
          </a:p>
          <a:p>
            <a:r>
              <a:rPr lang="en-US" dirty="0" smtClean="0"/>
              <a:t>Built a world class supply chain.</a:t>
            </a:r>
          </a:p>
          <a:p>
            <a:r>
              <a:rPr lang="en-US" dirty="0" smtClean="0"/>
              <a:t>Gave incentives to dealers.</a:t>
            </a:r>
          </a:p>
          <a:p>
            <a:r>
              <a:rPr lang="en-US" dirty="0" smtClean="0"/>
              <a:t>First to employ super computers in India to forecast supply and demand and also to track trucks.</a:t>
            </a:r>
          </a:p>
          <a:p>
            <a:r>
              <a:rPr lang="en-US" dirty="0" smtClean="0"/>
              <a:t>Removed all middlemen, dealt with dealers directly.</a:t>
            </a:r>
          </a:p>
          <a:p>
            <a:r>
              <a:rPr lang="en-US" dirty="0" smtClean="0"/>
              <a:t>Treated dealers as their family and helped them out during their distress.</a:t>
            </a:r>
          </a:p>
          <a:p>
            <a:r>
              <a:rPr lang="en-US" dirty="0" smtClean="0"/>
              <a:t>Presently, Asian paint portals are the best and have good support teams to cater to customers.</a:t>
            </a:r>
          </a:p>
          <a:p>
            <a:r>
              <a:rPr lang="en-US" dirty="0" smtClean="0"/>
              <a:t>Incredible levels of consistency. </a:t>
            </a:r>
          </a:p>
          <a:p>
            <a:r>
              <a:rPr lang="en-US" dirty="0" smtClean="0"/>
              <a:t>Adoption of Technology,</a:t>
            </a:r>
          </a:p>
          <a:p>
            <a:r>
              <a:rPr lang="en-US" dirty="0" smtClean="0"/>
              <a:t>New marketing </a:t>
            </a:r>
            <a:r>
              <a:rPr lang="en-US" dirty="0" err="1" smtClean="0"/>
              <a:t>statregy</a:t>
            </a:r>
            <a:endParaRPr lang="en-US" dirty="0" smtClean="0"/>
          </a:p>
          <a:p>
            <a:r>
              <a:rPr lang="en-US" dirty="0" smtClean="0"/>
              <a:t>Dealing with the evolution to service oriented market.</a:t>
            </a:r>
          </a:p>
          <a:p>
            <a:endParaRPr lang="en-US" dirty="0" smtClean="0"/>
          </a:p>
          <a:p>
            <a:endParaRPr lang="en-IN" dirty="0"/>
          </a:p>
        </p:txBody>
      </p:sp>
    </p:spTree>
    <p:extLst>
      <p:ext uri="{BB962C8B-B14F-4D97-AF65-F5344CB8AC3E}">
        <p14:creationId xmlns:p14="http://schemas.microsoft.com/office/powerpoint/2010/main" val="3884595082"/>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Asian Paints case study</a:t>
            </a:r>
            <a:endParaRPr lang="en-IN" dirty="0"/>
          </a:p>
        </p:txBody>
      </p:sp>
      <p:sp>
        <p:nvSpPr>
          <p:cNvPr id="3" name="Content Placeholder 2"/>
          <p:cNvSpPr>
            <a:spLocks noGrp="1"/>
          </p:cNvSpPr>
          <p:nvPr>
            <p:ph idx="1"/>
          </p:nvPr>
        </p:nvSpPr>
        <p:spPr/>
        <p:txBody>
          <a:bodyPr>
            <a:normAutofit/>
          </a:bodyPr>
          <a:lstStyle/>
          <a:p>
            <a:r>
              <a:rPr lang="en-US" dirty="0"/>
              <a:t>Questions on “Asian Paints” story</a:t>
            </a:r>
            <a:endParaRPr lang="en-IN" dirty="0"/>
          </a:p>
          <a:p>
            <a:pPr lvl="0"/>
            <a:r>
              <a:rPr lang="en-US" dirty="0"/>
              <a:t>Over the course of 81 years, Asian Paints became a corporate force and India’s leading paint company.  Illustrate company’s growth strategy.</a:t>
            </a:r>
            <a:endParaRPr lang="en-IN" dirty="0"/>
          </a:p>
          <a:p>
            <a:pPr lvl="0"/>
            <a:r>
              <a:rPr lang="en-US" dirty="0"/>
              <a:t>Enumerate the strategies that Asian paints has evolved in the current day to keep its dominance in the paint industry.</a:t>
            </a:r>
            <a:endParaRPr lang="en-IN" dirty="0"/>
          </a:p>
          <a:p>
            <a:pPr lvl="0"/>
            <a:r>
              <a:rPr lang="en-US" dirty="0"/>
              <a:t>Discuss the strategies employed by Asian Paints with respect to their dealers.  What is it that they did differently compared to other paint companies.</a:t>
            </a:r>
            <a:endParaRPr lang="en-IN" dirty="0"/>
          </a:p>
          <a:p>
            <a:pPr lvl="0"/>
            <a:r>
              <a:rPr lang="en-US" dirty="0"/>
              <a:t>With respect to tinting machines, elaborate on the strategy used by Asian paints to keep their dominance intact.</a:t>
            </a:r>
            <a:endParaRPr lang="en-IN" dirty="0"/>
          </a:p>
          <a:p>
            <a:endParaRPr lang="en-IN" dirty="0"/>
          </a:p>
        </p:txBody>
      </p:sp>
    </p:spTree>
    <p:extLst>
      <p:ext uri="{BB962C8B-B14F-4D97-AF65-F5344CB8AC3E}">
        <p14:creationId xmlns:p14="http://schemas.microsoft.com/office/powerpoint/2010/main" val="3806500956"/>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Amul</a:t>
            </a:r>
            <a:r>
              <a:rPr lang="en-US" dirty="0" smtClean="0"/>
              <a:t> Case study</a:t>
            </a:r>
            <a:endParaRPr lang="en-IN" dirty="0"/>
          </a:p>
        </p:txBody>
      </p:sp>
      <p:sp>
        <p:nvSpPr>
          <p:cNvPr id="3" name="Content Placeholder 2"/>
          <p:cNvSpPr>
            <a:spLocks noGrp="1"/>
          </p:cNvSpPr>
          <p:nvPr>
            <p:ph idx="1"/>
          </p:nvPr>
        </p:nvSpPr>
        <p:spPr/>
        <p:txBody>
          <a:bodyPr>
            <a:normAutofit lnSpcReduction="10000"/>
          </a:bodyPr>
          <a:lstStyle/>
          <a:p>
            <a:r>
              <a:rPr lang="en-IN" dirty="0" smtClean="0">
                <a:hlinkClick r:id="rId2"/>
              </a:rPr>
              <a:t>https://www.youtube.com/watch?v=nnwqtZiYMxQ</a:t>
            </a:r>
            <a:endParaRPr lang="en-IN" dirty="0" smtClean="0"/>
          </a:p>
          <a:p>
            <a:r>
              <a:rPr lang="en-US" dirty="0" smtClean="0"/>
              <a:t>Standout points of the </a:t>
            </a:r>
            <a:r>
              <a:rPr lang="en-US" dirty="0" err="1" smtClean="0"/>
              <a:t>Amul</a:t>
            </a:r>
            <a:r>
              <a:rPr lang="en-US" dirty="0" smtClean="0"/>
              <a:t> story</a:t>
            </a:r>
          </a:p>
          <a:p>
            <a:r>
              <a:rPr lang="en-US" dirty="0" smtClean="0"/>
              <a:t>Extraordinary supply chain</a:t>
            </a:r>
          </a:p>
          <a:p>
            <a:r>
              <a:rPr lang="en-US" dirty="0" smtClean="0"/>
              <a:t>Prepared for surge in supply because they expected a change in consumer behavior</a:t>
            </a:r>
          </a:p>
          <a:p>
            <a:r>
              <a:rPr lang="en-US" dirty="0" smtClean="0"/>
              <a:t>Household consumption skyrocketed</a:t>
            </a:r>
          </a:p>
          <a:p>
            <a:r>
              <a:rPr lang="en-US" dirty="0" smtClean="0"/>
              <a:t>Health conscious people started to buy packaged milk instead of loose milk</a:t>
            </a:r>
          </a:p>
          <a:p>
            <a:r>
              <a:rPr lang="en-US" dirty="0" smtClean="0"/>
              <a:t>Cheese, </a:t>
            </a:r>
            <a:r>
              <a:rPr lang="en-US" dirty="0" err="1" smtClean="0"/>
              <a:t>paneer</a:t>
            </a:r>
            <a:r>
              <a:rPr lang="en-US" dirty="0" smtClean="0"/>
              <a:t> and condensed milk demands soared since home cooking was the mainstay due to lockdown no </a:t>
            </a:r>
            <a:r>
              <a:rPr lang="en-US" dirty="0" err="1" smtClean="0"/>
              <a:t>restuarants</a:t>
            </a:r>
            <a:endParaRPr lang="en-US" dirty="0" smtClean="0"/>
          </a:p>
          <a:p>
            <a:endParaRPr lang="en-US" dirty="0"/>
          </a:p>
          <a:p>
            <a:endParaRPr lang="en-IN" dirty="0"/>
          </a:p>
        </p:txBody>
      </p:sp>
    </p:spTree>
    <p:extLst>
      <p:ext uri="{BB962C8B-B14F-4D97-AF65-F5344CB8AC3E}">
        <p14:creationId xmlns:p14="http://schemas.microsoft.com/office/powerpoint/2010/main" val="2829115197"/>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a:bodyPr>
          <a:lstStyle/>
          <a:p>
            <a:r>
              <a:rPr lang="en-US" dirty="0" smtClean="0"/>
              <a:t>Used railways for transportation of milk since trucks were not functioning.</a:t>
            </a:r>
          </a:p>
          <a:p>
            <a:r>
              <a:rPr lang="en-US" dirty="0" smtClean="0"/>
              <a:t>Strategic partnership with IBM by investing 80 </a:t>
            </a:r>
            <a:r>
              <a:rPr lang="en-US" dirty="0" err="1" smtClean="0"/>
              <a:t>crores</a:t>
            </a:r>
            <a:r>
              <a:rPr lang="en-US" dirty="0" smtClean="0"/>
              <a:t> which oversaw the entire supply chain from plants functioning to idle trucks</a:t>
            </a:r>
          </a:p>
          <a:p>
            <a:r>
              <a:rPr lang="en-US" dirty="0" smtClean="0"/>
              <a:t>Paid incentives for workers. Also arranged for food and stay.</a:t>
            </a:r>
          </a:p>
          <a:p>
            <a:r>
              <a:rPr lang="en-US" dirty="0" smtClean="0"/>
              <a:t>Procured milk from farmers who were supplying earlier to restaurants.</a:t>
            </a:r>
          </a:p>
          <a:p>
            <a:r>
              <a:rPr lang="en-US" dirty="0" smtClean="0"/>
              <a:t>Used delivery portals like </a:t>
            </a:r>
            <a:r>
              <a:rPr lang="en-US" dirty="0" err="1" smtClean="0"/>
              <a:t>bigbasket</a:t>
            </a:r>
            <a:r>
              <a:rPr lang="en-US" dirty="0" smtClean="0"/>
              <a:t>, </a:t>
            </a:r>
            <a:r>
              <a:rPr lang="en-US" dirty="0" err="1" smtClean="0"/>
              <a:t>zomato</a:t>
            </a:r>
            <a:r>
              <a:rPr lang="en-US" dirty="0" smtClean="0"/>
              <a:t>, </a:t>
            </a:r>
            <a:r>
              <a:rPr lang="en-US" dirty="0" err="1" smtClean="0"/>
              <a:t>flipkart</a:t>
            </a:r>
            <a:r>
              <a:rPr lang="en-US" dirty="0" smtClean="0"/>
              <a:t> for delivering their goods.</a:t>
            </a:r>
          </a:p>
          <a:p>
            <a:r>
              <a:rPr lang="en-US" dirty="0" smtClean="0"/>
              <a:t>Increased their marketing presence to a large extent.</a:t>
            </a:r>
          </a:p>
          <a:p>
            <a:endParaRPr lang="en-IN" dirty="0"/>
          </a:p>
        </p:txBody>
      </p:sp>
    </p:spTree>
    <p:extLst>
      <p:ext uri="{BB962C8B-B14F-4D97-AF65-F5344CB8AC3E}">
        <p14:creationId xmlns:p14="http://schemas.microsoft.com/office/powerpoint/2010/main" val="740405324"/>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Why AMUL succeeded</a:t>
            </a:r>
            <a:br>
              <a:rPr lang="en-US" dirty="0" smtClean="0"/>
            </a:br>
            <a:endParaRPr lang="en-IN" dirty="0"/>
          </a:p>
        </p:txBody>
      </p:sp>
      <p:sp>
        <p:nvSpPr>
          <p:cNvPr id="3" name="Content Placeholder 2"/>
          <p:cNvSpPr>
            <a:spLocks noGrp="1"/>
          </p:cNvSpPr>
          <p:nvPr>
            <p:ph idx="1"/>
          </p:nvPr>
        </p:nvSpPr>
        <p:spPr/>
        <p:txBody>
          <a:bodyPr/>
          <a:lstStyle/>
          <a:p>
            <a:r>
              <a:rPr lang="en-US" dirty="0" smtClean="0"/>
              <a:t>Foresight of consumer behavior</a:t>
            </a:r>
          </a:p>
          <a:p>
            <a:r>
              <a:rPr lang="en-US" dirty="0" smtClean="0"/>
              <a:t>Agile supply chain management</a:t>
            </a:r>
          </a:p>
          <a:p>
            <a:r>
              <a:rPr lang="en-US" dirty="0" smtClean="0"/>
              <a:t>Digital transformation</a:t>
            </a:r>
          </a:p>
          <a:p>
            <a:r>
              <a:rPr lang="en-US" dirty="0" smtClean="0"/>
              <a:t>Third party coordination</a:t>
            </a:r>
          </a:p>
          <a:p>
            <a:r>
              <a:rPr lang="en-US" dirty="0" smtClean="0"/>
              <a:t>Incentives for workers</a:t>
            </a:r>
          </a:p>
          <a:p>
            <a:r>
              <a:rPr lang="en-US" dirty="0" smtClean="0"/>
              <a:t>Strategic marketing</a:t>
            </a:r>
            <a:endParaRPr lang="en-IN" dirty="0"/>
          </a:p>
        </p:txBody>
      </p:sp>
    </p:spTree>
    <p:extLst>
      <p:ext uri="{BB962C8B-B14F-4D97-AF65-F5344CB8AC3E}">
        <p14:creationId xmlns:p14="http://schemas.microsoft.com/office/powerpoint/2010/main" val="2267290136"/>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What did AMUL do right</a:t>
            </a:r>
            <a:endParaRPr lang="en-IN" dirty="0"/>
          </a:p>
        </p:txBody>
      </p:sp>
      <p:sp>
        <p:nvSpPr>
          <p:cNvPr id="3" name="Content Placeholder 2"/>
          <p:cNvSpPr>
            <a:spLocks noGrp="1"/>
          </p:cNvSpPr>
          <p:nvPr>
            <p:ph idx="1"/>
          </p:nvPr>
        </p:nvSpPr>
        <p:spPr/>
        <p:txBody>
          <a:bodyPr/>
          <a:lstStyle/>
          <a:p>
            <a:r>
              <a:rPr lang="en-US" dirty="0" smtClean="0"/>
              <a:t>Embraced risk with open arms.</a:t>
            </a:r>
          </a:p>
          <a:p>
            <a:r>
              <a:rPr lang="en-US" dirty="0" smtClean="0"/>
              <a:t>Resourcefulness: 80 </a:t>
            </a:r>
            <a:r>
              <a:rPr lang="en-US" dirty="0" err="1" smtClean="0"/>
              <a:t>crores</a:t>
            </a:r>
            <a:r>
              <a:rPr lang="en-US" dirty="0" smtClean="0"/>
              <a:t> investment with IBM</a:t>
            </a:r>
          </a:p>
          <a:p>
            <a:r>
              <a:rPr lang="en-US" dirty="0" smtClean="0"/>
              <a:t>Used the pandemic as a </a:t>
            </a:r>
            <a:r>
              <a:rPr lang="en-US" dirty="0" err="1" smtClean="0"/>
              <a:t>goldedn</a:t>
            </a:r>
            <a:r>
              <a:rPr lang="en-US" dirty="0" smtClean="0"/>
              <a:t> opportunity to expand their business.</a:t>
            </a:r>
          </a:p>
          <a:p>
            <a:r>
              <a:rPr lang="en-US" dirty="0" smtClean="0"/>
              <a:t>Incentives to front end workers</a:t>
            </a:r>
          </a:p>
          <a:p>
            <a:endParaRPr lang="en-IN" dirty="0"/>
          </a:p>
        </p:txBody>
      </p:sp>
    </p:spTree>
    <p:extLst>
      <p:ext uri="{BB962C8B-B14F-4D97-AF65-F5344CB8AC3E}">
        <p14:creationId xmlns:p14="http://schemas.microsoft.com/office/powerpoint/2010/main" val="2339432190"/>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US" dirty="0" smtClean="0"/>
              <a:t>AMUL company was successful during pandemic. Criticize the statement with design thinking approach</a:t>
            </a:r>
            <a:endParaRPr lang="en-IN" dirty="0"/>
          </a:p>
        </p:txBody>
      </p:sp>
    </p:spTree>
    <p:extLst>
      <p:ext uri="{BB962C8B-B14F-4D97-AF65-F5344CB8AC3E}">
        <p14:creationId xmlns:p14="http://schemas.microsoft.com/office/powerpoint/2010/main" val="1872462416"/>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Smart Village case study</a:t>
            </a:r>
            <a:endParaRPr lang="en-IN" dirty="0"/>
          </a:p>
        </p:txBody>
      </p:sp>
      <p:sp>
        <p:nvSpPr>
          <p:cNvPr id="3" name="Content Placeholder 2"/>
          <p:cNvSpPr>
            <a:spLocks noGrp="1"/>
          </p:cNvSpPr>
          <p:nvPr>
            <p:ph idx="1"/>
          </p:nvPr>
        </p:nvSpPr>
        <p:spPr/>
        <p:txBody>
          <a:bodyPr/>
          <a:lstStyle/>
          <a:p>
            <a:r>
              <a:rPr lang="en-US" dirty="0" smtClean="0"/>
              <a:t>Enumerate the components of a smart village.</a:t>
            </a:r>
          </a:p>
          <a:p>
            <a:r>
              <a:rPr lang="en-US" dirty="0" smtClean="0"/>
              <a:t>What are the key takeaways from the Prototype of Smart Village case study?</a:t>
            </a:r>
            <a:endParaRPr lang="en-IN" dirty="0"/>
          </a:p>
        </p:txBody>
      </p:sp>
    </p:spTree>
    <p:extLst>
      <p:ext uri="{BB962C8B-B14F-4D97-AF65-F5344CB8AC3E}">
        <p14:creationId xmlns:p14="http://schemas.microsoft.com/office/powerpoint/2010/main" val="41447423"/>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Ion Boardroom">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8F8F8F"/>
      </a:hlink>
      <a:folHlink>
        <a:srgbClr val="A5A5A5"/>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B8502691-933B-45FE-8764-BA278511EF27}"/>
    </a:ext>
  </a:extLst>
</a:theme>
</file>

<file path=docProps/app.xml><?xml version="1.0" encoding="utf-8"?>
<Properties xmlns="http://schemas.openxmlformats.org/officeDocument/2006/extended-properties" xmlns:vt="http://schemas.openxmlformats.org/officeDocument/2006/docPropsVTypes">
  <Template>Ion Boardroom</Template>
  <TotalTime>165</TotalTime>
  <Words>1062</Words>
  <Application>Microsoft Office PowerPoint</Application>
  <PresentationFormat>Widescreen</PresentationFormat>
  <Paragraphs>110</Paragraphs>
  <Slides>17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Arial</vt:lpstr>
      <vt:lpstr>Century Gothic</vt:lpstr>
      <vt:lpstr>Wingdings 3</vt:lpstr>
      <vt:lpstr>Ion Boardroom</vt:lpstr>
      <vt:lpstr>Case studies</vt:lpstr>
      <vt:lpstr>The Good Kitchen</vt:lpstr>
      <vt:lpstr>Important points from video</vt:lpstr>
      <vt:lpstr>PowerPoint Presentation</vt:lpstr>
      <vt:lpstr>Sample questions</vt:lpstr>
      <vt:lpstr>Good kitchen case study (Explain any two in detail – 5 marks each) </vt:lpstr>
      <vt:lpstr>Toyota Customer Care</vt:lpstr>
      <vt:lpstr>"Redesigning the Customer Contact Center at Toyota</vt:lpstr>
      <vt:lpstr>Key takeaways: </vt:lpstr>
      <vt:lpstr>Asian Paints case study</vt:lpstr>
      <vt:lpstr>Asian Paints case study</vt:lpstr>
      <vt:lpstr>Amul Case study</vt:lpstr>
      <vt:lpstr>PowerPoint Presentation</vt:lpstr>
      <vt:lpstr>Why AMUL succeeded </vt:lpstr>
      <vt:lpstr>What did AMUL do right</vt:lpstr>
      <vt:lpstr>PowerPoint Presentation</vt:lpstr>
      <vt:lpstr>Smart Village case study</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Case studies</dc:title>
  <dc:creator>LAKSHMI</dc:creator>
  <cp:lastModifiedBy>LAKSHMI</cp:lastModifiedBy>
  <cp:revision>20</cp:revision>
  <dcterms:created xsi:type="dcterms:W3CDTF">2025-01-16T05:25:23Z</dcterms:created>
  <dcterms:modified xsi:type="dcterms:W3CDTF">2025-01-16T08:11:05Z</dcterms:modified>
</cp:coreProperties>
</file>