
<file path=[Content_Types].xml><?xml version="1.0" encoding="utf-8"?>
<Types xmlns="http://schemas.openxmlformats.org/package/2006/content-types">
  <Default ContentType="application/vnd.openxmlformats-officedocument.vmlDrawing" Extension="vml"/>
  <Default ContentType="application/vnd.openxmlformats-officedocument.oleObject" Extension="bin"/>
  <Default ContentType="application/xml" Extension="xml"/>
  <Default ContentType="image/png" Extension="png"/>
  <Default ContentType="application/vnd.openxmlformats-package.relationships+xml" Extension="rels"/>
  <Default ContentType="image/x-emf" Extension="emf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1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13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7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y="6858000" cx="9144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1.xml><?xml version="1.0" encoding="utf-8"?>
<a:tblStyleLst xmlns:a="http://schemas.openxmlformats.org/drawingml/2006/main" xmlns:r="http://schemas.openxmlformats.org/officeDocument/2006/relationships" def="{90651C3A-4460-11DB-9652-00E08161165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cmpd="sng" w="12700">
              <a:solidFill>
                <a:schemeClr val="lt1"/>
              </a:solidFill>
            </a:ln>
          </a:left>
          <a:right>
            <a:ln cmpd="sng" w="12700">
              <a:solidFill>
                <a:schemeClr val="lt1"/>
              </a:solidFill>
            </a:ln>
          </a:right>
          <a:top>
            <a:ln cmpd="sng" w="12700">
              <a:solidFill>
                <a:schemeClr val="lt1"/>
              </a:solidFill>
            </a:ln>
          </a:top>
          <a:bottom>
            <a:ln cmpd="sng" w="12700">
              <a:solidFill>
                <a:schemeClr val="lt1"/>
              </a:solidFill>
            </a:ln>
          </a:bottom>
          <a:insideH>
            <a:ln cmpd="sng" w="12700">
              <a:solidFill>
                <a:schemeClr val="lt1"/>
              </a:solidFill>
            </a:ln>
          </a:insideH>
          <a:insideV>
            <a:ln cmpd="sng"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cmpd="sng"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cmpd="sng"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tableStyles" Target="tableStyles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7921CA-5C4B-431C-BE99-18BEF13F24F9}" type="datetimeFigureOut">
              <a:rPr lang="en-US" smtClean="0"/>
              <a:pPr/>
              <a:t>2/24/2020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CF7BF2-B6BF-477F-85EF-DDBE8E0B5F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09380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81313" y="523875"/>
            <a:ext cx="3511550" cy="2633663"/>
          </a:xfrm>
          <a:ln/>
        </p:spPr>
      </p:sp>
      <p:sp>
        <p:nvSpPr>
          <p:cNvPr id="296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36663" y="3332163"/>
            <a:ext cx="6796087" cy="3163887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61" tIns="47531" rIns="95061" bIns="47531"/>
          <a:lstStyle/>
          <a:p>
            <a:endParaRPr lang="en-US" altLang="en-US" smtClean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66826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B8722-3643-444F-9399-02583FF72C4B}" type="datetime1">
              <a:rPr lang="en-US" smtClean="0"/>
              <a:pPr/>
              <a:t>2/24/2020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510A5-C2A5-467A-B61C-D65436A459C0}" type="datetime1">
              <a:rPr lang="en-US" smtClean="0"/>
              <a:pPr/>
              <a:t>2/24/2020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14284-8376-465E-87CC-CF4EB6DFF5DA}" type="datetime1">
              <a:rPr lang="en-US" smtClean="0"/>
              <a:pPr/>
              <a:t>2/24/2020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2CB17-606D-4341-B6C4-4DC042F3EF7C}" type="datetime1">
              <a:rPr lang="en-US" smtClean="0"/>
              <a:pPr/>
              <a:t>2/24/2020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B87A0-D517-409F-8813-505C513223FC}" type="datetime1">
              <a:rPr lang="en-US" smtClean="0"/>
              <a:pPr/>
              <a:t>2/24/2020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EDCBB-48C4-43E5-8BFE-A1574A670DEE}" type="datetime1">
              <a:rPr lang="en-US" smtClean="0"/>
              <a:pPr/>
              <a:t>2/24/2020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FE840-B016-4923-857A-7CDD4FD1B4F9}" type="datetime1">
              <a:rPr lang="en-US" smtClean="0"/>
              <a:pPr/>
              <a:t>2/24/2020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A7D19-D949-4C5F-A59A-A17F0E4FE2F4}" type="datetime1">
              <a:rPr lang="en-US" smtClean="0"/>
              <a:pPr/>
              <a:t>2/24/2020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66DE1-D2A2-40A2-93F5-271E77E12A15}" type="datetime1">
              <a:rPr lang="en-US" smtClean="0"/>
              <a:pPr/>
              <a:t>2/24/2020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E4FCA-10B9-4972-8BDC-6DD873A4936F}" type="datetime1">
              <a:rPr lang="en-US" smtClean="0"/>
              <a:pPr/>
              <a:t>2/24/2020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A3B74-E28E-49B0-A86C-31851AC60701}" type="datetime1">
              <a:rPr lang="en-US" smtClean="0"/>
              <a:pPr/>
              <a:t>2/24/2020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EA7B08-99ED-4BF7-BA4E-B69620950548}" type="datetime1">
              <a:rPr lang="en-US" smtClean="0"/>
              <a:pPr/>
              <a:t>2/24/2020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B5884E-CF01-4077-9986-05D7C16A1A3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2209800"/>
            <a:ext cx="8610600" cy="1470025"/>
          </a:xfrm>
        </p:spPr>
        <p:txBody>
          <a:bodyPr>
            <a:noAutofit/>
          </a:bodyPr>
          <a:lstStyle/>
          <a:p>
            <a:r>
              <a:rPr lang="en-US" sz="5500" b="1" dirty="0" smtClean="0">
                <a:latin typeface="Times New Roman" pitchFamily="18" charset="0"/>
                <a:cs typeface="Times New Roman" pitchFamily="18" charset="0"/>
              </a:rPr>
              <a:t>DIVIDE AND CONQUER</a:t>
            </a:r>
            <a:endParaRPr lang="en-US" sz="55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610600" cy="4525963"/>
          </a:xfrm>
        </p:spPr>
        <p:txBody>
          <a:bodyPr>
            <a:normAutofit/>
          </a:bodyPr>
          <a:lstStyle/>
          <a:p>
            <a:pPr algn="just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Divide-and-conquer refers to a class of algorithmic techniques in which one breaks the input into several parts, solves the problem in each part recursively, and then combines the solutions to these sub-problems into an overall solution.</a:t>
            </a:r>
          </a:p>
          <a:p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MERGE SORT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0999" y="1447800"/>
            <a:ext cx="8596847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MERGE SORT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7855" y="1447800"/>
            <a:ext cx="8571345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MERGE SORT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5000" y="2743200"/>
            <a:ext cx="5145403" cy="1042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MERGE SORT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2366963"/>
            <a:ext cx="7620000" cy="212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MERGE SORT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1643063"/>
            <a:ext cx="7620000" cy="357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MERGE SORT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1371600"/>
            <a:ext cx="7620000" cy="513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MERGE SORT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75" y="2328863"/>
            <a:ext cx="7715250" cy="2200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MERGE SORT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1676400"/>
            <a:ext cx="7715250" cy="361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MERGE SORT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1371600"/>
            <a:ext cx="7715250" cy="5153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84238"/>
          </a:xfrm>
        </p:spPr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MERGE SORT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4851" y="990601"/>
            <a:ext cx="7296150" cy="563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Times New Roman" pitchFamily="18" charset="0"/>
                <a:cs typeface="Times New Roman" pitchFamily="18" charset="0"/>
              </a:rPr>
              <a:t>MERGE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763000" cy="4953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Sort the following list using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Merge sort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13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913115857"/>
              </p:ext>
            </p:extLst>
          </p:nvPr>
        </p:nvGraphicFramePr>
        <p:xfrm>
          <a:off x="1219200" y="3048000"/>
          <a:ext cx="6857998" cy="99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9714"/>
                <a:gridCol w="979714"/>
                <a:gridCol w="979714"/>
                <a:gridCol w="979714"/>
                <a:gridCol w="979714"/>
                <a:gridCol w="979714"/>
                <a:gridCol w="979714"/>
              </a:tblGrid>
              <a:tr h="990600">
                <a:tc>
                  <a:txBody>
                    <a:bodyPr/>
                    <a:lstStyle/>
                    <a:p>
                      <a:pPr algn="ctr"/>
                      <a:r>
                        <a:rPr lang="en-US" sz="4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en-US" sz="4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4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4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en-US" sz="4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en-US" sz="4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endParaRPr lang="en-US" sz="4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en-US" sz="4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4219739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84238"/>
          </a:xfrm>
        </p:spPr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MERGE SORT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1066799"/>
            <a:ext cx="6934199" cy="5289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733717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09800"/>
            <a:ext cx="8229600" cy="1981200"/>
          </a:xfrm>
        </p:spPr>
        <p:txBody>
          <a:bodyPr>
            <a:normAutofit fontScale="90000"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MERGESORT</a:t>
            </a:r>
            <a:br>
              <a:rPr lang="en-US" sz="48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ANALYSIS</a:t>
            </a:r>
            <a:br>
              <a:rPr lang="en-US" sz="4800" b="1" dirty="0" smtClean="0">
                <a:latin typeface="Times New Roman" pitchFamily="18" charset="0"/>
                <a:cs typeface="Times New Roman" pitchFamily="18" charset="0"/>
              </a:rPr>
            </a:b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741994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APPROACHES TO SOLVE RECURSION</a:t>
            </a:r>
          </a:p>
          <a:p>
            <a:pPr marL="0" indent="0">
              <a:buNone/>
            </a:pPr>
            <a:endParaRPr lang="en-US" sz="36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3600" b="1" u="sng" dirty="0" smtClean="0">
                <a:latin typeface="Times New Roman" pitchFamily="18" charset="0"/>
                <a:cs typeface="Times New Roman" pitchFamily="18" charset="0"/>
              </a:rPr>
              <a:t>Approach 1: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Intuitive solution to recurrence is to “unroll” the recursion, accounting for the running time of first few levels.</a:t>
            </a:r>
          </a:p>
          <a:p>
            <a:pPr marL="514350" indent="-514350">
              <a:buFont typeface="+mj-lt"/>
              <a:buAutoNum type="arabicPeriod"/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Identify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 pattern that can be continued as 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recursion expands.</a:t>
            </a:r>
          </a:p>
          <a:p>
            <a:pPr marL="514350" indent="-514350">
              <a:buFont typeface="+mj-lt"/>
              <a:buAutoNum type="arabicPeriod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Sum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the running times over all levels of 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recursion and thereby arrives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at a total running time.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76744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6400800" y="5638800"/>
            <a:ext cx="1600200" cy="609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Step1: Analyze the first few levels.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1</a:t>
            </a:r>
            <a:r>
              <a:rPr lang="en-US" baseline="30000" dirty="0" smtClean="0">
                <a:latin typeface="Times New Roman" pitchFamily="18" charset="0"/>
                <a:cs typeface="Times New Roman" pitchFamily="18" charset="0"/>
              </a:rPr>
              <a:t>st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level of recursion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anose="05000000000000000000" pitchFamily="2" charset="2"/>
              </a:rPr>
              <a:t> Single problem of size n   O(n)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anose="05000000000000000000" pitchFamily="2" charset="2"/>
              </a:rPr>
              <a:t>2</a:t>
            </a:r>
            <a:r>
              <a:rPr lang="en-US" baseline="30000" dirty="0" smtClean="0">
                <a:latin typeface="Times New Roman" pitchFamily="18" charset="0"/>
                <a:cs typeface="Times New Roman" pitchFamily="18" charset="0"/>
                <a:sym typeface="Wingdings" panose="05000000000000000000" pitchFamily="2" charset="2"/>
              </a:rPr>
              <a:t>nd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level of recursion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anose="05000000000000000000" pitchFamily="2" charset="2"/>
              </a:rPr>
              <a:t> 2 problems each of size n/2   O(n/2)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baseline="30000" dirty="0" smtClean="0">
                <a:latin typeface="Times New Roman" pitchFamily="18" charset="0"/>
                <a:cs typeface="Times New Roman" pitchFamily="18" charset="0"/>
              </a:rPr>
              <a:t>rd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level of recursion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anose="05000000000000000000" pitchFamily="2" charset="2"/>
              </a:rPr>
              <a:t> 4 problems each of size n/4   O(n/4)</a:t>
            </a:r>
          </a:p>
          <a:p>
            <a:pPr lvl="1"/>
            <a:endParaRPr lang="en-US" dirty="0">
              <a:latin typeface="Times New Roman" pitchFamily="18" charset="0"/>
              <a:cs typeface="Times New Roman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  <a:sym typeface="Wingdings" panose="05000000000000000000" pitchFamily="2" charset="2"/>
              </a:rPr>
              <a:t>Step 2: Identifying the pattern.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anose="05000000000000000000" pitchFamily="2" charset="2"/>
              </a:rPr>
              <a:t>At level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j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recursion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the number of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subproblems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are now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 total of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b="1" baseline="30000" dirty="0">
                <a:latin typeface="Times New Roman" pitchFamily="18" charset="0"/>
                <a:cs typeface="Times New Roman" pitchFamily="18" charset="0"/>
              </a:rPr>
              <a:t>j </a:t>
            </a:r>
            <a:endParaRPr lang="en-US" b="1" baseline="30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baseline="30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baseline="30000" dirty="0" smtClean="0">
                <a:latin typeface="Times New Roman" pitchFamily="18" charset="0"/>
                <a:cs typeface="Times New Roman" pitchFamily="18" charset="0"/>
              </a:rPr>
              <a:t>Each problem has shrunk in size by factor of 2 “j”  time </a:t>
            </a:r>
            <a:r>
              <a:rPr lang="en-US" sz="4400" baseline="30000" dirty="0" smtClean="0">
                <a:latin typeface="Times New Roman" pitchFamily="18" charset="0"/>
                <a:cs typeface="Times New Roman" pitchFamily="18" charset="0"/>
                <a:sym typeface="Wingdings" panose="05000000000000000000" pitchFamily="2" charset="2"/>
              </a:rPr>
              <a:t> n/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b="1" baseline="30000" dirty="0" smtClean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sz="4400" b="1" baseline="30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4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  <a:sym typeface="Wingdings" panose="05000000000000000000" pitchFamily="2" charset="2"/>
              </a:rPr>
              <a:t>Step 3: Summing overall levels of recursion.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anose="05000000000000000000" pitchFamily="2" charset="2"/>
              </a:rPr>
              <a:t>The number of times the input must be halved to reduce the size of n to 2 is       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  <a:sym typeface="Wingdings" panose="05000000000000000000" pitchFamily="2" charset="2"/>
              </a:rPr>
              <a:t>log n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anose="05000000000000000000" pitchFamily="2" charset="2"/>
              </a:rPr>
              <a:t> There are totally “n” levels of recursion 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  <a:sym typeface="Wingdings" panose="05000000000000000000" pitchFamily="2" charset="2"/>
              </a:rPr>
              <a:t>O( n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  <a:sym typeface="Wingdings" panose="05000000000000000000" pitchFamily="2" charset="2"/>
              </a:rPr>
              <a:t>logn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  <a:sym typeface="Wingdings" panose="05000000000000000000" pitchFamily="2" charset="2"/>
              </a:rPr>
              <a:t>)</a:t>
            </a:r>
          </a:p>
          <a:p>
            <a:pPr lvl="1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52914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fld id="{366B498C-FF00-4828-A8B7-6978D1DA18A7}" type="slidenum">
              <a:rPr lang="en-US" altLang="en-US" sz="800"/>
              <a:pPr/>
              <a:t>18</a:t>
            </a:fld>
            <a:endParaRPr lang="en-US" altLang="en-US" sz="1400"/>
          </a:p>
        </p:txBody>
      </p:sp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652760" y="-44980"/>
            <a:ext cx="7886700" cy="1325563"/>
          </a:xfrm>
        </p:spPr>
        <p:txBody>
          <a:bodyPr/>
          <a:lstStyle/>
          <a:p>
            <a:r>
              <a:rPr lang="en-US" altLang="en-US" dirty="0" smtClean="0"/>
              <a:t> </a:t>
            </a:r>
          </a:p>
        </p:txBody>
      </p:sp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3494485" y="2438400"/>
            <a:ext cx="714375" cy="339196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0" lang="en-US" altLang="en-US"/>
              <a:t>T(n)</a:t>
            </a:r>
          </a:p>
        </p:txBody>
      </p:sp>
      <p:sp>
        <p:nvSpPr>
          <p:cNvPr id="28676" name="Text Box 4"/>
          <p:cNvSpPr txBox="1">
            <a:spLocks noChangeArrowheads="1"/>
          </p:cNvSpPr>
          <p:nvPr/>
        </p:nvSpPr>
        <p:spPr bwMode="auto">
          <a:xfrm>
            <a:off x="4514850" y="3241675"/>
            <a:ext cx="685800" cy="585418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0" lang="en-US" altLang="en-US"/>
              <a:t>T(n/2)</a:t>
            </a:r>
          </a:p>
        </p:txBody>
      </p:sp>
      <p:sp>
        <p:nvSpPr>
          <p:cNvPr id="28677" name="Text Box 5"/>
          <p:cNvSpPr txBox="1">
            <a:spLocks noChangeArrowheads="1"/>
          </p:cNvSpPr>
          <p:nvPr/>
        </p:nvSpPr>
        <p:spPr bwMode="auto">
          <a:xfrm>
            <a:off x="2525316" y="3254375"/>
            <a:ext cx="675084" cy="585418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0" lang="en-US" altLang="en-US"/>
              <a:t>T(n/2)</a:t>
            </a:r>
          </a:p>
        </p:txBody>
      </p:sp>
      <p:cxnSp>
        <p:nvCxnSpPr>
          <p:cNvPr id="28678" name="AutoShape 6"/>
          <p:cNvCxnSpPr>
            <a:cxnSpLocks noChangeShapeType="1"/>
            <a:stCxn id="28675" idx="2"/>
            <a:endCxn id="28677" idx="0"/>
          </p:cNvCxnSpPr>
          <p:nvPr/>
        </p:nvCxnSpPr>
        <p:spPr bwMode="auto">
          <a:xfrm rot="5400000">
            <a:off x="3118877" y="2521578"/>
            <a:ext cx="476779" cy="98881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8679" name="AutoShape 7"/>
          <p:cNvCxnSpPr>
            <a:cxnSpLocks noChangeShapeType="1"/>
            <a:stCxn id="28675" idx="2"/>
            <a:endCxn id="28676" idx="0"/>
          </p:cNvCxnSpPr>
          <p:nvPr/>
        </p:nvCxnSpPr>
        <p:spPr bwMode="auto">
          <a:xfrm rot="16200000" flipH="1">
            <a:off x="4122672" y="2506596"/>
            <a:ext cx="464079" cy="100607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8680" name="Text Box 8"/>
          <p:cNvSpPr txBox="1">
            <a:spLocks noChangeArrowheads="1"/>
          </p:cNvSpPr>
          <p:nvPr/>
        </p:nvSpPr>
        <p:spPr bwMode="auto">
          <a:xfrm>
            <a:off x="4974432" y="4003675"/>
            <a:ext cx="683419" cy="585418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0" lang="en-US" altLang="en-US"/>
              <a:t>T(n/4)</a:t>
            </a:r>
          </a:p>
        </p:txBody>
      </p:sp>
      <p:sp>
        <p:nvSpPr>
          <p:cNvPr id="28681" name="Text Box 9"/>
          <p:cNvSpPr txBox="1">
            <a:spLocks noChangeArrowheads="1"/>
          </p:cNvSpPr>
          <p:nvPr/>
        </p:nvSpPr>
        <p:spPr bwMode="auto">
          <a:xfrm>
            <a:off x="4000500" y="4016375"/>
            <a:ext cx="667941" cy="585418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0" lang="en-US" altLang="en-US" dirty="0"/>
              <a:t>T(n/4)</a:t>
            </a:r>
          </a:p>
        </p:txBody>
      </p:sp>
      <p:cxnSp>
        <p:nvCxnSpPr>
          <p:cNvPr id="28682" name="AutoShape 10"/>
          <p:cNvCxnSpPr>
            <a:cxnSpLocks noChangeShapeType="1"/>
            <a:stCxn id="28676" idx="2"/>
            <a:endCxn id="28681" idx="0"/>
          </p:cNvCxnSpPr>
          <p:nvPr/>
        </p:nvCxnSpPr>
        <p:spPr bwMode="auto">
          <a:xfrm rot="5400000">
            <a:off x="4501470" y="3660095"/>
            <a:ext cx="189282" cy="52327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8683" name="AutoShape 11"/>
          <p:cNvCxnSpPr>
            <a:cxnSpLocks noChangeShapeType="1"/>
            <a:stCxn id="28676" idx="2"/>
            <a:endCxn id="28680" idx="0"/>
          </p:cNvCxnSpPr>
          <p:nvPr/>
        </p:nvCxnSpPr>
        <p:spPr bwMode="auto">
          <a:xfrm rot="16200000" flipH="1">
            <a:off x="4998655" y="3686188"/>
            <a:ext cx="176582" cy="45839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8684" name="Text Box 12"/>
          <p:cNvSpPr txBox="1">
            <a:spLocks noChangeArrowheads="1"/>
          </p:cNvSpPr>
          <p:nvPr/>
        </p:nvSpPr>
        <p:spPr bwMode="auto">
          <a:xfrm>
            <a:off x="1828800" y="4003675"/>
            <a:ext cx="696516" cy="585418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0" lang="en-US" altLang="en-US"/>
              <a:t>T(n/4)</a:t>
            </a:r>
          </a:p>
        </p:txBody>
      </p:sp>
      <p:cxnSp>
        <p:nvCxnSpPr>
          <p:cNvPr id="28685" name="AutoShape 13"/>
          <p:cNvCxnSpPr>
            <a:cxnSpLocks noChangeShapeType="1"/>
            <a:stCxn id="28677" idx="2"/>
            <a:endCxn id="28684" idx="0"/>
          </p:cNvCxnSpPr>
          <p:nvPr/>
        </p:nvCxnSpPr>
        <p:spPr bwMode="auto">
          <a:xfrm rot="5400000">
            <a:off x="2438017" y="3578834"/>
            <a:ext cx="163882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8686" name="Text Box 14"/>
          <p:cNvSpPr txBox="1">
            <a:spLocks noChangeArrowheads="1"/>
          </p:cNvSpPr>
          <p:nvPr/>
        </p:nvSpPr>
        <p:spPr bwMode="auto">
          <a:xfrm>
            <a:off x="2983707" y="4003675"/>
            <a:ext cx="673894" cy="585418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0" lang="en-US" altLang="en-US"/>
              <a:t>T(n/4)</a:t>
            </a:r>
          </a:p>
        </p:txBody>
      </p:sp>
      <p:cxnSp>
        <p:nvCxnSpPr>
          <p:cNvPr id="28687" name="AutoShape 15"/>
          <p:cNvCxnSpPr>
            <a:cxnSpLocks noChangeShapeType="1"/>
            <a:stCxn id="28677" idx="2"/>
            <a:endCxn id="28686" idx="0"/>
          </p:cNvCxnSpPr>
          <p:nvPr/>
        </p:nvCxnSpPr>
        <p:spPr bwMode="auto">
          <a:xfrm rot="16200000" flipH="1">
            <a:off x="3009815" y="3692836"/>
            <a:ext cx="163882" cy="4577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8688" name="Text Box 16"/>
          <p:cNvSpPr txBox="1">
            <a:spLocks noChangeArrowheads="1"/>
          </p:cNvSpPr>
          <p:nvPr/>
        </p:nvSpPr>
        <p:spPr bwMode="auto">
          <a:xfrm>
            <a:off x="1600201" y="5759450"/>
            <a:ext cx="465535" cy="585418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0" lang="en-US" altLang="en-US"/>
              <a:t>T(2)</a:t>
            </a:r>
          </a:p>
        </p:txBody>
      </p:sp>
      <p:cxnSp>
        <p:nvCxnSpPr>
          <p:cNvPr id="28689" name="AutoShape 17"/>
          <p:cNvCxnSpPr>
            <a:cxnSpLocks noChangeShapeType="1"/>
            <a:stCxn id="28684" idx="2"/>
            <a:endCxn id="28688" idx="0"/>
          </p:cNvCxnSpPr>
          <p:nvPr/>
        </p:nvCxnSpPr>
        <p:spPr bwMode="auto">
          <a:xfrm rot="5400000">
            <a:off x="1419836" y="5002227"/>
            <a:ext cx="1170357" cy="34408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8690" name="Text Box 18"/>
          <p:cNvSpPr txBox="1">
            <a:spLocks noChangeArrowheads="1"/>
          </p:cNvSpPr>
          <p:nvPr/>
        </p:nvSpPr>
        <p:spPr bwMode="auto">
          <a:xfrm>
            <a:off x="2114550" y="5759450"/>
            <a:ext cx="467916" cy="585418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0" lang="en-US" altLang="en-US"/>
              <a:t>T(2)</a:t>
            </a:r>
          </a:p>
        </p:txBody>
      </p:sp>
      <p:cxnSp>
        <p:nvCxnSpPr>
          <p:cNvPr id="28691" name="AutoShape 19"/>
          <p:cNvCxnSpPr>
            <a:cxnSpLocks noChangeShapeType="1"/>
            <a:stCxn id="28684" idx="2"/>
            <a:endCxn id="28690" idx="0"/>
          </p:cNvCxnSpPr>
          <p:nvPr/>
        </p:nvCxnSpPr>
        <p:spPr bwMode="auto">
          <a:xfrm rot="16200000" flipH="1">
            <a:off x="1677605" y="5088546"/>
            <a:ext cx="1170357" cy="1714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8692" name="Text Box 20"/>
          <p:cNvSpPr txBox="1">
            <a:spLocks noChangeArrowheads="1"/>
          </p:cNvSpPr>
          <p:nvPr/>
        </p:nvSpPr>
        <p:spPr bwMode="auto">
          <a:xfrm>
            <a:off x="2743201" y="5772150"/>
            <a:ext cx="483394" cy="585418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0" lang="en-US" altLang="en-US"/>
              <a:t>T(2)</a:t>
            </a:r>
          </a:p>
        </p:txBody>
      </p:sp>
      <p:cxnSp>
        <p:nvCxnSpPr>
          <p:cNvPr id="28693" name="AutoShape 21"/>
          <p:cNvCxnSpPr>
            <a:cxnSpLocks noChangeShapeType="1"/>
            <a:stCxn id="28686" idx="2"/>
            <a:endCxn id="28692" idx="0"/>
          </p:cNvCxnSpPr>
          <p:nvPr/>
        </p:nvCxnSpPr>
        <p:spPr bwMode="auto">
          <a:xfrm rot="5400000">
            <a:off x="2561248" y="5012743"/>
            <a:ext cx="1183057" cy="33575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8694" name="Text Box 22"/>
          <p:cNvSpPr txBox="1">
            <a:spLocks noChangeArrowheads="1"/>
          </p:cNvSpPr>
          <p:nvPr/>
        </p:nvSpPr>
        <p:spPr bwMode="auto">
          <a:xfrm>
            <a:off x="3283745" y="5772150"/>
            <a:ext cx="488156" cy="585418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0" lang="en-US" altLang="en-US"/>
              <a:t>T(2)</a:t>
            </a:r>
          </a:p>
        </p:txBody>
      </p:sp>
      <p:cxnSp>
        <p:nvCxnSpPr>
          <p:cNvPr id="28695" name="AutoShape 23"/>
          <p:cNvCxnSpPr>
            <a:cxnSpLocks noChangeShapeType="1"/>
            <a:stCxn id="28686" idx="2"/>
            <a:endCxn id="28694" idx="0"/>
          </p:cNvCxnSpPr>
          <p:nvPr/>
        </p:nvCxnSpPr>
        <p:spPr bwMode="auto">
          <a:xfrm rot="16200000" flipH="1">
            <a:off x="2832710" y="5077036"/>
            <a:ext cx="1183057" cy="20716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8696" name="Text Box 24"/>
          <p:cNvSpPr txBox="1">
            <a:spLocks noChangeArrowheads="1"/>
          </p:cNvSpPr>
          <p:nvPr/>
        </p:nvSpPr>
        <p:spPr bwMode="auto">
          <a:xfrm>
            <a:off x="3829051" y="5772150"/>
            <a:ext cx="475060" cy="585418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0" lang="en-US" altLang="en-US"/>
              <a:t>T(2)</a:t>
            </a:r>
          </a:p>
        </p:txBody>
      </p:sp>
      <p:cxnSp>
        <p:nvCxnSpPr>
          <p:cNvPr id="28697" name="AutoShape 25"/>
          <p:cNvCxnSpPr>
            <a:cxnSpLocks noChangeShapeType="1"/>
            <a:stCxn id="28681" idx="2"/>
            <a:endCxn id="28696" idx="0"/>
          </p:cNvCxnSpPr>
          <p:nvPr/>
        </p:nvCxnSpPr>
        <p:spPr bwMode="auto">
          <a:xfrm rot="5400000">
            <a:off x="3615348" y="5053026"/>
            <a:ext cx="1170357" cy="26789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8698" name="Text Box 26"/>
          <p:cNvSpPr txBox="1">
            <a:spLocks noChangeArrowheads="1"/>
          </p:cNvSpPr>
          <p:nvPr/>
        </p:nvSpPr>
        <p:spPr bwMode="auto">
          <a:xfrm>
            <a:off x="4343401" y="5772150"/>
            <a:ext cx="451247" cy="585418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0" lang="en-US" altLang="en-US"/>
              <a:t>T(2)</a:t>
            </a:r>
          </a:p>
        </p:txBody>
      </p:sp>
      <p:cxnSp>
        <p:nvCxnSpPr>
          <p:cNvPr id="28699" name="AutoShape 27"/>
          <p:cNvCxnSpPr>
            <a:cxnSpLocks noChangeShapeType="1"/>
            <a:stCxn id="28681" idx="2"/>
            <a:endCxn id="28698" idx="0"/>
          </p:cNvCxnSpPr>
          <p:nvPr/>
        </p:nvCxnSpPr>
        <p:spPr bwMode="auto">
          <a:xfrm rot="16200000" flipH="1">
            <a:off x="3866570" y="5069694"/>
            <a:ext cx="1170357" cy="23455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8700" name="Text Box 28"/>
          <p:cNvSpPr txBox="1">
            <a:spLocks noChangeArrowheads="1"/>
          </p:cNvSpPr>
          <p:nvPr/>
        </p:nvSpPr>
        <p:spPr bwMode="auto">
          <a:xfrm>
            <a:off x="4955382" y="5772150"/>
            <a:ext cx="473869" cy="585418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0" lang="en-US" altLang="en-US"/>
              <a:t>T(2)</a:t>
            </a:r>
          </a:p>
        </p:txBody>
      </p:sp>
      <p:cxnSp>
        <p:nvCxnSpPr>
          <p:cNvPr id="28701" name="AutoShape 29"/>
          <p:cNvCxnSpPr>
            <a:cxnSpLocks noChangeShapeType="1"/>
            <a:stCxn id="28680" idx="2"/>
            <a:endCxn id="28700" idx="0"/>
          </p:cNvCxnSpPr>
          <p:nvPr/>
        </p:nvCxnSpPr>
        <p:spPr bwMode="auto">
          <a:xfrm rot="5400000">
            <a:off x="4662702" y="5118709"/>
            <a:ext cx="1183057" cy="1238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8702" name="Text Box 30"/>
          <p:cNvSpPr txBox="1">
            <a:spLocks noChangeArrowheads="1"/>
          </p:cNvSpPr>
          <p:nvPr/>
        </p:nvSpPr>
        <p:spPr bwMode="auto">
          <a:xfrm>
            <a:off x="5484020" y="5772150"/>
            <a:ext cx="459581" cy="585418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0" lang="en-US" altLang="en-US"/>
              <a:t>T(2)</a:t>
            </a:r>
          </a:p>
        </p:txBody>
      </p:sp>
      <p:cxnSp>
        <p:nvCxnSpPr>
          <p:cNvPr id="28703" name="AutoShape 31"/>
          <p:cNvCxnSpPr>
            <a:cxnSpLocks noChangeShapeType="1"/>
            <a:stCxn id="28680" idx="2"/>
            <a:endCxn id="28702" idx="0"/>
          </p:cNvCxnSpPr>
          <p:nvPr/>
        </p:nvCxnSpPr>
        <p:spPr bwMode="auto">
          <a:xfrm rot="16200000" flipH="1">
            <a:off x="4923448" y="4981786"/>
            <a:ext cx="1183057" cy="39766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8704" name="Text Box 32"/>
          <p:cNvSpPr txBox="1">
            <a:spLocks noChangeArrowheads="1"/>
          </p:cNvSpPr>
          <p:nvPr/>
        </p:nvSpPr>
        <p:spPr bwMode="auto">
          <a:xfrm>
            <a:off x="6504386" y="2506663"/>
            <a:ext cx="510778" cy="339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n</a:t>
            </a:r>
          </a:p>
        </p:txBody>
      </p:sp>
      <p:sp>
        <p:nvSpPr>
          <p:cNvPr id="28705" name="Rectangle 33"/>
          <p:cNvSpPr>
            <a:spLocks noChangeArrowheads="1"/>
          </p:cNvSpPr>
          <p:nvPr/>
        </p:nvSpPr>
        <p:spPr bwMode="auto">
          <a:xfrm>
            <a:off x="1708547" y="4875213"/>
            <a:ext cx="4132659" cy="271462"/>
          </a:xfrm>
          <a:prstGeom prst="rect">
            <a:avLst/>
          </a:prstGeom>
          <a:solidFill>
            <a:srgbClr val="0033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>
                <a:solidFill>
                  <a:schemeClr val="bg1"/>
                </a:solidFill>
              </a:rPr>
              <a:t>T(n / 2</a:t>
            </a:r>
            <a:r>
              <a:rPr lang="en-US" altLang="en-US" baseline="30000">
                <a:solidFill>
                  <a:schemeClr val="bg1"/>
                </a:solidFill>
              </a:rPr>
              <a:t>k</a:t>
            </a:r>
            <a:r>
              <a:rPr lang="en-US" altLang="en-US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28706" name="Text Box 34"/>
          <p:cNvSpPr txBox="1">
            <a:spLocks noChangeArrowheads="1"/>
          </p:cNvSpPr>
          <p:nvPr/>
        </p:nvSpPr>
        <p:spPr bwMode="auto">
          <a:xfrm>
            <a:off x="6504386" y="3198813"/>
            <a:ext cx="867965" cy="339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2(n/2)</a:t>
            </a:r>
          </a:p>
        </p:txBody>
      </p:sp>
      <p:sp>
        <p:nvSpPr>
          <p:cNvPr id="28707" name="Text Box 35"/>
          <p:cNvSpPr txBox="1">
            <a:spLocks noChangeArrowheads="1"/>
          </p:cNvSpPr>
          <p:nvPr/>
        </p:nvSpPr>
        <p:spPr bwMode="auto">
          <a:xfrm>
            <a:off x="6504386" y="4003675"/>
            <a:ext cx="867965" cy="339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4(n/4)</a:t>
            </a:r>
          </a:p>
        </p:txBody>
      </p:sp>
      <p:sp>
        <p:nvSpPr>
          <p:cNvPr id="28708" name="Text Box 36"/>
          <p:cNvSpPr txBox="1">
            <a:spLocks noChangeArrowheads="1"/>
          </p:cNvSpPr>
          <p:nvPr/>
        </p:nvSpPr>
        <p:spPr bwMode="auto">
          <a:xfrm>
            <a:off x="6504386" y="4832350"/>
            <a:ext cx="1210865" cy="339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2</a:t>
            </a:r>
            <a:r>
              <a:rPr lang="en-US" altLang="en-US" baseline="30000"/>
              <a:t>k </a:t>
            </a:r>
            <a:r>
              <a:rPr lang="en-US" altLang="en-US"/>
              <a:t>(n / 2</a:t>
            </a:r>
            <a:r>
              <a:rPr lang="en-US" altLang="en-US" baseline="30000"/>
              <a:t>k</a:t>
            </a:r>
            <a:r>
              <a:rPr lang="en-US" altLang="en-US"/>
              <a:t>)</a:t>
            </a:r>
          </a:p>
        </p:txBody>
      </p:sp>
      <p:sp>
        <p:nvSpPr>
          <p:cNvPr id="28709" name="Text Box 37"/>
          <p:cNvSpPr txBox="1">
            <a:spLocks noChangeArrowheads="1"/>
          </p:cNvSpPr>
          <p:nvPr/>
        </p:nvSpPr>
        <p:spPr bwMode="auto">
          <a:xfrm>
            <a:off x="6454378" y="5784850"/>
            <a:ext cx="917972" cy="339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n/2</a:t>
            </a:r>
            <a:r>
              <a:rPr lang="en-US" altLang="en-US" baseline="30000"/>
              <a:t> </a:t>
            </a:r>
            <a:r>
              <a:rPr lang="en-US" altLang="en-US"/>
              <a:t>(2)</a:t>
            </a:r>
          </a:p>
        </p:txBody>
      </p:sp>
      <p:sp>
        <p:nvSpPr>
          <p:cNvPr id="28710" name="Text Box 38"/>
          <p:cNvSpPr txBox="1">
            <a:spLocks noChangeArrowheads="1"/>
          </p:cNvSpPr>
          <p:nvPr/>
        </p:nvSpPr>
        <p:spPr bwMode="auto">
          <a:xfrm>
            <a:off x="6504386" y="5295900"/>
            <a:ext cx="867965" cy="339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. . .</a:t>
            </a:r>
          </a:p>
        </p:txBody>
      </p:sp>
      <p:sp>
        <p:nvSpPr>
          <p:cNvPr id="28711" name="Text Box 39"/>
          <p:cNvSpPr txBox="1">
            <a:spLocks noChangeArrowheads="1"/>
          </p:cNvSpPr>
          <p:nvPr/>
        </p:nvSpPr>
        <p:spPr bwMode="auto">
          <a:xfrm>
            <a:off x="6504386" y="4478338"/>
            <a:ext cx="867965" cy="339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. . .</a:t>
            </a:r>
          </a:p>
        </p:txBody>
      </p:sp>
      <p:sp>
        <p:nvSpPr>
          <p:cNvPr id="28712" name="Line 40"/>
          <p:cNvSpPr>
            <a:spLocks noChangeShapeType="1"/>
          </p:cNvSpPr>
          <p:nvPr/>
        </p:nvSpPr>
        <p:spPr bwMode="auto">
          <a:xfrm>
            <a:off x="6198394" y="2574925"/>
            <a:ext cx="0" cy="35369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sm"/>
            <a:tailEnd type="triangle" w="sm" len="sm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lIns="92075" tIns="46038" rIns="92075" bIns="46038" anchor="ctr"/>
          <a:lstStyle/>
          <a:p>
            <a:endParaRPr lang="en-US"/>
          </a:p>
        </p:txBody>
      </p:sp>
      <p:sp>
        <p:nvSpPr>
          <p:cNvPr id="28713" name="Text Box 41"/>
          <p:cNvSpPr txBox="1">
            <a:spLocks noChangeArrowheads="1"/>
          </p:cNvSpPr>
          <p:nvPr/>
        </p:nvSpPr>
        <p:spPr bwMode="auto">
          <a:xfrm>
            <a:off x="5943601" y="4219575"/>
            <a:ext cx="560785" cy="58541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/>
              <a:t>log</a:t>
            </a:r>
            <a:r>
              <a:rPr lang="en-US" altLang="en-US" baseline="-25000"/>
              <a:t>2</a:t>
            </a:r>
            <a:r>
              <a:rPr lang="en-US" altLang="en-US"/>
              <a:t>n</a:t>
            </a:r>
            <a:endParaRPr lang="en-US" altLang="en-US">
              <a:solidFill>
                <a:srgbClr val="006600"/>
              </a:solidFill>
            </a:endParaRPr>
          </a:p>
        </p:txBody>
      </p:sp>
      <p:sp>
        <p:nvSpPr>
          <p:cNvPr id="28714" name="Line 42"/>
          <p:cNvSpPr>
            <a:spLocks noChangeShapeType="1"/>
          </p:cNvSpPr>
          <p:nvPr/>
        </p:nvSpPr>
        <p:spPr bwMode="auto">
          <a:xfrm flipH="1">
            <a:off x="6454380" y="6248400"/>
            <a:ext cx="81557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lIns="92075" tIns="46038" rIns="92075" bIns="46038" anchor="ctr"/>
          <a:lstStyle/>
          <a:p>
            <a:endParaRPr lang="en-US"/>
          </a:p>
        </p:txBody>
      </p:sp>
      <p:sp>
        <p:nvSpPr>
          <p:cNvPr id="28715" name="Text Box 43"/>
          <p:cNvSpPr txBox="1">
            <a:spLocks noChangeArrowheads="1"/>
          </p:cNvSpPr>
          <p:nvPr/>
        </p:nvSpPr>
        <p:spPr bwMode="auto">
          <a:xfrm>
            <a:off x="6504386" y="6329363"/>
            <a:ext cx="867965" cy="339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n</a:t>
            </a:r>
            <a:r>
              <a:rPr lang="en-US" altLang="en-US" baseline="30000"/>
              <a:t> </a:t>
            </a:r>
            <a:r>
              <a:rPr lang="en-US" altLang="en-US"/>
              <a:t>log</a:t>
            </a:r>
            <a:r>
              <a:rPr lang="en-US" altLang="en-US" baseline="-25000"/>
              <a:t>2</a:t>
            </a:r>
            <a:r>
              <a:rPr lang="en-US" altLang="en-US"/>
              <a:t>n</a:t>
            </a:r>
          </a:p>
        </p:txBody>
      </p:sp>
      <p:graphicFrame>
        <p:nvGraphicFramePr>
          <p:cNvPr id="28716" name="Object 2"/>
          <p:cNvGraphicFramePr>
            <a:graphicFrameLocks noChangeAspect="1"/>
          </p:cNvGraphicFramePr>
          <p:nvPr/>
        </p:nvGraphicFramePr>
        <p:xfrm>
          <a:off x="2868217" y="990602"/>
          <a:ext cx="2906315" cy="1095375"/>
        </p:xfrm>
        <a:graphic>
          <a:graphicData uri="http://schemas.openxmlformats.org/presentationml/2006/ole">
            <p:oleObj spid="_x0000_s1042" name="Equation" r:id="rId4" imgW="3592800" imgH="813600" progId="Equation.3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3045492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8843750" cy="990599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SUBSTITUTING A SOLUTION INTO THE MERGESORT RECURSION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122" y="3657600"/>
            <a:ext cx="9051878" cy="320039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3400" y="1447800"/>
            <a:ext cx="8229600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latin typeface="Times New Roman" pitchFamily="18" charset="0"/>
                <a:cs typeface="Times New Roman" pitchFamily="18" charset="0"/>
              </a:rPr>
              <a:t>T(n) = 2T(n/2) + n  </a:t>
            </a:r>
            <a:r>
              <a:rPr lang="pt-BR" sz="2400" dirty="0" smtClean="0">
                <a:latin typeface="Times New Roman" pitchFamily="18" charset="0"/>
                <a:cs typeface="Times New Roman" pitchFamily="18" charset="0"/>
              </a:rPr>
              <a:t> ..........(1)</a:t>
            </a:r>
          </a:p>
          <a:p>
            <a:r>
              <a:rPr lang="pt-BR" sz="2400" b="1" dirty="0" smtClean="0">
                <a:latin typeface="Times New Roman" pitchFamily="18" charset="0"/>
                <a:cs typeface="Times New Roman" pitchFamily="18" charset="0"/>
              </a:rPr>
              <a:t>T(n/2) = 2T(n/4) + n/2</a:t>
            </a:r>
            <a:r>
              <a:rPr lang="pt-BR" sz="2400" dirty="0" smtClean="0">
                <a:latin typeface="Times New Roman" pitchFamily="18" charset="0"/>
                <a:cs typeface="Times New Roman" pitchFamily="18" charset="0"/>
              </a:rPr>
              <a:t>   ........(2)</a:t>
            </a:r>
          </a:p>
          <a:p>
            <a:r>
              <a:rPr lang="pt-BR" sz="2400" dirty="0" smtClean="0">
                <a:latin typeface="Times New Roman" pitchFamily="18" charset="0"/>
                <a:cs typeface="Times New Roman" pitchFamily="18" charset="0"/>
              </a:rPr>
              <a:t>Put (2) in (1)</a:t>
            </a:r>
          </a:p>
          <a:p>
            <a:r>
              <a:rPr lang="pt-BR" sz="2400" dirty="0" smtClean="0">
                <a:latin typeface="Times New Roman" pitchFamily="18" charset="0"/>
                <a:cs typeface="Times New Roman" pitchFamily="18" charset="0"/>
              </a:rPr>
              <a:t>T(n) = 2 {</a:t>
            </a:r>
            <a:r>
              <a:rPr lang="pt-BR" sz="2400" b="1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pt-BR" sz="2400" dirty="0" smtClean="0">
                <a:latin typeface="Times New Roman" pitchFamily="18" charset="0"/>
                <a:cs typeface="Times New Roman" pitchFamily="18" charset="0"/>
              </a:rPr>
              <a:t>2T(n/4) + n/2  } + n</a:t>
            </a:r>
          </a:p>
          <a:p>
            <a:r>
              <a:rPr lang="pt-BR" sz="2400" dirty="0" smtClean="0">
                <a:latin typeface="Times New Roman" pitchFamily="18" charset="0"/>
                <a:cs typeface="Times New Roman" pitchFamily="18" charset="0"/>
              </a:rPr>
              <a:t>      = 2</a:t>
            </a:r>
            <a:r>
              <a:rPr lang="pt-BR" sz="2400" baseline="30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pt-BR" sz="2400" dirty="0" smtClean="0">
                <a:latin typeface="Times New Roman" pitchFamily="18" charset="0"/>
                <a:cs typeface="Times New Roman" pitchFamily="18" charset="0"/>
              </a:rPr>
              <a:t>T(n/4) + n + n</a:t>
            </a:r>
          </a:p>
          <a:p>
            <a:r>
              <a:rPr lang="pt-BR" sz="2400" dirty="0" smtClean="0">
                <a:latin typeface="Times New Roman" pitchFamily="18" charset="0"/>
                <a:cs typeface="Times New Roman" pitchFamily="18" charset="0"/>
              </a:rPr>
              <a:t>      =  2</a:t>
            </a:r>
            <a:r>
              <a:rPr lang="pt-BR" sz="2400" baseline="30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pt-BR" sz="2400" dirty="0" smtClean="0">
                <a:latin typeface="Times New Roman" pitchFamily="18" charset="0"/>
                <a:cs typeface="Times New Roman" pitchFamily="18" charset="0"/>
              </a:rPr>
              <a:t>T(n/8) + n + n + n</a:t>
            </a:r>
          </a:p>
          <a:p>
            <a:r>
              <a:rPr lang="pt-BR" sz="2400" dirty="0" smtClean="0">
                <a:latin typeface="Times New Roman" pitchFamily="18" charset="0"/>
                <a:cs typeface="Times New Roman" pitchFamily="18" charset="0"/>
              </a:rPr>
              <a:t>      = 2</a:t>
            </a:r>
            <a:r>
              <a:rPr lang="pt-BR" sz="2400" baseline="30000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pt-BR" sz="2400" dirty="0" smtClean="0">
                <a:latin typeface="Times New Roman" pitchFamily="18" charset="0"/>
                <a:cs typeface="Times New Roman" pitchFamily="18" charset="0"/>
              </a:rPr>
              <a:t>T(n/16) + n + n + n + n</a:t>
            </a:r>
          </a:p>
          <a:p>
            <a:r>
              <a:rPr lang="pt-BR" sz="2400" dirty="0" smtClean="0">
                <a:latin typeface="Times New Roman" pitchFamily="18" charset="0"/>
                <a:cs typeface="Times New Roman" pitchFamily="18" charset="0"/>
              </a:rPr>
              <a:t>      = 2</a:t>
            </a:r>
            <a:r>
              <a:rPr lang="pt-BR" sz="2400" baseline="30000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pt-BR" sz="2400" dirty="0" smtClean="0">
                <a:latin typeface="Times New Roman" pitchFamily="18" charset="0"/>
                <a:cs typeface="Times New Roman" pitchFamily="18" charset="0"/>
              </a:rPr>
              <a:t>T(n/2</a:t>
            </a:r>
            <a:r>
              <a:rPr lang="pt-BR" sz="2400" baseline="30000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pt-BR" sz="2400" dirty="0" smtClean="0">
                <a:latin typeface="Times New Roman" pitchFamily="18" charset="0"/>
                <a:cs typeface="Times New Roman" pitchFamily="18" charset="0"/>
              </a:rPr>
              <a:t>) + n + n + n + n + n.....(</a:t>
            </a:r>
            <a:r>
              <a:rPr lang="pt-BR" sz="2400" i="1" dirty="0" smtClean="0">
                <a:latin typeface="Times New Roman" pitchFamily="18" charset="0"/>
                <a:cs typeface="Times New Roman" pitchFamily="18" charset="0"/>
              </a:rPr>
              <a:t>k times n will be present</a:t>
            </a:r>
            <a:r>
              <a:rPr lang="pt-BR" sz="24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pt-BR" sz="2400" dirty="0" smtClean="0">
                <a:latin typeface="Times New Roman" pitchFamily="18" charset="0"/>
                <a:cs typeface="Times New Roman" pitchFamily="18" charset="0"/>
              </a:rPr>
              <a:t>      = 2</a:t>
            </a:r>
            <a:r>
              <a:rPr lang="pt-BR" sz="2400" baseline="30000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pt-BR" sz="2400" dirty="0" smtClean="0">
                <a:latin typeface="Times New Roman" pitchFamily="18" charset="0"/>
                <a:cs typeface="Times New Roman" pitchFamily="18" charset="0"/>
              </a:rPr>
              <a:t>T(n/2</a:t>
            </a:r>
            <a:r>
              <a:rPr lang="pt-BR" sz="2400" baseline="30000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pt-BR" sz="2400" dirty="0" smtClean="0">
                <a:latin typeface="Times New Roman" pitchFamily="18" charset="0"/>
                <a:cs typeface="Times New Roman" pitchFamily="18" charset="0"/>
              </a:rPr>
              <a:t>) + nk</a:t>
            </a:r>
          </a:p>
          <a:p>
            <a:r>
              <a:rPr lang="pt-BR" sz="2400" dirty="0" smtClean="0">
                <a:latin typeface="Times New Roman" pitchFamily="18" charset="0"/>
                <a:cs typeface="Times New Roman" pitchFamily="18" charset="0"/>
              </a:rPr>
              <a:t>Now put 2</a:t>
            </a:r>
            <a:r>
              <a:rPr lang="pt-BR" sz="2400" baseline="30000" dirty="0" smtClean="0">
                <a:latin typeface="Times New Roman" pitchFamily="18" charset="0"/>
                <a:cs typeface="Times New Roman" pitchFamily="18" charset="0"/>
              </a:rPr>
              <a:t>k </a:t>
            </a:r>
            <a:r>
              <a:rPr lang="pt-BR" sz="2400" dirty="0" smtClean="0">
                <a:latin typeface="Times New Roman" pitchFamily="18" charset="0"/>
                <a:cs typeface="Times New Roman" pitchFamily="18" charset="0"/>
              </a:rPr>
              <a:t>= n, so k will be log</a:t>
            </a:r>
            <a:r>
              <a:rPr lang="pt-BR" sz="24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pt-BR" sz="2400" dirty="0" smtClean="0">
                <a:latin typeface="Times New Roman" pitchFamily="18" charset="0"/>
                <a:cs typeface="Times New Roman" pitchFamily="18" charset="0"/>
              </a:rPr>
              <a:t>n</a:t>
            </a:r>
          </a:p>
          <a:p>
            <a:r>
              <a:rPr lang="pt-BR" sz="2400" dirty="0" smtClean="0">
                <a:latin typeface="Times New Roman" pitchFamily="18" charset="0"/>
                <a:cs typeface="Times New Roman" pitchFamily="18" charset="0"/>
              </a:rPr>
              <a:t>So, T(n) = nT(2</a:t>
            </a:r>
            <a:r>
              <a:rPr lang="pt-BR" sz="2400" baseline="30000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pt-BR" sz="2400" dirty="0" smtClean="0">
                <a:latin typeface="Times New Roman" pitchFamily="18" charset="0"/>
                <a:cs typeface="Times New Roman" pitchFamily="18" charset="0"/>
              </a:rPr>
              <a:t>/2</a:t>
            </a:r>
            <a:r>
              <a:rPr lang="pt-BR" sz="2400" baseline="30000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pt-BR" sz="2400" dirty="0" smtClean="0">
                <a:latin typeface="Times New Roman" pitchFamily="18" charset="0"/>
                <a:cs typeface="Times New Roman" pitchFamily="18" charset="0"/>
              </a:rPr>
              <a:t>) + nlog</a:t>
            </a:r>
            <a:r>
              <a:rPr lang="pt-BR" sz="24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pt-BR" sz="2400" dirty="0" smtClean="0">
                <a:latin typeface="Times New Roman" pitchFamily="18" charset="0"/>
                <a:cs typeface="Times New Roman" pitchFamily="18" charset="0"/>
              </a:rPr>
              <a:t>n</a:t>
            </a:r>
          </a:p>
          <a:p>
            <a:r>
              <a:rPr lang="pt-BR" sz="2400" dirty="0" smtClean="0">
                <a:latin typeface="Times New Roman" pitchFamily="18" charset="0"/>
                <a:cs typeface="Times New Roman" pitchFamily="18" charset="0"/>
              </a:rPr>
              <a:t>            = nT(1) + nlog</a:t>
            </a:r>
            <a:r>
              <a:rPr lang="pt-BR" sz="24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pt-BR" sz="2400" dirty="0" smtClean="0">
                <a:latin typeface="Times New Roman" pitchFamily="18" charset="0"/>
                <a:cs typeface="Times New Roman" pitchFamily="18" charset="0"/>
              </a:rPr>
              <a:t>n</a:t>
            </a:r>
          </a:p>
          <a:p>
            <a:r>
              <a:rPr lang="pt-BR" sz="2400" dirty="0" smtClean="0">
                <a:latin typeface="Times New Roman" pitchFamily="18" charset="0"/>
                <a:cs typeface="Times New Roman" pitchFamily="18" charset="0"/>
              </a:rPr>
              <a:t>            = n + nlog</a:t>
            </a:r>
            <a:r>
              <a:rPr lang="pt-BR" sz="24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pt-BR" sz="2400" dirty="0" smtClean="0">
                <a:latin typeface="Times New Roman" pitchFamily="18" charset="0"/>
                <a:cs typeface="Times New Roman" pitchFamily="18" charset="0"/>
              </a:rPr>
              <a:t>n</a:t>
            </a:r>
          </a:p>
          <a:p>
            <a:r>
              <a:rPr lang="pt-BR" sz="2400" dirty="0" smtClean="0">
                <a:latin typeface="Times New Roman" pitchFamily="18" charset="0"/>
                <a:cs typeface="Times New Roman" pitchFamily="18" charset="0"/>
              </a:rPr>
              <a:t>Hence,</a:t>
            </a:r>
            <a:r>
              <a:rPr lang="pt-BR" sz="2400" b="1" i="1" dirty="0" smtClean="0">
                <a:latin typeface="Times New Roman" pitchFamily="18" charset="0"/>
                <a:cs typeface="Times New Roman" pitchFamily="18" charset="0"/>
              </a:rPr>
              <a:t> T(n) = O( nlog</a:t>
            </a:r>
            <a:r>
              <a:rPr lang="pt-BR" sz="2400" b="1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pt-BR" sz="2400" b="1" i="1" dirty="0" smtClean="0">
                <a:latin typeface="Times New Roman" pitchFamily="18" charset="0"/>
                <a:cs typeface="Times New Roman" pitchFamily="18" charset="0"/>
              </a:rPr>
              <a:t>n )</a:t>
            </a:r>
            <a:endParaRPr lang="pt-BR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61831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895600"/>
            <a:ext cx="8229600" cy="1143000"/>
          </a:xfrm>
        </p:spPr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COUNTING INVERSION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03748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COUNTING INVERSION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610600" cy="475615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pPr algn="just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We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are given a sequence of n numbers a1, . . . ,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an.</a:t>
            </a:r>
          </a:p>
          <a:p>
            <a:pPr algn="just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We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will assume that all the numbers are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distinct.</a:t>
            </a:r>
          </a:p>
          <a:p>
            <a:pPr algn="just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We want to define a measure that tells us how far this list is from being in ascending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order.</a:t>
            </a:r>
          </a:p>
          <a:p>
            <a:pPr algn="just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he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value of the measure should be 0 if a1&lt; a2 &lt; . . .&lt; an, and should increase as the numbers become more scrambled. </a:t>
            </a:r>
          </a:p>
          <a:p>
            <a:pPr algn="just"/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98089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COUNTING INVERSION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610600" cy="475615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Counting </a:t>
            </a: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Number </a:t>
            </a: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Inversions 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two indices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&lt; j form an inversion if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ai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&gt;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aj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, that is, if the two elements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ai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aj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are “out of order.” </a:t>
            </a:r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Counting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the number of inversions is to determine the number of inversions in the sequence a1, . . . , an. </a:t>
            </a:r>
          </a:p>
          <a:p>
            <a:pPr algn="just"/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67136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COUNTING INVERSION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610600" cy="475615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Example 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Sequence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is 2, 4, 1, 3, 5. </a:t>
            </a:r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There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are three inversions in this sequence: (2, 1), (4, 1), and (4, 3). </a:t>
            </a:r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700" y="4261486"/>
            <a:ext cx="4800600" cy="2094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187066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COUNTING INVERSION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610600" cy="475615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Example 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If the sequence is in descending order, then every pair forms an inversion, and so there are </a:t>
            </a: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n(n-1</a:t>
            </a: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)/2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pairs. </a:t>
            </a:r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4099933"/>
            <a:ext cx="3810000" cy="2438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341386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COUNTING INVERSION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610600" cy="4756150"/>
          </a:xfrm>
        </p:spPr>
        <p:txBody>
          <a:bodyPr>
            <a:normAutofit fontScale="77500" lnSpcReduction="20000"/>
          </a:bodyPr>
          <a:lstStyle/>
          <a:p>
            <a:r>
              <a:rPr lang="en-US" sz="3900" b="1" dirty="0" smtClean="0">
                <a:latin typeface="Times New Roman" pitchFamily="18" charset="0"/>
                <a:cs typeface="Times New Roman" pitchFamily="18" charset="0"/>
              </a:rPr>
              <a:t>Algorithm </a:t>
            </a:r>
            <a:endParaRPr lang="en-US" sz="39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ook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at every pair of numbers (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ai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,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aj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) and determine whether they constitute an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inversion.</a:t>
            </a:r>
          </a:p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his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would take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O(n^</a:t>
            </a: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) time. </a:t>
            </a:r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basic idea is to follow the strategy of divide and conquer. </a:t>
            </a:r>
          </a:p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We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set m = _n/2_ and divide the list into the two pieces a1, . . . , am and am+1, . . . , an. </a:t>
            </a:r>
          </a:p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We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first count the number of inversions in each of these two halves separately. </a:t>
            </a:r>
          </a:p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Then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we count the number of inversions (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ai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,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aj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), where the two numbers belong to different halves. </a:t>
            </a:r>
          </a:p>
          <a:p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56545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COUNTING INVERSION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199"/>
            <a:ext cx="8610600" cy="5121275"/>
          </a:xfrm>
        </p:spPr>
        <p:txBody>
          <a:bodyPr>
            <a:normAutofit fontScale="77500" lnSpcReduction="20000"/>
          </a:bodyPr>
          <a:lstStyle/>
          <a:p>
            <a:r>
              <a:rPr lang="en-US" sz="3900" b="1" dirty="0" smtClean="0">
                <a:latin typeface="Times New Roman" pitchFamily="18" charset="0"/>
                <a:cs typeface="Times New Roman" pitchFamily="18" charset="0"/>
              </a:rPr>
              <a:t>Algorithm </a:t>
            </a:r>
            <a:endParaRPr lang="en-US" sz="39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700" dirty="0" smtClean="0">
                <a:latin typeface="Times New Roman" pitchFamily="18" charset="0"/>
                <a:cs typeface="Times New Roman" pitchFamily="18" charset="0"/>
              </a:rPr>
              <a:t>Note </a:t>
            </a:r>
            <a:r>
              <a:rPr lang="en-US" sz="3700" dirty="0">
                <a:latin typeface="Times New Roman" pitchFamily="18" charset="0"/>
                <a:cs typeface="Times New Roman" pitchFamily="18" charset="0"/>
              </a:rPr>
              <a:t>that these first-half/second-half inversions have a particularly nice form: they are precisely the pairs (</a:t>
            </a:r>
            <a:r>
              <a:rPr lang="en-US" sz="3700" dirty="0" err="1">
                <a:latin typeface="Times New Roman" pitchFamily="18" charset="0"/>
                <a:cs typeface="Times New Roman" pitchFamily="18" charset="0"/>
              </a:rPr>
              <a:t>ai</a:t>
            </a:r>
            <a:r>
              <a:rPr lang="en-US" sz="3700" dirty="0">
                <a:latin typeface="Times New Roman" pitchFamily="18" charset="0"/>
                <a:cs typeface="Times New Roman" pitchFamily="18" charset="0"/>
              </a:rPr>
              <a:t> , </a:t>
            </a:r>
            <a:r>
              <a:rPr lang="en-US" sz="3700" dirty="0" err="1">
                <a:latin typeface="Times New Roman" pitchFamily="18" charset="0"/>
                <a:cs typeface="Times New Roman" pitchFamily="18" charset="0"/>
              </a:rPr>
              <a:t>aj</a:t>
            </a:r>
            <a:r>
              <a:rPr lang="en-US" sz="3700" dirty="0">
                <a:latin typeface="Times New Roman" pitchFamily="18" charset="0"/>
                <a:cs typeface="Times New Roman" pitchFamily="18" charset="0"/>
              </a:rPr>
              <a:t>), where </a:t>
            </a:r>
            <a:r>
              <a:rPr lang="en-US" sz="3700" dirty="0" err="1">
                <a:latin typeface="Times New Roman" pitchFamily="18" charset="0"/>
                <a:cs typeface="Times New Roman" pitchFamily="18" charset="0"/>
              </a:rPr>
              <a:t>ai</a:t>
            </a:r>
            <a:r>
              <a:rPr lang="en-US" sz="3700" dirty="0">
                <a:latin typeface="Times New Roman" pitchFamily="18" charset="0"/>
                <a:cs typeface="Times New Roman" pitchFamily="18" charset="0"/>
              </a:rPr>
              <a:t> is in the first half, </a:t>
            </a:r>
            <a:r>
              <a:rPr lang="en-US" sz="3700" dirty="0" err="1">
                <a:latin typeface="Times New Roman" pitchFamily="18" charset="0"/>
                <a:cs typeface="Times New Roman" pitchFamily="18" charset="0"/>
              </a:rPr>
              <a:t>aj</a:t>
            </a:r>
            <a:r>
              <a:rPr lang="en-US" sz="3700" dirty="0">
                <a:latin typeface="Times New Roman" pitchFamily="18" charset="0"/>
                <a:cs typeface="Times New Roman" pitchFamily="18" charset="0"/>
              </a:rPr>
              <a:t> is in the second half. </a:t>
            </a:r>
          </a:p>
          <a:p>
            <a:r>
              <a:rPr lang="en-US" sz="3700" dirty="0" smtClean="0">
                <a:latin typeface="Times New Roman" pitchFamily="18" charset="0"/>
                <a:cs typeface="Times New Roman" pitchFamily="18" charset="0"/>
              </a:rPr>
              <a:t>Suppose </a:t>
            </a:r>
            <a:r>
              <a:rPr lang="en-US" sz="3700" dirty="0">
                <a:latin typeface="Times New Roman" pitchFamily="18" charset="0"/>
                <a:cs typeface="Times New Roman" pitchFamily="18" charset="0"/>
              </a:rPr>
              <a:t>we have recursively sorted the first and second halves of the list and counted the inversions in </a:t>
            </a:r>
            <a:r>
              <a:rPr lang="en-US" sz="3700" dirty="0" smtClean="0">
                <a:latin typeface="Times New Roman" pitchFamily="18" charset="0"/>
                <a:cs typeface="Times New Roman" pitchFamily="18" charset="0"/>
              </a:rPr>
              <a:t>each.</a:t>
            </a:r>
          </a:p>
          <a:p>
            <a:r>
              <a:rPr lang="en-US" sz="3700" dirty="0" smtClean="0">
                <a:latin typeface="Times New Roman" pitchFamily="18" charset="0"/>
                <a:cs typeface="Times New Roman" pitchFamily="18" charset="0"/>
              </a:rPr>
              <a:t>We </a:t>
            </a:r>
            <a:r>
              <a:rPr lang="en-US" sz="3700" dirty="0">
                <a:latin typeface="Times New Roman" pitchFamily="18" charset="0"/>
                <a:cs typeface="Times New Roman" pitchFamily="18" charset="0"/>
              </a:rPr>
              <a:t>now have two sorted lists A and B, containing the first and second halves, respectively. </a:t>
            </a:r>
            <a:endParaRPr lang="en-US" sz="37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700" dirty="0" smtClean="0">
                <a:latin typeface="Times New Roman" pitchFamily="18" charset="0"/>
                <a:cs typeface="Times New Roman" pitchFamily="18" charset="0"/>
              </a:rPr>
              <a:t>We </a:t>
            </a:r>
            <a:r>
              <a:rPr lang="en-US" sz="3700" dirty="0">
                <a:latin typeface="Times New Roman" pitchFamily="18" charset="0"/>
                <a:cs typeface="Times New Roman" pitchFamily="18" charset="0"/>
              </a:rPr>
              <a:t>want to produce a single sorted list C from their union, while also counting the number of pairs (a, b) with a ∈ A, b ∈ B, and a &gt; b. </a:t>
            </a:r>
          </a:p>
          <a:p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32463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3878"/>
            <a:ext cx="8229600" cy="840522"/>
          </a:xfrm>
        </p:spPr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COUNTING INVERSION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83693"/>
            <a:ext cx="8610600" cy="5121275"/>
          </a:xfrm>
        </p:spPr>
        <p:txBody>
          <a:bodyPr>
            <a:normAutofit/>
          </a:bodyPr>
          <a:lstStyle/>
          <a:p>
            <a:r>
              <a:rPr lang="en-US" sz="3000" b="1" dirty="0" smtClean="0">
                <a:latin typeface="Times New Roman" pitchFamily="18" charset="0"/>
                <a:cs typeface="Times New Roman" pitchFamily="18" charset="0"/>
              </a:rPr>
              <a:t>Algorithm: Counting </a:t>
            </a:r>
            <a:r>
              <a:rPr lang="en-US" sz="3000" b="1" dirty="0">
                <a:latin typeface="Times New Roman" pitchFamily="18" charset="0"/>
                <a:cs typeface="Times New Roman" pitchFamily="18" charset="0"/>
              </a:rPr>
              <a:t>Inversions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3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//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Purpose: To count the inversions for a given list L(a1,a2,……….an)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//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Input: An unsorted list of distinct numbers L(a1,a2,……….an)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//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Output: The number of inversions r for the list L(a1,a2,……….an) 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27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2543200"/>
            <a:ext cx="7086600" cy="40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135427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3878"/>
            <a:ext cx="8229600" cy="840522"/>
          </a:xfrm>
        </p:spPr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COUNTING INVERSION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28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0" y="990601"/>
            <a:ext cx="8858250" cy="5730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31792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964" y="228600"/>
            <a:ext cx="8229600" cy="840522"/>
          </a:xfrm>
        </p:spPr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COUNTING INVERSION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276018"/>
            <a:ext cx="8610600" cy="5121275"/>
          </a:xfrm>
        </p:spPr>
        <p:txBody>
          <a:bodyPr>
            <a:normAutofit/>
          </a:bodyPr>
          <a:lstStyle/>
          <a:p>
            <a:r>
              <a:rPr lang="en-US" sz="3000" b="1" dirty="0" smtClean="0">
                <a:latin typeface="Times New Roman" pitchFamily="18" charset="0"/>
                <a:cs typeface="Times New Roman" pitchFamily="18" charset="0"/>
              </a:rPr>
              <a:t>EXAMPLE</a:t>
            </a:r>
          </a:p>
          <a:p>
            <a:endParaRPr lang="en-US" sz="3000" b="1" dirty="0">
              <a:latin typeface="Times New Roman" pitchFamily="18" charset="0"/>
              <a:cs typeface="Times New Roman" pitchFamily="18" charset="0"/>
            </a:endParaRPr>
          </a:p>
          <a:p>
            <a:endParaRPr lang="en-US" sz="3000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3000" b="1" dirty="0">
              <a:latin typeface="Times New Roman" pitchFamily="18" charset="0"/>
              <a:cs typeface="Times New Roman" pitchFamily="18" charset="0"/>
            </a:endParaRPr>
          </a:p>
          <a:p>
            <a:endParaRPr lang="en-US" sz="3000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3000" b="1" dirty="0">
              <a:latin typeface="Times New Roman" pitchFamily="18" charset="0"/>
              <a:cs typeface="Times New Roman" pitchFamily="18" charset="0"/>
            </a:endParaRPr>
          </a:p>
          <a:p>
            <a:endParaRPr lang="en-US" sz="30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000" b="1" dirty="0" smtClean="0">
                <a:latin typeface="Times New Roman" pitchFamily="18" charset="0"/>
                <a:cs typeface="Times New Roman" pitchFamily="18" charset="0"/>
              </a:rPr>
              <a:t>Total Inversions: 10</a:t>
            </a:r>
            <a:r>
              <a:rPr lang="en-US" dirty="0"/>
              <a:t>	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29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256648651"/>
              </p:ext>
            </p:extLst>
          </p:nvPr>
        </p:nvGraphicFramePr>
        <p:xfrm>
          <a:off x="649410" y="2895600"/>
          <a:ext cx="8066960" cy="11039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696"/>
                <a:gridCol w="806696"/>
                <a:gridCol w="806696"/>
                <a:gridCol w="806696"/>
                <a:gridCol w="806696"/>
                <a:gridCol w="806696"/>
                <a:gridCol w="806696"/>
                <a:gridCol w="806696"/>
                <a:gridCol w="806696"/>
                <a:gridCol w="806696"/>
              </a:tblGrid>
              <a:tr h="110394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523614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6293"/>
            <a:ext cx="8229600" cy="447107"/>
          </a:xfrm>
        </p:spPr>
        <p:txBody>
          <a:bodyPr>
            <a:normAutofit fontScale="90000"/>
          </a:bodyPr>
          <a:lstStyle/>
          <a:p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COUNTING INVERSION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30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876012602"/>
              </p:ext>
            </p:extLst>
          </p:nvPr>
        </p:nvGraphicFramePr>
        <p:xfrm>
          <a:off x="1907560" y="685800"/>
          <a:ext cx="5328880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888"/>
                <a:gridCol w="532888"/>
                <a:gridCol w="532888"/>
                <a:gridCol w="532888"/>
                <a:gridCol w="532888"/>
                <a:gridCol w="532888"/>
                <a:gridCol w="532888"/>
                <a:gridCol w="532888"/>
                <a:gridCol w="532888"/>
                <a:gridCol w="532888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105958023"/>
              </p:ext>
            </p:extLst>
          </p:nvPr>
        </p:nvGraphicFramePr>
        <p:xfrm>
          <a:off x="1581792" y="1752600"/>
          <a:ext cx="6343012" cy="83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7924"/>
                <a:gridCol w="487924"/>
                <a:gridCol w="487924"/>
                <a:gridCol w="487924"/>
                <a:gridCol w="487924"/>
                <a:gridCol w="487924"/>
                <a:gridCol w="487924"/>
                <a:gridCol w="487924"/>
                <a:gridCol w="487924"/>
                <a:gridCol w="487924"/>
                <a:gridCol w="487924"/>
                <a:gridCol w="487924"/>
                <a:gridCol w="487924"/>
              </a:tblGrid>
              <a:tr h="8382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608170446"/>
              </p:ext>
            </p:extLst>
          </p:nvPr>
        </p:nvGraphicFramePr>
        <p:xfrm>
          <a:off x="1330960" y="3200400"/>
          <a:ext cx="6898640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2760"/>
                <a:gridCol w="492760"/>
                <a:gridCol w="492760"/>
                <a:gridCol w="492760"/>
                <a:gridCol w="492760"/>
                <a:gridCol w="492760"/>
                <a:gridCol w="492760"/>
                <a:gridCol w="492760"/>
                <a:gridCol w="492760"/>
                <a:gridCol w="492760"/>
                <a:gridCol w="492760"/>
                <a:gridCol w="492760"/>
                <a:gridCol w="492760"/>
                <a:gridCol w="492760"/>
              </a:tblGrid>
              <a:tr h="7620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918972232"/>
              </p:ext>
            </p:extLst>
          </p:nvPr>
        </p:nvGraphicFramePr>
        <p:xfrm>
          <a:off x="762000" y="4495800"/>
          <a:ext cx="7916339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5667"/>
                <a:gridCol w="465667"/>
                <a:gridCol w="465667"/>
                <a:gridCol w="465667"/>
                <a:gridCol w="465667"/>
                <a:gridCol w="465667"/>
                <a:gridCol w="465667"/>
                <a:gridCol w="465667"/>
                <a:gridCol w="465667"/>
                <a:gridCol w="465667"/>
                <a:gridCol w="465667"/>
                <a:gridCol w="465667"/>
                <a:gridCol w="465667"/>
                <a:gridCol w="465667"/>
                <a:gridCol w="465667"/>
                <a:gridCol w="465667"/>
                <a:gridCol w="465667"/>
              </a:tblGrid>
              <a:tr h="7620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134003118"/>
              </p:ext>
            </p:extLst>
          </p:nvPr>
        </p:nvGraphicFramePr>
        <p:xfrm>
          <a:off x="3276601" y="5638800"/>
          <a:ext cx="5714999" cy="717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985"/>
                <a:gridCol w="528985"/>
                <a:gridCol w="528985"/>
                <a:gridCol w="554939"/>
                <a:gridCol w="503027"/>
                <a:gridCol w="503027"/>
                <a:gridCol w="503027"/>
                <a:gridCol w="503027"/>
                <a:gridCol w="503027"/>
                <a:gridCol w="528985"/>
                <a:gridCol w="528985"/>
              </a:tblGrid>
              <a:tr h="71755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4" name="Straight Arrow Connector 3"/>
          <p:cNvCxnSpPr/>
          <p:nvPr/>
        </p:nvCxnSpPr>
        <p:spPr>
          <a:xfrm flipH="1">
            <a:off x="2667000" y="1371600"/>
            <a:ext cx="1905000" cy="30480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4572000" y="1371600"/>
            <a:ext cx="2133600" cy="30480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1828800" y="2590800"/>
            <a:ext cx="762000" cy="60960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2589663" y="2590800"/>
            <a:ext cx="915537" cy="60960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>
            <a:off x="5791200" y="2568575"/>
            <a:ext cx="685800" cy="631825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6477000" y="2579687"/>
            <a:ext cx="990600" cy="620713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914400" y="3962400"/>
            <a:ext cx="895066" cy="53340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1808329" y="3990264"/>
            <a:ext cx="172871" cy="505536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>
            <a:off x="2819400" y="3990264"/>
            <a:ext cx="685800" cy="505536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3505200" y="3976901"/>
            <a:ext cx="533400" cy="518899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H="1">
            <a:off x="5200934" y="3962400"/>
            <a:ext cx="514066" cy="53340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5791200" y="3940175"/>
            <a:ext cx="342900" cy="555625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H="1">
            <a:off x="7086600" y="3990264"/>
            <a:ext cx="381000" cy="505536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7422676" y="4001637"/>
            <a:ext cx="730724" cy="494163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3505200" y="5285664"/>
            <a:ext cx="494731" cy="353136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3999931" y="5272301"/>
            <a:ext cx="572069" cy="366499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H="1">
            <a:off x="7620000" y="5272301"/>
            <a:ext cx="609600" cy="366499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8229600" y="5271708"/>
            <a:ext cx="533400" cy="367092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464655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6293"/>
            <a:ext cx="8229600" cy="447107"/>
          </a:xfrm>
        </p:spPr>
        <p:txBody>
          <a:bodyPr>
            <a:normAutofit fontScale="90000"/>
          </a:bodyPr>
          <a:lstStyle/>
          <a:p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COUNTING INVERSION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533008" y="8032750"/>
            <a:ext cx="2133600" cy="365125"/>
          </a:xfrm>
        </p:spPr>
        <p:txBody>
          <a:bodyPr/>
          <a:lstStyle/>
          <a:p>
            <a:fld id="{1BB5884E-CF01-4077-9986-05D7C16A1A3B}" type="slidenum">
              <a:rPr lang="en-US" smtClean="0"/>
              <a:pPr/>
              <a:t>31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994048986"/>
              </p:ext>
            </p:extLst>
          </p:nvPr>
        </p:nvGraphicFramePr>
        <p:xfrm>
          <a:off x="2002168" y="5867400"/>
          <a:ext cx="5328880" cy="53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888"/>
                <a:gridCol w="532888"/>
                <a:gridCol w="532888"/>
                <a:gridCol w="532888"/>
                <a:gridCol w="532888"/>
                <a:gridCol w="532888"/>
                <a:gridCol w="532888"/>
                <a:gridCol w="532888"/>
                <a:gridCol w="532888"/>
                <a:gridCol w="532888"/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168546548"/>
              </p:ext>
            </p:extLst>
          </p:nvPr>
        </p:nvGraphicFramePr>
        <p:xfrm>
          <a:off x="1219200" y="4648200"/>
          <a:ext cx="6343012" cy="53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7924"/>
                <a:gridCol w="487924"/>
                <a:gridCol w="487924"/>
                <a:gridCol w="487924"/>
                <a:gridCol w="487924"/>
                <a:gridCol w="487924"/>
                <a:gridCol w="487924"/>
                <a:gridCol w="487924"/>
                <a:gridCol w="487924"/>
                <a:gridCol w="487924"/>
                <a:gridCol w="487924"/>
                <a:gridCol w="487924"/>
                <a:gridCol w="487924"/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255219164"/>
              </p:ext>
            </p:extLst>
          </p:nvPr>
        </p:nvGraphicFramePr>
        <p:xfrm>
          <a:off x="886270" y="3276600"/>
          <a:ext cx="6898640" cy="625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2760"/>
                <a:gridCol w="492760"/>
                <a:gridCol w="492760"/>
                <a:gridCol w="492760"/>
                <a:gridCol w="492760"/>
                <a:gridCol w="492760"/>
                <a:gridCol w="492760"/>
                <a:gridCol w="492760"/>
                <a:gridCol w="492760"/>
                <a:gridCol w="492760"/>
                <a:gridCol w="492760"/>
                <a:gridCol w="492760"/>
                <a:gridCol w="492760"/>
                <a:gridCol w="492760"/>
              </a:tblGrid>
              <a:tr h="62547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917331218"/>
              </p:ext>
            </p:extLst>
          </p:nvPr>
        </p:nvGraphicFramePr>
        <p:xfrm>
          <a:off x="313261" y="1828800"/>
          <a:ext cx="7916339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5667"/>
                <a:gridCol w="465667"/>
                <a:gridCol w="465667"/>
                <a:gridCol w="465667"/>
                <a:gridCol w="465667"/>
                <a:gridCol w="465667"/>
                <a:gridCol w="465667"/>
                <a:gridCol w="465667"/>
                <a:gridCol w="465667"/>
                <a:gridCol w="465667"/>
                <a:gridCol w="465667"/>
                <a:gridCol w="465667"/>
                <a:gridCol w="465667"/>
                <a:gridCol w="465667"/>
                <a:gridCol w="465667"/>
                <a:gridCol w="465667"/>
                <a:gridCol w="465667"/>
              </a:tblGrid>
              <a:tr h="7620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894830869"/>
              </p:ext>
            </p:extLst>
          </p:nvPr>
        </p:nvGraphicFramePr>
        <p:xfrm>
          <a:off x="2685408" y="685800"/>
          <a:ext cx="5714999" cy="717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985"/>
                <a:gridCol w="528985"/>
                <a:gridCol w="528985"/>
                <a:gridCol w="554939"/>
                <a:gridCol w="503027"/>
                <a:gridCol w="503027"/>
                <a:gridCol w="503027"/>
                <a:gridCol w="503027"/>
                <a:gridCol w="503027"/>
                <a:gridCol w="528985"/>
                <a:gridCol w="528985"/>
              </a:tblGrid>
              <a:tr h="71755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29" name="Straight Arrow Connector 28"/>
          <p:cNvCxnSpPr/>
          <p:nvPr/>
        </p:nvCxnSpPr>
        <p:spPr>
          <a:xfrm>
            <a:off x="2914008" y="1423632"/>
            <a:ext cx="667392" cy="405168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>
            <a:off x="3581400" y="1411122"/>
            <a:ext cx="399620" cy="417678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7086600" y="1411122"/>
            <a:ext cx="685800" cy="417678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7772400" y="1411122"/>
            <a:ext cx="381000" cy="417678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449239" y="2590800"/>
            <a:ext cx="922361" cy="68580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flipH="1">
            <a:off x="1371600" y="2590800"/>
            <a:ext cx="60278" cy="68580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>
            <a:off x="2354239" y="2606722"/>
            <a:ext cx="693761" cy="669878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H="1">
            <a:off x="3048000" y="2606722"/>
            <a:ext cx="489256" cy="669878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4666608" y="2590800"/>
            <a:ext cx="667392" cy="68580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H="1">
            <a:off x="5334000" y="2606722"/>
            <a:ext cx="281338" cy="669878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>
            <a:off x="6618912" y="2606722"/>
            <a:ext cx="333696" cy="669878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H="1">
            <a:off x="7086600" y="2606722"/>
            <a:ext cx="655304" cy="669878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>
            <a:off x="1371600" y="3940175"/>
            <a:ext cx="982639" cy="708025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H="1">
            <a:off x="2354239" y="3902122"/>
            <a:ext cx="693761" cy="746078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>
            <a:off x="5319215" y="3902122"/>
            <a:ext cx="1005385" cy="746078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 flipH="1">
            <a:off x="6324600" y="3886200"/>
            <a:ext cx="685800" cy="76200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endCxn id="6" idx="0"/>
          </p:cNvCxnSpPr>
          <p:nvPr/>
        </p:nvCxnSpPr>
        <p:spPr>
          <a:xfrm>
            <a:off x="2370267" y="5181600"/>
            <a:ext cx="2296341" cy="68580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endCxn id="6" idx="0"/>
          </p:cNvCxnSpPr>
          <p:nvPr/>
        </p:nvCxnSpPr>
        <p:spPr>
          <a:xfrm flipH="1">
            <a:off x="4666608" y="5181600"/>
            <a:ext cx="1657971" cy="68580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4195437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895600"/>
            <a:ext cx="8229600" cy="1143000"/>
          </a:xfrm>
        </p:spPr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THANK YOU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